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61" r:id="rId5"/>
    <p:sldId id="263" r:id="rId6"/>
    <p:sldId id="401" r:id="rId7"/>
    <p:sldId id="264" r:id="rId8"/>
    <p:sldId id="265" r:id="rId9"/>
    <p:sldId id="266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279" r:id="rId19"/>
    <p:sldId id="280" r:id="rId20"/>
    <p:sldId id="281" r:id="rId21"/>
    <p:sldId id="282" r:id="rId22"/>
    <p:sldId id="283" r:id="rId23"/>
    <p:sldId id="284" r:id="rId24"/>
    <p:sldId id="286" r:id="rId25"/>
    <p:sldId id="287" r:id="rId26"/>
    <p:sldId id="288" r:id="rId27"/>
    <p:sldId id="289" r:id="rId28"/>
    <p:sldId id="357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290" r:id="rId62"/>
    <p:sldId id="291" r:id="rId63"/>
    <p:sldId id="355" r:id="rId64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1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image" Target="../media/image9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73BBE-A6B3-476B-BEC9-498CCDF03E24}" type="datetimeFigureOut">
              <a:rPr lang="ru-RU" smtClean="0"/>
              <a:pPr/>
              <a:t>17.09.2018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A8DFD-94B7-4720-ACC1-30ED8913A0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23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4ED4B9-2561-4805-9713-3A5365301A39}" type="slidenum">
              <a:rPr lang="ru-RU"/>
              <a:pPr/>
              <a:t>28</a:t>
            </a:fld>
            <a:endParaRPr lang="ru-RU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276214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62B635-10A3-423D-877E-CA392A2FDA30}" type="slidenum">
              <a:rPr lang="ru-RU"/>
              <a:pPr/>
              <a:t>29</a:t>
            </a:fld>
            <a:endParaRPr lang="ru-RU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14588" y="514350"/>
            <a:ext cx="4265612" cy="3200400"/>
          </a:xfrm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50" y="3871914"/>
            <a:ext cx="7314901" cy="2471737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04045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BED8D7-37D6-4CC5-BDDE-8C5C258A269E}" type="slidenum">
              <a:rPr lang="ru-RU"/>
              <a:pPr/>
              <a:t>30</a:t>
            </a:fld>
            <a:endParaRPr lang="ru-RU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46363" y="536575"/>
            <a:ext cx="3854450" cy="2892425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335" y="3970338"/>
            <a:ext cx="7201330" cy="2373312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777370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6C288B-D684-4702-881F-82CB3F94107C}" type="slidenum">
              <a:rPr lang="ru-RU"/>
              <a:pPr/>
              <a:t>31</a:t>
            </a:fld>
            <a:endParaRPr lang="ru-RU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30488" y="514350"/>
            <a:ext cx="3884612" cy="2914650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50" y="3590926"/>
            <a:ext cx="7314901" cy="2752725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860878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7AE0D5-8296-46A3-9496-5937CB78735F}" type="slidenum">
              <a:rPr lang="ru-RU"/>
              <a:pPr/>
              <a:t>32</a:t>
            </a:fld>
            <a:endParaRPr lang="ru-RU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7413" cy="2571750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947535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070E94-2F53-48E1-B0CA-996634DE2123}" type="slidenum">
              <a:rPr lang="ru-RU"/>
              <a:pPr/>
              <a:t>33</a:t>
            </a:fld>
            <a:endParaRPr lang="ru-RU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52314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3564A6-D9EE-4562-A5FC-D69045717018}" type="slidenum">
              <a:rPr lang="ru-RU"/>
              <a:pPr/>
              <a:t>34</a:t>
            </a:fld>
            <a:endParaRPr lang="ru-RU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14588" y="514350"/>
            <a:ext cx="4265612" cy="3200400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50" y="3871914"/>
            <a:ext cx="7314901" cy="2471737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75929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22ECFD-69F5-436D-8E8E-4ABCDDB721CE}" type="slidenum">
              <a:rPr lang="ru-RU"/>
              <a:pPr/>
              <a:t>35</a:t>
            </a:fld>
            <a:endParaRPr lang="ru-RU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942170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839393-02CD-4EA5-B6FD-7367E9D6F5AD}" type="slidenum">
              <a:rPr lang="ru-RU"/>
              <a:pPr/>
              <a:t>36</a:t>
            </a:fld>
            <a:endParaRPr lang="ru-RU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992767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  <p:sp>
        <p:nvSpPr>
          <p:cNvPr id="130052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51E415-E1F3-4D0F-98D9-0B77E8B1D1FA}" type="slidenum">
              <a:rPr lang="ru-RU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021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2DC758-1E95-43C3-8506-C7DDD95D5227}" type="slidenum">
              <a:rPr lang="ru-RU"/>
              <a:pPr/>
              <a:t>38</a:t>
            </a:fld>
            <a:endParaRPr lang="ru-RU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369269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B33E50-25BB-491F-85C4-FBCA975A6375}" type="slidenum">
              <a:rPr lang="ru-RU"/>
              <a:pPr/>
              <a:t>39</a:t>
            </a:fld>
            <a:endParaRPr lang="ru-RU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7413" cy="257175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024896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03CC17-1E22-4CCF-B6BB-19B9B2341BF2}" type="slidenum">
              <a:rPr lang="ru-RU"/>
              <a:pPr/>
              <a:t>40</a:t>
            </a:fld>
            <a:endParaRPr lang="ru-RU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797704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45941D-FC19-4A22-84BE-344D547F7695}" type="slidenum">
              <a:rPr lang="ru-RU"/>
              <a:pPr/>
              <a:t>41</a:t>
            </a:fld>
            <a:endParaRPr lang="ru-RU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7413" cy="2571750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8565683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2D46-0436-4E2E-A75F-31748DD156D0}" type="slidenum">
              <a:rPr lang="ru-RU"/>
              <a:pPr/>
              <a:t>42</a:t>
            </a:fld>
            <a:endParaRPr lang="ru-RU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28925" y="514350"/>
            <a:ext cx="3794125" cy="2846388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335" y="3970338"/>
            <a:ext cx="7201330" cy="2373312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194916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062361-04D9-4D77-9880-EA52901CE261}" type="slidenum">
              <a:rPr lang="ru-RU"/>
              <a:pPr/>
              <a:t>43</a:t>
            </a:fld>
            <a:endParaRPr lang="ru-RU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003995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37F620-6804-4C09-A181-3A686011D7B2}" type="slidenum">
              <a:rPr lang="ru-RU"/>
              <a:pPr/>
              <a:t>44</a:t>
            </a:fld>
            <a:endParaRPr lang="ru-RU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560214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A0CFD1-23F9-4535-9E41-8A1A283A1929}" type="slidenum">
              <a:rPr lang="ru-RU"/>
              <a:pPr/>
              <a:t>45</a:t>
            </a:fld>
            <a:endParaRPr lang="ru-RU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123280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82072A-7667-4252-BFC6-1C47349158EA}" type="slidenum">
              <a:rPr lang="ru-RU"/>
              <a:pPr/>
              <a:t>46</a:t>
            </a:fld>
            <a:endParaRPr lang="ru-RU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654334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B12F9A-D75D-43AF-A84B-21F0D0C5D4C3}" type="slidenum">
              <a:rPr lang="ru-RU"/>
              <a:pPr/>
              <a:t>47</a:t>
            </a:fld>
            <a:endParaRPr lang="ru-RU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6101063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5DFA09-A5B2-4B96-B34F-0FE08FFAC1B6}" type="slidenum">
              <a:rPr lang="ru-RU"/>
              <a:pPr/>
              <a:t>48</a:t>
            </a:fld>
            <a:endParaRPr lang="ru-RU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978840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7D802D-B12E-4234-BE05-F29203713134}" type="slidenum">
              <a:rPr lang="ru-RU"/>
              <a:pPr/>
              <a:t>49</a:t>
            </a:fld>
            <a:endParaRPr lang="ru-RU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2031822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8783E1-1DFB-46AA-BB31-DD704CAAC13C}" type="slidenum">
              <a:rPr lang="ru-RU"/>
              <a:pPr/>
              <a:t>50</a:t>
            </a:fld>
            <a:endParaRPr lang="ru-RU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14588" y="514350"/>
            <a:ext cx="4265612" cy="3200400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50" y="3871914"/>
            <a:ext cx="7314901" cy="2471737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822428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4FE55E-4FDA-4E33-8F79-1C926CEFDD55}" type="slidenum">
              <a:rPr lang="ru-RU"/>
              <a:pPr/>
              <a:t>51</a:t>
            </a:fld>
            <a:endParaRPr lang="ru-RU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2117296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3D0B6B-99E9-4C67-863C-F63FBAE0F299}" type="slidenum">
              <a:rPr lang="ru-RU"/>
              <a:pPr/>
              <a:t>52</a:t>
            </a:fld>
            <a:endParaRPr lang="ru-RU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14588" y="514350"/>
            <a:ext cx="4265612" cy="3200400"/>
          </a:xfrm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50" y="3871914"/>
            <a:ext cx="7314901" cy="2471737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6364932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8449AD-A570-4BEA-8913-0D4C18CC4FC6}" type="slidenum">
              <a:rPr lang="ru-RU"/>
              <a:pPr/>
              <a:t>53</a:t>
            </a:fld>
            <a:endParaRPr lang="ru-RU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2258608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15B262-B70A-4858-9353-128ACEBFD303}" type="slidenum">
              <a:rPr lang="ru-RU"/>
              <a:pPr/>
              <a:t>54</a:t>
            </a:fld>
            <a:endParaRPr lang="ru-RU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14588" y="514350"/>
            <a:ext cx="4265612" cy="3200400"/>
          </a:xfrm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50" y="3871914"/>
            <a:ext cx="7314901" cy="2471737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9888393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4DF630-93D7-432A-B652-D564F3D39337}" type="slidenum">
              <a:rPr lang="ru-RU"/>
              <a:pPr/>
              <a:t>55</a:t>
            </a:fld>
            <a:endParaRPr lang="ru-RU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13000" y="514350"/>
            <a:ext cx="4265613" cy="3200400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50" y="3871914"/>
            <a:ext cx="7314901" cy="2471737"/>
          </a:xfrm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7229958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0A729A-13B1-4256-B2F6-5AC094F446E3}" type="slidenum">
              <a:rPr lang="ru-RU"/>
              <a:pPr/>
              <a:t>56</a:t>
            </a:fld>
            <a:endParaRPr lang="ru-RU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7329466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183877-D84F-4456-868F-C924123D28BC}" type="slidenum">
              <a:rPr lang="ru-RU"/>
              <a:pPr/>
              <a:t>57</a:t>
            </a:fld>
            <a:endParaRPr lang="ru-RU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3607988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07402D-12F6-44FB-87A6-9AF95D58F4D1}" type="slidenum">
              <a:rPr lang="ru-RU"/>
              <a:pPr/>
              <a:t>58</a:t>
            </a:fld>
            <a:endParaRPr lang="ru-RU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0524029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462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  <p:sp>
        <p:nvSpPr>
          <p:cNvPr id="15462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877184-880D-4217-90EC-2B95E166EA28}" type="slidenum">
              <a:rPr lang="ru-RU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8066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62F769-AF03-4083-9F2C-AE1397EC7C63}" type="slidenum">
              <a:rPr lang="ru-RU"/>
              <a:pPr/>
              <a:t>60</a:t>
            </a:fld>
            <a:endParaRPr lang="ru-RU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2877940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A8DFD-94B7-4720-ACC1-30ED8913A01E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153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25"/>
              </a:lnSpc>
            </a:pPr>
            <a:endParaRPr spc="-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38A63-AC1D-4E27-99F9-D415F194B8DA}" type="datetime1">
              <a:rPr lang="en-US" smtClean="0"/>
              <a:t>9/17/2018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‹#›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25"/>
              </a:lnSpc>
            </a:pPr>
            <a:endParaRPr spc="-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CBFCB-DF49-4787-BB12-834DB5992EBE}" type="datetime1">
              <a:rPr lang="en-US" smtClean="0"/>
              <a:t>9/17/2018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‹#›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25"/>
              </a:lnSpc>
            </a:pPr>
            <a:endParaRPr spc="-1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F0CBD-0722-4849-A512-AE4E3432BB1B}" type="datetime1">
              <a:rPr lang="en-US" smtClean="0"/>
              <a:t>9/17/2018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‹#›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25"/>
              </a:lnSpc>
            </a:pPr>
            <a:endParaRPr spc="-1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A7988-4AED-404E-8390-8963C580665D}" type="datetime1">
              <a:rPr lang="en-US" smtClean="0"/>
              <a:t>9/17/2018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‹#›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25"/>
              </a:lnSpc>
            </a:pPr>
            <a:endParaRPr spc="-1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D0452-6A0B-4E71-809D-50AB3DB815F1}" type="datetime1">
              <a:rPr lang="en-US" smtClean="0"/>
              <a:t>9/17/2018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‹#›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13" y="187325"/>
            <a:ext cx="8101012" cy="5048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6DE60-904A-4CE4-B918-7E739F367B7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131C7-64F0-4E8F-AEE1-D053497741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5F8D6D-BF8A-4C02-A9BB-9BB6B6820C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A396A8-C8FA-4B1B-B07A-CA77F028F1E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13" y="187325"/>
            <a:ext cx="8101012" cy="5048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59313" y="1628775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59313" y="3967163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CCB0E-62E5-4693-8562-D6494AF1FF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68313" y="187325"/>
            <a:ext cx="8101012" cy="5048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8313" y="1628775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59313" y="1628775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8313" y="3967163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59313" y="3967163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971649-5739-4E0C-9F50-B0C6B89A49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13" y="187325"/>
            <a:ext cx="8101012" cy="5048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6B6246-AE44-4F14-96C7-74EF6F28C7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368" y="-105663"/>
            <a:ext cx="8789263" cy="100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6161" y="2372360"/>
            <a:ext cx="6911340" cy="2533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0533" y="6432981"/>
            <a:ext cx="6805295" cy="415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25"/>
              </a:lnSpc>
            </a:pPr>
            <a:endParaRPr spc="-1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C7482-452D-43D7-8B41-A011EF165A5B}" type="datetime1">
              <a:rPr lang="en-US" smtClean="0"/>
              <a:t>9/17/2018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32574"/>
            <a:ext cx="227965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‹#›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bigc.ru/theory/modelling/docs/%5bwww.bigc.ru%5d_2011_Ontology-baseb_Business_Architecture_Eng_SOMET.pdf" TargetMode="Externa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8.png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jpeg"/><Relationship Id="rId4" Type="http://schemas.openxmlformats.org/officeDocument/2006/relationships/image" Target="../media/image55.jpeg"/><Relationship Id="rId9" Type="http://schemas.openxmlformats.org/officeDocument/2006/relationships/image" Target="../media/image60.png"/><Relationship Id="rId1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70.jpe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6.png"/><Relationship Id="rId12" Type="http://schemas.openxmlformats.org/officeDocument/2006/relationships/image" Target="../media/image69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5.png"/><Relationship Id="rId11" Type="http://schemas.openxmlformats.org/officeDocument/2006/relationships/image" Target="../media/image68.png"/><Relationship Id="rId5" Type="http://schemas.openxmlformats.org/officeDocument/2006/relationships/image" Target="../media/image64.png"/><Relationship Id="rId10" Type="http://schemas.openxmlformats.org/officeDocument/2006/relationships/image" Target="../media/image67.png"/><Relationship Id="rId4" Type="http://schemas.openxmlformats.org/officeDocument/2006/relationships/image" Target="../media/image61.jpeg"/><Relationship Id="rId9" Type="http://schemas.openxmlformats.org/officeDocument/2006/relationships/image" Target="../media/image54.png"/><Relationship Id="rId14" Type="http://schemas.openxmlformats.org/officeDocument/2006/relationships/image" Target="../media/image7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2.png"/><Relationship Id="rId4" Type="http://schemas.openxmlformats.org/officeDocument/2006/relationships/oleObject" Target="../embeddings/oleObject3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5.jpeg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2.png"/><Relationship Id="rId4" Type="http://schemas.openxmlformats.org/officeDocument/2006/relationships/oleObject" Target="../embeddings/oleObject4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jpe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61.jpe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9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9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96.jpe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5.png"/><Relationship Id="rId11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9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01.pn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0.png"/><Relationship Id="rId5" Type="http://schemas.openxmlformats.org/officeDocument/2006/relationships/image" Target="../media/image99.wmf"/><Relationship Id="rId4" Type="http://schemas.openxmlformats.org/officeDocument/2006/relationships/oleObject" Target="../embeddings/oleObject8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7.pn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99.wmf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102.png"/><Relationship Id="rId15" Type="http://schemas.openxmlformats.org/officeDocument/2006/relationships/image" Target="../media/image91.png"/><Relationship Id="rId10" Type="http://schemas.openxmlformats.org/officeDocument/2006/relationships/image" Target="../media/image66.png"/><Relationship Id="rId4" Type="http://schemas.openxmlformats.org/officeDocument/2006/relationships/image" Target="../media/image103.png"/><Relationship Id="rId9" Type="http://schemas.openxmlformats.org/officeDocument/2006/relationships/image" Target="../media/image104.png"/><Relationship Id="rId14" Type="http://schemas.openxmlformats.org/officeDocument/2006/relationships/image" Target="../media/image61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://bigc.ru/theory/modelling/docs/%5bwww.bigc.ru%5d_2011_Ontology-baseb_Business_Architecture_Eng_SOMET.pdf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lib.spbstu.ru/dl/2/4648.pdf/view" TargetMode="External"/><Relationship Id="rId5" Type="http://schemas.openxmlformats.org/officeDocument/2006/relationships/hyperlink" Target="http://bigc.ru/theory/modelling/docs/%5bwww.bigc.ru%5d_2012_NTV_No.1.pdf" TargetMode="External"/><Relationship Id="rId4" Type="http://schemas.openxmlformats.org/officeDocument/2006/relationships/hyperlink" Target="http://bigc.ru/theory/innovations/docs/%5bwww.bigc.ru%5d_2011_Systemic_Approach_toward_Enterprise_Functional_Decomposition_CEC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57200" y="2438400"/>
            <a:ext cx="8229600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l">
              <a:lnSpc>
                <a:spcPct val="100000"/>
              </a:lnSpc>
              <a:spcBef>
                <a:spcPts val="100"/>
              </a:spcBef>
            </a:pPr>
            <a:r>
              <a:rPr lang="ru-RU" sz="2800" spc="-20" dirty="0" smtClean="0"/>
              <a:t>БИЗНЕС-АРХИТЕКТУРА: </a:t>
            </a:r>
          </a:p>
          <a:p>
            <a:pPr marL="1270" algn="l">
              <a:lnSpc>
                <a:spcPct val="100000"/>
              </a:lnSpc>
              <a:spcBef>
                <a:spcPts val="100"/>
              </a:spcBef>
            </a:pPr>
            <a:r>
              <a:rPr sz="2800" spc="-20" dirty="0" smtClean="0"/>
              <a:t>КОМПОНЕНТЫ</a:t>
            </a:r>
            <a:r>
              <a:rPr sz="2800" spc="-20" dirty="0"/>
              <a:t>,</a:t>
            </a:r>
            <a:r>
              <a:rPr sz="2800" spc="10" dirty="0"/>
              <a:t> </a:t>
            </a:r>
            <a:r>
              <a:rPr sz="2800" spc="-5" dirty="0"/>
              <a:t>ПРИМЕНЕНИЕ</a:t>
            </a:r>
            <a:r>
              <a:rPr sz="2800" spc="-5" dirty="0" smtClean="0"/>
              <a:t>,</a:t>
            </a:r>
            <a:r>
              <a:rPr lang="ru-RU" sz="2800" spc="-5" dirty="0" smtClean="0"/>
              <a:t> </a:t>
            </a:r>
            <a:r>
              <a:rPr sz="2800" spc="-10" dirty="0" smtClean="0"/>
              <a:t>ИНСТРУМЕНТЫ</a:t>
            </a:r>
            <a:r>
              <a:rPr sz="2800" spc="0" dirty="0" smtClean="0"/>
              <a:t> </a:t>
            </a:r>
            <a:r>
              <a:rPr sz="2800" spc="-20" dirty="0" smtClean="0"/>
              <a:t>МОДЕЛИРОВАНИЯ</a:t>
            </a:r>
            <a:endParaRPr sz="2800" spc="-20" dirty="0"/>
          </a:p>
        </p:txBody>
      </p:sp>
      <p:sp>
        <p:nvSpPr>
          <p:cNvPr id="11" name="object 4"/>
          <p:cNvSpPr txBox="1">
            <a:spLocks/>
          </p:cNvSpPr>
          <p:nvPr/>
        </p:nvSpPr>
        <p:spPr>
          <a:xfrm>
            <a:off x="457200" y="1295400"/>
            <a:ext cx="5060950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10"/>
              </a:spcBef>
            </a:pPr>
            <a:r>
              <a:rPr lang="ru-RU" sz="2400" b="1" kern="0" spc="-20" dirty="0" smtClean="0"/>
              <a:t>Лекция 3</a:t>
            </a:r>
            <a:endParaRPr lang="ru-RU" sz="2400" kern="0" dirty="0"/>
          </a:p>
        </p:txBody>
      </p:sp>
      <p:sp>
        <p:nvSpPr>
          <p:cNvPr id="9" name="Rectangle 2"/>
          <p:cNvSpPr txBox="1">
            <a:spLocks/>
          </p:cNvSpPr>
          <p:nvPr/>
        </p:nvSpPr>
        <p:spPr>
          <a:xfrm>
            <a:off x="457200" y="277813"/>
            <a:ext cx="8229600" cy="793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«</a:t>
            </a:r>
            <a:r>
              <a:rPr lang="ru-RU" sz="2800" b="1" kern="0" dirty="0" smtClean="0">
                <a:solidFill>
                  <a:schemeClr val="bg1"/>
                </a:solidFill>
                <a:latin typeface="Calibri"/>
                <a:ea typeface="+mj-ea"/>
                <a:cs typeface="Calibri"/>
              </a:rPr>
              <a:t>ИТ-инфраструктура </a:t>
            </a:r>
            <a:r>
              <a:rPr lang="ru-RU" sz="2800" b="1" kern="0" dirty="0" smtClean="0">
                <a:solidFill>
                  <a:schemeClr val="bg1"/>
                </a:solidFill>
                <a:latin typeface="Calibri"/>
                <a:ea typeface="+mj-ea"/>
                <a:cs typeface="Calibri"/>
              </a:rPr>
              <a:t>предприятия</a:t>
            </a:r>
            <a:r>
              <a:rPr kumimoji="0" lang="ru-RU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»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37782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Эволюция</a:t>
            </a:r>
            <a:r>
              <a:rPr spc="-5" dirty="0"/>
              <a:t> </a:t>
            </a:r>
            <a:r>
              <a:rPr spc="-10" dirty="0"/>
              <a:t>архитектур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14943" y="6488379"/>
            <a:ext cx="1155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8617" y="903097"/>
            <a:ext cx="1411605" cy="6464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035"/>
              </a:spcBef>
            </a:pP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Архитектура</a:t>
            </a:r>
            <a:endParaRPr sz="12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предприятия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6359" y="896366"/>
            <a:ext cx="1411605" cy="6464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49860" marR="141605" algn="ctr">
              <a:lnSpc>
                <a:spcPct val="100000"/>
              </a:lnSpc>
              <a:spcBef>
                <a:spcPts val="315"/>
              </a:spcBef>
            </a:pPr>
            <a:r>
              <a:rPr sz="1200" b="1" spc="-95" dirty="0">
                <a:solidFill>
                  <a:srgbClr val="404040"/>
                </a:solidFill>
                <a:latin typeface="Calibri"/>
                <a:cs typeface="Calibri"/>
              </a:rPr>
              <a:t>Т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ех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200" b="1" spc="-2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л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200" b="1" spc="0" dirty="0">
                <a:solidFill>
                  <a:srgbClr val="404040"/>
                </a:solidFill>
                <a:latin typeface="Calibri"/>
                <a:cs typeface="Calibri"/>
              </a:rPr>
              <a:t>г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ч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ес</a:t>
            </a:r>
            <a:r>
              <a:rPr sz="1200" b="1" spc="-20" dirty="0">
                <a:solidFill>
                  <a:srgbClr val="404040"/>
                </a:solidFill>
                <a:latin typeface="Calibri"/>
                <a:cs typeface="Calibri"/>
              </a:rPr>
              <a:t>к</a:t>
            </a:r>
            <a:r>
              <a:rPr sz="1200" b="1" spc="0" dirty="0">
                <a:solidFill>
                  <a:srgbClr val="404040"/>
                </a:solidFill>
                <a:latin typeface="Calibri"/>
                <a:cs typeface="Calibri"/>
              </a:rPr>
              <a:t>а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я 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архитектура 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предприятия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9385" y="941908"/>
            <a:ext cx="2279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8617" y="1969770"/>
            <a:ext cx="1411605" cy="7988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Архитектура</a:t>
            </a:r>
            <a:endParaRPr sz="12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предприятия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6359" y="1963166"/>
            <a:ext cx="1411605" cy="7988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13664" marR="105410" algn="ctr">
              <a:lnSpc>
                <a:spcPct val="100000"/>
              </a:lnSpc>
              <a:spcBef>
                <a:spcPts val="200"/>
              </a:spcBef>
            </a:pPr>
            <a:r>
              <a:rPr sz="1200" b="1" spc="0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фор</a:t>
            </a:r>
            <a:r>
              <a:rPr sz="1200" b="1" spc="0" dirty="0">
                <a:solidFill>
                  <a:srgbClr val="404040"/>
                </a:solidFill>
                <a:latin typeface="Calibri"/>
                <a:cs typeface="Calibri"/>
              </a:rPr>
              <a:t>ма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ц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ио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200" b="1" spc="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200" b="1" dirty="0">
                <a:solidFill>
                  <a:srgbClr val="404040"/>
                </a:solidFill>
                <a:latin typeface="Calibri"/>
                <a:cs typeface="Calibri"/>
              </a:rPr>
              <a:t>-  </a:t>
            </a: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технологическая  архитектура  </a:t>
            </a: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предприятия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9385" y="2009089"/>
            <a:ext cx="2279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08167" y="2050795"/>
            <a:ext cx="201866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indent="-88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spc="-5" dirty="0">
                <a:latin typeface="Calibri"/>
                <a:cs typeface="Calibri"/>
              </a:rPr>
              <a:t>Архитектура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информации</a:t>
            </a:r>
            <a:endParaRPr sz="1200">
              <a:latin typeface="Calibri"/>
              <a:cs typeface="Calibri"/>
            </a:endParaRPr>
          </a:p>
          <a:p>
            <a:pPr marL="100965" indent="-88265">
              <a:lnSpc>
                <a:spcPct val="100000"/>
              </a:lnSpc>
              <a:buFont typeface="Arial"/>
              <a:buChar char="•"/>
              <a:tabLst>
                <a:tab pos="101600" algn="l"/>
              </a:tabLst>
            </a:pPr>
            <a:r>
              <a:rPr sz="1200" spc="-5" dirty="0">
                <a:latin typeface="Calibri"/>
                <a:cs typeface="Calibri"/>
              </a:rPr>
              <a:t>Архитектура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приложений</a:t>
            </a:r>
            <a:endParaRPr sz="1200">
              <a:latin typeface="Calibri"/>
              <a:cs typeface="Calibri"/>
            </a:endParaRPr>
          </a:p>
          <a:p>
            <a:pPr marL="100965" indent="-88265">
              <a:lnSpc>
                <a:spcPct val="100000"/>
              </a:lnSpc>
              <a:buFont typeface="Arial"/>
              <a:buChar char="•"/>
              <a:tabLst>
                <a:tab pos="101600" algn="l"/>
              </a:tabLst>
            </a:pPr>
            <a:r>
              <a:rPr sz="1200" spc="-15" dirty="0">
                <a:latin typeface="Calibri"/>
                <a:cs typeface="Calibri"/>
              </a:rPr>
              <a:t>Технологическая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архитектура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88617" y="3251708"/>
            <a:ext cx="1411605" cy="7988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Архитектура</a:t>
            </a:r>
            <a:endParaRPr sz="12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200" b="1" spc="-5" dirty="0">
                <a:solidFill>
                  <a:srgbClr val="404040"/>
                </a:solidFill>
                <a:latin typeface="Calibri"/>
                <a:cs typeface="Calibri"/>
              </a:rPr>
              <a:t>предприятия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6359" y="3245104"/>
            <a:ext cx="1411605" cy="7988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34620" marR="123825"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Инф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ор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маци</a:t>
            </a:r>
            <a:r>
              <a:rPr sz="1200" spc="-1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нн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- 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технологическая 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архитектура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предприятия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9385" y="3291281"/>
            <a:ext cx="2279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58307" y="3248405"/>
            <a:ext cx="1411605" cy="7988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99060" marR="54610" indent="-33655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Бизне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а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р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х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т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ек</a:t>
            </a:r>
            <a:r>
              <a:rPr sz="1200" spc="-15" dirty="0">
                <a:solidFill>
                  <a:srgbClr val="404040"/>
                </a:solidFill>
                <a:latin typeface="Calibri"/>
                <a:cs typeface="Calibri"/>
              </a:rPr>
              <a:t>т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у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р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а 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(бизнес-процессы)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01436" y="3359658"/>
            <a:ext cx="227329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" dirty="0">
                <a:latin typeface="Calibri"/>
                <a:cs typeface="Calibri"/>
              </a:rPr>
              <a:t>+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04085" y="4570145"/>
            <a:ext cx="3971925" cy="1719580"/>
          </a:xfrm>
          <a:custGeom>
            <a:avLst/>
            <a:gdLst/>
            <a:ahLst/>
            <a:cxnLst/>
            <a:rect l="l" t="t" r="r" b="b"/>
            <a:pathLst>
              <a:path w="3971925" h="1719579">
                <a:moveTo>
                  <a:pt x="0" y="1719199"/>
                </a:moveTo>
                <a:lnTo>
                  <a:pt x="3971416" y="1719199"/>
                </a:lnTo>
                <a:lnTo>
                  <a:pt x="3971416" y="0"/>
                </a:lnTo>
                <a:lnTo>
                  <a:pt x="0" y="0"/>
                </a:lnTo>
                <a:lnTo>
                  <a:pt x="0" y="1719199"/>
                </a:lnTo>
                <a:close/>
              </a:path>
            </a:pathLst>
          </a:custGeom>
          <a:ln w="190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005073" y="5489702"/>
            <a:ext cx="1209675" cy="684530"/>
          </a:xfrm>
          <a:prstGeom prst="rect">
            <a:avLst/>
          </a:prstGeom>
          <a:ln w="19050">
            <a:solidFill>
              <a:srgbClr val="40404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00965" marR="89535" algn="ctr">
              <a:lnSpc>
                <a:spcPct val="100099"/>
              </a:lnSpc>
              <a:spcBef>
                <a:spcPts val="125"/>
              </a:spcBef>
            </a:pPr>
            <a:r>
              <a:rPr sz="1050" spc="-10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105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050" spc="-15" dirty="0">
                <a:solidFill>
                  <a:srgbClr val="404040"/>
                </a:solidFill>
                <a:latin typeface="Calibri"/>
                <a:cs typeface="Calibri"/>
              </a:rPr>
              <a:t>ф</a:t>
            </a:r>
            <a:r>
              <a:rPr sz="1050" spc="-5" dirty="0">
                <a:solidFill>
                  <a:srgbClr val="404040"/>
                </a:solidFill>
                <a:latin typeface="Calibri"/>
                <a:cs typeface="Calibri"/>
              </a:rPr>
              <a:t>ор</a:t>
            </a:r>
            <a:r>
              <a:rPr sz="1050" dirty="0">
                <a:solidFill>
                  <a:srgbClr val="404040"/>
                </a:solidFill>
                <a:latin typeface="Calibri"/>
                <a:cs typeface="Calibri"/>
              </a:rPr>
              <a:t>мац</a:t>
            </a:r>
            <a:r>
              <a:rPr sz="1050" spc="0" dirty="0">
                <a:solidFill>
                  <a:srgbClr val="404040"/>
                </a:solidFill>
                <a:latin typeface="Calibri"/>
                <a:cs typeface="Calibri"/>
              </a:rPr>
              <a:t>и</a:t>
            </a:r>
            <a:r>
              <a:rPr sz="105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050" spc="0" dirty="0">
                <a:solidFill>
                  <a:srgbClr val="404040"/>
                </a:solidFill>
                <a:latin typeface="Calibri"/>
                <a:cs typeface="Calibri"/>
              </a:rPr>
              <a:t>нн</a:t>
            </a:r>
            <a:r>
              <a:rPr sz="1050" dirty="0">
                <a:solidFill>
                  <a:srgbClr val="404040"/>
                </a:solidFill>
                <a:latin typeface="Calibri"/>
                <a:cs typeface="Calibri"/>
              </a:rPr>
              <a:t>о-  </a:t>
            </a:r>
            <a:r>
              <a:rPr sz="1050" spc="-5" dirty="0">
                <a:solidFill>
                  <a:srgbClr val="404040"/>
                </a:solidFill>
                <a:latin typeface="Calibri"/>
                <a:cs typeface="Calibri"/>
              </a:rPr>
              <a:t>технологическая  архитектура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ts val="1250"/>
              </a:lnSpc>
            </a:pPr>
            <a:r>
              <a:rPr sz="1050" dirty="0">
                <a:solidFill>
                  <a:srgbClr val="404040"/>
                </a:solidFill>
                <a:latin typeface="Calibri"/>
                <a:cs typeface="Calibri"/>
              </a:rPr>
              <a:t>предприятия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28620" y="5065014"/>
            <a:ext cx="1337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04040"/>
                </a:solidFill>
                <a:latin typeface="Calibri"/>
                <a:cs typeface="Calibri"/>
              </a:rPr>
              <a:t>Бизнес-архитектура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24100" y="4636033"/>
            <a:ext cx="401320" cy="234315"/>
          </a:xfrm>
          <a:prstGeom prst="rect">
            <a:avLst/>
          </a:prstGeom>
          <a:ln w="9525">
            <a:solidFill>
              <a:srgbClr val="40404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240"/>
              </a:spcBef>
            </a:pPr>
            <a:r>
              <a:rPr sz="1050" spc="-5" dirty="0">
                <a:latin typeface="Calibri"/>
                <a:cs typeface="Calibri"/>
              </a:rPr>
              <a:t>Цели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72307" y="4639335"/>
            <a:ext cx="807085" cy="234315"/>
          </a:xfrm>
          <a:prstGeom prst="rect">
            <a:avLst/>
          </a:prstGeom>
          <a:ln w="9525">
            <a:solidFill>
              <a:srgbClr val="40404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latin typeface="Calibri"/>
                <a:cs typeface="Calibri"/>
              </a:rPr>
              <a:t>Показатели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46016" y="4639335"/>
            <a:ext cx="1172845" cy="234315"/>
          </a:xfrm>
          <a:prstGeom prst="rect">
            <a:avLst/>
          </a:prstGeom>
          <a:ln w="9525">
            <a:solidFill>
              <a:srgbClr val="40404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latin typeface="Calibri"/>
                <a:cs typeface="Calibri"/>
              </a:rPr>
              <a:t>Бизнес-модель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79219" y="4956924"/>
            <a:ext cx="824865" cy="396240"/>
          </a:xfrm>
          <a:prstGeom prst="rect">
            <a:avLst/>
          </a:prstGeom>
          <a:ln w="9525">
            <a:solidFill>
              <a:srgbClr val="40404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33985" marR="127000" indent="57785">
              <a:lnSpc>
                <a:spcPts val="1250"/>
              </a:lnSpc>
              <a:spcBef>
                <a:spcPts val="300"/>
              </a:spcBef>
            </a:pPr>
            <a:r>
              <a:rPr sz="1050" dirty="0">
                <a:latin typeface="Calibri"/>
                <a:cs typeface="Calibri"/>
              </a:rPr>
              <a:t>Бизнес-  пр</a:t>
            </a:r>
            <a:r>
              <a:rPr sz="1050" spc="-5" dirty="0">
                <a:latin typeface="Calibri"/>
                <a:cs typeface="Calibri"/>
              </a:rPr>
              <a:t>о</a:t>
            </a:r>
            <a:r>
              <a:rPr sz="1050" dirty="0">
                <a:latin typeface="Calibri"/>
                <a:cs typeface="Calibri"/>
              </a:rPr>
              <a:t>це</a:t>
            </a:r>
            <a:r>
              <a:rPr sz="1050" spc="5" dirty="0">
                <a:latin typeface="Calibri"/>
                <a:cs typeface="Calibri"/>
              </a:rPr>
              <a:t>с</a:t>
            </a:r>
            <a:r>
              <a:rPr sz="1050" spc="0" dirty="0">
                <a:latin typeface="Calibri"/>
                <a:cs typeface="Calibri"/>
              </a:rPr>
              <a:t>с</a:t>
            </a:r>
            <a:r>
              <a:rPr sz="1050" dirty="0">
                <a:latin typeface="Calibri"/>
                <a:cs typeface="Calibri"/>
              </a:rPr>
              <a:t>ы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91863" y="4940160"/>
            <a:ext cx="1093470" cy="396240"/>
          </a:xfrm>
          <a:prstGeom prst="rect">
            <a:avLst/>
          </a:prstGeom>
          <a:ln w="9525">
            <a:solidFill>
              <a:srgbClr val="40404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95580" marR="168910" indent="-15240">
              <a:lnSpc>
                <a:spcPts val="1250"/>
              </a:lnSpc>
              <a:spcBef>
                <a:spcPts val="300"/>
              </a:spcBef>
            </a:pPr>
            <a:r>
              <a:rPr sz="1050" spc="-10" dirty="0">
                <a:latin typeface="Calibri"/>
                <a:cs typeface="Calibri"/>
              </a:rPr>
              <a:t>С</a:t>
            </a:r>
            <a:r>
              <a:rPr sz="1050" dirty="0">
                <a:latin typeface="Calibri"/>
                <a:cs typeface="Calibri"/>
              </a:rPr>
              <a:t>п</a:t>
            </a:r>
            <a:r>
              <a:rPr sz="1050" spc="-5" dirty="0">
                <a:latin typeface="Calibri"/>
                <a:cs typeface="Calibri"/>
              </a:rPr>
              <a:t>о</a:t>
            </a:r>
            <a:r>
              <a:rPr sz="1050" spc="0" dirty="0">
                <a:latin typeface="Calibri"/>
                <a:cs typeface="Calibri"/>
              </a:rPr>
              <a:t>с</a:t>
            </a:r>
            <a:r>
              <a:rPr sz="1050" spc="-5" dirty="0">
                <a:latin typeface="Calibri"/>
                <a:cs typeface="Calibri"/>
              </a:rPr>
              <a:t>о</a:t>
            </a:r>
            <a:r>
              <a:rPr sz="1050" spc="-15" dirty="0">
                <a:latin typeface="Calibri"/>
                <a:cs typeface="Calibri"/>
              </a:rPr>
              <a:t>б</a:t>
            </a:r>
            <a:r>
              <a:rPr sz="1050" spc="5" dirty="0">
                <a:latin typeface="Calibri"/>
                <a:cs typeface="Calibri"/>
              </a:rPr>
              <a:t>н</a:t>
            </a:r>
            <a:r>
              <a:rPr sz="1050" spc="-5" dirty="0">
                <a:latin typeface="Calibri"/>
                <a:cs typeface="Calibri"/>
              </a:rPr>
              <a:t>о</a:t>
            </a:r>
            <a:r>
              <a:rPr sz="1050" spc="0" dirty="0">
                <a:latin typeface="Calibri"/>
                <a:cs typeface="Calibri"/>
              </a:rPr>
              <a:t>с</a:t>
            </a:r>
            <a:r>
              <a:rPr sz="1050" spc="-5" dirty="0">
                <a:latin typeface="Calibri"/>
                <a:cs typeface="Calibri"/>
              </a:rPr>
              <a:t>ти  </a:t>
            </a:r>
            <a:r>
              <a:rPr sz="1050" spc="-10" dirty="0">
                <a:latin typeface="Calibri"/>
                <a:cs typeface="Calibri"/>
              </a:rPr>
              <a:t>(C</a:t>
            </a:r>
            <a:r>
              <a:rPr sz="1050" dirty="0">
                <a:latin typeface="Calibri"/>
                <a:cs typeface="Calibri"/>
              </a:rPr>
              <a:t>apabi</a:t>
            </a:r>
            <a:r>
              <a:rPr sz="1050" spc="-5" dirty="0">
                <a:latin typeface="Calibri"/>
                <a:cs typeface="Calibri"/>
              </a:rPr>
              <a:t>l</a:t>
            </a:r>
            <a:r>
              <a:rPr sz="1050" dirty="0">
                <a:latin typeface="Calibri"/>
                <a:cs typeface="Calibri"/>
              </a:rPr>
              <a:t>itie</a:t>
            </a:r>
            <a:r>
              <a:rPr sz="1050" spc="-5" dirty="0">
                <a:latin typeface="Calibri"/>
                <a:cs typeface="Calibri"/>
              </a:rPr>
              <a:t>s</a:t>
            </a:r>
            <a:r>
              <a:rPr sz="1050" dirty="0">
                <a:latin typeface="Calibri"/>
                <a:cs typeface="Calibri"/>
              </a:rPr>
              <a:t>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75911" y="5405361"/>
            <a:ext cx="1093470" cy="234315"/>
          </a:xfrm>
          <a:custGeom>
            <a:avLst/>
            <a:gdLst/>
            <a:ahLst/>
            <a:cxnLst/>
            <a:rect l="l" t="t" r="r" b="b"/>
            <a:pathLst>
              <a:path w="1093470" h="234314">
                <a:moveTo>
                  <a:pt x="0" y="234289"/>
                </a:moveTo>
                <a:lnTo>
                  <a:pt x="1093304" y="234289"/>
                </a:lnTo>
                <a:lnTo>
                  <a:pt x="1093304" y="0"/>
                </a:lnTo>
                <a:lnTo>
                  <a:pt x="0" y="0"/>
                </a:lnTo>
                <a:lnTo>
                  <a:pt x="0" y="234289"/>
                </a:lnTo>
                <a:close/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534915" y="5423153"/>
            <a:ext cx="7785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Calibri"/>
                <a:cs typeface="Calibri"/>
              </a:rPr>
              <a:t>Оргструктура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60315" y="5995428"/>
            <a:ext cx="824865" cy="234315"/>
          </a:xfrm>
          <a:custGeom>
            <a:avLst/>
            <a:gdLst/>
            <a:ahLst/>
            <a:cxnLst/>
            <a:rect l="l" t="t" r="r" b="b"/>
            <a:pathLst>
              <a:path w="824864" h="234314">
                <a:moveTo>
                  <a:pt x="0" y="234289"/>
                </a:moveTo>
                <a:lnTo>
                  <a:pt x="824471" y="234289"/>
                </a:lnTo>
                <a:lnTo>
                  <a:pt x="824471" y="0"/>
                </a:lnTo>
                <a:lnTo>
                  <a:pt x="0" y="0"/>
                </a:lnTo>
                <a:lnTo>
                  <a:pt x="0" y="234289"/>
                </a:lnTo>
                <a:close/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780279" y="6013500"/>
            <a:ext cx="3854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Кей</a:t>
            </a:r>
            <a:r>
              <a:rPr sz="1050" spc="0" dirty="0">
                <a:latin typeface="Calibri"/>
                <a:cs typeface="Calibri"/>
              </a:rPr>
              <a:t>с</a:t>
            </a:r>
            <a:r>
              <a:rPr sz="1050" dirty="0">
                <a:latin typeface="Calibri"/>
                <a:cs typeface="Calibri"/>
              </a:rPr>
              <a:t>ы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79058" y="4467225"/>
            <a:ext cx="99885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7305">
              <a:lnSpc>
                <a:spcPct val="100000"/>
              </a:lnSpc>
              <a:spcBef>
                <a:spcPts val="90"/>
              </a:spcBef>
            </a:pPr>
            <a:r>
              <a:rPr sz="1400" spc="-20" dirty="0">
                <a:latin typeface="Calibri"/>
                <a:cs typeface="Calibri"/>
              </a:rPr>
              <a:t>Архитектура  </a:t>
            </a:r>
            <a:r>
              <a:rPr sz="1400" spc="-10" dirty="0">
                <a:latin typeface="Calibri"/>
                <a:cs typeface="Calibri"/>
              </a:rPr>
              <a:t>п</a:t>
            </a:r>
            <a:r>
              <a:rPr sz="1400" spc="-20" dirty="0">
                <a:latin typeface="Calibri"/>
                <a:cs typeface="Calibri"/>
              </a:rPr>
              <a:t>р</a:t>
            </a:r>
            <a:r>
              <a:rPr sz="1400" spc="-30" dirty="0">
                <a:latin typeface="Calibri"/>
                <a:cs typeface="Calibri"/>
              </a:rPr>
              <a:t>е</a:t>
            </a:r>
            <a:r>
              <a:rPr sz="1400" spc="-15" dirty="0">
                <a:latin typeface="Calibri"/>
                <a:cs typeface="Calibri"/>
              </a:rPr>
              <a:t>д</a:t>
            </a:r>
            <a:r>
              <a:rPr sz="1400" spc="-10" dirty="0">
                <a:latin typeface="Calibri"/>
                <a:cs typeface="Calibri"/>
              </a:rPr>
              <a:t>п</a:t>
            </a:r>
            <a:r>
              <a:rPr sz="1400" spc="-20" dirty="0">
                <a:latin typeface="Calibri"/>
                <a:cs typeface="Calibri"/>
              </a:rPr>
              <a:t>р</a:t>
            </a:r>
            <a:r>
              <a:rPr sz="1400" spc="-15" dirty="0">
                <a:latin typeface="Calibri"/>
                <a:cs typeface="Calibri"/>
              </a:rPr>
              <a:t>и</a:t>
            </a:r>
            <a:r>
              <a:rPr sz="1400" spc="0" dirty="0">
                <a:latin typeface="Calibri"/>
                <a:cs typeface="Calibri"/>
              </a:rPr>
              <a:t>я</a:t>
            </a:r>
            <a:r>
              <a:rPr sz="1400" spc="-20" dirty="0">
                <a:latin typeface="Calibri"/>
                <a:cs typeface="Calibri"/>
              </a:rPr>
              <a:t>т</a:t>
            </a:r>
            <a:r>
              <a:rPr sz="1400" spc="-15" dirty="0">
                <a:latin typeface="Calibri"/>
                <a:cs typeface="Calibri"/>
              </a:rPr>
              <a:t>и</a:t>
            </a:r>
            <a:r>
              <a:rPr sz="1400" spc="-5" dirty="0">
                <a:latin typeface="Calibri"/>
                <a:cs typeface="Calibri"/>
              </a:rPr>
              <a:t>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95315" y="4870322"/>
            <a:ext cx="362585" cy="209550"/>
          </a:xfrm>
          <a:custGeom>
            <a:avLst/>
            <a:gdLst/>
            <a:ahLst/>
            <a:cxnLst/>
            <a:rect l="l" t="t" r="r" b="b"/>
            <a:pathLst>
              <a:path w="362585" h="209550">
                <a:moveTo>
                  <a:pt x="61849" y="111125"/>
                </a:moveTo>
                <a:lnTo>
                  <a:pt x="56007" y="112649"/>
                </a:lnTo>
                <a:lnTo>
                  <a:pt x="53339" y="117220"/>
                </a:lnTo>
                <a:lnTo>
                  <a:pt x="0" y="207137"/>
                </a:lnTo>
                <a:lnTo>
                  <a:pt x="109727" y="209422"/>
                </a:lnTo>
                <a:lnTo>
                  <a:pt x="113095" y="206247"/>
                </a:lnTo>
                <a:lnTo>
                  <a:pt x="21082" y="206247"/>
                </a:lnTo>
                <a:lnTo>
                  <a:pt x="11811" y="189610"/>
                </a:lnTo>
                <a:lnTo>
                  <a:pt x="42646" y="172484"/>
                </a:lnTo>
                <a:lnTo>
                  <a:pt x="69723" y="126872"/>
                </a:lnTo>
                <a:lnTo>
                  <a:pt x="72389" y="122427"/>
                </a:lnTo>
                <a:lnTo>
                  <a:pt x="70865" y="116585"/>
                </a:lnTo>
                <a:lnTo>
                  <a:pt x="66421" y="113918"/>
                </a:lnTo>
                <a:lnTo>
                  <a:pt x="61849" y="111125"/>
                </a:lnTo>
                <a:close/>
              </a:path>
              <a:path w="362585" h="209550">
                <a:moveTo>
                  <a:pt x="42646" y="172484"/>
                </a:moveTo>
                <a:lnTo>
                  <a:pt x="11811" y="189610"/>
                </a:lnTo>
                <a:lnTo>
                  <a:pt x="21082" y="206247"/>
                </a:lnTo>
                <a:lnTo>
                  <a:pt x="27255" y="202819"/>
                </a:lnTo>
                <a:lnTo>
                  <a:pt x="24637" y="202819"/>
                </a:lnTo>
                <a:lnTo>
                  <a:pt x="16763" y="188340"/>
                </a:lnTo>
                <a:lnTo>
                  <a:pt x="33232" y="188340"/>
                </a:lnTo>
                <a:lnTo>
                  <a:pt x="42646" y="172484"/>
                </a:lnTo>
                <a:close/>
              </a:path>
              <a:path w="362585" h="209550">
                <a:moveTo>
                  <a:pt x="51952" y="189101"/>
                </a:moveTo>
                <a:lnTo>
                  <a:pt x="21082" y="206247"/>
                </a:lnTo>
                <a:lnTo>
                  <a:pt x="113095" y="206247"/>
                </a:lnTo>
                <a:lnTo>
                  <a:pt x="114173" y="205231"/>
                </a:lnTo>
                <a:lnTo>
                  <a:pt x="114300" y="194690"/>
                </a:lnTo>
                <a:lnTo>
                  <a:pt x="110109" y="190372"/>
                </a:lnTo>
                <a:lnTo>
                  <a:pt x="51952" y="189101"/>
                </a:lnTo>
                <a:close/>
              </a:path>
              <a:path w="362585" h="209550">
                <a:moveTo>
                  <a:pt x="16763" y="188340"/>
                </a:moveTo>
                <a:lnTo>
                  <a:pt x="24637" y="202819"/>
                </a:lnTo>
                <a:lnTo>
                  <a:pt x="33024" y="188692"/>
                </a:lnTo>
                <a:lnTo>
                  <a:pt x="16763" y="188340"/>
                </a:lnTo>
                <a:close/>
              </a:path>
              <a:path w="362585" h="209550">
                <a:moveTo>
                  <a:pt x="33024" y="188692"/>
                </a:moveTo>
                <a:lnTo>
                  <a:pt x="24637" y="202819"/>
                </a:lnTo>
                <a:lnTo>
                  <a:pt x="27255" y="202819"/>
                </a:lnTo>
                <a:lnTo>
                  <a:pt x="51952" y="189101"/>
                </a:lnTo>
                <a:lnTo>
                  <a:pt x="33024" y="188692"/>
                </a:lnTo>
                <a:close/>
              </a:path>
              <a:path w="362585" h="209550">
                <a:moveTo>
                  <a:pt x="353187" y="0"/>
                </a:moveTo>
                <a:lnTo>
                  <a:pt x="42646" y="172484"/>
                </a:lnTo>
                <a:lnTo>
                  <a:pt x="33024" y="188692"/>
                </a:lnTo>
                <a:lnTo>
                  <a:pt x="51952" y="189101"/>
                </a:lnTo>
                <a:lnTo>
                  <a:pt x="362458" y="16637"/>
                </a:lnTo>
                <a:lnTo>
                  <a:pt x="353187" y="0"/>
                </a:lnTo>
                <a:close/>
              </a:path>
              <a:path w="362585" h="209550">
                <a:moveTo>
                  <a:pt x="33232" y="188340"/>
                </a:moveTo>
                <a:lnTo>
                  <a:pt x="16763" y="188340"/>
                </a:lnTo>
                <a:lnTo>
                  <a:pt x="33024" y="188692"/>
                </a:lnTo>
                <a:lnTo>
                  <a:pt x="33232" y="18834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44676" y="992886"/>
            <a:ext cx="66484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Calibri"/>
                <a:cs typeface="Calibri"/>
              </a:rPr>
              <a:t>~</a:t>
            </a:r>
            <a:r>
              <a:rPr sz="1400" spc="-15" dirty="0">
                <a:latin typeface="Calibri"/>
                <a:cs typeface="Calibri"/>
              </a:rPr>
              <a:t>1970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spc="-5" dirty="0">
                <a:latin typeface="Calibri"/>
                <a:cs typeface="Calibri"/>
              </a:rPr>
              <a:t>е-  </a:t>
            </a:r>
            <a:r>
              <a:rPr sz="1400" spc="-10" dirty="0">
                <a:latin typeface="Calibri"/>
                <a:cs typeface="Calibri"/>
              </a:rPr>
              <a:t>80-е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1324" y="2138552"/>
            <a:ext cx="66548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Calibri"/>
                <a:cs typeface="Calibri"/>
              </a:rPr>
              <a:t>~</a:t>
            </a:r>
            <a:r>
              <a:rPr sz="1400" spc="-15" dirty="0">
                <a:latin typeface="Calibri"/>
                <a:cs typeface="Calibri"/>
              </a:rPr>
              <a:t>1980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spc="-5" dirty="0">
                <a:latin typeface="Calibri"/>
                <a:cs typeface="Calibri"/>
              </a:rPr>
              <a:t>е-  </a:t>
            </a:r>
            <a:r>
              <a:rPr sz="1400" spc="-10" dirty="0">
                <a:latin typeface="Calibri"/>
                <a:cs typeface="Calibri"/>
              </a:rPr>
              <a:t>90-е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58697" y="3454400"/>
            <a:ext cx="66484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Calibri"/>
                <a:cs typeface="Calibri"/>
              </a:rPr>
              <a:t>~</a:t>
            </a:r>
            <a:r>
              <a:rPr sz="1400" spc="-15" dirty="0">
                <a:latin typeface="Calibri"/>
                <a:cs typeface="Calibri"/>
              </a:rPr>
              <a:t>1990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spc="-5" dirty="0">
                <a:latin typeface="Calibri"/>
                <a:cs typeface="Calibri"/>
              </a:rPr>
              <a:t>е-</a:t>
            </a:r>
            <a:endParaRPr sz="14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</a:pPr>
            <a:r>
              <a:rPr sz="1400" spc="-15" dirty="0">
                <a:latin typeface="Calibri"/>
                <a:cs typeface="Calibri"/>
              </a:rPr>
              <a:t>2000-е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2004" y="5246370"/>
            <a:ext cx="5219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latin typeface="Calibri"/>
                <a:cs typeface="Calibri"/>
              </a:rPr>
              <a:t>2000-е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05507" y="1638554"/>
            <a:ext cx="2395855" cy="278765"/>
          </a:xfrm>
          <a:custGeom>
            <a:avLst/>
            <a:gdLst/>
            <a:ahLst/>
            <a:cxnLst/>
            <a:rect l="l" t="t" r="r" b="b"/>
            <a:pathLst>
              <a:path w="2395854" h="278764">
                <a:moveTo>
                  <a:pt x="2395347" y="0"/>
                </a:moveTo>
                <a:lnTo>
                  <a:pt x="0" y="0"/>
                </a:lnTo>
                <a:lnTo>
                  <a:pt x="1197609" y="278257"/>
                </a:lnTo>
                <a:lnTo>
                  <a:pt x="2395347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05507" y="1638554"/>
            <a:ext cx="2395855" cy="278765"/>
          </a:xfrm>
          <a:custGeom>
            <a:avLst/>
            <a:gdLst/>
            <a:ahLst/>
            <a:cxnLst/>
            <a:rect l="l" t="t" r="r" b="b"/>
            <a:pathLst>
              <a:path w="2395854" h="278764">
                <a:moveTo>
                  <a:pt x="0" y="0"/>
                </a:moveTo>
                <a:lnTo>
                  <a:pt x="1197609" y="278257"/>
                </a:lnTo>
                <a:lnTo>
                  <a:pt x="2395347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09698" y="2894076"/>
            <a:ext cx="2395855" cy="278765"/>
          </a:xfrm>
          <a:custGeom>
            <a:avLst/>
            <a:gdLst/>
            <a:ahLst/>
            <a:cxnLst/>
            <a:rect l="l" t="t" r="r" b="b"/>
            <a:pathLst>
              <a:path w="2395854" h="278764">
                <a:moveTo>
                  <a:pt x="2395347" y="0"/>
                </a:moveTo>
                <a:lnTo>
                  <a:pt x="0" y="0"/>
                </a:lnTo>
                <a:lnTo>
                  <a:pt x="1197737" y="278384"/>
                </a:lnTo>
                <a:lnTo>
                  <a:pt x="2395347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09698" y="2894076"/>
            <a:ext cx="2395855" cy="278765"/>
          </a:xfrm>
          <a:custGeom>
            <a:avLst/>
            <a:gdLst/>
            <a:ahLst/>
            <a:cxnLst/>
            <a:rect l="l" t="t" r="r" b="b"/>
            <a:pathLst>
              <a:path w="2395854" h="278764">
                <a:moveTo>
                  <a:pt x="0" y="0"/>
                </a:moveTo>
                <a:lnTo>
                  <a:pt x="1197737" y="278384"/>
                </a:lnTo>
                <a:lnTo>
                  <a:pt x="2395347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409698" y="4166361"/>
            <a:ext cx="2395855" cy="278765"/>
          </a:xfrm>
          <a:custGeom>
            <a:avLst/>
            <a:gdLst/>
            <a:ahLst/>
            <a:cxnLst/>
            <a:rect l="l" t="t" r="r" b="b"/>
            <a:pathLst>
              <a:path w="2395854" h="278764">
                <a:moveTo>
                  <a:pt x="2395347" y="0"/>
                </a:moveTo>
                <a:lnTo>
                  <a:pt x="0" y="0"/>
                </a:lnTo>
                <a:lnTo>
                  <a:pt x="1197737" y="278256"/>
                </a:lnTo>
                <a:lnTo>
                  <a:pt x="2395347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409698" y="4166361"/>
            <a:ext cx="2395855" cy="278765"/>
          </a:xfrm>
          <a:custGeom>
            <a:avLst/>
            <a:gdLst/>
            <a:ahLst/>
            <a:cxnLst/>
            <a:rect l="l" t="t" r="r" b="b"/>
            <a:pathLst>
              <a:path w="2395854" h="278764">
                <a:moveTo>
                  <a:pt x="0" y="0"/>
                </a:moveTo>
                <a:lnTo>
                  <a:pt x="1197737" y="278256"/>
                </a:lnTo>
                <a:lnTo>
                  <a:pt x="2395347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345171" y="3332226"/>
            <a:ext cx="12369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indent="-88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spc="-5" dirty="0">
                <a:latin typeface="Calibri"/>
                <a:cs typeface="Calibri"/>
              </a:rPr>
              <a:t>Бизнес-процессы</a:t>
            </a:r>
            <a:endParaRPr sz="1200">
              <a:latin typeface="Calibri"/>
              <a:cs typeface="Calibri"/>
            </a:endParaRPr>
          </a:p>
          <a:p>
            <a:pPr marL="100965" indent="-88265">
              <a:lnSpc>
                <a:spcPct val="100000"/>
              </a:lnSpc>
              <a:buFont typeface="Arial"/>
              <a:buChar char="•"/>
              <a:tabLst>
                <a:tab pos="101600" algn="l"/>
              </a:tabLst>
            </a:pPr>
            <a:r>
              <a:rPr sz="1200" spc="-5" dirty="0">
                <a:latin typeface="Calibri"/>
                <a:cs typeface="Calibri"/>
              </a:rPr>
              <a:t>Цели</a:t>
            </a:r>
            <a:endParaRPr sz="1200">
              <a:latin typeface="Calibri"/>
              <a:cs typeface="Calibri"/>
            </a:endParaRPr>
          </a:p>
          <a:p>
            <a:pPr marL="100965" indent="-88265">
              <a:lnSpc>
                <a:spcPct val="100000"/>
              </a:lnSpc>
              <a:buFont typeface="Arial"/>
              <a:buChar char="•"/>
              <a:tabLst>
                <a:tab pos="101600" algn="l"/>
              </a:tabLst>
            </a:pPr>
            <a:r>
              <a:rPr sz="1200" spc="-10" dirty="0">
                <a:latin typeface="Calibri"/>
                <a:cs typeface="Calibri"/>
              </a:rPr>
              <a:t>Оргструктура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31029" y="5713399"/>
            <a:ext cx="1093470" cy="234315"/>
          </a:xfrm>
          <a:custGeom>
            <a:avLst/>
            <a:gdLst/>
            <a:ahLst/>
            <a:cxnLst/>
            <a:rect l="l" t="t" r="r" b="b"/>
            <a:pathLst>
              <a:path w="1093470" h="234314">
                <a:moveTo>
                  <a:pt x="0" y="234289"/>
                </a:moveTo>
                <a:lnTo>
                  <a:pt x="1093304" y="234289"/>
                </a:lnTo>
                <a:lnTo>
                  <a:pt x="1093304" y="0"/>
                </a:lnTo>
                <a:lnTo>
                  <a:pt x="0" y="0"/>
                </a:lnTo>
                <a:lnTo>
                  <a:pt x="0" y="234289"/>
                </a:lnTo>
                <a:close/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760721" y="5731255"/>
            <a:ext cx="4362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Знания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66798" y="5751271"/>
            <a:ext cx="824865" cy="381000"/>
          </a:xfrm>
          <a:prstGeom prst="rect">
            <a:avLst/>
          </a:prstGeom>
          <a:ln w="9525">
            <a:solidFill>
              <a:srgbClr val="40404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54"/>
              </a:spcBef>
            </a:pPr>
            <a:r>
              <a:rPr sz="1000" spc="-5" dirty="0">
                <a:latin typeface="Calibri"/>
                <a:cs typeface="Calibri"/>
              </a:rPr>
              <a:t>Создание</a:t>
            </a:r>
            <a:endParaRPr sz="1000">
              <a:latin typeface="Calibri"/>
              <a:cs typeface="Calibri"/>
            </a:endParaRPr>
          </a:p>
          <a:p>
            <a:pPr marL="158115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ценности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30451" y="5429986"/>
            <a:ext cx="996315" cy="235585"/>
          </a:xfrm>
          <a:prstGeom prst="rect">
            <a:avLst/>
          </a:prstGeom>
          <a:ln w="9525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245"/>
              </a:spcBef>
            </a:pPr>
            <a:r>
              <a:rPr sz="1050" dirty="0">
                <a:latin typeface="Calibri"/>
                <a:cs typeface="Calibri"/>
              </a:rPr>
              <a:t>Сервисы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1" name="Номер слайда 5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6860" marR="508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Существующие </a:t>
            </a:r>
            <a:r>
              <a:rPr spc="-30" dirty="0"/>
              <a:t>методологии, </a:t>
            </a:r>
            <a:r>
              <a:rPr spc="-15" dirty="0"/>
              <a:t>позволяющие  </a:t>
            </a:r>
            <a:r>
              <a:rPr spc="-10" dirty="0"/>
              <a:t>работать </a:t>
            </a:r>
            <a:r>
              <a:rPr spc="-5" dirty="0"/>
              <a:t>с</a:t>
            </a:r>
            <a:r>
              <a:rPr spc="10" dirty="0"/>
              <a:t> </a:t>
            </a:r>
            <a:r>
              <a:rPr spc="-10" dirty="0"/>
              <a:t>бизнес-архитектурой</a:t>
            </a:r>
          </a:p>
        </p:txBody>
      </p:sp>
      <p:sp>
        <p:nvSpPr>
          <p:cNvPr id="4" name="object 4"/>
          <p:cNvSpPr/>
          <p:nvPr/>
        </p:nvSpPr>
        <p:spPr>
          <a:xfrm>
            <a:off x="298437" y="1012697"/>
            <a:ext cx="3327400" cy="1525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1875" y="1071625"/>
            <a:ext cx="5137150" cy="1808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20841" y="884936"/>
            <a:ext cx="2625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Component Business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4623" y="2857373"/>
            <a:ext cx="2219325" cy="25829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1474" y="2571750"/>
            <a:ext cx="2157476" cy="2311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31722" y="3424554"/>
            <a:ext cx="489584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latin typeface="Calibri"/>
                <a:cs typeface="Calibri"/>
              </a:rPr>
              <a:t>ARIS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59100" y="2751073"/>
            <a:ext cx="782955" cy="400050"/>
          </a:xfrm>
          <a:custGeom>
            <a:avLst/>
            <a:gdLst/>
            <a:ahLst/>
            <a:cxnLst/>
            <a:rect l="l" t="t" r="r" b="b"/>
            <a:pathLst>
              <a:path w="782954" h="400050">
                <a:moveTo>
                  <a:pt x="0" y="400050"/>
                </a:moveTo>
                <a:lnTo>
                  <a:pt x="782637" y="400050"/>
                </a:lnTo>
                <a:lnTo>
                  <a:pt x="782637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38982" y="2770123"/>
            <a:ext cx="59626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BMM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75375" y="3465563"/>
            <a:ext cx="2554351" cy="23256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83046" y="3062477"/>
            <a:ext cx="62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EMO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244" y="642833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</a:p>
        </p:txBody>
      </p:sp>
      <p:sp>
        <p:nvSpPr>
          <p:cNvPr id="15" name="object 15"/>
          <p:cNvSpPr/>
          <p:nvPr/>
        </p:nvSpPr>
        <p:spPr>
          <a:xfrm>
            <a:off x="2771775" y="4365129"/>
            <a:ext cx="2507361" cy="17486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Номер слайда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3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6860" marR="508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FF0000"/>
                </a:solidFill>
              </a:rPr>
              <a:t>Критерии для сравнения </a:t>
            </a:r>
            <a:r>
              <a:rPr spc="-10" dirty="0" err="1">
                <a:solidFill>
                  <a:srgbClr val="FF0000"/>
                </a:solidFill>
              </a:rPr>
              <a:t>архитектурных</a:t>
            </a:r>
            <a:r>
              <a:rPr spc="-10" dirty="0">
                <a:solidFill>
                  <a:srgbClr val="FF0000"/>
                </a:solidFill>
              </a:rPr>
              <a:t>  </a:t>
            </a:r>
            <a:r>
              <a:rPr spc="-15" dirty="0" err="1" smtClean="0">
                <a:solidFill>
                  <a:srgbClr val="FF0000"/>
                </a:solidFill>
              </a:rPr>
              <a:t>фраймворков</a:t>
            </a:r>
            <a:endParaRPr spc="-15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3532" y="908773"/>
            <a:ext cx="8595868" cy="54005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02243" y="6532574"/>
            <a:ext cx="140970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pPr marL="25400">
                <a:lnSpc>
                  <a:spcPts val="1425"/>
                </a:lnSpc>
              </a:pPr>
              <a:t>4</a:t>
            </a:fld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49663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Сравниваемые</a:t>
            </a:r>
            <a:r>
              <a:rPr spc="-25" dirty="0"/>
              <a:t> </a:t>
            </a:r>
            <a:r>
              <a:rPr spc="-30" dirty="0"/>
              <a:t>методологии</a:t>
            </a:r>
          </a:p>
        </p:txBody>
      </p:sp>
      <p:sp>
        <p:nvSpPr>
          <p:cNvPr id="4" name="object 4"/>
          <p:cNvSpPr/>
          <p:nvPr/>
        </p:nvSpPr>
        <p:spPr>
          <a:xfrm>
            <a:off x="2483739" y="1546860"/>
            <a:ext cx="1219530" cy="4690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68161" y="4221098"/>
            <a:ext cx="1285874" cy="952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267" y="1070813"/>
            <a:ext cx="8102600" cy="282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Glissman, S., </a:t>
            </a:r>
            <a:r>
              <a:rPr sz="1800" dirty="0">
                <a:latin typeface="Calibri"/>
                <a:cs typeface="Calibri"/>
              </a:rPr>
              <a:t>&amp; </a:t>
            </a:r>
            <a:r>
              <a:rPr sz="1800" spc="-5" dirty="0">
                <a:latin typeface="Calibri"/>
                <a:cs typeface="Calibri"/>
              </a:rPr>
              <a:t>Sanz, </a:t>
            </a:r>
            <a:r>
              <a:rPr sz="1800" spc="-15" dirty="0">
                <a:latin typeface="Calibri"/>
                <a:cs typeface="Calibri"/>
              </a:rPr>
              <a:t>J. </a:t>
            </a:r>
            <a:r>
              <a:rPr sz="1800" spc="-5" dirty="0">
                <a:latin typeface="Calibri"/>
                <a:cs typeface="Calibri"/>
              </a:rPr>
              <a:t>(2009). </a:t>
            </a:r>
            <a:r>
              <a:rPr sz="1800" i="1" dirty="0">
                <a:latin typeface="Calibri"/>
                <a:cs typeface="Calibri"/>
              </a:rPr>
              <a:t>A </a:t>
            </a:r>
            <a:r>
              <a:rPr sz="1800" i="1" spc="-10" dirty="0">
                <a:latin typeface="Calibri"/>
                <a:cs typeface="Calibri"/>
              </a:rPr>
              <a:t>comparative </a:t>
            </a:r>
            <a:r>
              <a:rPr sz="1800" i="1" spc="-5" dirty="0">
                <a:latin typeface="Calibri"/>
                <a:cs typeface="Calibri"/>
              </a:rPr>
              <a:t>review </a:t>
            </a:r>
            <a:r>
              <a:rPr sz="1800" i="1" spc="-10" dirty="0">
                <a:latin typeface="Calibri"/>
                <a:cs typeface="Calibri"/>
              </a:rPr>
              <a:t>of </a:t>
            </a:r>
            <a:r>
              <a:rPr sz="1800" i="1" spc="-5" dirty="0">
                <a:latin typeface="Calibri"/>
                <a:cs typeface="Calibri"/>
              </a:rPr>
              <a:t>business architecture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IBM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Research</a:t>
            </a:r>
            <a:r>
              <a:rPr sz="1800" spc="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Report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4364990" marR="5080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Kudryavtsev, </a:t>
            </a:r>
            <a:r>
              <a:rPr sz="1800" spc="-20" dirty="0">
                <a:latin typeface="Calibri"/>
                <a:cs typeface="Calibri"/>
              </a:rPr>
              <a:t>D., </a:t>
            </a:r>
            <a:r>
              <a:rPr sz="1800" spc="-25" dirty="0">
                <a:latin typeface="Calibri"/>
                <a:cs typeface="Calibri"/>
              </a:rPr>
              <a:t>Grigoriev, </a:t>
            </a:r>
            <a:r>
              <a:rPr sz="1800" dirty="0">
                <a:latin typeface="Calibri"/>
                <a:cs typeface="Calibri"/>
              </a:rPr>
              <a:t>L. </a:t>
            </a:r>
            <a:r>
              <a:rPr sz="1800" u="heavy" spc="-1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Ontology- 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based business </a:t>
            </a:r>
            <a:r>
              <a:rPr sz="1800" u="heavy" spc="-15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architecture </a:t>
            </a:r>
            <a:r>
              <a:rPr sz="1800" u="heavy" spc="-1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engineering 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technology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1800" spc="-5" dirty="0">
                <a:latin typeface="Calibri"/>
                <a:cs typeface="Calibri"/>
              </a:rPr>
              <a:t>// The </a:t>
            </a:r>
            <a:r>
              <a:rPr sz="1800" dirty="0">
                <a:latin typeface="Calibri"/>
                <a:cs typeface="Calibri"/>
              </a:rPr>
              <a:t>10th </a:t>
            </a:r>
            <a:r>
              <a:rPr sz="1800" spc="-15" dirty="0">
                <a:latin typeface="Calibri"/>
                <a:cs typeface="Calibri"/>
              </a:rPr>
              <a:t>International  Conference </a:t>
            </a:r>
            <a:r>
              <a:rPr sz="1800" dirty="0">
                <a:latin typeface="Calibri"/>
                <a:cs typeface="Calibri"/>
              </a:rPr>
              <a:t>on </a:t>
            </a:r>
            <a:r>
              <a:rPr sz="1800" spc="-20" dirty="0">
                <a:latin typeface="Calibri"/>
                <a:cs typeface="Calibri"/>
              </a:rPr>
              <a:t>Intelligent </a:t>
            </a:r>
            <a:r>
              <a:rPr sz="1800" spc="-10" dirty="0">
                <a:latin typeface="Calibri"/>
                <a:cs typeface="Calibri"/>
              </a:rPr>
              <a:t>Software  Methodologies, </a:t>
            </a:r>
            <a:r>
              <a:rPr sz="1800" spc="-35" dirty="0">
                <a:latin typeface="Calibri"/>
                <a:cs typeface="Calibri"/>
              </a:rPr>
              <a:t>Tools </a:t>
            </a:r>
            <a:r>
              <a:rPr sz="1800" spc="-5" dirty="0">
                <a:latin typeface="Calibri"/>
                <a:cs typeface="Calibri"/>
              </a:rPr>
              <a:t>and </a:t>
            </a:r>
            <a:r>
              <a:rPr sz="1800" spc="-25" dirty="0">
                <a:latin typeface="Calibri"/>
                <a:cs typeface="Calibri"/>
              </a:rPr>
              <a:t>Techniques,  </a:t>
            </a:r>
            <a:r>
              <a:rPr sz="1800" spc="-15" dirty="0">
                <a:latin typeface="Calibri"/>
                <a:cs typeface="Calibri"/>
              </a:rPr>
              <a:t>September </a:t>
            </a:r>
            <a:r>
              <a:rPr sz="1800" dirty="0">
                <a:latin typeface="Calibri"/>
                <a:cs typeface="Calibri"/>
              </a:rPr>
              <a:t>28-30, 2011. </a:t>
            </a:r>
            <a:r>
              <a:rPr sz="1800" spc="-120" dirty="0">
                <a:latin typeface="Calibri"/>
                <a:cs typeface="Calibri"/>
              </a:rPr>
              <a:t>P.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233-252.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02243" y="6532574"/>
            <a:ext cx="140970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pPr marL="25400">
                <a:lnSpc>
                  <a:spcPts val="1425"/>
                </a:lnSpc>
              </a:pPr>
              <a:t>5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3346" y="4302328"/>
            <a:ext cx="27940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0" dirty="0">
                <a:latin typeface="Calibri"/>
                <a:cs typeface="Calibri"/>
              </a:rPr>
              <a:t>+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10166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Охват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2243" y="6532574"/>
            <a:ext cx="140970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pPr marL="25400">
                <a:lnSpc>
                  <a:spcPts val="1425"/>
                </a:lnSpc>
              </a:pPr>
              <a:t>6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370" y="1223263"/>
            <a:ext cx="8103870" cy="4888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9280" indent="-514984">
              <a:lnSpc>
                <a:spcPts val="2375"/>
              </a:lnSpc>
              <a:spcBef>
                <a:spcPts val="105"/>
              </a:spcBef>
              <a:buAutoNum type="arabicPeriod"/>
              <a:tabLst>
                <a:tab pos="589280" algn="l"/>
                <a:tab pos="589915" algn="l"/>
              </a:tabLst>
            </a:pPr>
            <a:r>
              <a:rPr sz="2200" b="1" spc="-5" dirty="0">
                <a:latin typeface="Calibri"/>
                <a:cs typeface="Calibri"/>
              </a:rPr>
              <a:t>Стратегия </a:t>
            </a:r>
            <a:r>
              <a:rPr sz="2200" b="1" dirty="0">
                <a:latin typeface="Calibri"/>
                <a:cs typeface="Calibri"/>
              </a:rPr>
              <a:t>и </a:t>
            </a:r>
            <a:r>
              <a:rPr sz="2200" b="1" spc="-5" dirty="0">
                <a:latin typeface="Calibri"/>
                <a:cs typeface="Calibri"/>
              </a:rPr>
              <a:t>структура: </a:t>
            </a:r>
            <a:r>
              <a:rPr sz="2200" spc="-15" dirty="0">
                <a:latin typeface="Calibri"/>
                <a:cs typeface="Calibri"/>
              </a:rPr>
              <a:t>цели </a:t>
            </a:r>
            <a:r>
              <a:rPr sz="2200" dirty="0">
                <a:latin typeface="Calibri"/>
                <a:cs typeface="Calibri"/>
              </a:rPr>
              <a:t>и стратегии,</a:t>
            </a:r>
            <a:r>
              <a:rPr sz="2200" spc="-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стратегический</a:t>
            </a:r>
            <a:endParaRPr sz="2200">
              <a:latin typeface="Calibri"/>
              <a:cs typeface="Calibri"/>
            </a:endParaRPr>
          </a:p>
          <a:p>
            <a:pPr marL="589280" marR="344170" algn="just">
              <a:lnSpc>
                <a:spcPct val="80000"/>
              </a:lnSpc>
              <a:spcBef>
                <a:spcPts val="260"/>
              </a:spcBef>
            </a:pPr>
            <a:r>
              <a:rPr sz="2200" spc="-5" dirty="0">
                <a:latin typeface="Calibri"/>
                <a:cs typeface="Calibri"/>
              </a:rPr>
              <a:t>процесс, взаимодействие </a:t>
            </a:r>
            <a:r>
              <a:rPr sz="2200" dirty="0">
                <a:latin typeface="Calibri"/>
                <a:cs typeface="Calibri"/>
              </a:rPr>
              <a:t>с заинтересованными</a:t>
            </a:r>
            <a:r>
              <a:rPr sz="2200" spc="-1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сторонами,  декомпозиция </a:t>
            </a:r>
            <a:r>
              <a:rPr sz="2200" dirty="0">
                <a:latin typeface="Calibri"/>
                <a:cs typeface="Calibri"/>
              </a:rPr>
              <a:t>организации </a:t>
            </a:r>
            <a:r>
              <a:rPr sz="2200" spc="0" dirty="0">
                <a:latin typeface="Calibri"/>
                <a:cs typeface="Calibri"/>
              </a:rPr>
              <a:t>на </a:t>
            </a:r>
            <a:r>
              <a:rPr sz="2200" dirty="0">
                <a:latin typeface="Calibri"/>
                <a:cs typeface="Calibri"/>
              </a:rPr>
              <a:t>организационные единицы,  </a:t>
            </a:r>
            <a:r>
              <a:rPr sz="2200" spc="-5" dirty="0">
                <a:latin typeface="Calibri"/>
                <a:cs typeface="Calibri"/>
              </a:rPr>
              <a:t>governance),</a:t>
            </a:r>
            <a:endParaRPr sz="2200">
              <a:latin typeface="Calibri"/>
              <a:cs typeface="Calibri"/>
            </a:endParaRPr>
          </a:p>
          <a:p>
            <a:pPr marL="589280" marR="5080" indent="-514984" algn="just">
              <a:lnSpc>
                <a:spcPct val="80100"/>
              </a:lnSpc>
              <a:spcBef>
                <a:spcPts val="525"/>
              </a:spcBef>
              <a:buAutoNum type="arabicPeriod" startAt="2"/>
              <a:tabLst>
                <a:tab pos="589915" algn="l"/>
                <a:tab pos="2718435" algn="l"/>
              </a:tabLst>
            </a:pPr>
            <a:r>
              <a:rPr sz="2200" b="1" spc="-5" dirty="0">
                <a:latin typeface="Calibri"/>
                <a:cs typeface="Calibri"/>
              </a:rPr>
              <a:t>Бизнес-сеть	(взаимодействие </a:t>
            </a:r>
            <a:r>
              <a:rPr sz="2200" b="1" dirty="0">
                <a:latin typeface="Calibri"/>
                <a:cs typeface="Calibri"/>
              </a:rPr>
              <a:t>с партнерами): </a:t>
            </a:r>
            <a:r>
              <a:rPr sz="2200" dirty="0">
                <a:latin typeface="Calibri"/>
                <a:cs typeface="Calibri"/>
              </a:rPr>
              <a:t>описывает  </a:t>
            </a:r>
            <a:r>
              <a:rPr sz="2200" spc="-5" dirty="0">
                <a:latin typeface="Calibri"/>
                <a:cs typeface="Calibri"/>
              </a:rPr>
              <a:t>взаимодействие компании </a:t>
            </a:r>
            <a:r>
              <a:rPr sz="2200" dirty="0">
                <a:latin typeface="Calibri"/>
                <a:cs typeface="Calibri"/>
              </a:rPr>
              <a:t>с партнерами и клиентами, а</a:t>
            </a:r>
            <a:r>
              <a:rPr sz="2200" spc="-2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также  влияние </a:t>
            </a:r>
            <a:r>
              <a:rPr sz="2200" dirty="0">
                <a:latin typeface="Calibri"/>
                <a:cs typeface="Calibri"/>
              </a:rPr>
              <a:t>партнеров на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компанию,</a:t>
            </a:r>
            <a:endParaRPr sz="2200">
              <a:latin typeface="Calibri"/>
              <a:cs typeface="Calibri"/>
            </a:endParaRPr>
          </a:p>
          <a:p>
            <a:pPr marL="589280" marR="81280" indent="-514984">
              <a:lnSpc>
                <a:spcPts val="2110"/>
              </a:lnSpc>
              <a:spcBef>
                <a:spcPts val="515"/>
              </a:spcBef>
              <a:buAutoNum type="arabicPeriod" startAt="2"/>
              <a:tabLst>
                <a:tab pos="589280" algn="l"/>
                <a:tab pos="589915" algn="l"/>
              </a:tabLst>
            </a:pPr>
            <a:r>
              <a:rPr sz="2200" b="1" spc="-5" dirty="0">
                <a:latin typeface="Calibri"/>
                <a:cs typeface="Calibri"/>
              </a:rPr>
              <a:t>Операции: п</a:t>
            </a:r>
            <a:r>
              <a:rPr sz="2200" spc="-5" dirty="0">
                <a:latin typeface="Calibri"/>
                <a:cs typeface="Calibri"/>
              </a:rPr>
              <a:t>овторяющаяся </a:t>
            </a:r>
            <a:r>
              <a:rPr sz="2200" spc="-10" dirty="0">
                <a:latin typeface="Calibri"/>
                <a:cs typeface="Calibri"/>
              </a:rPr>
              <a:t>деятельности </a:t>
            </a:r>
            <a:r>
              <a:rPr sz="2200" dirty="0">
                <a:latin typeface="Calibri"/>
                <a:cs typeface="Calibri"/>
              </a:rPr>
              <a:t>компании, </a:t>
            </a:r>
            <a:r>
              <a:rPr sz="2200" spc="-10" dirty="0">
                <a:latin typeface="Calibri"/>
                <a:cs typeface="Calibri"/>
              </a:rPr>
              <a:t>которая  </a:t>
            </a:r>
            <a:r>
              <a:rPr sz="2200" spc="-5" dirty="0">
                <a:latin typeface="Calibri"/>
                <a:cs typeface="Calibri"/>
              </a:rPr>
              <a:t>потребляет </a:t>
            </a:r>
            <a:r>
              <a:rPr sz="2200" dirty="0">
                <a:latin typeface="Calibri"/>
                <a:cs typeface="Calibri"/>
              </a:rPr>
              <a:t>ресурсы и способности (capabilities) </a:t>
            </a:r>
            <a:r>
              <a:rPr sz="2200" spc="-5" dirty="0">
                <a:latin typeface="Calibri"/>
                <a:cs typeface="Calibri"/>
              </a:rPr>
              <a:t>компании</a:t>
            </a:r>
            <a:r>
              <a:rPr sz="2200" spc="-2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для  создания </a:t>
            </a:r>
            <a:r>
              <a:rPr sz="2200" spc="-15" dirty="0">
                <a:latin typeface="Calibri"/>
                <a:cs typeface="Calibri"/>
              </a:rPr>
              <a:t>результата </a:t>
            </a:r>
            <a:r>
              <a:rPr sz="2200" spc="0" dirty="0">
                <a:latin typeface="Calibri"/>
                <a:cs typeface="Calibri"/>
              </a:rPr>
              <a:t>на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выходе;</a:t>
            </a:r>
            <a:endParaRPr sz="2200">
              <a:latin typeface="Calibri"/>
              <a:cs typeface="Calibri"/>
            </a:endParaRPr>
          </a:p>
          <a:p>
            <a:pPr marL="589280" marR="585470" indent="-514984">
              <a:lnSpc>
                <a:spcPts val="2110"/>
              </a:lnSpc>
              <a:spcBef>
                <a:spcPts val="530"/>
              </a:spcBef>
              <a:buAutoNum type="arabicPeriod" startAt="2"/>
              <a:tabLst>
                <a:tab pos="589280" algn="l"/>
                <a:tab pos="589915" algn="l"/>
              </a:tabLst>
            </a:pPr>
            <a:r>
              <a:rPr sz="2200" b="1" spc="-20" dirty="0">
                <a:latin typeface="Calibri"/>
                <a:cs typeface="Calibri"/>
              </a:rPr>
              <a:t>Модель </a:t>
            </a:r>
            <a:r>
              <a:rPr sz="2200" b="1" dirty="0">
                <a:latin typeface="Calibri"/>
                <a:cs typeface="Calibri"/>
              </a:rPr>
              <a:t>эффективности и </a:t>
            </a:r>
            <a:r>
              <a:rPr sz="2200" b="1" spc="-25" dirty="0">
                <a:latin typeface="Calibri"/>
                <a:cs typeface="Calibri"/>
              </a:rPr>
              <a:t>доходов: </a:t>
            </a:r>
            <a:r>
              <a:rPr sz="2200" dirty="0">
                <a:latin typeface="Calibri"/>
                <a:cs typeface="Calibri"/>
              </a:rPr>
              <a:t>финансовая позиция  </a:t>
            </a:r>
            <a:r>
              <a:rPr sz="2200" spc="-5" dirty="0">
                <a:latin typeface="Calibri"/>
                <a:cs typeface="Calibri"/>
              </a:rPr>
              <a:t>компании, </a:t>
            </a:r>
            <a:r>
              <a:rPr sz="2200" dirty="0">
                <a:latin typeface="Calibri"/>
                <a:cs typeface="Calibri"/>
              </a:rPr>
              <a:t>финансовые ресурсы, конфигурация</a:t>
            </a:r>
            <a:r>
              <a:rPr sz="2200" spc="-1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ценности,  финансовые силы, ограничения, </a:t>
            </a:r>
            <a:r>
              <a:rPr sz="2200" spc="-15" dirty="0">
                <a:latin typeface="Calibri"/>
                <a:cs typeface="Calibri"/>
              </a:rPr>
              <a:t>цели,</a:t>
            </a:r>
            <a:r>
              <a:rPr sz="2200" spc="-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метрики.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 marR="98425">
              <a:lnSpc>
                <a:spcPct val="100000"/>
              </a:lnSpc>
              <a:spcBef>
                <a:spcPts val="1864"/>
              </a:spcBef>
            </a:pPr>
            <a:r>
              <a:rPr sz="1800" spc="-10" dirty="0">
                <a:latin typeface="Calibri"/>
                <a:cs typeface="Calibri"/>
              </a:rPr>
              <a:t>Tikkanen, </a:t>
            </a:r>
            <a:r>
              <a:rPr sz="1800" spc="-5" dirty="0">
                <a:latin typeface="Calibri"/>
                <a:cs typeface="Calibri"/>
              </a:rPr>
              <a:t>H., Lamberg, </a:t>
            </a:r>
            <a:r>
              <a:rPr sz="1800" spc="-15" dirty="0">
                <a:latin typeface="Calibri"/>
                <a:cs typeface="Calibri"/>
              </a:rPr>
              <a:t>J. </a:t>
            </a:r>
            <a:r>
              <a:rPr sz="1800" spc="-5" dirty="0">
                <a:latin typeface="Calibri"/>
                <a:cs typeface="Calibri"/>
              </a:rPr>
              <a:t>A., </a:t>
            </a:r>
            <a:r>
              <a:rPr sz="1800" spc="-10" dirty="0">
                <a:latin typeface="Calibri"/>
                <a:cs typeface="Calibri"/>
              </a:rPr>
              <a:t>Parvinen, </a:t>
            </a:r>
            <a:r>
              <a:rPr sz="1800" spc="-80" dirty="0">
                <a:latin typeface="Calibri"/>
                <a:cs typeface="Calibri"/>
              </a:rPr>
              <a:t>P., </a:t>
            </a:r>
            <a:r>
              <a:rPr sz="1800" dirty="0">
                <a:latin typeface="Calibri"/>
                <a:cs typeface="Calibri"/>
              </a:rPr>
              <a:t>&amp; </a:t>
            </a:r>
            <a:r>
              <a:rPr sz="1800" spc="-10" dirty="0">
                <a:latin typeface="Calibri"/>
                <a:cs typeface="Calibri"/>
              </a:rPr>
              <a:t>Kallunki, </a:t>
            </a:r>
            <a:r>
              <a:rPr sz="1800" spc="-15" dirty="0">
                <a:latin typeface="Calibri"/>
                <a:cs typeface="Calibri"/>
              </a:rPr>
              <a:t>J. </a:t>
            </a:r>
            <a:r>
              <a:rPr sz="1800" spc="-114" dirty="0">
                <a:latin typeface="Calibri"/>
                <a:cs typeface="Calibri"/>
              </a:rPr>
              <a:t>P. </a:t>
            </a:r>
            <a:r>
              <a:rPr sz="1800" dirty="0">
                <a:latin typeface="Calibri"/>
                <a:cs typeface="Calibri"/>
              </a:rPr>
              <a:t>(2005). </a:t>
            </a:r>
            <a:r>
              <a:rPr sz="1800" spc="-10" dirty="0">
                <a:latin typeface="Calibri"/>
                <a:cs typeface="Calibri"/>
              </a:rPr>
              <a:t>Managerial cognition,  </a:t>
            </a:r>
            <a:r>
              <a:rPr sz="1800" spc="-5" dirty="0">
                <a:latin typeface="Calibri"/>
                <a:cs typeface="Calibri"/>
              </a:rPr>
              <a:t>action and the </a:t>
            </a:r>
            <a:r>
              <a:rPr sz="1800" spc="-10" dirty="0">
                <a:latin typeface="Calibri"/>
                <a:cs typeface="Calibri"/>
              </a:rPr>
              <a:t>business </a:t>
            </a:r>
            <a:r>
              <a:rPr sz="1800" spc="-5" dirty="0">
                <a:latin typeface="Calibri"/>
                <a:cs typeface="Calibri"/>
              </a:rPr>
              <a:t>model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5" dirty="0">
                <a:latin typeface="Calibri"/>
                <a:cs typeface="Calibri"/>
              </a:rPr>
              <a:t>the firm. </a:t>
            </a:r>
            <a:r>
              <a:rPr sz="1800" i="1" spc="-5" dirty="0">
                <a:latin typeface="Calibri"/>
                <a:cs typeface="Calibri"/>
              </a:rPr>
              <a:t>Management Decision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i="1" spc="-5" dirty="0">
                <a:latin typeface="Calibri"/>
                <a:cs typeface="Calibri"/>
              </a:rPr>
              <a:t>43</a:t>
            </a:r>
            <a:r>
              <a:rPr sz="1800" spc="-5" dirty="0">
                <a:latin typeface="Calibri"/>
                <a:cs typeface="Calibri"/>
              </a:rPr>
              <a:t>(6),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789-809.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088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6860" marR="508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Сравнение </a:t>
            </a:r>
            <a:r>
              <a:rPr spc="-15" dirty="0"/>
              <a:t>существующих </a:t>
            </a:r>
            <a:r>
              <a:rPr spc="-35" dirty="0"/>
              <a:t>методологий </a:t>
            </a:r>
            <a:r>
              <a:rPr spc="-10" dirty="0"/>
              <a:t>работы </a:t>
            </a:r>
            <a:r>
              <a:rPr spc="-5" dirty="0"/>
              <a:t>с  </a:t>
            </a:r>
            <a:r>
              <a:rPr spc="-10" dirty="0" err="1" smtClean="0"/>
              <a:t>бизнес-архитектурой</a:t>
            </a:r>
            <a:endParaRPr spc="-15" dirty="0"/>
          </a:p>
        </p:txBody>
      </p:sp>
      <p:sp>
        <p:nvSpPr>
          <p:cNvPr id="4" name="object 4"/>
          <p:cNvSpPr/>
          <p:nvPr/>
        </p:nvSpPr>
        <p:spPr>
          <a:xfrm>
            <a:off x="0" y="6273252"/>
            <a:ext cx="9144000" cy="584835"/>
          </a:xfrm>
          <a:custGeom>
            <a:avLst/>
            <a:gdLst/>
            <a:ahLst/>
            <a:cxnLst/>
            <a:rect l="l" t="t" r="r" b="b"/>
            <a:pathLst>
              <a:path w="9144000" h="584834">
                <a:moveTo>
                  <a:pt x="0" y="584771"/>
                </a:moveTo>
                <a:lnTo>
                  <a:pt x="9144000" y="584771"/>
                </a:lnTo>
                <a:lnTo>
                  <a:pt x="9144000" y="0"/>
                </a:lnTo>
                <a:lnTo>
                  <a:pt x="0" y="0"/>
                </a:lnTo>
                <a:lnTo>
                  <a:pt x="0" y="584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971550"/>
            <a:ext cx="8258175" cy="4914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1761" y="6092659"/>
            <a:ext cx="8484870" cy="451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600" spc="-5" dirty="0">
                <a:latin typeface="Calibri"/>
                <a:cs typeface="Calibri"/>
              </a:rPr>
              <a:t>Glissmann </a:t>
            </a:r>
            <a:r>
              <a:rPr sz="1600" dirty="0">
                <a:latin typeface="Calibri"/>
                <a:cs typeface="Calibri"/>
              </a:rPr>
              <a:t>S., Sanz </a:t>
            </a:r>
            <a:r>
              <a:rPr sz="1600" spc="-15" dirty="0">
                <a:latin typeface="Calibri"/>
                <a:cs typeface="Calibri"/>
              </a:rPr>
              <a:t>J., </a:t>
            </a:r>
            <a:r>
              <a:rPr sz="1600" spc="-10" dirty="0">
                <a:latin typeface="Calibri"/>
                <a:cs typeface="Calibri"/>
              </a:rPr>
              <a:t>Business </a:t>
            </a:r>
            <a:r>
              <a:rPr sz="1600" spc="-15" dirty="0">
                <a:latin typeface="Calibri"/>
                <a:cs typeface="Calibri"/>
              </a:rPr>
              <a:t>Architectures for </a:t>
            </a:r>
            <a:r>
              <a:rPr sz="1600" spc="-5" dirty="0">
                <a:latin typeface="Calibri"/>
                <a:cs typeface="Calibri"/>
              </a:rPr>
              <a:t>the Design of </a:t>
            </a:r>
            <a:r>
              <a:rPr sz="1600" spc="-10" dirty="0">
                <a:latin typeface="Calibri"/>
                <a:cs typeface="Calibri"/>
              </a:rPr>
              <a:t>Enterprise </a:t>
            </a:r>
            <a:r>
              <a:rPr sz="1600" spc="-5" dirty="0">
                <a:latin typeface="Calibri"/>
                <a:cs typeface="Calibri"/>
              </a:rPr>
              <a:t>Service </a:t>
            </a:r>
            <a:r>
              <a:rPr sz="1600" spc="-15" dirty="0">
                <a:latin typeface="Calibri"/>
                <a:cs typeface="Calibri"/>
              </a:rPr>
              <a:t>Systems, </a:t>
            </a:r>
            <a:r>
              <a:rPr sz="1600" spc="-5" dirty="0">
                <a:latin typeface="Calibri"/>
                <a:cs typeface="Calibri"/>
              </a:rPr>
              <a:t>Handbook</a:t>
            </a:r>
            <a:r>
              <a:rPr sz="1600" spc="3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Service Science, </a:t>
            </a:r>
            <a:r>
              <a:rPr sz="1600" spc="-15" dirty="0">
                <a:latin typeface="Calibri"/>
                <a:cs typeface="Calibri"/>
              </a:rPr>
              <a:t>Boston, </a:t>
            </a:r>
            <a:r>
              <a:rPr sz="1600" dirty="0">
                <a:latin typeface="Calibri"/>
                <a:cs typeface="Calibri"/>
              </a:rPr>
              <a:t>MA: </a:t>
            </a:r>
            <a:r>
              <a:rPr sz="1600" spc="-10" dirty="0">
                <a:latin typeface="Calibri"/>
                <a:cs typeface="Calibri"/>
              </a:rPr>
              <a:t>Springer </a:t>
            </a:r>
            <a:r>
              <a:rPr sz="1600" dirty="0">
                <a:latin typeface="Calibri"/>
                <a:cs typeface="Calibri"/>
              </a:rPr>
              <a:t>US, 2010, </a:t>
            </a:r>
            <a:r>
              <a:rPr sz="1600" spc="-5" dirty="0">
                <a:latin typeface="Calibri"/>
                <a:cs typeface="Calibri"/>
              </a:rPr>
              <a:t>pp. </a:t>
            </a:r>
            <a:r>
              <a:rPr sz="1600" spc="0" dirty="0">
                <a:latin typeface="Calibri"/>
                <a:cs typeface="Calibri"/>
              </a:rPr>
              <a:t>251-282. 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7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73252"/>
            <a:ext cx="9144000" cy="584835"/>
          </a:xfrm>
          <a:custGeom>
            <a:avLst/>
            <a:gdLst/>
            <a:ahLst/>
            <a:cxnLst/>
            <a:rect l="l" t="t" r="r" b="b"/>
            <a:pathLst>
              <a:path w="9144000" h="584834">
                <a:moveTo>
                  <a:pt x="0" y="584771"/>
                </a:moveTo>
                <a:lnTo>
                  <a:pt x="9144000" y="584771"/>
                </a:lnTo>
                <a:lnTo>
                  <a:pt x="9144000" y="0"/>
                </a:lnTo>
                <a:lnTo>
                  <a:pt x="0" y="0"/>
                </a:lnTo>
                <a:lnTo>
                  <a:pt x="0" y="584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7224" y="785774"/>
            <a:ext cx="7629525" cy="5500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1761" y="6384291"/>
            <a:ext cx="8484870" cy="451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600" spc="-5" dirty="0">
                <a:latin typeface="Calibri"/>
                <a:cs typeface="Calibri"/>
              </a:rPr>
              <a:t>Glissmann </a:t>
            </a:r>
            <a:r>
              <a:rPr sz="1600" dirty="0">
                <a:latin typeface="Calibri"/>
                <a:cs typeface="Calibri"/>
              </a:rPr>
              <a:t>S., Sanz </a:t>
            </a:r>
            <a:r>
              <a:rPr sz="1600" spc="-15" dirty="0">
                <a:latin typeface="Calibri"/>
                <a:cs typeface="Calibri"/>
              </a:rPr>
              <a:t>J., </a:t>
            </a:r>
            <a:r>
              <a:rPr sz="1600" spc="-10" dirty="0">
                <a:latin typeface="Calibri"/>
                <a:cs typeface="Calibri"/>
              </a:rPr>
              <a:t>Business </a:t>
            </a:r>
            <a:r>
              <a:rPr sz="1600" spc="-15" dirty="0">
                <a:latin typeface="Calibri"/>
                <a:cs typeface="Calibri"/>
              </a:rPr>
              <a:t>Architectures for </a:t>
            </a:r>
            <a:r>
              <a:rPr sz="1600" spc="-5" dirty="0">
                <a:latin typeface="Calibri"/>
                <a:cs typeface="Calibri"/>
              </a:rPr>
              <a:t>the Design of </a:t>
            </a:r>
            <a:r>
              <a:rPr sz="1600" spc="-10" dirty="0">
                <a:latin typeface="Calibri"/>
                <a:cs typeface="Calibri"/>
              </a:rPr>
              <a:t>Enterprise </a:t>
            </a:r>
            <a:r>
              <a:rPr sz="1600" spc="-5" dirty="0">
                <a:latin typeface="Calibri"/>
                <a:cs typeface="Calibri"/>
              </a:rPr>
              <a:t>Service </a:t>
            </a:r>
            <a:r>
              <a:rPr sz="1600" spc="-15" dirty="0">
                <a:latin typeface="Calibri"/>
                <a:cs typeface="Calibri"/>
              </a:rPr>
              <a:t>Systems, </a:t>
            </a:r>
            <a:r>
              <a:rPr sz="1600" spc="-5" dirty="0">
                <a:latin typeface="Calibri"/>
                <a:cs typeface="Calibri"/>
              </a:rPr>
              <a:t>Handbook</a:t>
            </a:r>
            <a:r>
              <a:rPr sz="1600" spc="3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Service Science, </a:t>
            </a:r>
            <a:r>
              <a:rPr sz="1600" spc="-15" dirty="0">
                <a:latin typeface="Calibri"/>
                <a:cs typeface="Calibri"/>
              </a:rPr>
              <a:t>Boston, </a:t>
            </a:r>
            <a:r>
              <a:rPr sz="1600" dirty="0">
                <a:latin typeface="Calibri"/>
                <a:cs typeface="Calibri"/>
              </a:rPr>
              <a:t>MA: </a:t>
            </a:r>
            <a:r>
              <a:rPr sz="1600" spc="-10" dirty="0">
                <a:latin typeface="Calibri"/>
                <a:cs typeface="Calibri"/>
              </a:rPr>
              <a:t>Springer </a:t>
            </a:r>
            <a:r>
              <a:rPr sz="1600" dirty="0">
                <a:latin typeface="Calibri"/>
                <a:cs typeface="Calibri"/>
              </a:rPr>
              <a:t>US, 2010, </a:t>
            </a:r>
            <a:r>
              <a:rPr sz="1600" spc="-5" dirty="0">
                <a:latin typeface="Calibri"/>
                <a:cs typeface="Calibri"/>
              </a:rPr>
              <a:t>pp. </a:t>
            </a:r>
            <a:r>
              <a:rPr sz="1600" spc="0" dirty="0">
                <a:latin typeface="Calibri"/>
                <a:cs typeface="Calibri"/>
              </a:rPr>
              <a:t>251-282. 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8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435727" y="4166501"/>
            <a:ext cx="3384423" cy="2126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14090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В</a:t>
            </a:r>
            <a:r>
              <a:rPr spc="-10" dirty="0"/>
              <a:t>ы</a:t>
            </a:r>
            <a:r>
              <a:rPr spc="0" dirty="0"/>
              <a:t>в</a:t>
            </a:r>
            <a:r>
              <a:rPr spc="-110" dirty="0"/>
              <a:t>о</a:t>
            </a:r>
            <a:r>
              <a:rPr spc="-10" dirty="0"/>
              <a:t>ды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244" y="1068268"/>
            <a:ext cx="7929880" cy="29286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Calibri"/>
                <a:cs typeface="Calibri"/>
              </a:rPr>
              <a:t>Нет </a:t>
            </a:r>
            <a:r>
              <a:rPr sz="2800" spc="-20" dirty="0">
                <a:latin typeface="Calibri"/>
                <a:cs typeface="Calibri"/>
              </a:rPr>
              <a:t>методологии,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которая:</a:t>
            </a:r>
            <a:endParaRPr sz="2800" dirty="0">
              <a:latin typeface="Calibri"/>
              <a:cs typeface="Calibri"/>
            </a:endParaRPr>
          </a:p>
          <a:p>
            <a:pPr marL="356870" marR="808990" indent="-34417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ru-RU" sz="2800" spc="-5" dirty="0" smtClean="0">
                <a:latin typeface="Calibri"/>
                <a:cs typeface="Calibri"/>
              </a:rPr>
              <a:t>о</a:t>
            </a:r>
            <a:r>
              <a:rPr sz="2800" spc="-5" dirty="0" err="1" smtClean="0">
                <a:latin typeface="Calibri"/>
                <a:cs typeface="Calibri"/>
              </a:rPr>
              <a:t>хватывает</a:t>
            </a:r>
            <a:r>
              <a:rPr sz="2800" spc="-5" dirty="0" smtClean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все </a:t>
            </a:r>
            <a:r>
              <a:rPr sz="2800" spc="-10" dirty="0">
                <a:latin typeface="Calibri"/>
                <a:cs typeface="Calibri"/>
              </a:rPr>
              <a:t>области бизнес-архитектуры  (полнота </a:t>
            </a:r>
            <a:r>
              <a:rPr sz="2800" spc="-15" dirty="0" err="1">
                <a:latin typeface="Calibri"/>
                <a:cs typeface="Calibri"/>
              </a:rPr>
              <a:t>метамодели</a:t>
            </a:r>
            <a:r>
              <a:rPr sz="2800" spc="-15" dirty="0" smtClean="0">
                <a:latin typeface="Calibri"/>
                <a:cs typeface="Calibri"/>
              </a:rPr>
              <a:t>)</a:t>
            </a:r>
            <a:r>
              <a:rPr lang="ru-RU" sz="2800" spc="-110" dirty="0">
                <a:latin typeface="Calibri"/>
                <a:cs typeface="Calibri"/>
              </a:rPr>
              <a:t>;</a:t>
            </a:r>
            <a:endParaRPr sz="28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ru-RU" sz="2800" spc="-10" dirty="0" smtClean="0">
                <a:latin typeface="Calibri"/>
                <a:cs typeface="Calibri"/>
              </a:rPr>
              <a:t>п</a:t>
            </a:r>
            <a:r>
              <a:rPr sz="2800" spc="-10" dirty="0" err="1" smtClean="0">
                <a:latin typeface="Calibri"/>
                <a:cs typeface="Calibri"/>
              </a:rPr>
              <a:t>редоставляет</a:t>
            </a:r>
            <a:r>
              <a:rPr sz="2800" spc="-10" dirty="0" smtClean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методику </a:t>
            </a:r>
            <a:r>
              <a:rPr sz="2800" dirty="0">
                <a:latin typeface="Calibri"/>
                <a:cs typeface="Calibri"/>
              </a:rPr>
              <a:t>и </a:t>
            </a:r>
            <a:r>
              <a:rPr sz="2800" spc="-15" dirty="0">
                <a:latin typeface="Calibri"/>
                <a:cs typeface="Calibri"/>
              </a:rPr>
              <a:t>процедуру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разработки</a:t>
            </a:r>
            <a:endParaRPr sz="2800" dirty="0">
              <a:latin typeface="Calibri"/>
              <a:cs typeface="Calibri"/>
            </a:endParaRPr>
          </a:p>
          <a:p>
            <a:pPr marR="3758565" algn="ctr">
              <a:lnSpc>
                <a:spcPct val="100000"/>
              </a:lnSpc>
              <a:tabLst>
                <a:tab pos="3219450" algn="l"/>
              </a:tabLst>
            </a:pPr>
            <a:r>
              <a:rPr sz="2800" spc="-10" dirty="0" err="1" smtClean="0">
                <a:latin typeface="Calibri"/>
                <a:cs typeface="Calibri"/>
              </a:rPr>
              <a:t>бизнес-архитектуры</a:t>
            </a:r>
            <a:r>
              <a:rPr lang="ru-RU" sz="2800" spc="-10" dirty="0" smtClean="0">
                <a:latin typeface="Calibri"/>
                <a:cs typeface="Calibri"/>
              </a:rPr>
              <a:t>;</a:t>
            </a:r>
            <a:endParaRPr sz="28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ru-RU" sz="2800" dirty="0" smtClean="0">
                <a:latin typeface="Calibri"/>
                <a:cs typeface="Calibri"/>
              </a:rPr>
              <a:t>и</a:t>
            </a:r>
            <a:r>
              <a:rPr sz="2800" dirty="0" err="1" smtClean="0">
                <a:latin typeface="Calibri"/>
                <a:cs typeface="Calibri"/>
              </a:rPr>
              <a:t>меет</a:t>
            </a:r>
            <a:r>
              <a:rPr sz="2800" dirty="0" smtClean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инструментальную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поддержку.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16243" y="4077017"/>
            <a:ext cx="538162" cy="442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84718" y="5337555"/>
            <a:ext cx="536575" cy="4413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84718" y="5909068"/>
            <a:ext cx="536575" cy="441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6244" y="6428333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9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007" y="228600"/>
            <a:ext cx="839744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0" dirty="0">
                <a:solidFill>
                  <a:srgbClr val="C00000"/>
                </a:solidFill>
              </a:rPr>
              <a:t>Свод </a:t>
            </a:r>
            <a:r>
              <a:rPr b="1" spc="-10" dirty="0">
                <a:solidFill>
                  <a:srgbClr val="C00000"/>
                </a:solidFill>
              </a:rPr>
              <a:t>знаний </a:t>
            </a:r>
            <a:r>
              <a:rPr b="1" spc="-5" dirty="0">
                <a:solidFill>
                  <a:srgbClr val="C00000"/>
                </a:solidFill>
              </a:rPr>
              <a:t>по </a:t>
            </a:r>
            <a:r>
              <a:rPr b="1" spc="-10" dirty="0">
                <a:solidFill>
                  <a:srgbClr val="C00000"/>
                </a:solidFill>
              </a:rPr>
              <a:t>бизнес-архитектуре</a:t>
            </a:r>
            <a:r>
              <a:rPr b="1" spc="100" dirty="0">
                <a:solidFill>
                  <a:srgbClr val="C00000"/>
                </a:solidFill>
              </a:rPr>
              <a:t> </a:t>
            </a:r>
            <a:r>
              <a:rPr b="1" spc="-10" dirty="0">
                <a:solidFill>
                  <a:srgbClr val="C00000"/>
                </a:solidFill>
              </a:rPr>
              <a:t>(BIZBOK)</a:t>
            </a:r>
          </a:p>
        </p:txBody>
      </p:sp>
      <p:sp>
        <p:nvSpPr>
          <p:cNvPr id="3" name="object 3"/>
          <p:cNvSpPr/>
          <p:nvPr/>
        </p:nvSpPr>
        <p:spPr>
          <a:xfrm>
            <a:off x="2555748" y="980757"/>
            <a:ext cx="4032504" cy="52001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713469" y="6532574"/>
            <a:ext cx="22796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10</a:t>
            </a:fld>
            <a:endParaRPr spc="-5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584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6860" marR="508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Содержание </a:t>
            </a:r>
            <a:r>
              <a:rPr spc="-25" dirty="0"/>
              <a:t>свода </a:t>
            </a:r>
            <a:r>
              <a:rPr spc="-10" dirty="0"/>
              <a:t>знаний </a:t>
            </a:r>
            <a:r>
              <a:rPr spc="-5" dirty="0"/>
              <a:t>по </a:t>
            </a:r>
            <a:r>
              <a:rPr spc="-10" dirty="0"/>
              <a:t>бизнес-  архитектуре</a:t>
            </a:r>
          </a:p>
        </p:txBody>
      </p:sp>
      <p:sp>
        <p:nvSpPr>
          <p:cNvPr id="3" name="object 3"/>
          <p:cNvSpPr/>
          <p:nvPr/>
        </p:nvSpPr>
        <p:spPr>
          <a:xfrm>
            <a:off x="827582" y="908659"/>
            <a:ext cx="3816477" cy="54888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7778" y="901915"/>
            <a:ext cx="3848608" cy="5479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713469" y="6532574"/>
            <a:ext cx="22796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11</a:t>
            </a:fld>
            <a:endParaRPr spc="-5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60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233" y="6445681"/>
            <a:ext cx="6779895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БИЗНЕС-АРХИТЕКТУРА: КОМПОНЕНТЫ,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ПРИМЕНЕНИЕ, ИНСТРУМЕНТЫ</a:t>
            </a:r>
            <a:r>
              <a:rPr sz="14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МОДЕЛИРОВАНИЯ,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8610600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BIZBOK: Аспекты бизнеса, </a:t>
            </a:r>
            <a:r>
              <a:rPr spc="-15" dirty="0"/>
              <a:t>представленные </a:t>
            </a:r>
            <a:r>
              <a:rPr spc="-5" dirty="0"/>
              <a:t>в  </a:t>
            </a:r>
            <a:r>
              <a:rPr spc="-10" dirty="0"/>
              <a:t>бизнес-архитектуре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169" y="6488379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16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890828"/>
            <a:ext cx="9144000" cy="5718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2702" y="1472425"/>
            <a:ext cx="1080135" cy="369570"/>
          </a:xfrm>
          <a:custGeom>
            <a:avLst/>
            <a:gdLst/>
            <a:ahLst/>
            <a:cxnLst/>
            <a:rect l="l" t="t" r="r" b="b"/>
            <a:pathLst>
              <a:path w="1080135" h="369569">
                <a:moveTo>
                  <a:pt x="0" y="369328"/>
                </a:moveTo>
                <a:lnTo>
                  <a:pt x="1080122" y="369328"/>
                </a:lnTo>
                <a:lnTo>
                  <a:pt x="1080122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1632" y="1490852"/>
            <a:ext cx="8743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Почему?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4085" y="909434"/>
            <a:ext cx="108013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048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Что?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2706" y="934440"/>
            <a:ext cx="1080135" cy="6464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0480" rIns="0" bIns="0" rtlCol="0">
            <a:spAutoFit/>
          </a:bodyPr>
          <a:lstStyle/>
          <a:p>
            <a:pPr marL="334645" marR="282575" indent="-4572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/>
                <a:cs typeface="Calibri"/>
              </a:rPr>
              <a:t>Кто</a:t>
            </a:r>
            <a:r>
              <a:rPr sz="1800" spc="-1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  </a:t>
            </a:r>
            <a:r>
              <a:rPr sz="1800" spc="-35" dirty="0">
                <a:latin typeface="Calibri"/>
                <a:cs typeface="Calibri"/>
              </a:rPr>
              <a:t>где?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76310" y="1335900"/>
            <a:ext cx="1068070" cy="369570"/>
          </a:xfrm>
          <a:custGeom>
            <a:avLst/>
            <a:gdLst/>
            <a:ahLst/>
            <a:cxnLst/>
            <a:rect l="l" t="t" r="r" b="b"/>
            <a:pathLst>
              <a:path w="1068070" h="369569">
                <a:moveTo>
                  <a:pt x="0" y="369328"/>
                </a:moveTo>
                <a:lnTo>
                  <a:pt x="1067688" y="369328"/>
                </a:lnTo>
                <a:lnTo>
                  <a:pt x="1067688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57718" y="1354327"/>
            <a:ext cx="72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0" dirty="0">
                <a:latin typeface="Calibri"/>
                <a:cs typeface="Calibri"/>
              </a:rPr>
              <a:t>З</a:t>
            </a:r>
            <a:r>
              <a:rPr sz="1800" dirty="0">
                <a:latin typeface="Calibri"/>
                <a:cs typeface="Calibri"/>
              </a:rPr>
              <a:t>ач</a:t>
            </a:r>
            <a:r>
              <a:rPr sz="1800" spc="-15" dirty="0">
                <a:latin typeface="Calibri"/>
                <a:cs typeface="Calibri"/>
              </a:rPr>
              <a:t>е</a:t>
            </a:r>
            <a:r>
              <a:rPr sz="1800" dirty="0">
                <a:latin typeface="Calibri"/>
                <a:cs typeface="Calibri"/>
              </a:rPr>
              <a:t>м?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2702" y="3340836"/>
            <a:ext cx="960119" cy="646430"/>
          </a:xfrm>
          <a:custGeom>
            <a:avLst/>
            <a:gdLst/>
            <a:ahLst/>
            <a:cxnLst/>
            <a:rect l="l" t="t" r="r" b="b"/>
            <a:pathLst>
              <a:path w="960119" h="646429">
                <a:moveTo>
                  <a:pt x="0" y="646328"/>
                </a:moveTo>
                <a:lnTo>
                  <a:pt x="959878" y="646328"/>
                </a:lnTo>
                <a:lnTo>
                  <a:pt x="959878" y="0"/>
                </a:lnTo>
                <a:lnTo>
                  <a:pt x="0" y="0"/>
                </a:lnTo>
                <a:lnTo>
                  <a:pt x="0" y="646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9097" y="3359861"/>
            <a:ext cx="5276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Кто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</a:t>
            </a:r>
            <a:endParaRPr sz="18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sz="1800" spc="-35" dirty="0">
                <a:latin typeface="Calibri"/>
                <a:cs typeface="Calibri"/>
              </a:rPr>
              <a:t>где?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68868" y="3479279"/>
            <a:ext cx="1080135" cy="369570"/>
          </a:xfrm>
          <a:custGeom>
            <a:avLst/>
            <a:gdLst/>
            <a:ahLst/>
            <a:cxnLst/>
            <a:rect l="l" t="t" r="r" b="b"/>
            <a:pathLst>
              <a:path w="1080134" h="369570">
                <a:moveTo>
                  <a:pt x="0" y="369328"/>
                </a:moveTo>
                <a:lnTo>
                  <a:pt x="1080122" y="369328"/>
                </a:lnTo>
                <a:lnTo>
                  <a:pt x="1080122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275701" y="3498596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0" dirty="0">
                <a:latin typeface="Calibri"/>
                <a:cs typeface="Calibri"/>
              </a:rPr>
              <a:t>Ч</a:t>
            </a:r>
            <a:r>
              <a:rPr sz="1800" spc="-30" dirty="0">
                <a:latin typeface="Calibri"/>
                <a:cs typeface="Calibri"/>
              </a:rPr>
              <a:t>т</a:t>
            </a:r>
            <a:r>
              <a:rPr sz="1800" spc="0" dirty="0">
                <a:latin typeface="Calibri"/>
                <a:cs typeface="Calibri"/>
              </a:rPr>
              <a:t>о</a:t>
            </a:r>
            <a:r>
              <a:rPr sz="1800" dirty="0"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099552" y="4593577"/>
            <a:ext cx="1044575" cy="369570"/>
          </a:xfrm>
          <a:custGeom>
            <a:avLst/>
            <a:gdLst/>
            <a:ahLst/>
            <a:cxnLst/>
            <a:rect l="l" t="t" r="r" b="b"/>
            <a:pathLst>
              <a:path w="1044575" h="369570">
                <a:moveTo>
                  <a:pt x="0" y="369328"/>
                </a:moveTo>
                <a:lnTo>
                  <a:pt x="1044447" y="369328"/>
                </a:lnTo>
                <a:lnTo>
                  <a:pt x="104444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403463" y="4613224"/>
            <a:ext cx="472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Как?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53960" y="5889701"/>
            <a:ext cx="108013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2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260"/>
              </a:spcBef>
            </a:pPr>
            <a:r>
              <a:rPr sz="1800" spc="-25" dirty="0">
                <a:latin typeface="Calibri"/>
                <a:cs typeface="Calibri"/>
              </a:rPr>
              <a:t>Когда?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9067" y="4593577"/>
            <a:ext cx="108013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254"/>
              </a:spcBef>
            </a:pPr>
            <a:r>
              <a:rPr sz="1800" spc="-10" dirty="0">
                <a:latin typeface="Calibri"/>
                <a:cs typeface="Calibri"/>
              </a:rPr>
              <a:t>Что?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1154" y="5520359"/>
            <a:ext cx="108013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20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260"/>
              </a:spcBef>
            </a:pPr>
            <a:r>
              <a:rPr sz="1800" dirty="0">
                <a:latin typeface="Calibri"/>
                <a:cs typeface="Calibri"/>
              </a:rPr>
              <a:t>Как?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4547" y="6095038"/>
            <a:ext cx="1311910" cy="646430"/>
          </a:xfrm>
          <a:custGeom>
            <a:avLst/>
            <a:gdLst/>
            <a:ahLst/>
            <a:cxnLst/>
            <a:rect l="l" t="t" r="r" b="b"/>
            <a:pathLst>
              <a:path w="1311910" h="646429">
                <a:moveTo>
                  <a:pt x="0" y="646328"/>
                </a:moveTo>
                <a:lnTo>
                  <a:pt x="1311655" y="646328"/>
                </a:lnTo>
                <a:lnTo>
                  <a:pt x="1311655" y="0"/>
                </a:lnTo>
                <a:lnTo>
                  <a:pt x="0" y="0"/>
                </a:lnTo>
                <a:lnTo>
                  <a:pt x="0" y="646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55344" y="6115608"/>
            <a:ext cx="1045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 marR="5080" indent="-85725">
              <a:lnSpc>
                <a:spcPct val="100000"/>
              </a:lnSpc>
              <a:spcBef>
                <a:spcPts val="100"/>
              </a:spcBef>
            </a:pPr>
            <a:r>
              <a:rPr sz="1800" spc="0" dirty="0">
                <a:latin typeface="Calibri"/>
                <a:cs typeface="Calibri"/>
              </a:rPr>
              <a:t>Н</a:t>
            </a:r>
            <a:r>
              <a:rPr sz="1800" dirty="0">
                <a:latin typeface="Calibri"/>
                <a:cs typeface="Calibri"/>
              </a:rPr>
              <a:t>а</a:t>
            </a:r>
            <a:r>
              <a:rPr sz="1800" spc="0" dirty="0">
                <a:latin typeface="Calibri"/>
                <a:cs typeface="Calibri"/>
              </a:rPr>
              <a:t>с</a:t>
            </a:r>
            <a:r>
              <a:rPr sz="1800" spc="-20" dirty="0">
                <a:latin typeface="Calibri"/>
                <a:cs typeface="Calibri"/>
              </a:rPr>
              <a:t>к</a:t>
            </a:r>
            <a:r>
              <a:rPr sz="1800" spc="-15" dirty="0">
                <a:latin typeface="Calibri"/>
                <a:cs typeface="Calibri"/>
              </a:rPr>
              <a:t>о</a:t>
            </a:r>
            <a:r>
              <a:rPr sz="1800" spc="-10" dirty="0">
                <a:latin typeface="Calibri"/>
                <a:cs typeface="Calibri"/>
              </a:rPr>
              <a:t>л</a:t>
            </a:r>
            <a:r>
              <a:rPr sz="1800" spc="-5" dirty="0">
                <a:latin typeface="Calibri"/>
                <a:cs typeface="Calibri"/>
              </a:rPr>
              <a:t>ь</a:t>
            </a:r>
            <a:r>
              <a:rPr sz="1800" spc="-20" dirty="0">
                <a:latin typeface="Calibri"/>
                <a:cs typeface="Calibri"/>
              </a:rPr>
              <a:t>к</a:t>
            </a:r>
            <a:r>
              <a:rPr sz="1800" dirty="0">
                <a:latin typeface="Calibri"/>
                <a:cs typeface="Calibri"/>
              </a:rPr>
              <a:t>о  </a:t>
            </a:r>
            <a:r>
              <a:rPr sz="1800" spc="-10" dirty="0">
                <a:latin typeface="Calibri"/>
                <a:cs typeface="Calibri"/>
              </a:rPr>
              <a:t>хорошо?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77945" y="1472374"/>
            <a:ext cx="1440180" cy="6311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70"/>
              </a:lnSpc>
            </a:pPr>
            <a:r>
              <a:rPr sz="1400" b="1" spc="-10" dirty="0">
                <a:latin typeface="Calibri"/>
                <a:cs typeface="Calibri"/>
              </a:rPr>
              <a:t>Покупатели,</a:t>
            </a:r>
            <a:endParaRPr sz="14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партнеры,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конкуренты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82241" y="2322004"/>
            <a:ext cx="1307465" cy="6311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ts val="1575"/>
              </a:lnSpc>
            </a:pPr>
            <a:r>
              <a:rPr sz="1400" b="1" spc="-10" dirty="0">
                <a:latin typeface="Calibri"/>
                <a:cs typeface="Calibri"/>
              </a:rPr>
              <a:t>Политики,</a:t>
            </a:r>
            <a:endParaRPr sz="1400">
              <a:latin typeface="Calibri"/>
              <a:cs typeface="Calibri"/>
            </a:endParaRPr>
          </a:p>
          <a:p>
            <a:pPr marL="189865" marR="182245" indent="10922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Правила,  </a:t>
            </a:r>
            <a:r>
              <a:rPr sz="1400" b="1" spc="-30" dirty="0">
                <a:latin typeface="Calibri"/>
                <a:cs typeface="Calibri"/>
              </a:rPr>
              <a:t>Р</a:t>
            </a:r>
            <a:r>
              <a:rPr sz="1400" b="1" spc="-10" dirty="0">
                <a:latin typeface="Calibri"/>
                <a:cs typeface="Calibri"/>
              </a:rPr>
              <a:t>е</a:t>
            </a:r>
            <a:r>
              <a:rPr sz="1400" b="1" spc="-45" dirty="0">
                <a:latin typeface="Calibri"/>
                <a:cs typeface="Calibri"/>
              </a:rPr>
              <a:t>г</a:t>
            </a:r>
            <a:r>
              <a:rPr sz="1400" b="1" dirty="0">
                <a:latin typeface="Calibri"/>
                <a:cs typeface="Calibri"/>
              </a:rPr>
              <a:t>ла</a:t>
            </a:r>
            <a:r>
              <a:rPr sz="1400" b="1" spc="-20" dirty="0">
                <a:latin typeface="Calibri"/>
                <a:cs typeface="Calibri"/>
              </a:rPr>
              <a:t>м</a:t>
            </a:r>
            <a:r>
              <a:rPr sz="1400" b="1" spc="-10" dirty="0">
                <a:latin typeface="Calibri"/>
                <a:cs typeface="Calibri"/>
              </a:rPr>
              <a:t>е</a:t>
            </a:r>
            <a:r>
              <a:rPr sz="1400" b="1" dirty="0">
                <a:latin typeface="Calibri"/>
                <a:cs typeface="Calibri"/>
              </a:rPr>
              <a:t>нт</a:t>
            </a:r>
            <a:r>
              <a:rPr sz="1400" b="1" spc="-10" dirty="0">
                <a:latin typeface="Calibri"/>
                <a:cs typeface="Calibri"/>
              </a:rPr>
              <a:t>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74134" y="2485834"/>
            <a:ext cx="1435735" cy="6311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13664">
              <a:lnSpc>
                <a:spcPts val="1510"/>
              </a:lnSpc>
            </a:pPr>
            <a:r>
              <a:rPr sz="1500" b="1" dirty="0">
                <a:latin typeface="Calibri"/>
                <a:cs typeface="Calibri"/>
              </a:rPr>
              <a:t>Способности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b="1" spc="0" dirty="0">
                <a:latin typeface="Calibri"/>
                <a:cs typeface="Calibri"/>
              </a:rPr>
              <a:t>и</a:t>
            </a:r>
            <a:endParaRPr sz="1500">
              <a:latin typeface="Calibri"/>
              <a:cs typeface="Calibri"/>
            </a:endParaRPr>
          </a:p>
          <a:p>
            <a:pPr marL="196215" marR="146050" indent="-43180">
              <a:lnSpc>
                <a:spcPct val="100000"/>
              </a:lnSpc>
            </a:pPr>
            <a:r>
              <a:rPr sz="1500" b="1" spc="-25" dirty="0">
                <a:latin typeface="Calibri"/>
                <a:cs typeface="Calibri"/>
              </a:rPr>
              <a:t>к</a:t>
            </a:r>
            <a:r>
              <a:rPr sz="1500" b="1" spc="0" dirty="0">
                <a:latin typeface="Calibri"/>
                <a:cs typeface="Calibri"/>
              </a:rPr>
              <a:t>ом</a:t>
            </a:r>
            <a:r>
              <a:rPr sz="1500" b="1" spc="10" dirty="0">
                <a:latin typeface="Calibri"/>
                <a:cs typeface="Calibri"/>
              </a:rPr>
              <a:t>п</a:t>
            </a:r>
            <a:r>
              <a:rPr sz="1500" b="1" spc="5" dirty="0">
                <a:latin typeface="Calibri"/>
                <a:cs typeface="Calibri"/>
              </a:rPr>
              <a:t>ет</a:t>
            </a:r>
            <a:r>
              <a:rPr sz="1500" b="1" spc="-15" dirty="0">
                <a:latin typeface="Calibri"/>
                <a:cs typeface="Calibri"/>
              </a:rPr>
              <a:t>е</a:t>
            </a:r>
            <a:r>
              <a:rPr sz="1500" b="1" spc="-5" dirty="0">
                <a:latin typeface="Calibri"/>
                <a:cs typeface="Calibri"/>
              </a:rPr>
              <a:t>нц</a:t>
            </a:r>
            <a:r>
              <a:rPr sz="1500" b="1" dirty="0">
                <a:latin typeface="Calibri"/>
                <a:cs typeface="Calibri"/>
              </a:rPr>
              <a:t>ии  (Capabilities)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00248" y="3356165"/>
            <a:ext cx="1440180" cy="6311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8034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420"/>
              </a:spcBef>
            </a:pPr>
            <a:r>
              <a:rPr sz="1600" b="1" spc="-5" dirty="0">
                <a:latin typeface="Calibri"/>
                <a:cs typeface="Calibri"/>
              </a:rPr>
              <a:t>Оргструктура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28464" y="3340798"/>
            <a:ext cx="1440180" cy="6311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8097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1425"/>
              </a:spcBef>
            </a:pPr>
            <a:r>
              <a:rPr sz="1600" b="1" dirty="0">
                <a:latin typeface="Calibri"/>
                <a:cs typeface="Calibri"/>
              </a:rPr>
              <a:t>Информация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92122" y="4393755"/>
            <a:ext cx="1440180" cy="6311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9055" rIns="0" bIns="0" rtlCol="0">
            <a:spAutoFit/>
          </a:bodyPr>
          <a:lstStyle/>
          <a:p>
            <a:pPr marL="431165" marR="140335" indent="-283845">
              <a:lnSpc>
                <a:spcPct val="100000"/>
              </a:lnSpc>
              <a:spcBef>
                <a:spcPts val="465"/>
              </a:spcBef>
            </a:pPr>
            <a:r>
              <a:rPr sz="1600" b="1" spc="-5" dirty="0">
                <a:latin typeface="Calibri"/>
                <a:cs typeface="Calibri"/>
              </a:rPr>
              <a:t>Продукция</a:t>
            </a:r>
            <a:r>
              <a:rPr sz="1600" b="1" spc="-1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и  </a:t>
            </a:r>
            <a:r>
              <a:rPr sz="1600" b="1" spc="-15" dirty="0">
                <a:latin typeface="Calibri"/>
                <a:cs typeface="Calibri"/>
              </a:rPr>
              <a:t>Услуги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69816" y="4188040"/>
            <a:ext cx="1452880" cy="673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1590"/>
              </a:lnSpc>
            </a:pPr>
            <a:r>
              <a:rPr sz="1600" b="1" spc="-5" dirty="0">
                <a:latin typeface="Calibri"/>
                <a:cs typeface="Calibri"/>
              </a:rPr>
              <a:t>Потоки</a:t>
            </a:r>
            <a:endParaRPr sz="1600">
              <a:latin typeface="Calibri"/>
              <a:cs typeface="Calibri"/>
            </a:endParaRPr>
          </a:p>
          <a:p>
            <a:pPr marL="67945" marR="60960" indent="1905" algn="ctr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ценности  </a:t>
            </a:r>
            <a:r>
              <a:rPr sz="1600" b="1" spc="-15" dirty="0">
                <a:latin typeface="Calibri"/>
                <a:cs typeface="Calibri"/>
              </a:rPr>
              <a:t>(Value</a:t>
            </a:r>
            <a:r>
              <a:rPr sz="1600" b="1" spc="-9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streams)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65546" y="4506201"/>
            <a:ext cx="1313180" cy="5105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655" rIns="0" bIns="0" rtlCol="0">
            <a:spAutoFit/>
          </a:bodyPr>
          <a:lstStyle/>
          <a:p>
            <a:pPr marL="328295" marR="88900" indent="-228600">
              <a:lnSpc>
                <a:spcPct val="100000"/>
              </a:lnSpc>
              <a:spcBef>
                <a:spcPts val="265"/>
              </a:spcBef>
            </a:pPr>
            <a:r>
              <a:rPr sz="1400" b="1" spc="-10" dirty="0">
                <a:latin typeface="Calibri"/>
                <a:cs typeface="Calibri"/>
              </a:rPr>
              <a:t>Инициативы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и  </a:t>
            </a:r>
            <a:r>
              <a:rPr sz="1400" b="1" spc="-10" dirty="0">
                <a:latin typeface="Calibri"/>
                <a:cs typeface="Calibri"/>
              </a:rPr>
              <a:t>проекты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65094" y="5474373"/>
            <a:ext cx="1313180" cy="5105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4290" rIns="0" bIns="0" rtlCol="0">
            <a:spAutoFit/>
          </a:bodyPr>
          <a:lstStyle/>
          <a:p>
            <a:pPr marL="440690" marR="233045" indent="-198755">
              <a:lnSpc>
                <a:spcPct val="100000"/>
              </a:lnSpc>
              <a:spcBef>
                <a:spcPts val="270"/>
              </a:spcBef>
            </a:pPr>
            <a:r>
              <a:rPr sz="1400" b="1" spc="-10" dirty="0">
                <a:latin typeface="Calibri"/>
                <a:cs typeface="Calibri"/>
              </a:rPr>
              <a:t>Метрики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и  </a:t>
            </a:r>
            <a:r>
              <a:rPr sz="1400" b="1" spc="-10" dirty="0">
                <a:latin typeface="Calibri"/>
                <a:cs typeface="Calibri"/>
              </a:rPr>
              <a:t>меры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16500" y="5449874"/>
            <a:ext cx="1152525" cy="5105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65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265"/>
              </a:spcBef>
            </a:pPr>
            <a:r>
              <a:rPr sz="1400" b="1" spc="-15" dirty="0">
                <a:latin typeface="Calibri"/>
                <a:cs typeface="Calibri"/>
              </a:rPr>
              <a:t>Решения</a:t>
            </a:r>
            <a:r>
              <a:rPr sz="1400" b="1" spc="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и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события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65546" y="2288819"/>
            <a:ext cx="1230630" cy="6972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050" rIns="0" bIns="0" rtlCol="0">
            <a:spAutoFit/>
          </a:bodyPr>
          <a:lstStyle/>
          <a:p>
            <a:pPr marL="175895" marR="161925" indent="-5080" algn="ctr">
              <a:lnSpc>
                <a:spcPct val="100000"/>
              </a:lnSpc>
              <a:spcBef>
                <a:spcPts val="150"/>
              </a:spcBef>
            </a:pPr>
            <a:r>
              <a:rPr sz="1400" b="1" spc="-10" dirty="0">
                <a:latin typeface="Calibri"/>
                <a:cs typeface="Calibri"/>
              </a:rPr>
              <a:t>Видение,  стратегии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и  тактики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0830" y="6093117"/>
            <a:ext cx="2080895" cy="31559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90"/>
              </a:spcBef>
            </a:pPr>
            <a:r>
              <a:rPr sz="1600" b="1" spc="-5" dirty="0">
                <a:latin typeface="Calibri"/>
                <a:cs typeface="Calibri"/>
              </a:rPr>
              <a:t>Бизнес-архитектура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Номер слайда 39"/>
          <p:cNvSpPr>
            <a:spLocks noGrp="1"/>
          </p:cNvSpPr>
          <p:nvPr>
            <p:ph type="sldNum" sz="quarter" idx="4294967295"/>
          </p:nvPr>
        </p:nvSpPr>
        <p:spPr>
          <a:xfrm>
            <a:off x="8713469" y="6532574"/>
            <a:ext cx="227965" cy="202565"/>
          </a:xfrm>
          <a:prstGeom prst="rect">
            <a:avLst/>
          </a:prstGeom>
        </p:spPr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12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742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7717155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BIZBOK: Аспекты бизнеса, </a:t>
            </a:r>
            <a:r>
              <a:rPr spc="-1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представленные </a:t>
            </a:r>
            <a:r>
              <a:rPr spc="-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 </a:t>
            </a:r>
            <a:r>
              <a:rPr spc="-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бизнес-архитектуре</a:t>
            </a:r>
          </a:p>
        </p:txBody>
      </p:sp>
      <p:sp>
        <p:nvSpPr>
          <p:cNvPr id="3" name="object 3"/>
          <p:cNvSpPr/>
          <p:nvPr/>
        </p:nvSpPr>
        <p:spPr>
          <a:xfrm>
            <a:off x="323532" y="1556778"/>
            <a:ext cx="8598789" cy="4218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713469" y="6532574"/>
            <a:ext cx="22796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13</a:t>
            </a:fld>
            <a:endParaRPr spc="-5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600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56" y="0"/>
            <a:ext cx="8314055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pc="-15" dirty="0"/>
              <a:t>Представление </a:t>
            </a:r>
            <a:r>
              <a:rPr spc="-10" dirty="0"/>
              <a:t>бизнес-архитектуры </a:t>
            </a:r>
            <a:r>
              <a:rPr spc="-5" dirty="0"/>
              <a:t>с </a:t>
            </a:r>
            <a:r>
              <a:rPr spc="-15" dirty="0"/>
              <a:t>помощью  бизнес-чертежей</a:t>
            </a:r>
            <a:r>
              <a:rPr spc="5" dirty="0"/>
              <a:t> </a:t>
            </a:r>
            <a:r>
              <a:rPr spc="-10" dirty="0"/>
              <a:t>(blueprints)</a:t>
            </a:r>
          </a:p>
        </p:txBody>
      </p:sp>
      <p:sp>
        <p:nvSpPr>
          <p:cNvPr id="3" name="object 3"/>
          <p:cNvSpPr/>
          <p:nvPr/>
        </p:nvSpPr>
        <p:spPr>
          <a:xfrm>
            <a:off x="35496" y="908786"/>
            <a:ext cx="9108503" cy="5481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3034" y="2169286"/>
            <a:ext cx="3096895" cy="2808605"/>
          </a:xfrm>
          <a:custGeom>
            <a:avLst/>
            <a:gdLst/>
            <a:ahLst/>
            <a:cxnLst/>
            <a:rect l="l" t="t" r="r" b="b"/>
            <a:pathLst>
              <a:path w="3096895" h="2808604">
                <a:moveTo>
                  <a:pt x="0" y="2808351"/>
                </a:moveTo>
                <a:lnTo>
                  <a:pt x="3096386" y="2808351"/>
                </a:lnTo>
                <a:lnTo>
                  <a:pt x="3096386" y="0"/>
                </a:lnTo>
                <a:lnTo>
                  <a:pt x="0" y="0"/>
                </a:lnTo>
                <a:lnTo>
                  <a:pt x="0" y="2808351"/>
                </a:lnTo>
                <a:close/>
              </a:path>
            </a:pathLst>
          </a:custGeom>
          <a:solidFill>
            <a:srgbClr val="FFC000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3034" y="2169286"/>
            <a:ext cx="3096895" cy="2808605"/>
          </a:xfrm>
          <a:custGeom>
            <a:avLst/>
            <a:gdLst/>
            <a:ahLst/>
            <a:cxnLst/>
            <a:rect l="l" t="t" r="r" b="b"/>
            <a:pathLst>
              <a:path w="3096895" h="2808604">
                <a:moveTo>
                  <a:pt x="0" y="2808351"/>
                </a:moveTo>
                <a:lnTo>
                  <a:pt x="3096386" y="2808351"/>
                </a:lnTo>
                <a:lnTo>
                  <a:pt x="3096386" y="0"/>
                </a:lnTo>
                <a:lnTo>
                  <a:pt x="0" y="0"/>
                </a:lnTo>
                <a:lnTo>
                  <a:pt x="0" y="2808351"/>
                </a:lnTo>
                <a:close/>
              </a:path>
            </a:pathLst>
          </a:custGeom>
          <a:ln w="3175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034" y="2169286"/>
            <a:ext cx="3096895" cy="2808605"/>
          </a:xfrm>
          <a:prstGeom prst="rect">
            <a:avLst/>
          </a:prstGeom>
          <a:ln w="3175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06425">
              <a:lnSpc>
                <a:spcPct val="100000"/>
              </a:lnSpc>
            </a:pPr>
            <a:r>
              <a:rPr sz="2000" b="1" spc="-15" dirty="0">
                <a:latin typeface="Calibri"/>
                <a:cs typeface="Calibri"/>
              </a:rPr>
              <a:t>Система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понятий</a:t>
            </a:r>
            <a:endParaRPr sz="2000">
              <a:latin typeface="Calibri"/>
              <a:cs typeface="Calibri"/>
            </a:endParaRPr>
          </a:p>
          <a:p>
            <a:pPr marL="249554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(аспекты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деятельности,</a:t>
            </a:r>
            <a:endParaRPr sz="2000">
              <a:latin typeface="Calibri"/>
              <a:cs typeface="Calibri"/>
            </a:endParaRPr>
          </a:p>
          <a:p>
            <a:pPr marL="746760" marR="738505" algn="ctr">
              <a:lnSpc>
                <a:spcPct val="100000"/>
              </a:lnSpc>
            </a:pPr>
            <a:r>
              <a:rPr sz="2000" b="1" spc="-15" dirty="0">
                <a:latin typeface="Calibri"/>
                <a:cs typeface="Calibri"/>
              </a:rPr>
              <a:t>отражаемые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в  </a:t>
            </a:r>
            <a:r>
              <a:rPr sz="2000" b="1" spc="-15" dirty="0">
                <a:latin typeface="Calibri"/>
                <a:cs typeface="Calibri"/>
              </a:rPr>
              <a:t>архитектуре  </a:t>
            </a:r>
            <a:r>
              <a:rPr sz="2000" b="1" spc="-10" dirty="0">
                <a:latin typeface="Calibri"/>
                <a:cs typeface="Calibri"/>
              </a:rPr>
              <a:t>организации)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9389" y="4473575"/>
            <a:ext cx="864235" cy="504190"/>
          </a:xfrm>
          <a:custGeom>
            <a:avLst/>
            <a:gdLst/>
            <a:ahLst/>
            <a:cxnLst/>
            <a:rect l="l" t="t" r="r" b="b"/>
            <a:pathLst>
              <a:path w="864235" h="504189">
                <a:moveTo>
                  <a:pt x="251968" y="0"/>
                </a:moveTo>
                <a:lnTo>
                  <a:pt x="0" y="251968"/>
                </a:lnTo>
                <a:lnTo>
                  <a:pt x="251968" y="504063"/>
                </a:lnTo>
                <a:lnTo>
                  <a:pt x="251968" y="377951"/>
                </a:lnTo>
                <a:lnTo>
                  <a:pt x="864108" y="377951"/>
                </a:lnTo>
                <a:lnTo>
                  <a:pt x="864108" y="125983"/>
                </a:lnTo>
                <a:lnTo>
                  <a:pt x="251968" y="125983"/>
                </a:lnTo>
                <a:lnTo>
                  <a:pt x="2519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9389" y="4473575"/>
            <a:ext cx="864235" cy="504190"/>
          </a:xfrm>
          <a:custGeom>
            <a:avLst/>
            <a:gdLst/>
            <a:ahLst/>
            <a:cxnLst/>
            <a:rect l="l" t="t" r="r" b="b"/>
            <a:pathLst>
              <a:path w="864235" h="504189">
                <a:moveTo>
                  <a:pt x="0" y="251968"/>
                </a:moveTo>
                <a:lnTo>
                  <a:pt x="251968" y="0"/>
                </a:lnTo>
                <a:lnTo>
                  <a:pt x="251968" y="125983"/>
                </a:lnTo>
                <a:lnTo>
                  <a:pt x="864108" y="125983"/>
                </a:lnTo>
                <a:lnTo>
                  <a:pt x="864108" y="377951"/>
                </a:lnTo>
                <a:lnTo>
                  <a:pt x="251968" y="377951"/>
                </a:lnTo>
                <a:lnTo>
                  <a:pt x="251968" y="504063"/>
                </a:lnTo>
                <a:lnTo>
                  <a:pt x="0" y="251968"/>
                </a:lnTo>
                <a:close/>
              </a:path>
            </a:pathLst>
          </a:custGeom>
          <a:ln w="254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39163" y="4979225"/>
            <a:ext cx="1296670" cy="15557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165"/>
              </a:lnSpc>
            </a:pPr>
            <a:r>
              <a:rPr sz="1100" b="1" spc="-5" dirty="0">
                <a:latin typeface="Calibri"/>
                <a:cs typeface="Calibri"/>
              </a:rPr>
              <a:t>Бизнес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070" y="1377200"/>
            <a:ext cx="2448560" cy="5765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55"/>
              </a:lnSpc>
            </a:pPr>
            <a:r>
              <a:rPr sz="1800" b="1" dirty="0">
                <a:latin typeface="Calibri"/>
                <a:cs typeface="Calibri"/>
              </a:rPr>
              <a:t>База знаний </a:t>
            </a:r>
            <a:r>
              <a:rPr sz="1800" b="1" spc="-5" dirty="0">
                <a:latin typeface="Calibri"/>
                <a:cs typeface="Calibri"/>
              </a:rPr>
              <a:t>(на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языке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понятий)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4733" y="968032"/>
            <a:ext cx="3914140" cy="4222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55"/>
              </a:lnSpc>
            </a:pPr>
            <a:r>
              <a:rPr sz="1600" b="1" dirty="0">
                <a:latin typeface="Calibri"/>
                <a:cs typeface="Calibri"/>
              </a:rPr>
              <a:t>Архитектурные </a:t>
            </a:r>
            <a:r>
              <a:rPr sz="1600" b="1" spc="-5" dirty="0">
                <a:latin typeface="Calibri"/>
                <a:cs typeface="Calibri"/>
              </a:rPr>
              <a:t>чертежи, </a:t>
            </a:r>
            <a:r>
              <a:rPr sz="1600" b="1" dirty="0">
                <a:latin typeface="Calibri"/>
                <a:cs typeface="Calibri"/>
              </a:rPr>
              <a:t>построенные</a:t>
            </a:r>
            <a:r>
              <a:rPr sz="1600" b="1" spc="-220" dirty="0">
                <a:latin typeface="Calibri"/>
                <a:cs typeface="Calibri"/>
              </a:rPr>
              <a:t> </a:t>
            </a:r>
            <a:r>
              <a:rPr sz="1600" b="1" spc="0" dirty="0">
                <a:latin typeface="Calibri"/>
                <a:cs typeface="Calibri"/>
              </a:rPr>
              <a:t>на</a:t>
            </a:r>
            <a:endParaRPr sz="1600">
              <a:latin typeface="Calibri"/>
              <a:cs typeface="Calibri"/>
            </a:endParaRPr>
          </a:p>
          <a:p>
            <a:pPr marL="3810" algn="ctr">
              <a:lnSpc>
                <a:spcPts val="1770"/>
              </a:lnSpc>
            </a:pPr>
            <a:r>
              <a:rPr sz="1600" b="1" spc="-5" dirty="0">
                <a:latin typeface="Calibri"/>
                <a:cs typeface="Calibri"/>
              </a:rPr>
              <a:t>общей </a:t>
            </a:r>
            <a:r>
              <a:rPr sz="1600" b="1" dirty="0">
                <a:latin typeface="Calibri"/>
                <a:cs typeface="Calibri"/>
              </a:rPr>
              <a:t>базе</a:t>
            </a:r>
            <a:r>
              <a:rPr sz="1600" b="1" spc="-8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понятий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0841" y="2300604"/>
            <a:ext cx="1537970" cy="3136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170"/>
              </a:lnSpc>
            </a:pPr>
            <a:r>
              <a:rPr sz="1200" b="1" spc="-5" dirty="0">
                <a:latin typeface="Calibri"/>
                <a:cs typeface="Calibri"/>
              </a:rPr>
              <a:t>Организационная</a:t>
            </a:r>
            <a:endParaRPr sz="1200">
              <a:latin typeface="Calibri"/>
              <a:cs typeface="Calibri"/>
            </a:endParaRPr>
          </a:p>
          <a:p>
            <a:pPr marL="1905" algn="ctr">
              <a:lnSpc>
                <a:spcPts val="1295"/>
              </a:lnSpc>
            </a:pPr>
            <a:r>
              <a:rPr sz="1200" b="1" spc="-15" dirty="0">
                <a:latin typeface="Calibri"/>
                <a:cs typeface="Calibri"/>
              </a:rPr>
              <a:t>модель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9523" y="3451605"/>
            <a:ext cx="1296670" cy="216535"/>
          </a:xfrm>
          <a:custGeom>
            <a:avLst/>
            <a:gdLst/>
            <a:ahLst/>
            <a:cxnLst/>
            <a:rect l="l" t="t" r="r" b="b"/>
            <a:pathLst>
              <a:path w="1296670" h="216535">
                <a:moveTo>
                  <a:pt x="0" y="216027"/>
                </a:moveTo>
                <a:lnTo>
                  <a:pt x="1296162" y="216027"/>
                </a:lnTo>
                <a:lnTo>
                  <a:pt x="1296162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19523" y="3451605"/>
            <a:ext cx="1296670" cy="216535"/>
          </a:xfrm>
          <a:custGeom>
            <a:avLst/>
            <a:gdLst/>
            <a:ahLst/>
            <a:cxnLst/>
            <a:rect l="l" t="t" r="r" b="b"/>
            <a:pathLst>
              <a:path w="1296670" h="216535">
                <a:moveTo>
                  <a:pt x="0" y="216027"/>
                </a:moveTo>
                <a:lnTo>
                  <a:pt x="1296162" y="216027"/>
                </a:lnTo>
                <a:lnTo>
                  <a:pt x="1296162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60875" y="3356305"/>
            <a:ext cx="10185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Операционная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9523" y="3539490"/>
            <a:ext cx="1308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модель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40909" y="4873878"/>
            <a:ext cx="621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поставок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08803" y="6059944"/>
            <a:ext cx="1512570" cy="3079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00"/>
              </a:spcBef>
            </a:pPr>
            <a:r>
              <a:rPr sz="1400" b="1" spc="-10" dirty="0">
                <a:latin typeface="Calibri"/>
                <a:cs typeface="Calibri"/>
              </a:rPr>
              <a:t>Поток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ценности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55739" y="3649560"/>
            <a:ext cx="1368425" cy="179705"/>
          </a:xfrm>
          <a:custGeom>
            <a:avLst/>
            <a:gdLst/>
            <a:ahLst/>
            <a:cxnLst/>
            <a:rect l="l" t="t" r="r" b="b"/>
            <a:pathLst>
              <a:path w="1368425" h="179704">
                <a:moveTo>
                  <a:pt x="0" y="179616"/>
                </a:moveTo>
                <a:lnTo>
                  <a:pt x="1368171" y="179616"/>
                </a:lnTo>
                <a:lnTo>
                  <a:pt x="1368171" y="0"/>
                </a:lnTo>
                <a:lnTo>
                  <a:pt x="0" y="0"/>
                </a:lnTo>
                <a:lnTo>
                  <a:pt x="0" y="179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55739" y="3649560"/>
            <a:ext cx="1368425" cy="179705"/>
          </a:xfrm>
          <a:custGeom>
            <a:avLst/>
            <a:gdLst/>
            <a:ahLst/>
            <a:cxnLst/>
            <a:rect l="l" t="t" r="r" b="b"/>
            <a:pathLst>
              <a:path w="1368425" h="179704">
                <a:moveTo>
                  <a:pt x="0" y="179616"/>
                </a:moveTo>
                <a:lnTo>
                  <a:pt x="1368171" y="179616"/>
                </a:lnTo>
                <a:lnTo>
                  <a:pt x="1368171" y="0"/>
                </a:lnTo>
                <a:lnTo>
                  <a:pt x="0" y="0"/>
                </a:lnTo>
                <a:lnTo>
                  <a:pt x="0" y="179616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2678" y="3658596"/>
            <a:ext cx="1221740" cy="1835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6375">
              <a:lnSpc>
                <a:spcPts val="1300"/>
              </a:lnSpc>
            </a:pPr>
            <a:r>
              <a:rPr sz="1200" b="1" spc="-5" dirty="0">
                <a:latin typeface="Calibri"/>
                <a:cs typeface="Calibri"/>
              </a:rPr>
              <a:t>Карта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ССП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75144" y="6066802"/>
            <a:ext cx="1729739" cy="3136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905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465"/>
              </a:spcBef>
            </a:pPr>
            <a:r>
              <a:rPr sz="1200" b="1" spc="-5" dirty="0">
                <a:latin typeface="Calibri"/>
                <a:cs typeface="Calibri"/>
              </a:rPr>
              <a:t>Карты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информации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440809" y="4591367"/>
          <a:ext cx="4211953" cy="75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47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95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738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1381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37185">
                <a:tc gridSpan="2">
                  <a:txBody>
                    <a:bodyPr/>
                    <a:lstStyle/>
                    <a:p>
                      <a:pPr marL="346075">
                        <a:lnSpc>
                          <a:spcPts val="885"/>
                        </a:lnSpc>
                      </a:pPr>
                      <a:r>
                        <a:rPr sz="1200" b="1" spc="-15" dirty="0">
                          <a:latin typeface="Calibri"/>
                          <a:cs typeface="Calibri"/>
                        </a:rPr>
                        <a:t>Модель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30835">
                        <a:lnSpc>
                          <a:spcPct val="100000"/>
                        </a:lnSpc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цепочки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382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30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76225">
                        <a:lnSpc>
                          <a:spcPts val="66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Карта</a:t>
                      </a:r>
                      <a:r>
                        <a:rPr sz="11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способностей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953260">
                        <a:lnSpc>
                          <a:spcPts val="76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Карта</a:t>
                      </a:r>
                      <a:r>
                        <a:rPr sz="11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доменов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6227698" y="2326767"/>
            <a:ext cx="2569210" cy="45783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90269" algn="ctr">
              <a:lnSpc>
                <a:spcPts val="1080"/>
              </a:lnSpc>
            </a:pPr>
            <a:r>
              <a:rPr sz="1100" b="1" dirty="0">
                <a:latin typeface="Calibri"/>
                <a:cs typeface="Calibri"/>
              </a:rPr>
              <a:t>Декомпозиция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\</a:t>
            </a:r>
            <a:endParaRPr sz="11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</a:pPr>
            <a:r>
              <a:rPr sz="1650" b="1" spc="-7" baseline="22727" dirty="0">
                <a:latin typeface="Calibri"/>
                <a:cs typeface="Calibri"/>
              </a:rPr>
              <a:t>Модель ЦСЦ </a:t>
            </a:r>
            <a:r>
              <a:rPr sz="1100" b="1" spc="-5" dirty="0">
                <a:latin typeface="Calibri"/>
                <a:cs typeface="Calibri"/>
              </a:rPr>
              <a:t>Агрегация Процессов</a:t>
            </a:r>
            <a:r>
              <a:rPr sz="1100" b="1" spc="-1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\</a:t>
            </a:r>
            <a:endParaRPr sz="1100">
              <a:latin typeface="Calibri"/>
              <a:cs typeface="Calibri"/>
            </a:endParaRPr>
          </a:p>
          <a:p>
            <a:pPr marL="889000" algn="ctr">
              <a:lnSpc>
                <a:spcPts val="1200"/>
              </a:lnSpc>
            </a:pPr>
            <a:r>
              <a:rPr sz="1100" b="1" spc="-5" dirty="0">
                <a:latin typeface="Calibri"/>
                <a:cs typeface="Calibri"/>
              </a:rPr>
              <a:t>ЦСЦ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39180" y="3547122"/>
            <a:ext cx="1564005" cy="211454"/>
          </a:xfrm>
          <a:custGeom>
            <a:avLst/>
            <a:gdLst/>
            <a:ahLst/>
            <a:cxnLst/>
            <a:rect l="l" t="t" r="r" b="b"/>
            <a:pathLst>
              <a:path w="1564004" h="211454">
                <a:moveTo>
                  <a:pt x="0" y="211061"/>
                </a:moveTo>
                <a:lnTo>
                  <a:pt x="1563497" y="211061"/>
                </a:lnTo>
                <a:lnTo>
                  <a:pt x="1563497" y="0"/>
                </a:lnTo>
                <a:lnTo>
                  <a:pt x="0" y="0"/>
                </a:lnTo>
                <a:lnTo>
                  <a:pt x="0" y="211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39180" y="3547122"/>
            <a:ext cx="1564005" cy="211454"/>
          </a:xfrm>
          <a:custGeom>
            <a:avLst/>
            <a:gdLst/>
            <a:ahLst/>
            <a:cxnLst/>
            <a:rect l="l" t="t" r="r" b="b"/>
            <a:pathLst>
              <a:path w="1564004" h="211454">
                <a:moveTo>
                  <a:pt x="0" y="211061"/>
                </a:moveTo>
                <a:lnTo>
                  <a:pt x="1563497" y="211061"/>
                </a:lnTo>
                <a:lnTo>
                  <a:pt x="1563497" y="0"/>
                </a:lnTo>
                <a:lnTo>
                  <a:pt x="0" y="0"/>
                </a:lnTo>
                <a:lnTo>
                  <a:pt x="0" y="211061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27433" y="3541014"/>
            <a:ext cx="1575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Панель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показателей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14</a:t>
            </a:fld>
            <a:endParaRPr spc="-5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952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447800"/>
            <a:ext cx="8399145" cy="3902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latin typeface="Arial"/>
                <a:cs typeface="Arial"/>
              </a:rPr>
              <a:t>BIZBOK </a:t>
            </a:r>
            <a:r>
              <a:rPr sz="2800" spc="-20" dirty="0">
                <a:latin typeface="Arial"/>
                <a:cs typeface="Arial"/>
              </a:rPr>
              <a:t>поддерживает </a:t>
            </a:r>
            <a:r>
              <a:rPr sz="2800" spc="-5" dirty="0">
                <a:latin typeface="Arial"/>
                <a:cs typeface="Arial"/>
              </a:rPr>
              <a:t>компании на </a:t>
            </a:r>
            <a:r>
              <a:rPr sz="2800" spc="0" dirty="0">
                <a:latin typeface="Arial"/>
                <a:cs typeface="Arial"/>
              </a:rPr>
              <a:t>каждом </a:t>
            </a:r>
            <a:r>
              <a:rPr sz="2800" spc="-25" dirty="0">
                <a:latin typeface="Arial"/>
                <a:cs typeface="Arial"/>
              </a:rPr>
              <a:t>этапе  </a:t>
            </a:r>
            <a:r>
              <a:rPr sz="2800" spc="-5" dirty="0">
                <a:latin typeface="Arial"/>
                <a:cs typeface="Arial"/>
              </a:rPr>
              <a:t>проектирования и </a:t>
            </a:r>
            <a:r>
              <a:rPr sz="2800" spc="-10" dirty="0">
                <a:latin typeface="Arial"/>
                <a:cs typeface="Arial"/>
              </a:rPr>
              <a:t>внедрения</a:t>
            </a:r>
            <a:r>
              <a:rPr sz="2800" spc="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бизнес-архитектуры.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latin typeface="Arial"/>
                <a:cs typeface="Arial"/>
              </a:rPr>
              <a:t>Стандарт предназначен</a:t>
            </a:r>
            <a:r>
              <a:rPr sz="2800" spc="7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для:</a:t>
            </a:r>
            <a:endParaRPr sz="28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670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20" dirty="0">
                <a:latin typeface="Arial"/>
                <a:cs typeface="Arial"/>
              </a:rPr>
              <a:t>Руководителей</a:t>
            </a:r>
            <a:endParaRPr sz="28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Arial"/>
                <a:cs typeface="Arial"/>
              </a:rPr>
              <a:t>Бизнес-аналитиков</a:t>
            </a:r>
            <a:endParaRPr sz="28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655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Arial"/>
                <a:cs typeface="Arial"/>
              </a:rPr>
              <a:t>Вендоров </a:t>
            </a:r>
            <a:r>
              <a:rPr sz="2800" spc="-10" dirty="0">
                <a:latin typeface="Arial"/>
                <a:cs typeface="Arial"/>
              </a:rPr>
              <a:t>программного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обеспечения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1600" y="228600"/>
            <a:ext cx="67818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Основные </a:t>
            </a:r>
            <a:r>
              <a:rPr spc="-15" dirty="0"/>
              <a:t>потребители</a:t>
            </a:r>
            <a:r>
              <a:rPr spc="25" dirty="0"/>
              <a:t> </a:t>
            </a:r>
            <a:r>
              <a:rPr spc="-10" dirty="0"/>
              <a:t>стандарта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294967295"/>
          </p:nvPr>
        </p:nvSpPr>
        <p:spPr>
          <a:xfrm>
            <a:off x="8713469" y="6532574"/>
            <a:ext cx="227965" cy="202565"/>
          </a:xfrm>
          <a:prstGeom prst="rect">
            <a:avLst/>
          </a:prstGeom>
        </p:spPr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15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01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56" y="137540"/>
            <a:ext cx="6797244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35" dirty="0">
                <a:solidFill>
                  <a:srgbClr val="C00000"/>
                </a:solidFill>
              </a:rPr>
              <a:t>Методы </a:t>
            </a:r>
            <a:r>
              <a:rPr b="1" spc="-5" dirty="0">
                <a:solidFill>
                  <a:srgbClr val="C00000"/>
                </a:solidFill>
              </a:rPr>
              <a:t>и </a:t>
            </a:r>
            <a:r>
              <a:rPr b="1" spc="-20" dirty="0">
                <a:solidFill>
                  <a:srgbClr val="C00000"/>
                </a:solidFill>
              </a:rPr>
              <a:t>технологии</a:t>
            </a:r>
            <a:r>
              <a:rPr b="1" spc="85" dirty="0">
                <a:solidFill>
                  <a:srgbClr val="C00000"/>
                </a:solidFill>
              </a:rPr>
              <a:t> </a:t>
            </a:r>
            <a:r>
              <a:rPr b="1" spc="-5" dirty="0">
                <a:solidFill>
                  <a:srgbClr val="C00000"/>
                </a:solidFill>
              </a:rPr>
              <a:t>IBM</a:t>
            </a:r>
          </a:p>
        </p:txBody>
      </p:sp>
      <p:sp>
        <p:nvSpPr>
          <p:cNvPr id="3" name="object 3"/>
          <p:cNvSpPr/>
          <p:nvPr/>
        </p:nvSpPr>
        <p:spPr>
          <a:xfrm>
            <a:off x="8117155" y="2769408"/>
            <a:ext cx="207645" cy="935990"/>
          </a:xfrm>
          <a:custGeom>
            <a:avLst/>
            <a:gdLst/>
            <a:ahLst/>
            <a:cxnLst/>
            <a:rect l="l" t="t" r="r" b="b"/>
            <a:pathLst>
              <a:path w="207645" h="935989">
                <a:moveTo>
                  <a:pt x="0" y="935425"/>
                </a:moveTo>
                <a:lnTo>
                  <a:pt x="207022" y="935425"/>
                </a:lnTo>
                <a:lnTo>
                  <a:pt x="207022" y="0"/>
                </a:lnTo>
                <a:lnTo>
                  <a:pt x="0" y="0"/>
                </a:lnTo>
                <a:lnTo>
                  <a:pt x="0" y="935425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195" y="2769408"/>
            <a:ext cx="1701800" cy="935990"/>
          </a:xfrm>
          <a:custGeom>
            <a:avLst/>
            <a:gdLst/>
            <a:ahLst/>
            <a:cxnLst/>
            <a:rect l="l" t="t" r="r" b="b"/>
            <a:pathLst>
              <a:path w="1701800" h="935989">
                <a:moveTo>
                  <a:pt x="0" y="935425"/>
                </a:moveTo>
                <a:lnTo>
                  <a:pt x="1701404" y="935425"/>
                </a:lnTo>
                <a:lnTo>
                  <a:pt x="1701404" y="0"/>
                </a:lnTo>
                <a:lnTo>
                  <a:pt x="0" y="0"/>
                </a:lnTo>
                <a:lnTo>
                  <a:pt x="0" y="935425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7252" y="3096815"/>
            <a:ext cx="984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Стратегия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17155" y="3704833"/>
            <a:ext cx="207645" cy="932815"/>
          </a:xfrm>
          <a:custGeom>
            <a:avLst/>
            <a:gdLst/>
            <a:ahLst/>
            <a:cxnLst/>
            <a:rect l="l" t="t" r="r" b="b"/>
            <a:pathLst>
              <a:path w="207645" h="932814">
                <a:moveTo>
                  <a:pt x="0" y="932296"/>
                </a:moveTo>
                <a:lnTo>
                  <a:pt x="207022" y="932296"/>
                </a:lnTo>
                <a:lnTo>
                  <a:pt x="207022" y="0"/>
                </a:lnTo>
                <a:lnTo>
                  <a:pt x="0" y="0"/>
                </a:lnTo>
                <a:lnTo>
                  <a:pt x="0" y="932296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195" y="3704833"/>
            <a:ext cx="1701800" cy="932815"/>
          </a:xfrm>
          <a:custGeom>
            <a:avLst/>
            <a:gdLst/>
            <a:ahLst/>
            <a:cxnLst/>
            <a:rect l="l" t="t" r="r" b="b"/>
            <a:pathLst>
              <a:path w="1701800" h="932814">
                <a:moveTo>
                  <a:pt x="0" y="932296"/>
                </a:moveTo>
                <a:lnTo>
                  <a:pt x="1701404" y="932296"/>
                </a:lnTo>
                <a:lnTo>
                  <a:pt x="1701404" y="0"/>
                </a:lnTo>
                <a:lnTo>
                  <a:pt x="0" y="0"/>
                </a:lnTo>
                <a:lnTo>
                  <a:pt x="0" y="932296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2195" y="3704833"/>
            <a:ext cx="7562215" cy="932815"/>
          </a:xfrm>
          <a:custGeom>
            <a:avLst/>
            <a:gdLst/>
            <a:ahLst/>
            <a:cxnLst/>
            <a:rect l="l" t="t" r="r" b="b"/>
            <a:pathLst>
              <a:path w="7562215" h="932814">
                <a:moveTo>
                  <a:pt x="0" y="932296"/>
                </a:moveTo>
                <a:lnTo>
                  <a:pt x="7561982" y="932296"/>
                </a:lnTo>
                <a:lnTo>
                  <a:pt x="7561982" y="0"/>
                </a:lnTo>
                <a:lnTo>
                  <a:pt x="0" y="0"/>
                </a:lnTo>
                <a:lnTo>
                  <a:pt x="0" y="932296"/>
                </a:lnTo>
                <a:close/>
              </a:path>
            </a:pathLst>
          </a:custGeom>
          <a:ln w="1251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7252" y="4029061"/>
            <a:ext cx="90551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Контроль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17155" y="4637130"/>
            <a:ext cx="207645" cy="935990"/>
          </a:xfrm>
          <a:custGeom>
            <a:avLst/>
            <a:gdLst/>
            <a:ahLst/>
            <a:cxnLst/>
            <a:rect l="l" t="t" r="r" b="b"/>
            <a:pathLst>
              <a:path w="207645" h="935989">
                <a:moveTo>
                  <a:pt x="0" y="935425"/>
                </a:moveTo>
                <a:lnTo>
                  <a:pt x="207022" y="935425"/>
                </a:lnTo>
                <a:lnTo>
                  <a:pt x="207022" y="0"/>
                </a:lnTo>
                <a:lnTo>
                  <a:pt x="0" y="0"/>
                </a:lnTo>
                <a:lnTo>
                  <a:pt x="0" y="935425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2195" y="4637130"/>
            <a:ext cx="1701800" cy="935990"/>
          </a:xfrm>
          <a:custGeom>
            <a:avLst/>
            <a:gdLst/>
            <a:ahLst/>
            <a:cxnLst/>
            <a:rect l="l" t="t" r="r" b="b"/>
            <a:pathLst>
              <a:path w="1701800" h="935989">
                <a:moveTo>
                  <a:pt x="0" y="935425"/>
                </a:moveTo>
                <a:lnTo>
                  <a:pt x="1701404" y="935425"/>
                </a:lnTo>
                <a:lnTo>
                  <a:pt x="1701404" y="0"/>
                </a:lnTo>
                <a:lnTo>
                  <a:pt x="0" y="0"/>
                </a:lnTo>
                <a:lnTo>
                  <a:pt x="0" y="935425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195" y="4637130"/>
            <a:ext cx="7562215" cy="935990"/>
          </a:xfrm>
          <a:custGeom>
            <a:avLst/>
            <a:gdLst/>
            <a:ahLst/>
            <a:cxnLst/>
            <a:rect l="l" t="t" r="r" b="b"/>
            <a:pathLst>
              <a:path w="7562215" h="935989">
                <a:moveTo>
                  <a:pt x="0" y="935425"/>
                </a:moveTo>
                <a:lnTo>
                  <a:pt x="7561982" y="935425"/>
                </a:lnTo>
                <a:lnTo>
                  <a:pt x="7561982" y="0"/>
                </a:lnTo>
                <a:lnTo>
                  <a:pt x="0" y="0"/>
                </a:lnTo>
                <a:lnTo>
                  <a:pt x="0" y="935425"/>
                </a:lnTo>
                <a:close/>
              </a:path>
            </a:pathLst>
          </a:custGeom>
          <a:ln w="1251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7252" y="4966714"/>
            <a:ext cx="116840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Исполнение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63599" y="2209404"/>
            <a:ext cx="1133475" cy="3547745"/>
          </a:xfrm>
          <a:custGeom>
            <a:avLst/>
            <a:gdLst/>
            <a:ahLst/>
            <a:cxnLst/>
            <a:rect l="l" t="t" r="r" b="b"/>
            <a:pathLst>
              <a:path w="1133475" h="3547745">
                <a:moveTo>
                  <a:pt x="0" y="3547733"/>
                </a:moveTo>
                <a:lnTo>
                  <a:pt x="1133217" y="3547733"/>
                </a:lnTo>
                <a:lnTo>
                  <a:pt x="1133217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63599" y="2209404"/>
            <a:ext cx="1133475" cy="3547745"/>
          </a:xfrm>
          <a:custGeom>
            <a:avLst/>
            <a:gdLst/>
            <a:ahLst/>
            <a:cxnLst/>
            <a:rect l="l" t="t" r="r" b="b"/>
            <a:pathLst>
              <a:path w="1133475" h="3547745">
                <a:moveTo>
                  <a:pt x="0" y="3547733"/>
                </a:moveTo>
                <a:lnTo>
                  <a:pt x="1133217" y="3547733"/>
                </a:lnTo>
                <a:lnTo>
                  <a:pt x="1133217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ln w="125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33520" y="2216226"/>
            <a:ext cx="99441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Область</a:t>
            </a:r>
            <a:r>
              <a:rPr sz="15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96842" y="2209404"/>
            <a:ext cx="1136650" cy="3547745"/>
          </a:xfrm>
          <a:custGeom>
            <a:avLst/>
            <a:gdLst/>
            <a:ahLst/>
            <a:cxnLst/>
            <a:rect l="l" t="t" r="r" b="b"/>
            <a:pathLst>
              <a:path w="1136650" h="3547745">
                <a:moveTo>
                  <a:pt x="0" y="3547733"/>
                </a:moveTo>
                <a:lnTo>
                  <a:pt x="1136356" y="3547733"/>
                </a:lnTo>
                <a:lnTo>
                  <a:pt x="1136356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96842" y="2209404"/>
            <a:ext cx="1136650" cy="3547745"/>
          </a:xfrm>
          <a:custGeom>
            <a:avLst/>
            <a:gdLst/>
            <a:ahLst/>
            <a:cxnLst/>
            <a:rect l="l" t="t" r="r" b="b"/>
            <a:pathLst>
              <a:path w="1136650" h="3547745">
                <a:moveTo>
                  <a:pt x="0" y="3547733"/>
                </a:moveTo>
                <a:lnTo>
                  <a:pt x="1136356" y="3547733"/>
                </a:lnTo>
                <a:lnTo>
                  <a:pt x="1136356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ln w="125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70279" y="2216226"/>
            <a:ext cx="99377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Область</a:t>
            </a:r>
            <a:r>
              <a:rPr sz="15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33198" y="2209404"/>
            <a:ext cx="1130300" cy="3547745"/>
          </a:xfrm>
          <a:custGeom>
            <a:avLst/>
            <a:gdLst/>
            <a:ahLst/>
            <a:cxnLst/>
            <a:rect l="l" t="t" r="r" b="b"/>
            <a:pathLst>
              <a:path w="1130300" h="3547745">
                <a:moveTo>
                  <a:pt x="0" y="3547733"/>
                </a:moveTo>
                <a:lnTo>
                  <a:pt x="1130078" y="3547733"/>
                </a:lnTo>
                <a:lnTo>
                  <a:pt x="1130078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33198" y="2209404"/>
            <a:ext cx="1130300" cy="3547745"/>
          </a:xfrm>
          <a:custGeom>
            <a:avLst/>
            <a:gdLst/>
            <a:ahLst/>
            <a:cxnLst/>
            <a:rect l="l" t="t" r="r" b="b"/>
            <a:pathLst>
              <a:path w="1130300" h="3547745">
                <a:moveTo>
                  <a:pt x="0" y="3547733"/>
                </a:moveTo>
                <a:lnTo>
                  <a:pt x="1130078" y="3547733"/>
                </a:lnTo>
                <a:lnTo>
                  <a:pt x="1130078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ln w="125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03873" y="2216226"/>
            <a:ext cx="99377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Область</a:t>
            </a:r>
            <a:r>
              <a:rPr sz="15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63276" y="2209404"/>
            <a:ext cx="1117600" cy="3547745"/>
          </a:xfrm>
          <a:custGeom>
            <a:avLst/>
            <a:gdLst/>
            <a:ahLst/>
            <a:cxnLst/>
            <a:rect l="l" t="t" r="r" b="b"/>
            <a:pathLst>
              <a:path w="1117600" h="3547745">
                <a:moveTo>
                  <a:pt x="0" y="3547733"/>
                </a:moveTo>
                <a:lnTo>
                  <a:pt x="1117521" y="3547733"/>
                </a:lnTo>
                <a:lnTo>
                  <a:pt x="1117521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63276" y="2209404"/>
            <a:ext cx="1133475" cy="3547745"/>
          </a:xfrm>
          <a:custGeom>
            <a:avLst/>
            <a:gdLst/>
            <a:ahLst/>
            <a:cxnLst/>
            <a:rect l="l" t="t" r="r" b="b"/>
            <a:pathLst>
              <a:path w="1133475" h="3547745">
                <a:moveTo>
                  <a:pt x="0" y="3547733"/>
                </a:moveTo>
                <a:lnTo>
                  <a:pt x="1133217" y="3547733"/>
                </a:lnTo>
                <a:lnTo>
                  <a:pt x="1133217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ln w="125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934704" y="2216226"/>
            <a:ext cx="99377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Область</a:t>
            </a:r>
            <a:r>
              <a:rPr sz="15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80798" y="2209404"/>
            <a:ext cx="1136650" cy="3547745"/>
          </a:xfrm>
          <a:custGeom>
            <a:avLst/>
            <a:gdLst/>
            <a:ahLst/>
            <a:cxnLst/>
            <a:rect l="l" t="t" r="r" b="b"/>
            <a:pathLst>
              <a:path w="1136650" h="3547745">
                <a:moveTo>
                  <a:pt x="0" y="3547733"/>
                </a:moveTo>
                <a:lnTo>
                  <a:pt x="1136356" y="3547733"/>
                </a:lnTo>
                <a:lnTo>
                  <a:pt x="1136356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80798" y="2209404"/>
            <a:ext cx="1136650" cy="3547745"/>
          </a:xfrm>
          <a:custGeom>
            <a:avLst/>
            <a:gdLst/>
            <a:ahLst/>
            <a:cxnLst/>
            <a:rect l="l" t="t" r="r" b="b"/>
            <a:pathLst>
              <a:path w="1136650" h="3547745">
                <a:moveTo>
                  <a:pt x="0" y="3547733"/>
                </a:moveTo>
                <a:lnTo>
                  <a:pt x="1136356" y="3547733"/>
                </a:lnTo>
                <a:lnTo>
                  <a:pt x="1136356" y="0"/>
                </a:lnTo>
                <a:lnTo>
                  <a:pt x="0" y="0"/>
                </a:lnTo>
                <a:lnTo>
                  <a:pt x="0" y="3547733"/>
                </a:lnTo>
                <a:close/>
              </a:path>
            </a:pathLst>
          </a:custGeom>
          <a:ln w="125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055742" y="2216226"/>
            <a:ext cx="99441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Область</a:t>
            </a:r>
            <a:r>
              <a:rPr sz="155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5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42077" y="2872649"/>
            <a:ext cx="951230" cy="744855"/>
          </a:xfrm>
          <a:custGeom>
            <a:avLst/>
            <a:gdLst/>
            <a:ahLst/>
            <a:cxnLst/>
            <a:rect l="l" t="t" r="r" b="b"/>
            <a:pathLst>
              <a:path w="951229" h="744854">
                <a:moveTo>
                  <a:pt x="0" y="744586"/>
                </a:moveTo>
                <a:lnTo>
                  <a:pt x="951149" y="744586"/>
                </a:lnTo>
                <a:lnTo>
                  <a:pt x="951149" y="0"/>
                </a:lnTo>
                <a:lnTo>
                  <a:pt x="0" y="0"/>
                </a:lnTo>
                <a:lnTo>
                  <a:pt x="0" y="7445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28847" y="3141865"/>
            <a:ext cx="38100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10" dirty="0">
                <a:latin typeface="Arial"/>
                <a:cs typeface="Arial"/>
              </a:rPr>
              <a:t>1-1-1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2180" y="2872774"/>
            <a:ext cx="951230" cy="3289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556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595"/>
              </a:spcBef>
            </a:pPr>
            <a:r>
              <a:rPr sz="1150" spc="10" dirty="0">
                <a:latin typeface="Arial"/>
                <a:cs typeface="Arial"/>
              </a:rPr>
              <a:t>2-1-1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78458" y="3282484"/>
            <a:ext cx="948055" cy="829310"/>
          </a:xfrm>
          <a:custGeom>
            <a:avLst/>
            <a:gdLst/>
            <a:ahLst/>
            <a:cxnLst/>
            <a:rect l="l" t="t" r="r" b="b"/>
            <a:pathLst>
              <a:path w="948054" h="829310">
                <a:moveTo>
                  <a:pt x="0" y="829055"/>
                </a:moveTo>
                <a:lnTo>
                  <a:pt x="948010" y="829055"/>
                </a:lnTo>
                <a:lnTo>
                  <a:pt x="948010" y="0"/>
                </a:lnTo>
                <a:lnTo>
                  <a:pt x="0" y="0"/>
                </a:lnTo>
                <a:lnTo>
                  <a:pt x="0" y="8290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672180" y="3592972"/>
            <a:ext cx="95123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30"/>
              </a:spcBef>
            </a:pPr>
            <a:r>
              <a:rPr sz="1150" spc="10" dirty="0">
                <a:latin typeface="Arial"/>
                <a:cs typeface="Arial"/>
              </a:rPr>
              <a:t>2-1-2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78458" y="5281603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19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259"/>
              </a:spcBef>
            </a:pPr>
            <a:r>
              <a:rPr sz="1150" spc="10" dirty="0">
                <a:latin typeface="Arial"/>
                <a:cs typeface="Arial"/>
              </a:rPr>
              <a:t>2-3-3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78458" y="4990652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75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250"/>
              </a:spcBef>
            </a:pPr>
            <a:r>
              <a:rPr sz="1150" spc="10" dirty="0">
                <a:latin typeface="Arial"/>
                <a:cs typeface="Arial"/>
              </a:rPr>
              <a:t>2-3-2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78458" y="4696572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429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270"/>
              </a:spcBef>
            </a:pPr>
            <a:r>
              <a:rPr sz="1150" spc="10" dirty="0">
                <a:latin typeface="Arial"/>
                <a:cs typeface="Arial"/>
              </a:rPr>
              <a:t>2-3-1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17828" y="2872649"/>
            <a:ext cx="951230" cy="7448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299720">
              <a:lnSpc>
                <a:spcPct val="100000"/>
              </a:lnSpc>
              <a:spcBef>
                <a:spcPts val="755"/>
              </a:spcBef>
            </a:pPr>
            <a:r>
              <a:rPr sz="1150" spc="10" dirty="0">
                <a:latin typeface="Arial"/>
                <a:cs typeface="Arial"/>
              </a:rPr>
              <a:t>3-1-1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41628" y="2878906"/>
            <a:ext cx="954405" cy="16490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</a:pPr>
            <a:r>
              <a:rPr sz="1150" spc="10" dirty="0">
                <a:latin typeface="Arial"/>
                <a:cs typeface="Arial"/>
              </a:rPr>
              <a:t>4-1-1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74972" y="2879031"/>
            <a:ext cx="948055" cy="3289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493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590"/>
              </a:spcBef>
            </a:pPr>
            <a:r>
              <a:rPr sz="1150" spc="10" dirty="0">
                <a:latin typeface="Arial"/>
                <a:cs typeface="Arial"/>
              </a:rPr>
              <a:t>5-1-1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74972" y="3288741"/>
            <a:ext cx="948055" cy="3289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4295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585"/>
              </a:spcBef>
            </a:pPr>
            <a:r>
              <a:rPr sz="1150" spc="10" dirty="0">
                <a:latin typeface="Arial"/>
                <a:cs typeface="Arial"/>
              </a:rPr>
              <a:t>5-1-2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17828" y="3789303"/>
            <a:ext cx="951230" cy="7448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299720">
              <a:lnSpc>
                <a:spcPct val="100000"/>
              </a:lnSpc>
              <a:spcBef>
                <a:spcPts val="760"/>
              </a:spcBef>
            </a:pPr>
            <a:r>
              <a:rPr sz="1150" spc="10" dirty="0">
                <a:latin typeface="Arial"/>
                <a:cs typeface="Arial"/>
              </a:rPr>
              <a:t>3-2-1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17828" y="4696572"/>
            <a:ext cx="948055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4615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745"/>
              </a:spcBef>
            </a:pPr>
            <a:r>
              <a:rPr sz="1150" spc="10" dirty="0">
                <a:latin typeface="Arial"/>
                <a:cs typeface="Arial"/>
              </a:rPr>
              <a:t>3-3-1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17828" y="5118921"/>
            <a:ext cx="2100580" cy="394335"/>
          </a:xfrm>
          <a:custGeom>
            <a:avLst/>
            <a:gdLst/>
            <a:ahLst/>
            <a:cxnLst/>
            <a:rect l="l" t="t" r="r" b="b"/>
            <a:pathLst>
              <a:path w="2100579" h="394335">
                <a:moveTo>
                  <a:pt x="0" y="394192"/>
                </a:moveTo>
                <a:lnTo>
                  <a:pt x="2100062" y="394192"/>
                </a:lnTo>
                <a:lnTo>
                  <a:pt x="2100062" y="0"/>
                </a:lnTo>
                <a:lnTo>
                  <a:pt x="0" y="0"/>
                </a:lnTo>
                <a:lnTo>
                  <a:pt x="0" y="394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677800" y="5213591"/>
            <a:ext cx="38163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10" dirty="0">
                <a:latin typeface="Arial"/>
                <a:cs typeface="Arial"/>
              </a:rPr>
              <a:t>3-3-2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74972" y="5278475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2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260"/>
              </a:spcBef>
            </a:pPr>
            <a:r>
              <a:rPr sz="1150" spc="10" dirty="0">
                <a:latin typeface="Arial"/>
                <a:cs typeface="Arial"/>
              </a:rPr>
              <a:t>5-3-3</a:t>
            </a:r>
            <a:endParaRPr sz="11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74972" y="4987523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75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250"/>
              </a:spcBef>
            </a:pPr>
            <a:r>
              <a:rPr sz="1150" spc="10" dirty="0">
                <a:latin typeface="Arial"/>
                <a:cs typeface="Arial"/>
              </a:rPr>
              <a:t>5-3-2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74972" y="4693443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75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250"/>
              </a:spcBef>
            </a:pPr>
            <a:r>
              <a:rPr sz="1150" spc="10" dirty="0">
                <a:latin typeface="Arial"/>
                <a:cs typeface="Arial"/>
              </a:rPr>
              <a:t>5-3-1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57449" y="4699700"/>
            <a:ext cx="948055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461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745"/>
              </a:spcBef>
            </a:pPr>
            <a:r>
              <a:rPr sz="1150" spc="10" dirty="0">
                <a:latin typeface="Arial"/>
                <a:cs typeface="Arial"/>
              </a:rPr>
              <a:t>4-3-1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077985" y="3804946"/>
            <a:ext cx="948055" cy="3086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5565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595"/>
              </a:spcBef>
            </a:pPr>
            <a:r>
              <a:rPr sz="1150" spc="10" dirty="0">
                <a:latin typeface="Arial"/>
                <a:cs typeface="Arial"/>
              </a:rPr>
              <a:t>5-2-1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77985" y="4214781"/>
            <a:ext cx="948055" cy="3289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610"/>
              </a:spcBef>
            </a:pPr>
            <a:r>
              <a:rPr sz="1150" spc="10" dirty="0">
                <a:latin typeface="Arial"/>
                <a:cs typeface="Arial"/>
              </a:rPr>
              <a:t>5-2-2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72180" y="4196010"/>
            <a:ext cx="951230" cy="3384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3820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660"/>
              </a:spcBef>
            </a:pPr>
            <a:r>
              <a:rPr sz="1150" spc="10" dirty="0">
                <a:latin typeface="Arial"/>
                <a:cs typeface="Arial"/>
              </a:rPr>
              <a:t>2-2-1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54633" y="3808074"/>
            <a:ext cx="951230" cy="3086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556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595"/>
              </a:spcBef>
            </a:pPr>
            <a:r>
              <a:rPr sz="1150" spc="10" dirty="0">
                <a:latin typeface="Arial"/>
                <a:cs typeface="Arial"/>
              </a:rPr>
              <a:t>1-2-1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54633" y="4217909"/>
            <a:ext cx="951230" cy="3289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683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605"/>
              </a:spcBef>
            </a:pPr>
            <a:r>
              <a:rPr sz="1150" spc="10" dirty="0">
                <a:latin typeface="Arial"/>
                <a:cs typeface="Arial"/>
              </a:rPr>
              <a:t>1-2-2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564050" y="5278475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2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260"/>
              </a:spcBef>
            </a:pPr>
            <a:r>
              <a:rPr sz="1150" spc="10" dirty="0">
                <a:latin typeface="Arial"/>
                <a:cs typeface="Arial"/>
              </a:rPr>
              <a:t>1-3-3</a:t>
            </a:r>
            <a:endParaRPr sz="11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564050" y="4987523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75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250"/>
              </a:spcBef>
            </a:pPr>
            <a:r>
              <a:rPr sz="1150" spc="10" dirty="0">
                <a:latin typeface="Arial"/>
                <a:cs typeface="Arial"/>
              </a:rPr>
              <a:t>1-3-2</a:t>
            </a:r>
            <a:endParaRPr sz="11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64050" y="4693443"/>
            <a:ext cx="948055" cy="241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75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250"/>
              </a:spcBef>
            </a:pPr>
            <a:r>
              <a:rPr sz="1150" spc="10" dirty="0">
                <a:latin typeface="Arial"/>
                <a:cs typeface="Arial"/>
              </a:rPr>
              <a:t>1-3-1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41756" y="1274041"/>
            <a:ext cx="6097905" cy="881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800" spc="-5" dirty="0">
                <a:latin typeface="Calibri"/>
                <a:cs typeface="Calibri"/>
              </a:rPr>
              <a:t>Основа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компонентная </a:t>
            </a:r>
            <a:r>
              <a:rPr sz="2800" spc="-25" dirty="0">
                <a:latin typeface="Calibri"/>
                <a:cs typeface="Calibri"/>
              </a:rPr>
              <a:t>модель </a:t>
            </a:r>
            <a:r>
              <a:rPr sz="2800" spc="-5" dirty="0">
                <a:latin typeface="Calibri"/>
                <a:cs typeface="Calibri"/>
              </a:rPr>
              <a:t>бизнеса  </a:t>
            </a:r>
            <a:r>
              <a:rPr sz="2800" spc="-10" dirty="0">
                <a:latin typeface="Calibri"/>
                <a:cs typeface="Calibri"/>
              </a:rPr>
              <a:t>(Component </a:t>
            </a:r>
            <a:r>
              <a:rPr sz="2800" spc="-5" dirty="0">
                <a:latin typeface="Calibri"/>
                <a:cs typeface="Calibri"/>
              </a:rPr>
              <a:t>business model,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0" dirty="0">
                <a:latin typeface="Calibri"/>
                <a:cs typeface="Calibri"/>
              </a:rPr>
              <a:t>CBM)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6524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1005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Составляющие бизнес-компонента</a:t>
            </a:r>
            <a:r>
              <a:rPr spc="40" dirty="0"/>
              <a:t> </a:t>
            </a:r>
            <a:r>
              <a:rPr spc="-5" dirty="0"/>
              <a:t>(IBM)</a:t>
            </a:r>
          </a:p>
        </p:txBody>
      </p:sp>
      <p:sp>
        <p:nvSpPr>
          <p:cNvPr id="3" name="object 3"/>
          <p:cNvSpPr/>
          <p:nvPr/>
        </p:nvSpPr>
        <p:spPr>
          <a:xfrm>
            <a:off x="107504" y="1196721"/>
            <a:ext cx="9036431" cy="4989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4651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64992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IBM </a:t>
            </a:r>
            <a:r>
              <a:rPr spc="-15" dirty="0"/>
              <a:t>Component </a:t>
            </a:r>
            <a:r>
              <a:rPr spc="-10" dirty="0"/>
              <a:t>business model</a:t>
            </a:r>
            <a:r>
              <a:rPr spc="140" dirty="0"/>
              <a:t> </a:t>
            </a:r>
            <a:r>
              <a:rPr spc="-10" dirty="0"/>
              <a:t>(CBM)</a:t>
            </a:r>
          </a:p>
        </p:txBody>
      </p:sp>
      <p:sp>
        <p:nvSpPr>
          <p:cNvPr id="4" name="object 4"/>
          <p:cNvSpPr/>
          <p:nvPr/>
        </p:nvSpPr>
        <p:spPr>
          <a:xfrm>
            <a:off x="179514" y="864956"/>
            <a:ext cx="8872982" cy="590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26169" y="6488379"/>
            <a:ext cx="2025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24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1736" y="889304"/>
            <a:ext cx="664210" cy="250825"/>
          </a:xfrm>
          <a:custGeom>
            <a:avLst/>
            <a:gdLst/>
            <a:ahLst/>
            <a:cxnLst/>
            <a:rect l="l" t="t" r="r" b="b"/>
            <a:pathLst>
              <a:path w="664210" h="250825">
                <a:moveTo>
                  <a:pt x="0" y="250520"/>
                </a:moveTo>
                <a:lnTo>
                  <a:pt x="663879" y="250520"/>
                </a:lnTo>
                <a:lnTo>
                  <a:pt x="663879" y="0"/>
                </a:lnTo>
                <a:lnTo>
                  <a:pt x="0" y="0"/>
                </a:lnTo>
                <a:lnTo>
                  <a:pt x="0" y="250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1736" y="889304"/>
            <a:ext cx="664210" cy="250825"/>
          </a:xfrm>
          <a:custGeom>
            <a:avLst/>
            <a:gdLst/>
            <a:ahLst/>
            <a:cxnLst/>
            <a:rect l="l" t="t" r="r" b="b"/>
            <a:pathLst>
              <a:path w="664210" h="250825">
                <a:moveTo>
                  <a:pt x="0" y="250520"/>
                </a:moveTo>
                <a:lnTo>
                  <a:pt x="663879" y="250520"/>
                </a:lnTo>
                <a:lnTo>
                  <a:pt x="663879" y="0"/>
                </a:lnTo>
                <a:lnTo>
                  <a:pt x="0" y="0"/>
                </a:lnTo>
                <a:lnTo>
                  <a:pt x="0" y="25052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18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14" y="1628775"/>
            <a:ext cx="8917432" cy="3888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19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62020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Actionable </a:t>
            </a:r>
            <a:r>
              <a:rPr spc="-10" dirty="0"/>
              <a:t>Business </a:t>
            </a:r>
            <a:r>
              <a:rPr spc="-15" dirty="0"/>
              <a:t>Architecture</a:t>
            </a:r>
            <a:r>
              <a:rPr spc="40" dirty="0"/>
              <a:t> </a:t>
            </a:r>
            <a:r>
              <a:rPr spc="-10" dirty="0"/>
              <a:t>IBM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145" y="1046480"/>
            <a:ext cx="7865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Business </a:t>
            </a:r>
            <a:r>
              <a:rPr sz="1800" spc="-15" dirty="0">
                <a:latin typeface="Calibri"/>
                <a:cs typeface="Calibri"/>
              </a:rPr>
              <a:t>Architecture defines </a:t>
            </a:r>
            <a:r>
              <a:rPr sz="1800" spc="-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manages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valued relationships </a:t>
            </a:r>
            <a:r>
              <a:rPr sz="1800" spc="-5" dirty="0">
                <a:latin typeface="Calibri"/>
                <a:cs typeface="Calibri"/>
              </a:rPr>
              <a:t>and </a:t>
            </a:r>
            <a:r>
              <a:rPr sz="1800" spc="-15" dirty="0">
                <a:latin typeface="Calibri"/>
                <a:cs typeface="Calibri"/>
              </a:rPr>
              <a:t>interactions  </a:t>
            </a:r>
            <a:r>
              <a:rPr sz="1800" spc="-5" dirty="0">
                <a:latin typeface="Calibri"/>
                <a:cs typeface="Calibri"/>
              </a:rPr>
              <a:t>among the </a:t>
            </a:r>
            <a:r>
              <a:rPr sz="1800" spc="-35" dirty="0">
                <a:latin typeface="Calibri"/>
                <a:cs typeface="Calibri"/>
              </a:rPr>
              <a:t>strategy, </a:t>
            </a:r>
            <a:r>
              <a:rPr sz="1800" spc="-15" dirty="0">
                <a:latin typeface="Calibri"/>
                <a:cs typeface="Calibri"/>
              </a:rPr>
              <a:t>operating </a:t>
            </a:r>
            <a:r>
              <a:rPr sz="1800" spc="-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models </a:t>
            </a:r>
            <a:r>
              <a:rPr sz="1800" dirty="0">
                <a:latin typeface="Calibri"/>
                <a:cs typeface="Calibri"/>
              </a:rPr>
              <a:t>of a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business.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883" y="5825744"/>
            <a:ext cx="3385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Harishankar, </a:t>
            </a:r>
            <a:r>
              <a:rPr sz="1800" spc="-5" dirty="0">
                <a:latin typeface="Calibri"/>
                <a:cs typeface="Calibri"/>
              </a:rPr>
              <a:t>R., </a:t>
            </a:r>
            <a:r>
              <a:rPr sz="1800" dirty="0">
                <a:latin typeface="Calibri"/>
                <a:cs typeface="Calibri"/>
              </a:rPr>
              <a:t>&amp; </a:t>
            </a:r>
            <a:r>
              <a:rPr sz="1800" spc="-25" dirty="0">
                <a:latin typeface="Calibri"/>
                <a:cs typeface="Calibri"/>
              </a:rPr>
              <a:t>Daley, </a:t>
            </a:r>
            <a:r>
              <a:rPr sz="1800" spc="-5" dirty="0">
                <a:latin typeface="Calibri"/>
                <a:cs typeface="Calibri"/>
              </a:rPr>
              <a:t>S. </a:t>
            </a:r>
            <a:r>
              <a:rPr sz="1800" dirty="0">
                <a:latin typeface="Calibri"/>
                <a:cs typeface="Calibri"/>
              </a:rPr>
              <a:t>K.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(2011)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7504" y="2001354"/>
            <a:ext cx="9024874" cy="3803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20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14377"/>
            <a:ext cx="309435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Методология</a:t>
            </a:r>
            <a:r>
              <a:rPr spc="-1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IBM</a:t>
            </a:r>
          </a:p>
        </p:txBody>
      </p:sp>
      <p:sp>
        <p:nvSpPr>
          <p:cNvPr id="3" name="object 3"/>
          <p:cNvSpPr/>
          <p:nvPr/>
        </p:nvSpPr>
        <p:spPr>
          <a:xfrm>
            <a:off x="611555" y="836764"/>
            <a:ext cx="8168513" cy="5544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21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42767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C00000"/>
                </a:solidFill>
              </a:rPr>
              <a:t>Отечественные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spc="-45" dirty="0">
                <a:solidFill>
                  <a:srgbClr val="C00000"/>
                </a:solidFill>
              </a:rPr>
              <a:t>подходы</a:t>
            </a:r>
          </a:p>
        </p:txBody>
      </p:sp>
      <p:sp>
        <p:nvSpPr>
          <p:cNvPr id="3" name="object 3"/>
          <p:cNvSpPr/>
          <p:nvPr/>
        </p:nvSpPr>
        <p:spPr>
          <a:xfrm>
            <a:off x="179514" y="1089278"/>
            <a:ext cx="5756021" cy="3563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96153" y="3242665"/>
            <a:ext cx="3108960" cy="29579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22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48296" y="3716997"/>
            <a:ext cx="1967992" cy="2512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7537" y="1052702"/>
            <a:ext cx="6219190" cy="4104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504" y="5738266"/>
            <a:ext cx="6241415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0" dirty="0">
                <a:latin typeface="Calibri"/>
                <a:cs typeface="Calibri"/>
              </a:rPr>
              <a:t>Григорьев </a:t>
            </a:r>
            <a:r>
              <a:rPr sz="1600" dirty="0">
                <a:latin typeface="Calibri"/>
                <a:cs typeface="Calibri"/>
              </a:rPr>
              <a:t>Л. </a:t>
            </a:r>
            <a:r>
              <a:rPr sz="1600" spc="-5" dirty="0" err="1" smtClean="0">
                <a:latin typeface="Calibri"/>
                <a:cs typeface="Calibri"/>
              </a:rPr>
              <a:t>Менеджмент</a:t>
            </a:r>
            <a:r>
              <a:rPr sz="1600" spc="-5" dirty="0" smtClean="0">
                <a:latin typeface="Calibri"/>
                <a:cs typeface="Calibri"/>
              </a:rPr>
              <a:t> </a:t>
            </a:r>
            <a:r>
              <a:rPr sz="1600" spc="0" dirty="0">
                <a:latin typeface="Calibri"/>
                <a:cs typeface="Calibri"/>
              </a:rPr>
              <a:t>по </a:t>
            </a:r>
            <a:r>
              <a:rPr sz="1600" spc="-5" dirty="0">
                <a:latin typeface="Calibri"/>
                <a:cs typeface="Calibri"/>
              </a:rPr>
              <a:t>нотам. </a:t>
            </a:r>
            <a:r>
              <a:rPr sz="1600" spc="-20" dirty="0">
                <a:latin typeface="Calibri"/>
                <a:cs typeface="Calibri"/>
              </a:rPr>
              <a:t>Технология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построения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эффективных </a:t>
            </a:r>
            <a:r>
              <a:rPr sz="1600" spc="-5" dirty="0">
                <a:latin typeface="Calibri"/>
                <a:cs typeface="Calibri"/>
              </a:rPr>
              <a:t>компаний. </a:t>
            </a:r>
            <a:r>
              <a:rPr sz="1600" dirty="0">
                <a:latin typeface="Calibri"/>
                <a:cs typeface="Calibri"/>
              </a:rPr>
              <a:t>– </a:t>
            </a:r>
            <a:r>
              <a:rPr sz="1600" spc="-5" dirty="0">
                <a:latin typeface="Calibri"/>
                <a:cs typeface="Calibri"/>
              </a:rPr>
              <a:t>М: </a:t>
            </a:r>
            <a:r>
              <a:rPr sz="1600" dirty="0">
                <a:latin typeface="Calibri"/>
                <a:cs typeface="Calibri"/>
              </a:rPr>
              <a:t>Альпина </a:t>
            </a:r>
            <a:r>
              <a:rPr sz="1600" spc="-5" dirty="0">
                <a:latin typeface="Calibri"/>
                <a:cs typeface="Calibri"/>
              </a:rPr>
              <a:t>Паблишерз. </a:t>
            </a:r>
            <a:r>
              <a:rPr sz="1600" dirty="0">
                <a:latin typeface="Calibri"/>
                <a:cs typeface="Calibri"/>
              </a:rPr>
              <a:t>2010. – 692</a:t>
            </a:r>
            <a:r>
              <a:rPr sz="1600" spc="-1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23</a:t>
            </a:fld>
            <a:endParaRPr spc="-5" dirty="0">
              <a:solidFill>
                <a:srgbClr val="404040"/>
              </a:solidFill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07891" y="1127086"/>
            <a:ext cx="4896485" cy="4955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0040" y="4479493"/>
            <a:ext cx="2295525" cy="1307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800" spc="-10" dirty="0">
                <a:latin typeface="Calibri"/>
                <a:cs typeface="Calibri"/>
              </a:rPr>
              <a:t>Строительные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элементы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latin typeface="Calibri"/>
                <a:cs typeface="Calibri"/>
              </a:rPr>
              <a:t>способности</a:t>
            </a:r>
            <a:r>
              <a:rPr sz="280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24</a:t>
            </a:fld>
            <a:endParaRPr spc="-5" dirty="0">
              <a:solidFill>
                <a:srgbClr val="404040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7456" y="1421968"/>
            <a:ext cx="3653790" cy="1734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indent="5715" algn="ctr">
              <a:lnSpc>
                <a:spcPct val="100000"/>
              </a:lnSpc>
              <a:spcBef>
                <a:spcPts val="110"/>
              </a:spcBef>
            </a:pPr>
            <a:r>
              <a:rPr sz="2800" spc="-5" dirty="0"/>
              <a:t>Верхнеуровневые  </a:t>
            </a:r>
            <a:r>
              <a:rPr sz="2800" spc="-10" dirty="0"/>
              <a:t>конструкции  </a:t>
            </a:r>
            <a:r>
              <a:rPr sz="2800" spc="-15" dirty="0"/>
              <a:t>(</a:t>
            </a:r>
            <a:r>
              <a:rPr sz="2800" b="1" i="1" spc="-20" dirty="0">
                <a:latin typeface="Calibri"/>
                <a:cs typeface="Calibri"/>
              </a:rPr>
              <a:t>ц</a:t>
            </a:r>
            <a:r>
              <a:rPr sz="2800" b="1" i="1" spc="-10" dirty="0">
                <a:latin typeface="Calibri"/>
                <a:cs typeface="Calibri"/>
              </a:rPr>
              <a:t>е</a:t>
            </a:r>
            <a:r>
              <a:rPr sz="2800" b="1" i="1" spc="5" dirty="0">
                <a:latin typeface="Calibri"/>
                <a:cs typeface="Calibri"/>
              </a:rPr>
              <a:t>п</a:t>
            </a:r>
            <a:r>
              <a:rPr sz="2800" b="1" i="1" dirty="0">
                <a:latin typeface="Calibri"/>
                <a:cs typeface="Calibri"/>
              </a:rPr>
              <a:t>очк</a:t>
            </a:r>
            <a:r>
              <a:rPr sz="2800" b="1" i="1" spc="5" dirty="0">
                <a:latin typeface="Calibri"/>
                <a:cs typeface="Calibri"/>
              </a:rPr>
              <a:t>и</a:t>
            </a:r>
            <a:r>
              <a:rPr sz="2800" b="1" i="1" spc="-5" dirty="0">
                <a:latin typeface="Calibri"/>
                <a:cs typeface="Calibri"/>
              </a:rPr>
              <a:t>/</a:t>
            </a:r>
            <a:r>
              <a:rPr sz="2800" b="1" i="1" spc="-40" dirty="0">
                <a:latin typeface="Calibri"/>
                <a:cs typeface="Calibri"/>
              </a:rPr>
              <a:t>к</a:t>
            </a:r>
            <a:r>
              <a:rPr sz="2800" b="1" i="1" dirty="0">
                <a:latin typeface="Calibri"/>
                <a:cs typeface="Calibri"/>
              </a:rPr>
              <a:t>онфи</a:t>
            </a:r>
            <a:r>
              <a:rPr sz="2800" b="1" i="1" spc="-30" dirty="0">
                <a:latin typeface="Calibri"/>
                <a:cs typeface="Calibri"/>
              </a:rPr>
              <a:t>г</a:t>
            </a:r>
            <a:r>
              <a:rPr sz="2800" b="1" i="1" dirty="0">
                <a:latin typeface="Calibri"/>
                <a:cs typeface="Calibri"/>
              </a:rPr>
              <a:t>ур</a:t>
            </a:r>
            <a:r>
              <a:rPr sz="2800" b="1" i="1" spc="-15" dirty="0">
                <a:latin typeface="Calibri"/>
                <a:cs typeface="Calibri"/>
              </a:rPr>
              <a:t>а</a:t>
            </a:r>
            <a:r>
              <a:rPr sz="2800" b="1" i="1" dirty="0">
                <a:latin typeface="Calibri"/>
                <a:cs typeface="Calibri"/>
              </a:rPr>
              <a:t>ци  </a:t>
            </a:r>
            <a:r>
              <a:rPr sz="2800" b="1" i="1" spc="0" dirty="0">
                <a:latin typeface="Calibri"/>
                <a:cs typeface="Calibri"/>
              </a:rPr>
              <a:t>и </a:t>
            </a:r>
            <a:r>
              <a:rPr sz="2800" b="1" i="1" dirty="0">
                <a:latin typeface="Calibri"/>
                <a:cs typeface="Calibri"/>
              </a:rPr>
              <a:t>создания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ценности</a:t>
            </a:r>
            <a:r>
              <a:rPr sz="2800" spc="-5" dirty="0"/>
              <a:t>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6860" marR="5080">
              <a:lnSpc>
                <a:spcPct val="100000"/>
              </a:lnSpc>
              <a:spcBef>
                <a:spcPts val="90"/>
              </a:spcBef>
            </a:pPr>
            <a:r>
              <a:rPr spc="-15" dirty="0"/>
              <a:t>Декомпозиция </a:t>
            </a:r>
            <a:r>
              <a:rPr spc="-20" dirty="0"/>
              <a:t>деятельности </a:t>
            </a:r>
            <a:r>
              <a:rPr spc="-5" dirty="0"/>
              <a:t>в </a:t>
            </a:r>
            <a:r>
              <a:rPr spc="-10" dirty="0"/>
              <a:t>функциональном  </a:t>
            </a:r>
            <a:r>
              <a:rPr spc="-5" dirty="0"/>
              <a:t>и </a:t>
            </a:r>
            <a:r>
              <a:rPr spc="-15" dirty="0"/>
              <a:t>процессном</a:t>
            </a:r>
            <a:r>
              <a:rPr spc="55" dirty="0"/>
              <a:t> </a:t>
            </a:r>
            <a:r>
              <a:rPr spc="-5" dirty="0"/>
              <a:t>направлениях</a:t>
            </a:r>
          </a:p>
        </p:txBody>
      </p:sp>
      <p:sp>
        <p:nvSpPr>
          <p:cNvPr id="3" name="object 3"/>
          <p:cNvSpPr/>
          <p:nvPr/>
        </p:nvSpPr>
        <p:spPr>
          <a:xfrm>
            <a:off x="410844" y="1125474"/>
            <a:ext cx="4027804" cy="2313305"/>
          </a:xfrm>
          <a:custGeom>
            <a:avLst/>
            <a:gdLst/>
            <a:ahLst/>
            <a:cxnLst/>
            <a:rect l="l" t="t" r="r" b="b"/>
            <a:pathLst>
              <a:path w="4027804" h="2313304">
                <a:moveTo>
                  <a:pt x="0" y="2313051"/>
                </a:moveTo>
                <a:lnTo>
                  <a:pt x="4027424" y="2313051"/>
                </a:lnTo>
                <a:lnTo>
                  <a:pt x="4027424" y="0"/>
                </a:lnTo>
                <a:lnTo>
                  <a:pt x="0" y="0"/>
                </a:lnTo>
                <a:lnTo>
                  <a:pt x="0" y="2313051"/>
                </a:lnTo>
                <a:close/>
              </a:path>
            </a:pathLst>
          </a:custGeom>
          <a:solidFill>
            <a:srgbClr val="F9C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0844" y="1125474"/>
            <a:ext cx="4027804" cy="2313305"/>
          </a:xfrm>
          <a:custGeom>
            <a:avLst/>
            <a:gdLst/>
            <a:ahLst/>
            <a:cxnLst/>
            <a:rect l="l" t="t" r="r" b="b"/>
            <a:pathLst>
              <a:path w="4027804" h="2313304">
                <a:moveTo>
                  <a:pt x="0" y="2313051"/>
                </a:moveTo>
                <a:lnTo>
                  <a:pt x="4027424" y="2313051"/>
                </a:lnTo>
                <a:lnTo>
                  <a:pt x="4027424" y="0"/>
                </a:lnTo>
                <a:lnTo>
                  <a:pt x="0" y="0"/>
                </a:lnTo>
                <a:lnTo>
                  <a:pt x="0" y="2313051"/>
                </a:lnTo>
                <a:close/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5794" y="2238375"/>
            <a:ext cx="3621404" cy="300355"/>
          </a:xfrm>
          <a:custGeom>
            <a:avLst/>
            <a:gdLst/>
            <a:ahLst/>
            <a:cxnLst/>
            <a:rect l="l" t="t" r="r" b="b"/>
            <a:pathLst>
              <a:path w="3621404" h="300355">
                <a:moveTo>
                  <a:pt x="3471037" y="0"/>
                </a:moveTo>
                <a:lnTo>
                  <a:pt x="0" y="0"/>
                </a:lnTo>
                <a:lnTo>
                  <a:pt x="0" y="300100"/>
                </a:lnTo>
                <a:lnTo>
                  <a:pt x="3471037" y="300100"/>
                </a:lnTo>
                <a:lnTo>
                  <a:pt x="3621024" y="149987"/>
                </a:lnTo>
                <a:lnTo>
                  <a:pt x="3471037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5794" y="2238375"/>
            <a:ext cx="3621404" cy="300355"/>
          </a:xfrm>
          <a:custGeom>
            <a:avLst/>
            <a:gdLst/>
            <a:ahLst/>
            <a:cxnLst/>
            <a:rect l="l" t="t" r="r" b="b"/>
            <a:pathLst>
              <a:path w="3621404" h="300355">
                <a:moveTo>
                  <a:pt x="0" y="0"/>
                </a:moveTo>
                <a:lnTo>
                  <a:pt x="3471037" y="0"/>
                </a:lnTo>
                <a:lnTo>
                  <a:pt x="3621024" y="149987"/>
                </a:lnTo>
                <a:lnTo>
                  <a:pt x="3471037" y="300100"/>
                </a:lnTo>
                <a:lnTo>
                  <a:pt x="0" y="3001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15388" y="2263267"/>
            <a:ext cx="410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564" y="2652712"/>
            <a:ext cx="977265" cy="563880"/>
          </a:xfrm>
          <a:prstGeom prst="rect">
            <a:avLst/>
          </a:prstGeom>
          <a:solidFill>
            <a:srgbClr val="FBD4B5"/>
          </a:solidFill>
          <a:ln w="19050">
            <a:solidFill>
              <a:srgbClr val="585858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398780" marR="102870" indent="-289560">
              <a:lnSpc>
                <a:spcPct val="100000"/>
              </a:lnSpc>
              <a:spcBef>
                <a:spcPts val="840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Х.1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7479" y="2651188"/>
            <a:ext cx="971550" cy="563880"/>
          </a:xfrm>
          <a:prstGeom prst="rect">
            <a:avLst/>
          </a:prstGeom>
          <a:solidFill>
            <a:srgbClr val="FBD4B5"/>
          </a:solidFill>
          <a:ln w="19050">
            <a:solidFill>
              <a:srgbClr val="585858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Способность</a:t>
            </a:r>
            <a:endParaRPr sz="11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Х.2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9064" y="2649601"/>
            <a:ext cx="1002665" cy="565150"/>
          </a:xfrm>
          <a:prstGeom prst="rect">
            <a:avLst/>
          </a:prstGeom>
          <a:solidFill>
            <a:srgbClr val="FBD4B5"/>
          </a:solidFill>
          <a:ln w="19050">
            <a:solidFill>
              <a:srgbClr val="585858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411480" marR="114935" indent="-289560">
              <a:lnSpc>
                <a:spcPct val="100000"/>
              </a:lnSpc>
              <a:spcBef>
                <a:spcPts val="844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Х.3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2619" y="1857375"/>
            <a:ext cx="3619500" cy="300355"/>
          </a:xfrm>
          <a:custGeom>
            <a:avLst/>
            <a:gdLst/>
            <a:ahLst/>
            <a:cxnLst/>
            <a:rect l="l" t="t" r="r" b="b"/>
            <a:pathLst>
              <a:path w="3619500" h="300355">
                <a:moveTo>
                  <a:pt x="3469513" y="0"/>
                </a:moveTo>
                <a:lnTo>
                  <a:pt x="0" y="0"/>
                </a:lnTo>
                <a:lnTo>
                  <a:pt x="0" y="300100"/>
                </a:lnTo>
                <a:lnTo>
                  <a:pt x="3469513" y="300100"/>
                </a:lnTo>
                <a:lnTo>
                  <a:pt x="3619500" y="149987"/>
                </a:lnTo>
                <a:lnTo>
                  <a:pt x="3469513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2619" y="1857375"/>
            <a:ext cx="3619500" cy="300355"/>
          </a:xfrm>
          <a:custGeom>
            <a:avLst/>
            <a:gdLst/>
            <a:ahLst/>
            <a:cxnLst/>
            <a:rect l="l" t="t" r="r" b="b"/>
            <a:pathLst>
              <a:path w="3619500" h="300355">
                <a:moveTo>
                  <a:pt x="0" y="0"/>
                </a:moveTo>
                <a:lnTo>
                  <a:pt x="3469513" y="0"/>
                </a:lnTo>
                <a:lnTo>
                  <a:pt x="3619500" y="149987"/>
                </a:lnTo>
                <a:lnTo>
                  <a:pt x="3469513" y="300100"/>
                </a:lnTo>
                <a:lnTo>
                  <a:pt x="0" y="3001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09038" y="1882267"/>
            <a:ext cx="410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8969" y="1478025"/>
            <a:ext cx="3621404" cy="300355"/>
          </a:xfrm>
          <a:custGeom>
            <a:avLst/>
            <a:gdLst/>
            <a:ahLst/>
            <a:cxnLst/>
            <a:rect l="l" t="t" r="r" b="b"/>
            <a:pathLst>
              <a:path w="3621404" h="300355">
                <a:moveTo>
                  <a:pt x="3471037" y="0"/>
                </a:moveTo>
                <a:lnTo>
                  <a:pt x="0" y="0"/>
                </a:lnTo>
                <a:lnTo>
                  <a:pt x="0" y="299974"/>
                </a:lnTo>
                <a:lnTo>
                  <a:pt x="3471037" y="299974"/>
                </a:lnTo>
                <a:lnTo>
                  <a:pt x="3621024" y="149987"/>
                </a:lnTo>
                <a:lnTo>
                  <a:pt x="3471037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8969" y="1478025"/>
            <a:ext cx="3621404" cy="300355"/>
          </a:xfrm>
          <a:custGeom>
            <a:avLst/>
            <a:gdLst/>
            <a:ahLst/>
            <a:cxnLst/>
            <a:rect l="l" t="t" r="r" b="b"/>
            <a:pathLst>
              <a:path w="3621404" h="300355">
                <a:moveTo>
                  <a:pt x="0" y="0"/>
                </a:moveTo>
                <a:lnTo>
                  <a:pt x="3471037" y="0"/>
                </a:lnTo>
                <a:lnTo>
                  <a:pt x="3621024" y="149987"/>
                </a:lnTo>
                <a:lnTo>
                  <a:pt x="3471037" y="299974"/>
                </a:lnTo>
                <a:lnTo>
                  <a:pt x="0" y="29997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75131" y="1176274"/>
            <a:ext cx="2694940" cy="534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404040"/>
                </a:solidFill>
                <a:latin typeface="Calibri"/>
                <a:cs typeface="Calibri"/>
              </a:rPr>
              <a:t>Способность</a:t>
            </a:r>
            <a:r>
              <a:rPr sz="1400" b="1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Х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Цепочка/сеть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создания ценности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(ЦСЦ)</a:t>
            </a:r>
            <a:r>
              <a:rPr sz="12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3532" y="4365713"/>
            <a:ext cx="2891155" cy="1871980"/>
          </a:xfrm>
          <a:custGeom>
            <a:avLst/>
            <a:gdLst/>
            <a:ahLst/>
            <a:cxnLst/>
            <a:rect l="l" t="t" r="r" b="b"/>
            <a:pathLst>
              <a:path w="2891155" h="1871979">
                <a:moveTo>
                  <a:pt x="0" y="1871599"/>
                </a:moveTo>
                <a:lnTo>
                  <a:pt x="2890901" y="1871599"/>
                </a:lnTo>
                <a:lnTo>
                  <a:pt x="2890901" y="0"/>
                </a:lnTo>
                <a:lnTo>
                  <a:pt x="0" y="0"/>
                </a:lnTo>
                <a:lnTo>
                  <a:pt x="0" y="1871599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3532" y="4365713"/>
            <a:ext cx="2891155" cy="1871980"/>
          </a:xfrm>
          <a:custGeom>
            <a:avLst/>
            <a:gdLst/>
            <a:ahLst/>
            <a:cxnLst/>
            <a:rect l="l" t="t" r="r" b="b"/>
            <a:pathLst>
              <a:path w="2891155" h="1871979">
                <a:moveTo>
                  <a:pt x="0" y="1871599"/>
                </a:moveTo>
                <a:lnTo>
                  <a:pt x="2890901" y="1871599"/>
                </a:lnTo>
                <a:lnTo>
                  <a:pt x="2890901" y="0"/>
                </a:lnTo>
                <a:lnTo>
                  <a:pt x="0" y="0"/>
                </a:lnTo>
                <a:lnTo>
                  <a:pt x="0" y="1871599"/>
                </a:lnTo>
                <a:close/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28445" y="4417821"/>
            <a:ext cx="1081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Способность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4657" y="5737250"/>
            <a:ext cx="838200" cy="403225"/>
          </a:xfrm>
          <a:prstGeom prst="rect">
            <a:avLst/>
          </a:prstGeom>
          <a:solidFill>
            <a:srgbClr val="FCEADA"/>
          </a:solidFill>
          <a:ln w="19050">
            <a:solidFill>
              <a:srgbClr val="585858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74320" marR="33655" indent="-235585">
              <a:lnSpc>
                <a:spcPct val="100000"/>
              </a:lnSpc>
              <a:spcBef>
                <a:spcPts val="220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X.1.1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6994" y="5735663"/>
            <a:ext cx="850900" cy="403225"/>
          </a:xfrm>
          <a:prstGeom prst="rect">
            <a:avLst/>
          </a:prstGeom>
          <a:solidFill>
            <a:srgbClr val="FCEADA"/>
          </a:solidFill>
          <a:ln w="19050">
            <a:solidFill>
              <a:srgbClr val="585858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80670" marR="40005" indent="-235585">
              <a:lnSpc>
                <a:spcPct val="100000"/>
              </a:lnSpc>
              <a:spcBef>
                <a:spcPts val="220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X.1.2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8794" y="5734075"/>
            <a:ext cx="843280" cy="405130"/>
          </a:xfrm>
          <a:prstGeom prst="rect">
            <a:avLst/>
          </a:prstGeom>
          <a:solidFill>
            <a:srgbClr val="FCEADA"/>
          </a:solidFill>
          <a:ln w="19050">
            <a:solidFill>
              <a:srgbClr val="585858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277495" marR="34925" indent="-234950">
              <a:lnSpc>
                <a:spcPct val="100000"/>
              </a:lnSpc>
              <a:spcBef>
                <a:spcPts val="225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X.1.3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11389" y="3216275"/>
            <a:ext cx="60960" cy="1149350"/>
          </a:xfrm>
          <a:custGeom>
            <a:avLst/>
            <a:gdLst/>
            <a:ahLst/>
            <a:cxnLst/>
            <a:rect l="l" t="t" r="r" b="b"/>
            <a:pathLst>
              <a:path w="60959" h="1149350">
                <a:moveTo>
                  <a:pt x="60718" y="0"/>
                </a:moveTo>
                <a:lnTo>
                  <a:pt x="0" y="1149350"/>
                </a:lnTo>
              </a:path>
            </a:pathLst>
          </a:custGeom>
          <a:ln w="19050">
            <a:solidFill>
              <a:srgbClr val="974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13126" y="3214751"/>
            <a:ext cx="2399030" cy="1151255"/>
          </a:xfrm>
          <a:custGeom>
            <a:avLst/>
            <a:gdLst/>
            <a:ahLst/>
            <a:cxnLst/>
            <a:rect l="l" t="t" r="r" b="b"/>
            <a:pathLst>
              <a:path w="2399029" h="1151254">
                <a:moveTo>
                  <a:pt x="0" y="0"/>
                </a:moveTo>
                <a:lnTo>
                  <a:pt x="2399030" y="1150874"/>
                </a:lnTo>
              </a:path>
            </a:pathLst>
          </a:custGeom>
          <a:ln w="19050">
            <a:solidFill>
              <a:srgbClr val="974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66770" y="4365713"/>
            <a:ext cx="2891155" cy="1871980"/>
          </a:xfrm>
          <a:custGeom>
            <a:avLst/>
            <a:gdLst/>
            <a:ahLst/>
            <a:cxnLst/>
            <a:rect l="l" t="t" r="r" b="b"/>
            <a:pathLst>
              <a:path w="2891154" h="1871979">
                <a:moveTo>
                  <a:pt x="0" y="1871599"/>
                </a:moveTo>
                <a:lnTo>
                  <a:pt x="2890774" y="1871599"/>
                </a:lnTo>
                <a:lnTo>
                  <a:pt x="2890774" y="0"/>
                </a:lnTo>
                <a:lnTo>
                  <a:pt x="0" y="0"/>
                </a:lnTo>
                <a:lnTo>
                  <a:pt x="0" y="1871599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66770" y="4365713"/>
            <a:ext cx="2891155" cy="1871980"/>
          </a:xfrm>
          <a:custGeom>
            <a:avLst/>
            <a:gdLst/>
            <a:ahLst/>
            <a:cxnLst/>
            <a:rect l="l" t="t" r="r" b="b"/>
            <a:pathLst>
              <a:path w="2891154" h="1871979">
                <a:moveTo>
                  <a:pt x="0" y="1871599"/>
                </a:moveTo>
                <a:lnTo>
                  <a:pt x="2890774" y="1871599"/>
                </a:lnTo>
                <a:lnTo>
                  <a:pt x="2890774" y="0"/>
                </a:lnTo>
                <a:lnTo>
                  <a:pt x="0" y="0"/>
                </a:lnTo>
                <a:lnTo>
                  <a:pt x="0" y="1871599"/>
                </a:lnTo>
                <a:close/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72788" y="4417821"/>
            <a:ext cx="1081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Способность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77895" y="5737250"/>
            <a:ext cx="838200" cy="403225"/>
          </a:xfrm>
          <a:prstGeom prst="rect">
            <a:avLst/>
          </a:prstGeom>
          <a:solidFill>
            <a:srgbClr val="FCEADA"/>
          </a:solidFill>
          <a:ln w="19050">
            <a:solidFill>
              <a:srgbClr val="585858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74955" marR="32384" indent="-234950">
              <a:lnSpc>
                <a:spcPct val="100000"/>
              </a:lnSpc>
              <a:spcBef>
                <a:spcPts val="220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X.2.1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00169" y="5735663"/>
            <a:ext cx="850900" cy="403225"/>
          </a:xfrm>
          <a:prstGeom prst="rect">
            <a:avLst/>
          </a:prstGeom>
          <a:solidFill>
            <a:srgbClr val="FCEADA"/>
          </a:solidFill>
          <a:ln w="19050">
            <a:solidFill>
              <a:srgbClr val="585858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81305" marR="38735" indent="-234950">
              <a:lnSpc>
                <a:spcPct val="100000"/>
              </a:lnSpc>
              <a:spcBef>
                <a:spcPts val="220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X.2.2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32095" y="5734075"/>
            <a:ext cx="843280" cy="405130"/>
          </a:xfrm>
          <a:prstGeom prst="rect">
            <a:avLst/>
          </a:prstGeom>
          <a:solidFill>
            <a:srgbClr val="FCEADA"/>
          </a:solidFill>
          <a:ln w="19050">
            <a:solidFill>
              <a:srgbClr val="585858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278765" marR="33655" indent="-234950">
              <a:lnSpc>
                <a:spcPct val="100000"/>
              </a:lnSpc>
              <a:spcBef>
                <a:spcPts val="225"/>
              </a:spcBef>
            </a:pP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п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б</a:t>
            </a:r>
            <a:r>
              <a:rPr sz="1100" spc="0" dirty="0">
                <a:solidFill>
                  <a:srgbClr val="404040"/>
                </a:solidFill>
                <a:latin typeface="Calibri"/>
                <a:cs typeface="Calibri"/>
              </a:rPr>
              <a:t>н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о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с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ть 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X.2.3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0232" y="5384800"/>
            <a:ext cx="2384425" cy="257810"/>
          </a:xfrm>
          <a:custGeom>
            <a:avLst/>
            <a:gdLst/>
            <a:ahLst/>
            <a:cxnLst/>
            <a:rect l="l" t="t" r="r" b="b"/>
            <a:pathLst>
              <a:path w="2384425" h="257810">
                <a:moveTo>
                  <a:pt x="2255837" y="0"/>
                </a:moveTo>
                <a:lnTo>
                  <a:pt x="0" y="0"/>
                </a:lnTo>
                <a:lnTo>
                  <a:pt x="0" y="257200"/>
                </a:lnTo>
                <a:lnTo>
                  <a:pt x="2255837" y="257200"/>
                </a:lnTo>
                <a:lnTo>
                  <a:pt x="2384361" y="128650"/>
                </a:lnTo>
                <a:lnTo>
                  <a:pt x="2255837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0232" y="5384800"/>
            <a:ext cx="2384425" cy="257810"/>
          </a:xfrm>
          <a:custGeom>
            <a:avLst/>
            <a:gdLst/>
            <a:ahLst/>
            <a:cxnLst/>
            <a:rect l="l" t="t" r="r" b="b"/>
            <a:pathLst>
              <a:path w="2384425" h="257810">
                <a:moveTo>
                  <a:pt x="0" y="0"/>
                </a:moveTo>
                <a:lnTo>
                  <a:pt x="2255837" y="0"/>
                </a:lnTo>
                <a:lnTo>
                  <a:pt x="2384361" y="128650"/>
                </a:lnTo>
                <a:lnTo>
                  <a:pt x="2255837" y="257200"/>
                </a:lnTo>
                <a:lnTo>
                  <a:pt x="0" y="2572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428114" y="5411215"/>
            <a:ext cx="646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X.1.3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5469" y="5057775"/>
            <a:ext cx="2386330" cy="257175"/>
          </a:xfrm>
          <a:custGeom>
            <a:avLst/>
            <a:gdLst/>
            <a:ahLst/>
            <a:cxnLst/>
            <a:rect l="l" t="t" r="r" b="b"/>
            <a:pathLst>
              <a:path w="2386330" h="257175">
                <a:moveTo>
                  <a:pt x="2257425" y="0"/>
                </a:moveTo>
                <a:lnTo>
                  <a:pt x="0" y="0"/>
                </a:lnTo>
                <a:lnTo>
                  <a:pt x="0" y="257175"/>
                </a:lnTo>
                <a:lnTo>
                  <a:pt x="2257425" y="257175"/>
                </a:lnTo>
                <a:lnTo>
                  <a:pt x="2385949" y="128650"/>
                </a:lnTo>
                <a:lnTo>
                  <a:pt x="2257425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5469" y="5057775"/>
            <a:ext cx="2386330" cy="257175"/>
          </a:xfrm>
          <a:custGeom>
            <a:avLst/>
            <a:gdLst/>
            <a:ahLst/>
            <a:cxnLst/>
            <a:rect l="l" t="t" r="r" b="b"/>
            <a:pathLst>
              <a:path w="2386330" h="257175">
                <a:moveTo>
                  <a:pt x="0" y="0"/>
                </a:moveTo>
                <a:lnTo>
                  <a:pt x="2257425" y="0"/>
                </a:lnTo>
                <a:lnTo>
                  <a:pt x="2385949" y="128650"/>
                </a:lnTo>
                <a:lnTo>
                  <a:pt x="225742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422908" y="5083809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X.1.2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3407" y="4732401"/>
            <a:ext cx="2386330" cy="257175"/>
          </a:xfrm>
          <a:custGeom>
            <a:avLst/>
            <a:gdLst/>
            <a:ahLst/>
            <a:cxnLst/>
            <a:rect l="l" t="t" r="r" b="b"/>
            <a:pathLst>
              <a:path w="2386330" h="257175">
                <a:moveTo>
                  <a:pt x="2257361" y="0"/>
                </a:moveTo>
                <a:lnTo>
                  <a:pt x="0" y="0"/>
                </a:lnTo>
                <a:lnTo>
                  <a:pt x="0" y="257175"/>
                </a:lnTo>
                <a:lnTo>
                  <a:pt x="2257361" y="257175"/>
                </a:lnTo>
                <a:lnTo>
                  <a:pt x="2386012" y="128524"/>
                </a:lnTo>
                <a:lnTo>
                  <a:pt x="2257361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3407" y="4732401"/>
            <a:ext cx="2386330" cy="257175"/>
          </a:xfrm>
          <a:custGeom>
            <a:avLst/>
            <a:gdLst/>
            <a:ahLst/>
            <a:cxnLst/>
            <a:rect l="l" t="t" r="r" b="b"/>
            <a:pathLst>
              <a:path w="2386330" h="257175">
                <a:moveTo>
                  <a:pt x="0" y="0"/>
                </a:moveTo>
                <a:lnTo>
                  <a:pt x="2257361" y="0"/>
                </a:lnTo>
                <a:lnTo>
                  <a:pt x="2386012" y="128524"/>
                </a:lnTo>
                <a:lnTo>
                  <a:pt x="2257361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430782" y="4758309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X.1.1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619119" y="5384800"/>
            <a:ext cx="2413000" cy="257810"/>
          </a:xfrm>
          <a:custGeom>
            <a:avLst/>
            <a:gdLst/>
            <a:ahLst/>
            <a:cxnLst/>
            <a:rect l="l" t="t" r="r" b="b"/>
            <a:pathLst>
              <a:path w="2413000" h="257810">
                <a:moveTo>
                  <a:pt x="2284476" y="0"/>
                </a:moveTo>
                <a:lnTo>
                  <a:pt x="0" y="0"/>
                </a:lnTo>
                <a:lnTo>
                  <a:pt x="0" y="257200"/>
                </a:lnTo>
                <a:lnTo>
                  <a:pt x="2284476" y="257200"/>
                </a:lnTo>
                <a:lnTo>
                  <a:pt x="2413000" y="128650"/>
                </a:lnTo>
                <a:lnTo>
                  <a:pt x="2284476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619119" y="5384800"/>
            <a:ext cx="2413000" cy="257810"/>
          </a:xfrm>
          <a:custGeom>
            <a:avLst/>
            <a:gdLst/>
            <a:ahLst/>
            <a:cxnLst/>
            <a:rect l="l" t="t" r="r" b="b"/>
            <a:pathLst>
              <a:path w="2413000" h="257810">
                <a:moveTo>
                  <a:pt x="0" y="0"/>
                </a:moveTo>
                <a:lnTo>
                  <a:pt x="2284476" y="0"/>
                </a:lnTo>
                <a:lnTo>
                  <a:pt x="2413000" y="128650"/>
                </a:lnTo>
                <a:lnTo>
                  <a:pt x="2284476" y="257200"/>
                </a:lnTo>
                <a:lnTo>
                  <a:pt x="0" y="2572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73066" y="5411215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X.2.3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615944" y="5057775"/>
            <a:ext cx="2411730" cy="257175"/>
          </a:xfrm>
          <a:custGeom>
            <a:avLst/>
            <a:gdLst/>
            <a:ahLst/>
            <a:cxnLst/>
            <a:rect l="l" t="t" r="r" b="b"/>
            <a:pathLst>
              <a:path w="2411729" h="257175">
                <a:moveTo>
                  <a:pt x="2282825" y="0"/>
                </a:moveTo>
                <a:lnTo>
                  <a:pt x="0" y="0"/>
                </a:lnTo>
                <a:lnTo>
                  <a:pt x="0" y="257175"/>
                </a:lnTo>
                <a:lnTo>
                  <a:pt x="2282825" y="257175"/>
                </a:lnTo>
                <a:lnTo>
                  <a:pt x="2411476" y="128650"/>
                </a:lnTo>
                <a:lnTo>
                  <a:pt x="2282825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15944" y="5057775"/>
            <a:ext cx="2411730" cy="257175"/>
          </a:xfrm>
          <a:custGeom>
            <a:avLst/>
            <a:gdLst/>
            <a:ahLst/>
            <a:cxnLst/>
            <a:rect l="l" t="t" r="r" b="b"/>
            <a:pathLst>
              <a:path w="2411729" h="257175">
                <a:moveTo>
                  <a:pt x="0" y="0"/>
                </a:moveTo>
                <a:lnTo>
                  <a:pt x="2282825" y="0"/>
                </a:lnTo>
                <a:lnTo>
                  <a:pt x="2411476" y="128650"/>
                </a:lnTo>
                <a:lnTo>
                  <a:pt x="228282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466590" y="5083809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X.2.2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622294" y="4732401"/>
            <a:ext cx="2413000" cy="257175"/>
          </a:xfrm>
          <a:custGeom>
            <a:avLst/>
            <a:gdLst/>
            <a:ahLst/>
            <a:cxnLst/>
            <a:rect l="l" t="t" r="r" b="b"/>
            <a:pathLst>
              <a:path w="2413000" h="257175">
                <a:moveTo>
                  <a:pt x="2284476" y="0"/>
                </a:moveTo>
                <a:lnTo>
                  <a:pt x="0" y="0"/>
                </a:lnTo>
                <a:lnTo>
                  <a:pt x="0" y="257175"/>
                </a:lnTo>
                <a:lnTo>
                  <a:pt x="2284476" y="257175"/>
                </a:lnTo>
                <a:lnTo>
                  <a:pt x="2413000" y="128524"/>
                </a:lnTo>
                <a:lnTo>
                  <a:pt x="2284476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622294" y="4732401"/>
            <a:ext cx="2413000" cy="257175"/>
          </a:xfrm>
          <a:custGeom>
            <a:avLst/>
            <a:gdLst/>
            <a:ahLst/>
            <a:cxnLst/>
            <a:rect l="l" t="t" r="r" b="b"/>
            <a:pathLst>
              <a:path w="2413000" h="257175">
                <a:moveTo>
                  <a:pt x="0" y="0"/>
                </a:moveTo>
                <a:lnTo>
                  <a:pt x="2284476" y="0"/>
                </a:lnTo>
                <a:lnTo>
                  <a:pt x="2413000" y="128524"/>
                </a:lnTo>
                <a:lnTo>
                  <a:pt x="2284476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476369" y="4758309"/>
            <a:ext cx="646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X.2.1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238369" y="2522601"/>
            <a:ext cx="3526154" cy="1195705"/>
          </a:xfrm>
          <a:custGeom>
            <a:avLst/>
            <a:gdLst/>
            <a:ahLst/>
            <a:cxnLst/>
            <a:rect l="l" t="t" r="r" b="b"/>
            <a:pathLst>
              <a:path w="3526154" h="1195704">
                <a:moveTo>
                  <a:pt x="3070859" y="0"/>
                </a:moveTo>
                <a:lnTo>
                  <a:pt x="0" y="0"/>
                </a:lnTo>
                <a:lnTo>
                  <a:pt x="0" y="1195324"/>
                </a:lnTo>
                <a:lnTo>
                  <a:pt x="3070859" y="1195324"/>
                </a:lnTo>
                <a:lnTo>
                  <a:pt x="3525901" y="597662"/>
                </a:lnTo>
                <a:lnTo>
                  <a:pt x="3070859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238369" y="2522601"/>
            <a:ext cx="3526154" cy="1195705"/>
          </a:xfrm>
          <a:custGeom>
            <a:avLst/>
            <a:gdLst/>
            <a:ahLst/>
            <a:cxnLst/>
            <a:rect l="l" t="t" r="r" b="b"/>
            <a:pathLst>
              <a:path w="3526154" h="1195704">
                <a:moveTo>
                  <a:pt x="0" y="0"/>
                </a:moveTo>
                <a:lnTo>
                  <a:pt x="3070859" y="0"/>
                </a:lnTo>
                <a:lnTo>
                  <a:pt x="3525901" y="597662"/>
                </a:lnTo>
                <a:lnTo>
                  <a:pt x="3070859" y="1195324"/>
                </a:lnTo>
                <a:lnTo>
                  <a:pt x="0" y="119532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263388" y="2541523"/>
            <a:ext cx="5410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230495" y="941450"/>
            <a:ext cx="3533775" cy="1479550"/>
          </a:xfrm>
          <a:custGeom>
            <a:avLst/>
            <a:gdLst/>
            <a:ahLst/>
            <a:cxnLst/>
            <a:rect l="l" t="t" r="r" b="b"/>
            <a:pathLst>
              <a:path w="3533775" h="1479550">
                <a:moveTo>
                  <a:pt x="3052953" y="0"/>
                </a:moveTo>
                <a:lnTo>
                  <a:pt x="0" y="0"/>
                </a:lnTo>
                <a:lnTo>
                  <a:pt x="0" y="1479550"/>
                </a:lnTo>
                <a:lnTo>
                  <a:pt x="3052953" y="1479550"/>
                </a:lnTo>
                <a:lnTo>
                  <a:pt x="3533775" y="739775"/>
                </a:lnTo>
                <a:lnTo>
                  <a:pt x="3052953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230495" y="941450"/>
            <a:ext cx="3533775" cy="1479550"/>
          </a:xfrm>
          <a:custGeom>
            <a:avLst/>
            <a:gdLst/>
            <a:ahLst/>
            <a:cxnLst/>
            <a:rect l="l" t="t" r="r" b="b"/>
            <a:pathLst>
              <a:path w="3533775" h="1479550">
                <a:moveTo>
                  <a:pt x="0" y="0"/>
                </a:moveTo>
                <a:lnTo>
                  <a:pt x="3052953" y="0"/>
                </a:lnTo>
                <a:lnTo>
                  <a:pt x="3533775" y="739775"/>
                </a:lnTo>
                <a:lnTo>
                  <a:pt x="3052953" y="1479550"/>
                </a:lnTo>
                <a:lnTo>
                  <a:pt x="0" y="147955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255514" y="959611"/>
            <a:ext cx="5410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r>
              <a:rPr sz="1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451094" y="1435100"/>
            <a:ext cx="719455" cy="593725"/>
          </a:xfrm>
          <a:custGeom>
            <a:avLst/>
            <a:gdLst/>
            <a:ahLst/>
            <a:cxnLst/>
            <a:rect l="l" t="t" r="r" b="b"/>
            <a:pathLst>
              <a:path w="719454" h="593725">
                <a:moveTo>
                  <a:pt x="546100" y="0"/>
                </a:moveTo>
                <a:lnTo>
                  <a:pt x="0" y="0"/>
                </a:lnTo>
                <a:lnTo>
                  <a:pt x="0" y="593725"/>
                </a:lnTo>
                <a:lnTo>
                  <a:pt x="546100" y="593725"/>
                </a:lnTo>
                <a:lnTo>
                  <a:pt x="719201" y="296925"/>
                </a:lnTo>
                <a:lnTo>
                  <a:pt x="546100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451094" y="1435100"/>
            <a:ext cx="719455" cy="593725"/>
          </a:xfrm>
          <a:custGeom>
            <a:avLst/>
            <a:gdLst/>
            <a:ahLst/>
            <a:cxnLst/>
            <a:rect l="l" t="t" r="r" b="b"/>
            <a:pathLst>
              <a:path w="719454" h="593725">
                <a:moveTo>
                  <a:pt x="0" y="0"/>
                </a:moveTo>
                <a:lnTo>
                  <a:pt x="546100" y="0"/>
                </a:lnTo>
                <a:lnTo>
                  <a:pt x="719201" y="296925"/>
                </a:lnTo>
                <a:lnTo>
                  <a:pt x="546100" y="593725"/>
                </a:lnTo>
                <a:lnTo>
                  <a:pt x="0" y="59372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601080" y="1528063"/>
            <a:ext cx="339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 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603618" y="1052575"/>
            <a:ext cx="936625" cy="606425"/>
          </a:xfrm>
          <a:custGeom>
            <a:avLst/>
            <a:gdLst/>
            <a:ahLst/>
            <a:cxnLst/>
            <a:rect l="l" t="t" r="r" b="b"/>
            <a:pathLst>
              <a:path w="936625" h="606425">
                <a:moveTo>
                  <a:pt x="633476" y="0"/>
                </a:moveTo>
                <a:lnTo>
                  <a:pt x="0" y="0"/>
                </a:lnTo>
                <a:lnTo>
                  <a:pt x="0" y="606425"/>
                </a:lnTo>
                <a:lnTo>
                  <a:pt x="633476" y="606425"/>
                </a:lnTo>
                <a:lnTo>
                  <a:pt x="936625" y="303149"/>
                </a:lnTo>
                <a:lnTo>
                  <a:pt x="633476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603618" y="1052575"/>
            <a:ext cx="936625" cy="606425"/>
          </a:xfrm>
          <a:custGeom>
            <a:avLst/>
            <a:gdLst/>
            <a:ahLst/>
            <a:cxnLst/>
            <a:rect l="l" t="t" r="r" b="b"/>
            <a:pathLst>
              <a:path w="936625" h="606425">
                <a:moveTo>
                  <a:pt x="0" y="0"/>
                </a:moveTo>
                <a:lnTo>
                  <a:pt x="633476" y="0"/>
                </a:lnTo>
                <a:lnTo>
                  <a:pt x="936625" y="303149"/>
                </a:lnTo>
                <a:lnTo>
                  <a:pt x="633476" y="606425"/>
                </a:lnTo>
                <a:lnTo>
                  <a:pt x="0" y="60642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830314" y="1151636"/>
            <a:ext cx="339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 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81543" y="1422400"/>
            <a:ext cx="767080" cy="641350"/>
          </a:xfrm>
          <a:custGeom>
            <a:avLst/>
            <a:gdLst/>
            <a:ahLst/>
            <a:cxnLst/>
            <a:rect l="l" t="t" r="r" b="b"/>
            <a:pathLst>
              <a:path w="767079" h="641350">
                <a:moveTo>
                  <a:pt x="541527" y="0"/>
                </a:moveTo>
                <a:lnTo>
                  <a:pt x="0" y="0"/>
                </a:lnTo>
                <a:lnTo>
                  <a:pt x="0" y="641350"/>
                </a:lnTo>
                <a:lnTo>
                  <a:pt x="541527" y="641350"/>
                </a:lnTo>
                <a:lnTo>
                  <a:pt x="766826" y="320675"/>
                </a:lnTo>
                <a:lnTo>
                  <a:pt x="541527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781543" y="1422400"/>
            <a:ext cx="767080" cy="641350"/>
          </a:xfrm>
          <a:custGeom>
            <a:avLst/>
            <a:gdLst/>
            <a:ahLst/>
            <a:cxnLst/>
            <a:rect l="l" t="t" r="r" b="b"/>
            <a:pathLst>
              <a:path w="767079" h="641350">
                <a:moveTo>
                  <a:pt x="0" y="0"/>
                </a:moveTo>
                <a:lnTo>
                  <a:pt x="541527" y="0"/>
                </a:lnTo>
                <a:lnTo>
                  <a:pt x="766826" y="320675"/>
                </a:lnTo>
                <a:lnTo>
                  <a:pt x="541527" y="641350"/>
                </a:lnTo>
                <a:lnTo>
                  <a:pt x="0" y="64135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960614" y="1538986"/>
            <a:ext cx="339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X.3.1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169786" y="1355725"/>
            <a:ext cx="434340" cy="386080"/>
          </a:xfrm>
          <a:custGeom>
            <a:avLst/>
            <a:gdLst/>
            <a:ahLst/>
            <a:cxnLst/>
            <a:rect l="l" t="t" r="r" b="b"/>
            <a:pathLst>
              <a:path w="434340" h="386080">
                <a:moveTo>
                  <a:pt x="310435" y="30793"/>
                </a:moveTo>
                <a:lnTo>
                  <a:pt x="278384" y="51942"/>
                </a:lnTo>
                <a:lnTo>
                  <a:pt x="249554" y="81661"/>
                </a:lnTo>
                <a:lnTo>
                  <a:pt x="227202" y="115062"/>
                </a:lnTo>
                <a:lnTo>
                  <a:pt x="212851" y="150875"/>
                </a:lnTo>
                <a:lnTo>
                  <a:pt x="207390" y="195961"/>
                </a:lnTo>
                <a:lnTo>
                  <a:pt x="206628" y="204215"/>
                </a:lnTo>
                <a:lnTo>
                  <a:pt x="190500" y="252349"/>
                </a:lnTo>
                <a:lnTo>
                  <a:pt x="157479" y="296925"/>
                </a:lnTo>
                <a:lnTo>
                  <a:pt x="128397" y="322325"/>
                </a:lnTo>
                <a:lnTo>
                  <a:pt x="94868" y="342900"/>
                </a:lnTo>
                <a:lnTo>
                  <a:pt x="58420" y="357759"/>
                </a:lnTo>
                <a:lnTo>
                  <a:pt x="20320" y="365760"/>
                </a:lnTo>
                <a:lnTo>
                  <a:pt x="0" y="366775"/>
                </a:lnTo>
                <a:lnTo>
                  <a:pt x="1015" y="385825"/>
                </a:lnTo>
                <a:lnTo>
                  <a:pt x="42417" y="381508"/>
                </a:lnTo>
                <a:lnTo>
                  <a:pt x="83312" y="369062"/>
                </a:lnTo>
                <a:lnTo>
                  <a:pt x="121412" y="349885"/>
                </a:lnTo>
                <a:lnTo>
                  <a:pt x="155448" y="324992"/>
                </a:lnTo>
                <a:lnTo>
                  <a:pt x="184276" y="295401"/>
                </a:lnTo>
                <a:lnTo>
                  <a:pt x="206755" y="262127"/>
                </a:lnTo>
                <a:lnTo>
                  <a:pt x="221361" y="226440"/>
                </a:lnTo>
                <a:lnTo>
                  <a:pt x="226949" y="179577"/>
                </a:lnTo>
                <a:lnTo>
                  <a:pt x="227964" y="171576"/>
                </a:lnTo>
                <a:lnTo>
                  <a:pt x="244475" y="123189"/>
                </a:lnTo>
                <a:lnTo>
                  <a:pt x="277495" y="78994"/>
                </a:lnTo>
                <a:lnTo>
                  <a:pt x="305276" y="54737"/>
                </a:lnTo>
                <a:lnTo>
                  <a:pt x="304926" y="54737"/>
                </a:lnTo>
                <a:lnTo>
                  <a:pt x="306704" y="53594"/>
                </a:lnTo>
                <a:lnTo>
                  <a:pt x="307262" y="53594"/>
                </a:lnTo>
                <a:lnTo>
                  <a:pt x="316192" y="49222"/>
                </a:lnTo>
                <a:lnTo>
                  <a:pt x="310435" y="30793"/>
                </a:lnTo>
                <a:close/>
              </a:path>
              <a:path w="434340" h="386080">
                <a:moveTo>
                  <a:pt x="395885" y="25780"/>
                </a:moveTo>
                <a:lnTo>
                  <a:pt x="320675" y="25780"/>
                </a:lnTo>
                <a:lnTo>
                  <a:pt x="329057" y="42925"/>
                </a:lnTo>
                <a:lnTo>
                  <a:pt x="316192" y="49222"/>
                </a:lnTo>
                <a:lnTo>
                  <a:pt x="324103" y="74549"/>
                </a:lnTo>
                <a:lnTo>
                  <a:pt x="395885" y="25780"/>
                </a:lnTo>
                <a:close/>
              </a:path>
              <a:path w="434340" h="386080">
                <a:moveTo>
                  <a:pt x="306704" y="53594"/>
                </a:moveTo>
                <a:lnTo>
                  <a:pt x="304926" y="54737"/>
                </a:lnTo>
                <a:lnTo>
                  <a:pt x="305826" y="54296"/>
                </a:lnTo>
                <a:lnTo>
                  <a:pt x="306704" y="53594"/>
                </a:lnTo>
                <a:close/>
              </a:path>
              <a:path w="434340" h="386080">
                <a:moveTo>
                  <a:pt x="305826" y="54296"/>
                </a:moveTo>
                <a:lnTo>
                  <a:pt x="304926" y="54737"/>
                </a:lnTo>
                <a:lnTo>
                  <a:pt x="305276" y="54737"/>
                </a:lnTo>
                <a:lnTo>
                  <a:pt x="305826" y="54296"/>
                </a:lnTo>
                <a:close/>
              </a:path>
              <a:path w="434340" h="386080">
                <a:moveTo>
                  <a:pt x="307262" y="53594"/>
                </a:moveTo>
                <a:lnTo>
                  <a:pt x="306704" y="53594"/>
                </a:lnTo>
                <a:lnTo>
                  <a:pt x="305826" y="54296"/>
                </a:lnTo>
                <a:lnTo>
                  <a:pt x="307262" y="53594"/>
                </a:lnTo>
                <a:close/>
              </a:path>
              <a:path w="434340" h="386080">
                <a:moveTo>
                  <a:pt x="320675" y="25780"/>
                </a:moveTo>
                <a:lnTo>
                  <a:pt x="310435" y="30793"/>
                </a:lnTo>
                <a:lnTo>
                  <a:pt x="316192" y="49222"/>
                </a:lnTo>
                <a:lnTo>
                  <a:pt x="329057" y="42925"/>
                </a:lnTo>
                <a:lnTo>
                  <a:pt x="320675" y="25780"/>
                </a:lnTo>
                <a:close/>
              </a:path>
              <a:path w="434340" h="386080">
                <a:moveTo>
                  <a:pt x="433832" y="0"/>
                </a:moveTo>
                <a:lnTo>
                  <a:pt x="301371" y="1777"/>
                </a:lnTo>
                <a:lnTo>
                  <a:pt x="310435" y="30793"/>
                </a:lnTo>
                <a:lnTo>
                  <a:pt x="320675" y="25780"/>
                </a:lnTo>
                <a:lnTo>
                  <a:pt x="395885" y="25780"/>
                </a:lnTo>
                <a:lnTo>
                  <a:pt x="433832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539355" y="1346327"/>
            <a:ext cx="242570" cy="396875"/>
          </a:xfrm>
          <a:custGeom>
            <a:avLst/>
            <a:gdLst/>
            <a:ahLst/>
            <a:cxnLst/>
            <a:rect l="l" t="t" r="r" b="b"/>
            <a:pathLst>
              <a:path w="242570" h="396875">
                <a:moveTo>
                  <a:pt x="141642" y="318929"/>
                </a:moveTo>
                <a:lnTo>
                  <a:pt x="121666" y="341630"/>
                </a:lnTo>
                <a:lnTo>
                  <a:pt x="242316" y="396875"/>
                </a:lnTo>
                <a:lnTo>
                  <a:pt x="198988" y="327660"/>
                </a:lnTo>
                <a:lnTo>
                  <a:pt x="149225" y="327660"/>
                </a:lnTo>
                <a:lnTo>
                  <a:pt x="141642" y="318929"/>
                </a:lnTo>
                <a:close/>
              </a:path>
              <a:path w="242570" h="396875">
                <a:moveTo>
                  <a:pt x="154353" y="304485"/>
                </a:moveTo>
                <a:lnTo>
                  <a:pt x="141642" y="318929"/>
                </a:lnTo>
                <a:lnTo>
                  <a:pt x="149225" y="327660"/>
                </a:lnTo>
                <a:lnTo>
                  <a:pt x="163575" y="315213"/>
                </a:lnTo>
                <a:lnTo>
                  <a:pt x="154353" y="304485"/>
                </a:lnTo>
                <a:close/>
              </a:path>
              <a:path w="242570" h="396875">
                <a:moveTo>
                  <a:pt x="171958" y="284480"/>
                </a:moveTo>
                <a:lnTo>
                  <a:pt x="154353" y="304485"/>
                </a:lnTo>
                <a:lnTo>
                  <a:pt x="163575" y="315213"/>
                </a:lnTo>
                <a:lnTo>
                  <a:pt x="149225" y="327660"/>
                </a:lnTo>
                <a:lnTo>
                  <a:pt x="198988" y="327660"/>
                </a:lnTo>
                <a:lnTo>
                  <a:pt x="171958" y="284480"/>
                </a:lnTo>
                <a:close/>
              </a:path>
              <a:path w="242570" h="396875">
                <a:moveTo>
                  <a:pt x="20024" y="22758"/>
                </a:moveTo>
                <a:lnTo>
                  <a:pt x="58800" y="51815"/>
                </a:lnTo>
                <a:lnTo>
                  <a:pt x="83820" y="88900"/>
                </a:lnTo>
                <a:lnTo>
                  <a:pt x="102108" y="135000"/>
                </a:lnTo>
                <a:lnTo>
                  <a:pt x="111505" y="186055"/>
                </a:lnTo>
                <a:lnTo>
                  <a:pt x="112775" y="221614"/>
                </a:lnTo>
                <a:lnTo>
                  <a:pt x="114808" y="240284"/>
                </a:lnTo>
                <a:lnTo>
                  <a:pt x="128397" y="293877"/>
                </a:lnTo>
                <a:lnTo>
                  <a:pt x="141642" y="318929"/>
                </a:lnTo>
                <a:lnTo>
                  <a:pt x="154353" y="304485"/>
                </a:lnTo>
                <a:lnTo>
                  <a:pt x="153422" y="303402"/>
                </a:lnTo>
                <a:lnTo>
                  <a:pt x="152780" y="303402"/>
                </a:lnTo>
                <a:lnTo>
                  <a:pt x="151129" y="300736"/>
                </a:lnTo>
                <a:lnTo>
                  <a:pt x="151678" y="300736"/>
                </a:lnTo>
                <a:lnTo>
                  <a:pt x="146430" y="288036"/>
                </a:lnTo>
                <a:lnTo>
                  <a:pt x="141224" y="271907"/>
                </a:lnTo>
                <a:lnTo>
                  <a:pt x="131825" y="220852"/>
                </a:lnTo>
                <a:lnTo>
                  <a:pt x="130428" y="183896"/>
                </a:lnTo>
                <a:lnTo>
                  <a:pt x="128270" y="165226"/>
                </a:lnTo>
                <a:lnTo>
                  <a:pt x="114680" y="111760"/>
                </a:lnTo>
                <a:lnTo>
                  <a:pt x="91821" y="64643"/>
                </a:lnTo>
                <a:lnTo>
                  <a:pt x="61849" y="27559"/>
                </a:lnTo>
                <a:lnTo>
                  <a:pt x="56350" y="22987"/>
                </a:lnTo>
                <a:lnTo>
                  <a:pt x="20827" y="22987"/>
                </a:lnTo>
                <a:lnTo>
                  <a:pt x="20024" y="22758"/>
                </a:lnTo>
                <a:close/>
              </a:path>
              <a:path w="242570" h="396875">
                <a:moveTo>
                  <a:pt x="151129" y="300736"/>
                </a:moveTo>
                <a:lnTo>
                  <a:pt x="152780" y="303402"/>
                </a:lnTo>
                <a:lnTo>
                  <a:pt x="152187" y="301965"/>
                </a:lnTo>
                <a:lnTo>
                  <a:pt x="151129" y="300736"/>
                </a:lnTo>
                <a:close/>
              </a:path>
              <a:path w="242570" h="396875">
                <a:moveTo>
                  <a:pt x="152187" y="301965"/>
                </a:moveTo>
                <a:lnTo>
                  <a:pt x="152780" y="303402"/>
                </a:lnTo>
                <a:lnTo>
                  <a:pt x="153422" y="303402"/>
                </a:lnTo>
                <a:lnTo>
                  <a:pt x="152187" y="301965"/>
                </a:lnTo>
                <a:close/>
              </a:path>
              <a:path w="242570" h="396875">
                <a:moveTo>
                  <a:pt x="151678" y="300736"/>
                </a:moveTo>
                <a:lnTo>
                  <a:pt x="151129" y="300736"/>
                </a:lnTo>
                <a:lnTo>
                  <a:pt x="152187" y="301965"/>
                </a:lnTo>
                <a:lnTo>
                  <a:pt x="151678" y="300736"/>
                </a:lnTo>
                <a:close/>
              </a:path>
              <a:path w="242570" h="396875">
                <a:moveTo>
                  <a:pt x="19430" y="22478"/>
                </a:moveTo>
                <a:lnTo>
                  <a:pt x="20024" y="22758"/>
                </a:lnTo>
                <a:lnTo>
                  <a:pt x="20827" y="22987"/>
                </a:lnTo>
                <a:lnTo>
                  <a:pt x="19430" y="22478"/>
                </a:lnTo>
                <a:close/>
              </a:path>
              <a:path w="242570" h="396875">
                <a:moveTo>
                  <a:pt x="55739" y="22478"/>
                </a:moveTo>
                <a:lnTo>
                  <a:pt x="19430" y="22478"/>
                </a:lnTo>
                <a:lnTo>
                  <a:pt x="20827" y="22987"/>
                </a:lnTo>
                <a:lnTo>
                  <a:pt x="56350" y="22987"/>
                </a:lnTo>
                <a:lnTo>
                  <a:pt x="55739" y="22478"/>
                </a:lnTo>
                <a:close/>
              </a:path>
              <a:path w="242570" h="396875">
                <a:moveTo>
                  <a:pt x="10065" y="19929"/>
                </a:moveTo>
                <a:lnTo>
                  <a:pt x="20024" y="22758"/>
                </a:lnTo>
                <a:lnTo>
                  <a:pt x="19430" y="22478"/>
                </a:lnTo>
                <a:lnTo>
                  <a:pt x="55739" y="22478"/>
                </a:lnTo>
                <a:lnTo>
                  <a:pt x="52837" y="20065"/>
                </a:lnTo>
                <a:lnTo>
                  <a:pt x="11429" y="20065"/>
                </a:lnTo>
                <a:lnTo>
                  <a:pt x="10065" y="19929"/>
                </a:lnTo>
                <a:close/>
              </a:path>
              <a:path w="242570" h="396875">
                <a:moveTo>
                  <a:pt x="9651" y="19812"/>
                </a:moveTo>
                <a:lnTo>
                  <a:pt x="10065" y="19929"/>
                </a:lnTo>
                <a:lnTo>
                  <a:pt x="11429" y="20065"/>
                </a:lnTo>
                <a:lnTo>
                  <a:pt x="9651" y="19812"/>
                </a:lnTo>
                <a:close/>
              </a:path>
              <a:path w="242570" h="396875">
                <a:moveTo>
                  <a:pt x="52531" y="19812"/>
                </a:moveTo>
                <a:lnTo>
                  <a:pt x="9651" y="19812"/>
                </a:lnTo>
                <a:lnTo>
                  <a:pt x="11429" y="20065"/>
                </a:lnTo>
                <a:lnTo>
                  <a:pt x="52837" y="20065"/>
                </a:lnTo>
                <a:lnTo>
                  <a:pt x="52531" y="19812"/>
                </a:lnTo>
                <a:close/>
              </a:path>
              <a:path w="242570" h="396875">
                <a:moveTo>
                  <a:pt x="2031" y="0"/>
                </a:moveTo>
                <a:lnTo>
                  <a:pt x="0" y="18923"/>
                </a:lnTo>
                <a:lnTo>
                  <a:pt x="10065" y="19929"/>
                </a:lnTo>
                <a:lnTo>
                  <a:pt x="9651" y="19812"/>
                </a:lnTo>
                <a:lnTo>
                  <a:pt x="52531" y="19812"/>
                </a:lnTo>
                <a:lnTo>
                  <a:pt x="50546" y="18161"/>
                </a:lnTo>
                <a:lnTo>
                  <a:pt x="38608" y="10413"/>
                </a:lnTo>
                <a:lnTo>
                  <a:pt x="27559" y="5207"/>
                </a:lnTo>
                <a:lnTo>
                  <a:pt x="27177" y="5080"/>
                </a:lnTo>
                <a:lnTo>
                  <a:pt x="26670" y="4825"/>
                </a:lnTo>
                <a:lnTo>
                  <a:pt x="26162" y="4699"/>
                </a:lnTo>
                <a:lnTo>
                  <a:pt x="14986" y="1397"/>
                </a:lnTo>
                <a:lnTo>
                  <a:pt x="14477" y="1270"/>
                </a:lnTo>
                <a:lnTo>
                  <a:pt x="13843" y="1143"/>
                </a:lnTo>
                <a:lnTo>
                  <a:pt x="13335" y="1143"/>
                </a:lnTo>
                <a:lnTo>
                  <a:pt x="2031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41620" y="2922651"/>
            <a:ext cx="833755" cy="621030"/>
          </a:xfrm>
          <a:custGeom>
            <a:avLst/>
            <a:gdLst/>
            <a:ahLst/>
            <a:cxnLst/>
            <a:rect l="l" t="t" r="r" b="b"/>
            <a:pathLst>
              <a:path w="833754" h="621029">
                <a:moveTo>
                  <a:pt x="580263" y="0"/>
                </a:moveTo>
                <a:lnTo>
                  <a:pt x="0" y="0"/>
                </a:lnTo>
                <a:lnTo>
                  <a:pt x="0" y="620649"/>
                </a:lnTo>
                <a:lnTo>
                  <a:pt x="580263" y="620649"/>
                </a:lnTo>
                <a:lnTo>
                  <a:pt x="833374" y="310261"/>
                </a:lnTo>
                <a:lnTo>
                  <a:pt x="580263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41620" y="2922651"/>
            <a:ext cx="833755" cy="621030"/>
          </a:xfrm>
          <a:custGeom>
            <a:avLst/>
            <a:gdLst/>
            <a:ahLst/>
            <a:cxnLst/>
            <a:rect l="l" t="t" r="r" b="b"/>
            <a:pathLst>
              <a:path w="833754" h="621029">
                <a:moveTo>
                  <a:pt x="0" y="0"/>
                </a:moveTo>
                <a:lnTo>
                  <a:pt x="580263" y="0"/>
                </a:lnTo>
                <a:lnTo>
                  <a:pt x="833374" y="310261"/>
                </a:lnTo>
                <a:lnTo>
                  <a:pt x="580263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5528817" y="3029457"/>
            <a:ext cx="339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 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387719" y="2932176"/>
            <a:ext cx="863600" cy="611505"/>
          </a:xfrm>
          <a:custGeom>
            <a:avLst/>
            <a:gdLst/>
            <a:ahLst/>
            <a:cxnLst/>
            <a:rect l="l" t="t" r="r" b="b"/>
            <a:pathLst>
              <a:path w="863600" h="611504">
                <a:moveTo>
                  <a:pt x="558037" y="0"/>
                </a:moveTo>
                <a:lnTo>
                  <a:pt x="0" y="0"/>
                </a:lnTo>
                <a:lnTo>
                  <a:pt x="0" y="611124"/>
                </a:lnTo>
                <a:lnTo>
                  <a:pt x="558037" y="611124"/>
                </a:lnTo>
                <a:lnTo>
                  <a:pt x="863600" y="305562"/>
                </a:lnTo>
                <a:lnTo>
                  <a:pt x="558037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387719" y="2932176"/>
            <a:ext cx="863600" cy="611505"/>
          </a:xfrm>
          <a:custGeom>
            <a:avLst/>
            <a:gdLst/>
            <a:ahLst/>
            <a:cxnLst/>
            <a:rect l="l" t="t" r="r" b="b"/>
            <a:pathLst>
              <a:path w="863600" h="611504">
                <a:moveTo>
                  <a:pt x="0" y="0"/>
                </a:moveTo>
                <a:lnTo>
                  <a:pt x="558037" y="0"/>
                </a:lnTo>
                <a:lnTo>
                  <a:pt x="863600" y="305562"/>
                </a:lnTo>
                <a:lnTo>
                  <a:pt x="558037" y="611124"/>
                </a:lnTo>
                <a:lnTo>
                  <a:pt x="0" y="61112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574917" y="3034410"/>
            <a:ext cx="339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 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603618" y="1746250"/>
            <a:ext cx="863600" cy="603250"/>
          </a:xfrm>
          <a:custGeom>
            <a:avLst/>
            <a:gdLst/>
            <a:ahLst/>
            <a:cxnLst/>
            <a:rect l="l" t="t" r="r" b="b"/>
            <a:pathLst>
              <a:path w="863600" h="603250">
                <a:moveTo>
                  <a:pt x="638175" y="0"/>
                </a:moveTo>
                <a:lnTo>
                  <a:pt x="0" y="0"/>
                </a:lnTo>
                <a:lnTo>
                  <a:pt x="0" y="603250"/>
                </a:lnTo>
                <a:lnTo>
                  <a:pt x="638175" y="603250"/>
                </a:lnTo>
                <a:lnTo>
                  <a:pt x="863600" y="301625"/>
                </a:lnTo>
                <a:lnTo>
                  <a:pt x="638175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603618" y="1746250"/>
            <a:ext cx="863600" cy="603250"/>
          </a:xfrm>
          <a:custGeom>
            <a:avLst/>
            <a:gdLst/>
            <a:ahLst/>
            <a:cxnLst/>
            <a:rect l="l" t="t" r="r" b="b"/>
            <a:pathLst>
              <a:path w="863600" h="603250">
                <a:moveTo>
                  <a:pt x="0" y="0"/>
                </a:moveTo>
                <a:lnTo>
                  <a:pt x="638175" y="0"/>
                </a:lnTo>
                <a:lnTo>
                  <a:pt x="863600" y="301625"/>
                </a:lnTo>
                <a:lnTo>
                  <a:pt x="63817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6830694" y="1844167"/>
            <a:ext cx="339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  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467218" y="2933700"/>
            <a:ext cx="865505" cy="609600"/>
          </a:xfrm>
          <a:custGeom>
            <a:avLst/>
            <a:gdLst/>
            <a:ahLst/>
            <a:cxnLst/>
            <a:rect l="l" t="t" r="r" b="b"/>
            <a:pathLst>
              <a:path w="865504" h="609600">
                <a:moveTo>
                  <a:pt x="560451" y="0"/>
                </a:moveTo>
                <a:lnTo>
                  <a:pt x="0" y="0"/>
                </a:lnTo>
                <a:lnTo>
                  <a:pt x="0" y="609600"/>
                </a:lnTo>
                <a:lnTo>
                  <a:pt x="560451" y="609600"/>
                </a:lnTo>
                <a:lnTo>
                  <a:pt x="865251" y="304800"/>
                </a:lnTo>
                <a:lnTo>
                  <a:pt x="560451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467218" y="2933700"/>
            <a:ext cx="865505" cy="609600"/>
          </a:xfrm>
          <a:custGeom>
            <a:avLst/>
            <a:gdLst/>
            <a:ahLst/>
            <a:cxnLst/>
            <a:rect l="l" t="t" r="r" b="b"/>
            <a:pathLst>
              <a:path w="865504" h="609600">
                <a:moveTo>
                  <a:pt x="0" y="0"/>
                </a:moveTo>
                <a:lnTo>
                  <a:pt x="560451" y="0"/>
                </a:lnTo>
                <a:lnTo>
                  <a:pt x="865251" y="304800"/>
                </a:lnTo>
                <a:lnTo>
                  <a:pt x="560451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7657845" y="3034995"/>
            <a:ext cx="3371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ЦСЦ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3</a:t>
            </a:r>
            <a:r>
              <a:rPr sz="1200" spc="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169786" y="1722501"/>
            <a:ext cx="434340" cy="329565"/>
          </a:xfrm>
          <a:custGeom>
            <a:avLst/>
            <a:gdLst/>
            <a:ahLst/>
            <a:cxnLst/>
            <a:rect l="l" t="t" r="r" b="b"/>
            <a:pathLst>
              <a:path w="434340" h="329564">
                <a:moveTo>
                  <a:pt x="309129" y="300404"/>
                </a:moveTo>
                <a:lnTo>
                  <a:pt x="301371" y="329438"/>
                </a:lnTo>
                <a:lnTo>
                  <a:pt x="433832" y="325500"/>
                </a:lnTo>
                <a:lnTo>
                  <a:pt x="400348" y="304800"/>
                </a:lnTo>
                <a:lnTo>
                  <a:pt x="319913" y="304800"/>
                </a:lnTo>
                <a:lnTo>
                  <a:pt x="309129" y="300404"/>
                </a:lnTo>
                <a:close/>
              </a:path>
              <a:path w="434340" h="329564">
                <a:moveTo>
                  <a:pt x="314083" y="281869"/>
                </a:moveTo>
                <a:lnTo>
                  <a:pt x="309129" y="300404"/>
                </a:lnTo>
                <a:lnTo>
                  <a:pt x="319913" y="304800"/>
                </a:lnTo>
                <a:lnTo>
                  <a:pt x="327025" y="287147"/>
                </a:lnTo>
                <a:lnTo>
                  <a:pt x="314083" y="281869"/>
                </a:lnTo>
                <a:close/>
              </a:path>
              <a:path w="434340" h="329564">
                <a:moveTo>
                  <a:pt x="321055" y="255777"/>
                </a:moveTo>
                <a:lnTo>
                  <a:pt x="314083" y="281869"/>
                </a:lnTo>
                <a:lnTo>
                  <a:pt x="327025" y="287147"/>
                </a:lnTo>
                <a:lnTo>
                  <a:pt x="319913" y="304800"/>
                </a:lnTo>
                <a:lnTo>
                  <a:pt x="400348" y="304800"/>
                </a:lnTo>
                <a:lnTo>
                  <a:pt x="321055" y="255777"/>
                </a:lnTo>
                <a:close/>
              </a:path>
              <a:path w="434340" h="329564">
                <a:moveTo>
                  <a:pt x="1015" y="0"/>
                </a:moveTo>
                <a:lnTo>
                  <a:pt x="0" y="19050"/>
                </a:lnTo>
                <a:lnTo>
                  <a:pt x="20320" y="19938"/>
                </a:lnTo>
                <a:lnTo>
                  <a:pt x="39624" y="22478"/>
                </a:lnTo>
                <a:lnTo>
                  <a:pt x="77470" y="32131"/>
                </a:lnTo>
                <a:lnTo>
                  <a:pt x="112649" y="47244"/>
                </a:lnTo>
                <a:lnTo>
                  <a:pt x="158114" y="77850"/>
                </a:lnTo>
                <a:lnTo>
                  <a:pt x="190880" y="115062"/>
                </a:lnTo>
                <a:lnTo>
                  <a:pt x="206628" y="154686"/>
                </a:lnTo>
                <a:lnTo>
                  <a:pt x="207645" y="167766"/>
                </a:lnTo>
                <a:lnTo>
                  <a:pt x="208025" y="175260"/>
                </a:lnTo>
                <a:lnTo>
                  <a:pt x="219201" y="215011"/>
                </a:lnTo>
                <a:lnTo>
                  <a:pt x="250062" y="258572"/>
                </a:lnTo>
                <a:lnTo>
                  <a:pt x="279018" y="283590"/>
                </a:lnTo>
                <a:lnTo>
                  <a:pt x="309129" y="300404"/>
                </a:lnTo>
                <a:lnTo>
                  <a:pt x="314083" y="281869"/>
                </a:lnTo>
                <a:lnTo>
                  <a:pt x="306471" y="278764"/>
                </a:lnTo>
                <a:lnTo>
                  <a:pt x="306070" y="278764"/>
                </a:lnTo>
                <a:lnTo>
                  <a:pt x="304291" y="277875"/>
                </a:lnTo>
                <a:lnTo>
                  <a:pt x="304719" y="277875"/>
                </a:lnTo>
                <a:lnTo>
                  <a:pt x="290829" y="268732"/>
                </a:lnTo>
                <a:lnTo>
                  <a:pt x="276860" y="257556"/>
                </a:lnTo>
                <a:lnTo>
                  <a:pt x="244221" y="220852"/>
                </a:lnTo>
                <a:lnTo>
                  <a:pt x="227837" y="180975"/>
                </a:lnTo>
                <a:lnTo>
                  <a:pt x="226695" y="167132"/>
                </a:lnTo>
                <a:lnTo>
                  <a:pt x="226313" y="158750"/>
                </a:lnTo>
                <a:lnTo>
                  <a:pt x="214884" y="118872"/>
                </a:lnTo>
                <a:lnTo>
                  <a:pt x="183768" y="75819"/>
                </a:lnTo>
                <a:lnTo>
                  <a:pt x="154812" y="50926"/>
                </a:lnTo>
                <a:lnTo>
                  <a:pt x="120776" y="30099"/>
                </a:lnTo>
                <a:lnTo>
                  <a:pt x="82803" y="13970"/>
                </a:lnTo>
                <a:lnTo>
                  <a:pt x="42163" y="3556"/>
                </a:lnTo>
                <a:lnTo>
                  <a:pt x="21209" y="1015"/>
                </a:lnTo>
                <a:lnTo>
                  <a:pt x="1015" y="0"/>
                </a:lnTo>
                <a:close/>
              </a:path>
              <a:path w="434340" h="329564">
                <a:moveTo>
                  <a:pt x="304291" y="277875"/>
                </a:moveTo>
                <a:lnTo>
                  <a:pt x="306070" y="278764"/>
                </a:lnTo>
                <a:lnTo>
                  <a:pt x="305415" y="278334"/>
                </a:lnTo>
                <a:lnTo>
                  <a:pt x="304291" y="277875"/>
                </a:lnTo>
                <a:close/>
              </a:path>
              <a:path w="434340" h="329564">
                <a:moveTo>
                  <a:pt x="305415" y="278334"/>
                </a:moveTo>
                <a:lnTo>
                  <a:pt x="306070" y="278764"/>
                </a:lnTo>
                <a:lnTo>
                  <a:pt x="306471" y="278764"/>
                </a:lnTo>
                <a:lnTo>
                  <a:pt x="305415" y="278334"/>
                </a:lnTo>
                <a:close/>
              </a:path>
              <a:path w="434340" h="329564">
                <a:moveTo>
                  <a:pt x="304719" y="277875"/>
                </a:moveTo>
                <a:lnTo>
                  <a:pt x="304291" y="277875"/>
                </a:lnTo>
                <a:lnTo>
                  <a:pt x="305415" y="278334"/>
                </a:lnTo>
                <a:lnTo>
                  <a:pt x="304719" y="277875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174994" y="3195192"/>
            <a:ext cx="212851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466710" y="1743201"/>
            <a:ext cx="314960" cy="314325"/>
          </a:xfrm>
          <a:custGeom>
            <a:avLst/>
            <a:gdLst/>
            <a:ahLst/>
            <a:cxnLst/>
            <a:rect l="l" t="t" r="r" b="b"/>
            <a:pathLst>
              <a:path w="314959" h="314325">
                <a:moveTo>
                  <a:pt x="196771" y="47241"/>
                </a:moveTo>
                <a:lnTo>
                  <a:pt x="191262" y="50673"/>
                </a:lnTo>
                <a:lnTo>
                  <a:pt x="190373" y="51181"/>
                </a:lnTo>
                <a:lnTo>
                  <a:pt x="189611" y="51943"/>
                </a:lnTo>
                <a:lnTo>
                  <a:pt x="162560" y="92710"/>
                </a:lnTo>
                <a:lnTo>
                  <a:pt x="149098" y="137540"/>
                </a:lnTo>
                <a:lnTo>
                  <a:pt x="147574" y="164846"/>
                </a:lnTo>
                <a:lnTo>
                  <a:pt x="145161" y="177926"/>
                </a:lnTo>
                <a:lnTo>
                  <a:pt x="129159" y="216281"/>
                </a:lnTo>
                <a:lnTo>
                  <a:pt x="102235" y="250062"/>
                </a:lnTo>
                <a:lnTo>
                  <a:pt x="67437" y="276351"/>
                </a:lnTo>
                <a:lnTo>
                  <a:pt x="28321" y="291973"/>
                </a:lnTo>
                <a:lnTo>
                  <a:pt x="0" y="295275"/>
                </a:lnTo>
                <a:lnTo>
                  <a:pt x="1143" y="314325"/>
                </a:lnTo>
                <a:lnTo>
                  <a:pt x="46990" y="306450"/>
                </a:lnTo>
                <a:lnTo>
                  <a:pt x="89916" y="284734"/>
                </a:lnTo>
                <a:lnTo>
                  <a:pt x="126111" y="252602"/>
                </a:lnTo>
                <a:lnTo>
                  <a:pt x="152654" y="212978"/>
                </a:lnTo>
                <a:lnTo>
                  <a:pt x="166243" y="168401"/>
                </a:lnTo>
                <a:lnTo>
                  <a:pt x="168148" y="138684"/>
                </a:lnTo>
                <a:lnTo>
                  <a:pt x="170688" y="125730"/>
                </a:lnTo>
                <a:lnTo>
                  <a:pt x="186817" y="87757"/>
                </a:lnTo>
                <a:lnTo>
                  <a:pt x="202088" y="66801"/>
                </a:lnTo>
                <a:lnTo>
                  <a:pt x="201422" y="66801"/>
                </a:lnTo>
                <a:lnTo>
                  <a:pt x="203835" y="64643"/>
                </a:lnTo>
                <a:lnTo>
                  <a:pt x="204859" y="64643"/>
                </a:lnTo>
                <a:lnTo>
                  <a:pt x="205009" y="64548"/>
                </a:lnTo>
                <a:lnTo>
                  <a:pt x="196771" y="47241"/>
                </a:lnTo>
                <a:close/>
              </a:path>
              <a:path w="314959" h="314325">
                <a:moveTo>
                  <a:pt x="269667" y="41021"/>
                </a:moveTo>
                <a:lnTo>
                  <a:pt x="206756" y="41021"/>
                </a:lnTo>
                <a:lnTo>
                  <a:pt x="216789" y="57150"/>
                </a:lnTo>
                <a:lnTo>
                  <a:pt x="205009" y="64548"/>
                </a:lnTo>
                <a:lnTo>
                  <a:pt x="216662" y="89026"/>
                </a:lnTo>
                <a:lnTo>
                  <a:pt x="269667" y="41021"/>
                </a:lnTo>
                <a:close/>
              </a:path>
              <a:path w="314959" h="314325">
                <a:moveTo>
                  <a:pt x="203835" y="64643"/>
                </a:moveTo>
                <a:lnTo>
                  <a:pt x="201422" y="66801"/>
                </a:lnTo>
                <a:lnTo>
                  <a:pt x="202776" y="65951"/>
                </a:lnTo>
                <a:lnTo>
                  <a:pt x="203835" y="64643"/>
                </a:lnTo>
                <a:close/>
              </a:path>
              <a:path w="314959" h="314325">
                <a:moveTo>
                  <a:pt x="202776" y="65951"/>
                </a:moveTo>
                <a:lnTo>
                  <a:pt x="201422" y="66801"/>
                </a:lnTo>
                <a:lnTo>
                  <a:pt x="202088" y="66801"/>
                </a:lnTo>
                <a:lnTo>
                  <a:pt x="202776" y="65951"/>
                </a:lnTo>
                <a:close/>
              </a:path>
              <a:path w="314959" h="314325">
                <a:moveTo>
                  <a:pt x="204859" y="64643"/>
                </a:moveTo>
                <a:lnTo>
                  <a:pt x="203835" y="64643"/>
                </a:lnTo>
                <a:lnTo>
                  <a:pt x="202776" y="65951"/>
                </a:lnTo>
                <a:lnTo>
                  <a:pt x="204859" y="64643"/>
                </a:lnTo>
                <a:close/>
              </a:path>
              <a:path w="314959" h="314325">
                <a:moveTo>
                  <a:pt x="206756" y="41021"/>
                </a:moveTo>
                <a:lnTo>
                  <a:pt x="196771" y="47241"/>
                </a:lnTo>
                <a:lnTo>
                  <a:pt x="205009" y="64548"/>
                </a:lnTo>
                <a:lnTo>
                  <a:pt x="216789" y="57150"/>
                </a:lnTo>
                <a:lnTo>
                  <a:pt x="206756" y="41021"/>
                </a:lnTo>
                <a:close/>
              </a:path>
              <a:path w="314959" h="314325">
                <a:moveTo>
                  <a:pt x="314960" y="0"/>
                </a:moveTo>
                <a:lnTo>
                  <a:pt x="183896" y="20193"/>
                </a:lnTo>
                <a:lnTo>
                  <a:pt x="196771" y="47241"/>
                </a:lnTo>
                <a:lnTo>
                  <a:pt x="206756" y="41021"/>
                </a:lnTo>
                <a:lnTo>
                  <a:pt x="269667" y="41021"/>
                </a:lnTo>
                <a:lnTo>
                  <a:pt x="314960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251318" y="3199257"/>
            <a:ext cx="216026" cy="7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269994" y="1628775"/>
            <a:ext cx="960755" cy="52705"/>
          </a:xfrm>
          <a:custGeom>
            <a:avLst/>
            <a:gdLst/>
            <a:ahLst/>
            <a:cxnLst/>
            <a:rect l="l" t="t" r="r" b="b"/>
            <a:pathLst>
              <a:path w="960754" h="52705">
                <a:moveTo>
                  <a:pt x="0" y="0"/>
                </a:moveTo>
                <a:lnTo>
                  <a:pt x="960501" y="52450"/>
                </a:lnTo>
              </a:path>
            </a:pathLst>
          </a:custGeom>
          <a:ln w="19050">
            <a:solidFill>
              <a:srgbClr val="375F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262120" y="2008251"/>
            <a:ext cx="976630" cy="1113155"/>
          </a:xfrm>
          <a:custGeom>
            <a:avLst/>
            <a:gdLst/>
            <a:ahLst/>
            <a:cxnLst/>
            <a:rect l="l" t="t" r="r" b="b"/>
            <a:pathLst>
              <a:path w="976629" h="1113155">
                <a:moveTo>
                  <a:pt x="0" y="0"/>
                </a:moveTo>
                <a:lnTo>
                  <a:pt x="976249" y="1112774"/>
                </a:lnTo>
              </a:path>
            </a:pathLst>
          </a:custGeom>
          <a:ln w="19050">
            <a:solidFill>
              <a:srgbClr val="375F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2870" y="3543300"/>
            <a:ext cx="2989580" cy="1643380"/>
          </a:xfrm>
          <a:custGeom>
            <a:avLst/>
            <a:gdLst/>
            <a:ahLst/>
            <a:cxnLst/>
            <a:rect l="l" t="t" r="r" b="b"/>
            <a:pathLst>
              <a:path w="2989579" h="1643379">
                <a:moveTo>
                  <a:pt x="0" y="1643126"/>
                </a:moveTo>
                <a:lnTo>
                  <a:pt x="2989199" y="0"/>
                </a:lnTo>
              </a:path>
            </a:pathLst>
          </a:custGeom>
          <a:ln w="19050">
            <a:solidFill>
              <a:srgbClr val="585858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632069" y="3543300"/>
            <a:ext cx="1035050" cy="1643380"/>
          </a:xfrm>
          <a:custGeom>
            <a:avLst/>
            <a:gdLst/>
            <a:ahLst/>
            <a:cxnLst/>
            <a:rect l="l" t="t" r="r" b="b"/>
            <a:pathLst>
              <a:path w="1035050" h="1643379">
                <a:moveTo>
                  <a:pt x="0" y="1643126"/>
                </a:moveTo>
                <a:lnTo>
                  <a:pt x="1035050" y="0"/>
                </a:lnTo>
              </a:path>
            </a:pathLst>
          </a:custGeom>
          <a:ln w="19050">
            <a:solidFill>
              <a:srgbClr val="585858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609719" y="1743075"/>
            <a:ext cx="538480" cy="640080"/>
          </a:xfrm>
          <a:custGeom>
            <a:avLst/>
            <a:gdLst/>
            <a:ahLst/>
            <a:cxnLst/>
            <a:rect l="l" t="t" r="r" b="b"/>
            <a:pathLst>
              <a:path w="538479" h="640080">
                <a:moveTo>
                  <a:pt x="269113" y="0"/>
                </a:moveTo>
                <a:lnTo>
                  <a:pt x="269113" y="160020"/>
                </a:lnTo>
                <a:lnTo>
                  <a:pt x="0" y="160020"/>
                </a:lnTo>
                <a:lnTo>
                  <a:pt x="0" y="479805"/>
                </a:lnTo>
                <a:lnTo>
                  <a:pt x="269113" y="479805"/>
                </a:lnTo>
                <a:lnTo>
                  <a:pt x="269113" y="639826"/>
                </a:lnTo>
                <a:lnTo>
                  <a:pt x="538226" y="319913"/>
                </a:lnTo>
                <a:lnTo>
                  <a:pt x="269113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609719" y="1743075"/>
            <a:ext cx="538480" cy="640080"/>
          </a:xfrm>
          <a:custGeom>
            <a:avLst/>
            <a:gdLst/>
            <a:ahLst/>
            <a:cxnLst/>
            <a:rect l="l" t="t" r="r" b="b"/>
            <a:pathLst>
              <a:path w="538479" h="640080">
                <a:moveTo>
                  <a:pt x="0" y="160020"/>
                </a:moveTo>
                <a:lnTo>
                  <a:pt x="269113" y="160020"/>
                </a:lnTo>
                <a:lnTo>
                  <a:pt x="269113" y="0"/>
                </a:lnTo>
                <a:lnTo>
                  <a:pt x="538226" y="319913"/>
                </a:lnTo>
                <a:lnTo>
                  <a:pt x="269113" y="639826"/>
                </a:lnTo>
                <a:lnTo>
                  <a:pt x="269113" y="479805"/>
                </a:lnTo>
                <a:lnTo>
                  <a:pt x="0" y="479805"/>
                </a:lnTo>
                <a:lnTo>
                  <a:pt x="0" y="160020"/>
                </a:lnTo>
                <a:close/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172970" y="3702050"/>
            <a:ext cx="703580" cy="592455"/>
          </a:xfrm>
          <a:custGeom>
            <a:avLst/>
            <a:gdLst/>
            <a:ahLst/>
            <a:cxnLst/>
            <a:rect l="l" t="t" r="r" b="b"/>
            <a:pathLst>
              <a:path w="703580" h="592454">
                <a:moveTo>
                  <a:pt x="703199" y="296037"/>
                </a:moveTo>
                <a:lnTo>
                  <a:pt x="0" y="296037"/>
                </a:lnTo>
                <a:lnTo>
                  <a:pt x="351663" y="592201"/>
                </a:lnTo>
                <a:lnTo>
                  <a:pt x="703199" y="296037"/>
                </a:lnTo>
                <a:close/>
              </a:path>
              <a:path w="703580" h="592454">
                <a:moveTo>
                  <a:pt x="527431" y="0"/>
                </a:moveTo>
                <a:lnTo>
                  <a:pt x="175768" y="0"/>
                </a:lnTo>
                <a:lnTo>
                  <a:pt x="175768" y="296037"/>
                </a:lnTo>
                <a:lnTo>
                  <a:pt x="527431" y="296037"/>
                </a:lnTo>
                <a:lnTo>
                  <a:pt x="527431" y="0"/>
                </a:lnTo>
                <a:close/>
              </a:path>
            </a:pathLst>
          </a:custGeom>
          <a:solidFill>
            <a:srgbClr val="F9C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172970" y="3702050"/>
            <a:ext cx="703580" cy="592455"/>
          </a:xfrm>
          <a:custGeom>
            <a:avLst/>
            <a:gdLst/>
            <a:ahLst/>
            <a:cxnLst/>
            <a:rect l="l" t="t" r="r" b="b"/>
            <a:pathLst>
              <a:path w="703580" h="592454">
                <a:moveTo>
                  <a:pt x="527431" y="0"/>
                </a:moveTo>
                <a:lnTo>
                  <a:pt x="527431" y="296037"/>
                </a:lnTo>
                <a:lnTo>
                  <a:pt x="703199" y="296037"/>
                </a:lnTo>
                <a:lnTo>
                  <a:pt x="351663" y="592201"/>
                </a:lnTo>
                <a:lnTo>
                  <a:pt x="0" y="296037"/>
                </a:lnTo>
                <a:lnTo>
                  <a:pt x="175768" y="296037"/>
                </a:lnTo>
                <a:lnTo>
                  <a:pt x="175768" y="0"/>
                </a:lnTo>
                <a:lnTo>
                  <a:pt x="527431" y="0"/>
                </a:lnTo>
                <a:close/>
              </a:path>
            </a:pathLst>
          </a:custGeom>
          <a:ln w="25400">
            <a:solidFill>
              <a:srgbClr val="974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25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49911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Два </a:t>
            </a:r>
            <a:r>
              <a:rPr spc="-25" dirty="0"/>
              <a:t>взгляда </a:t>
            </a:r>
            <a:r>
              <a:rPr spc="-5" dirty="0"/>
              <a:t>на</a:t>
            </a:r>
            <a:r>
              <a:rPr spc="50" dirty="0"/>
              <a:t> </a:t>
            </a:r>
            <a:r>
              <a:rPr spc="-20" dirty="0"/>
              <a:t>деятельность</a:t>
            </a:r>
          </a:p>
        </p:txBody>
      </p:sp>
      <p:sp>
        <p:nvSpPr>
          <p:cNvPr id="3" name="object 3"/>
          <p:cNvSpPr/>
          <p:nvPr/>
        </p:nvSpPr>
        <p:spPr>
          <a:xfrm>
            <a:off x="3145535" y="950975"/>
            <a:ext cx="2822448" cy="2642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76726" y="1402969"/>
            <a:ext cx="1590675" cy="1908175"/>
          </a:xfrm>
          <a:custGeom>
            <a:avLst/>
            <a:gdLst/>
            <a:ahLst/>
            <a:cxnLst/>
            <a:rect l="l" t="t" r="r" b="b"/>
            <a:pathLst>
              <a:path w="1590675" h="1908175">
                <a:moveTo>
                  <a:pt x="1325499" y="0"/>
                </a:moveTo>
                <a:lnTo>
                  <a:pt x="265049" y="0"/>
                </a:lnTo>
                <a:lnTo>
                  <a:pt x="217393" y="4268"/>
                </a:lnTo>
                <a:lnTo>
                  <a:pt x="172545" y="16576"/>
                </a:lnTo>
                <a:lnTo>
                  <a:pt x="131252" y="36176"/>
                </a:lnTo>
                <a:lnTo>
                  <a:pt x="94261" y="62320"/>
                </a:lnTo>
                <a:lnTo>
                  <a:pt x="62320" y="94261"/>
                </a:lnTo>
                <a:lnTo>
                  <a:pt x="36176" y="131252"/>
                </a:lnTo>
                <a:lnTo>
                  <a:pt x="16576" y="172545"/>
                </a:lnTo>
                <a:lnTo>
                  <a:pt x="4268" y="217393"/>
                </a:lnTo>
                <a:lnTo>
                  <a:pt x="0" y="265048"/>
                </a:lnTo>
                <a:lnTo>
                  <a:pt x="0" y="1642998"/>
                </a:lnTo>
                <a:lnTo>
                  <a:pt x="4268" y="1690659"/>
                </a:lnTo>
                <a:lnTo>
                  <a:pt x="16576" y="1735518"/>
                </a:lnTo>
                <a:lnTo>
                  <a:pt x="36176" y="1776828"/>
                </a:lnTo>
                <a:lnTo>
                  <a:pt x="62320" y="1813839"/>
                </a:lnTo>
                <a:lnTo>
                  <a:pt x="94261" y="1845801"/>
                </a:lnTo>
                <a:lnTo>
                  <a:pt x="131252" y="1871965"/>
                </a:lnTo>
                <a:lnTo>
                  <a:pt x="172545" y="1891582"/>
                </a:lnTo>
                <a:lnTo>
                  <a:pt x="217393" y="1903901"/>
                </a:lnTo>
                <a:lnTo>
                  <a:pt x="265049" y="1908175"/>
                </a:lnTo>
                <a:lnTo>
                  <a:pt x="1325499" y="1908175"/>
                </a:lnTo>
                <a:lnTo>
                  <a:pt x="1373159" y="1903901"/>
                </a:lnTo>
                <a:lnTo>
                  <a:pt x="1418018" y="1891582"/>
                </a:lnTo>
                <a:lnTo>
                  <a:pt x="1459328" y="1871965"/>
                </a:lnTo>
                <a:lnTo>
                  <a:pt x="1496339" y="1845801"/>
                </a:lnTo>
                <a:lnTo>
                  <a:pt x="1528301" y="1813839"/>
                </a:lnTo>
                <a:lnTo>
                  <a:pt x="1554465" y="1776828"/>
                </a:lnTo>
                <a:lnTo>
                  <a:pt x="1574082" y="1735518"/>
                </a:lnTo>
                <a:lnTo>
                  <a:pt x="1586401" y="1690659"/>
                </a:lnTo>
                <a:lnTo>
                  <a:pt x="1590675" y="1642998"/>
                </a:lnTo>
                <a:lnTo>
                  <a:pt x="1590675" y="265048"/>
                </a:lnTo>
                <a:lnTo>
                  <a:pt x="1586401" y="217393"/>
                </a:lnTo>
                <a:lnTo>
                  <a:pt x="1574082" y="172545"/>
                </a:lnTo>
                <a:lnTo>
                  <a:pt x="1554465" y="131252"/>
                </a:lnTo>
                <a:lnTo>
                  <a:pt x="1528301" y="94261"/>
                </a:lnTo>
                <a:lnTo>
                  <a:pt x="1496339" y="62320"/>
                </a:lnTo>
                <a:lnTo>
                  <a:pt x="1459328" y="36176"/>
                </a:lnTo>
                <a:lnTo>
                  <a:pt x="1418018" y="16576"/>
                </a:lnTo>
                <a:lnTo>
                  <a:pt x="1373159" y="4268"/>
                </a:lnTo>
                <a:lnTo>
                  <a:pt x="1325499" y="0"/>
                </a:lnTo>
                <a:close/>
              </a:path>
            </a:pathLst>
          </a:custGeom>
          <a:solidFill>
            <a:srgbClr val="B9E8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97326" y="2060194"/>
            <a:ext cx="2157730" cy="298450"/>
          </a:xfrm>
          <a:custGeom>
            <a:avLst/>
            <a:gdLst/>
            <a:ahLst/>
            <a:cxnLst/>
            <a:rect l="l" t="t" r="r" b="b"/>
            <a:pathLst>
              <a:path w="2157729" h="298450">
                <a:moveTo>
                  <a:pt x="2107565" y="0"/>
                </a:moveTo>
                <a:lnTo>
                  <a:pt x="49657" y="0"/>
                </a:lnTo>
                <a:lnTo>
                  <a:pt x="30325" y="3901"/>
                </a:lnTo>
                <a:lnTo>
                  <a:pt x="14541" y="14541"/>
                </a:lnTo>
                <a:lnTo>
                  <a:pt x="3901" y="30325"/>
                </a:lnTo>
                <a:lnTo>
                  <a:pt x="0" y="49656"/>
                </a:lnTo>
                <a:lnTo>
                  <a:pt x="0" y="248665"/>
                </a:lnTo>
                <a:lnTo>
                  <a:pt x="3901" y="268017"/>
                </a:lnTo>
                <a:lnTo>
                  <a:pt x="14541" y="283845"/>
                </a:lnTo>
                <a:lnTo>
                  <a:pt x="30325" y="294528"/>
                </a:lnTo>
                <a:lnTo>
                  <a:pt x="49657" y="298450"/>
                </a:lnTo>
                <a:lnTo>
                  <a:pt x="2107565" y="298450"/>
                </a:lnTo>
                <a:lnTo>
                  <a:pt x="2126970" y="294528"/>
                </a:lnTo>
                <a:lnTo>
                  <a:pt x="2142791" y="283845"/>
                </a:lnTo>
                <a:lnTo>
                  <a:pt x="2153445" y="268017"/>
                </a:lnTo>
                <a:lnTo>
                  <a:pt x="2157349" y="248665"/>
                </a:lnTo>
                <a:lnTo>
                  <a:pt x="2157349" y="49656"/>
                </a:lnTo>
                <a:lnTo>
                  <a:pt x="2153445" y="30325"/>
                </a:lnTo>
                <a:lnTo>
                  <a:pt x="2142791" y="14541"/>
                </a:lnTo>
                <a:lnTo>
                  <a:pt x="2126970" y="3901"/>
                </a:lnTo>
                <a:lnTo>
                  <a:pt x="2107565" y="0"/>
                </a:lnTo>
                <a:close/>
              </a:path>
            </a:pathLst>
          </a:custGeom>
          <a:solidFill>
            <a:srgbClr val="B9E8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7326" y="2060194"/>
            <a:ext cx="2157730" cy="298450"/>
          </a:xfrm>
          <a:custGeom>
            <a:avLst/>
            <a:gdLst/>
            <a:ahLst/>
            <a:cxnLst/>
            <a:rect l="l" t="t" r="r" b="b"/>
            <a:pathLst>
              <a:path w="2157729" h="298450">
                <a:moveTo>
                  <a:pt x="0" y="49656"/>
                </a:moveTo>
                <a:lnTo>
                  <a:pt x="3901" y="30325"/>
                </a:lnTo>
                <a:lnTo>
                  <a:pt x="14541" y="14541"/>
                </a:lnTo>
                <a:lnTo>
                  <a:pt x="30325" y="3901"/>
                </a:lnTo>
                <a:lnTo>
                  <a:pt x="49657" y="0"/>
                </a:lnTo>
                <a:lnTo>
                  <a:pt x="2107565" y="0"/>
                </a:lnTo>
                <a:lnTo>
                  <a:pt x="2126970" y="3901"/>
                </a:lnTo>
                <a:lnTo>
                  <a:pt x="2142791" y="14541"/>
                </a:lnTo>
                <a:lnTo>
                  <a:pt x="2153445" y="30325"/>
                </a:lnTo>
                <a:lnTo>
                  <a:pt x="2157349" y="49656"/>
                </a:lnTo>
                <a:lnTo>
                  <a:pt x="2157349" y="248665"/>
                </a:lnTo>
                <a:lnTo>
                  <a:pt x="2153445" y="268017"/>
                </a:lnTo>
                <a:lnTo>
                  <a:pt x="2142791" y="283845"/>
                </a:lnTo>
                <a:lnTo>
                  <a:pt x="2126970" y="294528"/>
                </a:lnTo>
                <a:lnTo>
                  <a:pt x="2107565" y="298450"/>
                </a:lnTo>
                <a:lnTo>
                  <a:pt x="49657" y="298450"/>
                </a:lnTo>
                <a:lnTo>
                  <a:pt x="30325" y="294528"/>
                </a:lnTo>
                <a:lnTo>
                  <a:pt x="14541" y="283844"/>
                </a:lnTo>
                <a:lnTo>
                  <a:pt x="3901" y="268017"/>
                </a:lnTo>
                <a:lnTo>
                  <a:pt x="0" y="248665"/>
                </a:lnTo>
                <a:lnTo>
                  <a:pt x="0" y="49656"/>
                </a:lnTo>
                <a:close/>
              </a:path>
            </a:pathLst>
          </a:custGeom>
          <a:ln w="25400">
            <a:solidFill>
              <a:srgbClr val="3399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0501" y="2420492"/>
            <a:ext cx="2157730" cy="298450"/>
          </a:xfrm>
          <a:custGeom>
            <a:avLst/>
            <a:gdLst/>
            <a:ahLst/>
            <a:cxnLst/>
            <a:rect l="l" t="t" r="r" b="b"/>
            <a:pathLst>
              <a:path w="2157729" h="298450">
                <a:moveTo>
                  <a:pt x="2107565" y="0"/>
                </a:moveTo>
                <a:lnTo>
                  <a:pt x="49657" y="0"/>
                </a:lnTo>
                <a:lnTo>
                  <a:pt x="30325" y="3921"/>
                </a:lnTo>
                <a:lnTo>
                  <a:pt x="14541" y="14605"/>
                </a:lnTo>
                <a:lnTo>
                  <a:pt x="3901" y="30432"/>
                </a:lnTo>
                <a:lnTo>
                  <a:pt x="0" y="49784"/>
                </a:lnTo>
                <a:lnTo>
                  <a:pt x="0" y="248793"/>
                </a:lnTo>
                <a:lnTo>
                  <a:pt x="3901" y="268124"/>
                </a:lnTo>
                <a:lnTo>
                  <a:pt x="14541" y="283908"/>
                </a:lnTo>
                <a:lnTo>
                  <a:pt x="30325" y="294548"/>
                </a:lnTo>
                <a:lnTo>
                  <a:pt x="49657" y="298450"/>
                </a:lnTo>
                <a:lnTo>
                  <a:pt x="2107565" y="298450"/>
                </a:lnTo>
                <a:lnTo>
                  <a:pt x="2126970" y="294548"/>
                </a:lnTo>
                <a:lnTo>
                  <a:pt x="2142791" y="283908"/>
                </a:lnTo>
                <a:lnTo>
                  <a:pt x="2153445" y="268124"/>
                </a:lnTo>
                <a:lnTo>
                  <a:pt x="2157349" y="248793"/>
                </a:lnTo>
                <a:lnTo>
                  <a:pt x="2157349" y="49784"/>
                </a:lnTo>
                <a:lnTo>
                  <a:pt x="2153445" y="30432"/>
                </a:lnTo>
                <a:lnTo>
                  <a:pt x="2142791" y="14605"/>
                </a:lnTo>
                <a:lnTo>
                  <a:pt x="2126970" y="3921"/>
                </a:lnTo>
                <a:lnTo>
                  <a:pt x="2107565" y="0"/>
                </a:lnTo>
                <a:close/>
              </a:path>
            </a:pathLst>
          </a:custGeom>
          <a:solidFill>
            <a:srgbClr val="B9E8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0501" y="2420492"/>
            <a:ext cx="2157730" cy="298450"/>
          </a:xfrm>
          <a:custGeom>
            <a:avLst/>
            <a:gdLst/>
            <a:ahLst/>
            <a:cxnLst/>
            <a:rect l="l" t="t" r="r" b="b"/>
            <a:pathLst>
              <a:path w="2157729" h="298450">
                <a:moveTo>
                  <a:pt x="0" y="49784"/>
                </a:moveTo>
                <a:lnTo>
                  <a:pt x="3901" y="30432"/>
                </a:lnTo>
                <a:lnTo>
                  <a:pt x="14541" y="14604"/>
                </a:lnTo>
                <a:lnTo>
                  <a:pt x="30325" y="3921"/>
                </a:lnTo>
                <a:lnTo>
                  <a:pt x="49657" y="0"/>
                </a:lnTo>
                <a:lnTo>
                  <a:pt x="2107565" y="0"/>
                </a:lnTo>
                <a:lnTo>
                  <a:pt x="2126970" y="3921"/>
                </a:lnTo>
                <a:lnTo>
                  <a:pt x="2142791" y="14605"/>
                </a:lnTo>
                <a:lnTo>
                  <a:pt x="2153445" y="30432"/>
                </a:lnTo>
                <a:lnTo>
                  <a:pt x="2157349" y="49784"/>
                </a:lnTo>
                <a:lnTo>
                  <a:pt x="2157349" y="248793"/>
                </a:lnTo>
                <a:lnTo>
                  <a:pt x="2153445" y="268124"/>
                </a:lnTo>
                <a:lnTo>
                  <a:pt x="2142791" y="283908"/>
                </a:lnTo>
                <a:lnTo>
                  <a:pt x="2126970" y="294548"/>
                </a:lnTo>
                <a:lnTo>
                  <a:pt x="2107565" y="298450"/>
                </a:lnTo>
                <a:lnTo>
                  <a:pt x="49657" y="298450"/>
                </a:lnTo>
                <a:lnTo>
                  <a:pt x="30325" y="294548"/>
                </a:lnTo>
                <a:lnTo>
                  <a:pt x="14541" y="283908"/>
                </a:lnTo>
                <a:lnTo>
                  <a:pt x="3901" y="268124"/>
                </a:lnTo>
                <a:lnTo>
                  <a:pt x="0" y="248793"/>
                </a:lnTo>
                <a:lnTo>
                  <a:pt x="0" y="49784"/>
                </a:lnTo>
                <a:close/>
              </a:path>
            </a:pathLst>
          </a:custGeom>
          <a:ln w="25400">
            <a:solidFill>
              <a:srgbClr val="3399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72201" y="3860381"/>
            <a:ext cx="3024505" cy="2520950"/>
          </a:xfrm>
          <a:prstGeom prst="rect">
            <a:avLst/>
          </a:prstGeom>
          <a:solidFill>
            <a:srgbClr val="88D19C"/>
          </a:solidFill>
          <a:ln w="25400">
            <a:solidFill>
              <a:srgbClr val="585858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438150" marR="428625" algn="ctr">
              <a:lnSpc>
                <a:spcPct val="100000"/>
              </a:lnSpc>
              <a:spcBef>
                <a:spcPts val="1110"/>
              </a:spcBef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Процессный 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взгляд 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(Ценностно-  ориентированный  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подход)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Цепочки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и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сети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создания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ценности,</a:t>
            </a:r>
            <a:r>
              <a:rPr sz="1800" spc="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процессы,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проекты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625" y="3860381"/>
            <a:ext cx="3024505" cy="2520950"/>
          </a:xfrm>
          <a:prstGeom prst="rect">
            <a:avLst/>
          </a:prstGeom>
          <a:solidFill>
            <a:srgbClr val="88D19C"/>
          </a:solidFill>
          <a:ln w="25400">
            <a:solidFill>
              <a:srgbClr val="585858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37795" marR="130810" algn="ctr">
              <a:lnSpc>
                <a:spcPct val="100000"/>
              </a:lnSpc>
              <a:spcBef>
                <a:spcPts val="1110"/>
              </a:spcBef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Функциональный 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взгляд 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(Ресурсный,  </a:t>
            </a:r>
            <a:r>
              <a:rPr sz="2000" b="1" spc="-15" dirty="0">
                <a:solidFill>
                  <a:srgbClr val="404040"/>
                </a:solidFill>
                <a:latin typeface="Calibri"/>
                <a:cs typeface="Calibri"/>
              </a:rPr>
              <a:t>компетентностный  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подход)</a:t>
            </a:r>
            <a:endParaRPr sz="2000">
              <a:latin typeface="Calibri"/>
              <a:cs typeface="Calibri"/>
            </a:endParaRPr>
          </a:p>
          <a:p>
            <a:pPr marL="49530" algn="ctr">
              <a:lnSpc>
                <a:spcPct val="100000"/>
              </a:lnSpc>
              <a:spcBef>
                <a:spcPts val="1325"/>
              </a:spcBef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Способности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(capabilities),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функции,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сервисы,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ключевые</a:t>
            </a:r>
            <a:r>
              <a:rPr sz="1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компетенции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21889" y="3118739"/>
            <a:ext cx="581025" cy="593090"/>
          </a:xfrm>
          <a:custGeom>
            <a:avLst/>
            <a:gdLst/>
            <a:ahLst/>
            <a:cxnLst/>
            <a:rect l="l" t="t" r="r" b="b"/>
            <a:pathLst>
              <a:path w="581025" h="593089">
                <a:moveTo>
                  <a:pt x="0" y="287274"/>
                </a:moveTo>
                <a:lnTo>
                  <a:pt x="6350" y="592582"/>
                </a:lnTo>
                <a:lnTo>
                  <a:pt x="311531" y="586232"/>
                </a:lnTo>
                <a:lnTo>
                  <a:pt x="233680" y="511429"/>
                </a:lnTo>
                <a:lnTo>
                  <a:pt x="377005" y="362076"/>
                </a:lnTo>
                <a:lnTo>
                  <a:pt x="77850" y="362076"/>
                </a:lnTo>
                <a:lnTo>
                  <a:pt x="0" y="287274"/>
                </a:lnTo>
                <a:close/>
              </a:path>
              <a:path w="581025" h="593089">
                <a:moveTo>
                  <a:pt x="425196" y="0"/>
                </a:moveTo>
                <a:lnTo>
                  <a:pt x="77850" y="362076"/>
                </a:lnTo>
                <a:lnTo>
                  <a:pt x="377005" y="362076"/>
                </a:lnTo>
                <a:lnTo>
                  <a:pt x="581025" y="149478"/>
                </a:lnTo>
                <a:lnTo>
                  <a:pt x="425196" y="0"/>
                </a:lnTo>
                <a:close/>
              </a:path>
            </a:pathLst>
          </a:custGeom>
          <a:solidFill>
            <a:srgbClr val="88D1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21889" y="3118739"/>
            <a:ext cx="581025" cy="593090"/>
          </a:xfrm>
          <a:custGeom>
            <a:avLst/>
            <a:gdLst/>
            <a:ahLst/>
            <a:cxnLst/>
            <a:rect l="l" t="t" r="r" b="b"/>
            <a:pathLst>
              <a:path w="581025" h="593089">
                <a:moveTo>
                  <a:pt x="0" y="287274"/>
                </a:moveTo>
                <a:lnTo>
                  <a:pt x="77850" y="362076"/>
                </a:lnTo>
                <a:lnTo>
                  <a:pt x="425196" y="0"/>
                </a:lnTo>
                <a:lnTo>
                  <a:pt x="581025" y="149478"/>
                </a:lnTo>
                <a:lnTo>
                  <a:pt x="233680" y="511429"/>
                </a:lnTo>
                <a:lnTo>
                  <a:pt x="311531" y="586232"/>
                </a:lnTo>
                <a:lnTo>
                  <a:pt x="6350" y="592582"/>
                </a:lnTo>
                <a:lnTo>
                  <a:pt x="0" y="287274"/>
                </a:lnTo>
              </a:path>
            </a:pathLst>
          </a:custGeom>
          <a:ln w="25399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12510" y="3118739"/>
            <a:ext cx="581025" cy="593090"/>
          </a:xfrm>
          <a:custGeom>
            <a:avLst/>
            <a:gdLst/>
            <a:ahLst/>
            <a:cxnLst/>
            <a:rect l="l" t="t" r="r" b="b"/>
            <a:pathLst>
              <a:path w="581025" h="593089">
                <a:moveTo>
                  <a:pt x="155828" y="0"/>
                </a:moveTo>
                <a:lnTo>
                  <a:pt x="0" y="149478"/>
                </a:lnTo>
                <a:lnTo>
                  <a:pt x="347344" y="511429"/>
                </a:lnTo>
                <a:lnTo>
                  <a:pt x="269493" y="586232"/>
                </a:lnTo>
                <a:lnTo>
                  <a:pt x="574675" y="592582"/>
                </a:lnTo>
                <a:lnTo>
                  <a:pt x="579469" y="362076"/>
                </a:lnTo>
                <a:lnTo>
                  <a:pt x="503174" y="362076"/>
                </a:lnTo>
                <a:lnTo>
                  <a:pt x="155828" y="0"/>
                </a:lnTo>
                <a:close/>
              </a:path>
              <a:path w="581025" h="593089">
                <a:moveTo>
                  <a:pt x="581025" y="287274"/>
                </a:moveTo>
                <a:lnTo>
                  <a:pt x="503174" y="362076"/>
                </a:lnTo>
                <a:lnTo>
                  <a:pt x="579469" y="362076"/>
                </a:lnTo>
                <a:lnTo>
                  <a:pt x="581025" y="287274"/>
                </a:lnTo>
                <a:close/>
              </a:path>
            </a:pathLst>
          </a:custGeom>
          <a:solidFill>
            <a:srgbClr val="88D1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12510" y="3118739"/>
            <a:ext cx="581025" cy="593090"/>
          </a:xfrm>
          <a:custGeom>
            <a:avLst/>
            <a:gdLst/>
            <a:ahLst/>
            <a:cxnLst/>
            <a:rect l="l" t="t" r="r" b="b"/>
            <a:pathLst>
              <a:path w="581025" h="593089">
                <a:moveTo>
                  <a:pt x="581025" y="287274"/>
                </a:moveTo>
                <a:lnTo>
                  <a:pt x="503174" y="362076"/>
                </a:lnTo>
                <a:lnTo>
                  <a:pt x="155828" y="0"/>
                </a:lnTo>
                <a:lnTo>
                  <a:pt x="0" y="149478"/>
                </a:lnTo>
                <a:lnTo>
                  <a:pt x="347344" y="511429"/>
                </a:lnTo>
                <a:lnTo>
                  <a:pt x="269493" y="586232"/>
                </a:lnTo>
                <a:lnTo>
                  <a:pt x="574675" y="592582"/>
                </a:lnTo>
                <a:lnTo>
                  <a:pt x="581025" y="287274"/>
                </a:lnTo>
              </a:path>
            </a:pathLst>
          </a:custGeom>
          <a:ln w="25399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25926" y="4904994"/>
            <a:ext cx="1809750" cy="323850"/>
          </a:xfrm>
          <a:custGeom>
            <a:avLst/>
            <a:gdLst/>
            <a:ahLst/>
            <a:cxnLst/>
            <a:rect l="l" t="t" r="r" b="b"/>
            <a:pathLst>
              <a:path w="1809750" h="323850">
                <a:moveTo>
                  <a:pt x="161925" y="0"/>
                </a:moveTo>
                <a:lnTo>
                  <a:pt x="0" y="161924"/>
                </a:lnTo>
                <a:lnTo>
                  <a:pt x="161925" y="323849"/>
                </a:lnTo>
                <a:lnTo>
                  <a:pt x="161925" y="242823"/>
                </a:lnTo>
                <a:lnTo>
                  <a:pt x="1728851" y="242823"/>
                </a:lnTo>
                <a:lnTo>
                  <a:pt x="1809750" y="161924"/>
                </a:lnTo>
                <a:lnTo>
                  <a:pt x="1728724" y="80898"/>
                </a:lnTo>
                <a:lnTo>
                  <a:pt x="161925" y="80898"/>
                </a:lnTo>
                <a:lnTo>
                  <a:pt x="161925" y="0"/>
                </a:lnTo>
                <a:close/>
              </a:path>
              <a:path w="1809750" h="323850">
                <a:moveTo>
                  <a:pt x="1728851" y="242823"/>
                </a:moveTo>
                <a:lnTo>
                  <a:pt x="1647825" y="242823"/>
                </a:lnTo>
                <a:lnTo>
                  <a:pt x="1647825" y="323849"/>
                </a:lnTo>
                <a:lnTo>
                  <a:pt x="1728851" y="242823"/>
                </a:lnTo>
                <a:close/>
              </a:path>
              <a:path w="1809750" h="323850">
                <a:moveTo>
                  <a:pt x="1647825" y="0"/>
                </a:moveTo>
                <a:lnTo>
                  <a:pt x="1647825" y="80898"/>
                </a:lnTo>
                <a:lnTo>
                  <a:pt x="1728724" y="80898"/>
                </a:lnTo>
                <a:lnTo>
                  <a:pt x="1647825" y="0"/>
                </a:lnTo>
                <a:close/>
              </a:path>
            </a:pathLst>
          </a:custGeom>
          <a:solidFill>
            <a:srgbClr val="88D1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25926" y="4904994"/>
            <a:ext cx="1809750" cy="323850"/>
          </a:xfrm>
          <a:custGeom>
            <a:avLst/>
            <a:gdLst/>
            <a:ahLst/>
            <a:cxnLst/>
            <a:rect l="l" t="t" r="r" b="b"/>
            <a:pathLst>
              <a:path w="1809750" h="323850">
                <a:moveTo>
                  <a:pt x="1809750" y="161924"/>
                </a:moveTo>
                <a:lnTo>
                  <a:pt x="1647825" y="0"/>
                </a:lnTo>
                <a:lnTo>
                  <a:pt x="1647825" y="80898"/>
                </a:lnTo>
                <a:lnTo>
                  <a:pt x="161925" y="80898"/>
                </a:lnTo>
                <a:lnTo>
                  <a:pt x="161925" y="0"/>
                </a:lnTo>
                <a:lnTo>
                  <a:pt x="0" y="161924"/>
                </a:lnTo>
                <a:lnTo>
                  <a:pt x="161925" y="323849"/>
                </a:lnTo>
                <a:lnTo>
                  <a:pt x="161925" y="242823"/>
                </a:lnTo>
                <a:lnTo>
                  <a:pt x="1647825" y="242823"/>
                </a:lnTo>
                <a:lnTo>
                  <a:pt x="1647825" y="323849"/>
                </a:lnTo>
                <a:lnTo>
                  <a:pt x="1809750" y="161924"/>
                </a:lnTo>
                <a:close/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16376" y="1483867"/>
            <a:ext cx="2155825" cy="503555"/>
          </a:xfrm>
          <a:custGeom>
            <a:avLst/>
            <a:gdLst/>
            <a:ahLst/>
            <a:cxnLst/>
            <a:rect l="l" t="t" r="r" b="b"/>
            <a:pathLst>
              <a:path w="2155825" h="503555">
                <a:moveTo>
                  <a:pt x="2071877" y="0"/>
                </a:moveTo>
                <a:lnTo>
                  <a:pt x="83820" y="0"/>
                </a:lnTo>
                <a:lnTo>
                  <a:pt x="51167" y="6598"/>
                </a:lnTo>
                <a:lnTo>
                  <a:pt x="24526" y="24590"/>
                </a:lnTo>
                <a:lnTo>
                  <a:pt x="6578" y="51274"/>
                </a:lnTo>
                <a:lnTo>
                  <a:pt x="0" y="83947"/>
                </a:lnTo>
                <a:lnTo>
                  <a:pt x="0" y="419354"/>
                </a:lnTo>
                <a:lnTo>
                  <a:pt x="6578" y="452026"/>
                </a:lnTo>
                <a:lnTo>
                  <a:pt x="24526" y="478710"/>
                </a:lnTo>
                <a:lnTo>
                  <a:pt x="51167" y="496702"/>
                </a:lnTo>
                <a:lnTo>
                  <a:pt x="83820" y="503301"/>
                </a:lnTo>
                <a:lnTo>
                  <a:pt x="2071877" y="503301"/>
                </a:lnTo>
                <a:lnTo>
                  <a:pt x="2104550" y="496702"/>
                </a:lnTo>
                <a:lnTo>
                  <a:pt x="2131234" y="478710"/>
                </a:lnTo>
                <a:lnTo>
                  <a:pt x="2149226" y="452026"/>
                </a:lnTo>
                <a:lnTo>
                  <a:pt x="2155825" y="419354"/>
                </a:lnTo>
                <a:lnTo>
                  <a:pt x="2155825" y="83947"/>
                </a:lnTo>
                <a:lnTo>
                  <a:pt x="2149226" y="51274"/>
                </a:lnTo>
                <a:lnTo>
                  <a:pt x="2131234" y="24590"/>
                </a:lnTo>
                <a:lnTo>
                  <a:pt x="2104550" y="6598"/>
                </a:lnTo>
                <a:lnTo>
                  <a:pt x="2071877" y="0"/>
                </a:lnTo>
                <a:close/>
              </a:path>
            </a:pathLst>
          </a:custGeom>
          <a:solidFill>
            <a:srgbClr val="B9E8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16376" y="1483867"/>
            <a:ext cx="2155825" cy="503555"/>
          </a:xfrm>
          <a:custGeom>
            <a:avLst/>
            <a:gdLst/>
            <a:ahLst/>
            <a:cxnLst/>
            <a:rect l="l" t="t" r="r" b="b"/>
            <a:pathLst>
              <a:path w="2155825" h="503555">
                <a:moveTo>
                  <a:pt x="0" y="83947"/>
                </a:moveTo>
                <a:lnTo>
                  <a:pt x="6578" y="51274"/>
                </a:lnTo>
                <a:lnTo>
                  <a:pt x="24526" y="24590"/>
                </a:lnTo>
                <a:lnTo>
                  <a:pt x="51167" y="6598"/>
                </a:lnTo>
                <a:lnTo>
                  <a:pt x="83820" y="0"/>
                </a:lnTo>
                <a:lnTo>
                  <a:pt x="2071877" y="0"/>
                </a:lnTo>
                <a:lnTo>
                  <a:pt x="2104550" y="6598"/>
                </a:lnTo>
                <a:lnTo>
                  <a:pt x="2131234" y="24590"/>
                </a:lnTo>
                <a:lnTo>
                  <a:pt x="2149226" y="51274"/>
                </a:lnTo>
                <a:lnTo>
                  <a:pt x="2155825" y="83947"/>
                </a:lnTo>
                <a:lnTo>
                  <a:pt x="2155825" y="419354"/>
                </a:lnTo>
                <a:lnTo>
                  <a:pt x="2149226" y="452026"/>
                </a:lnTo>
                <a:lnTo>
                  <a:pt x="2131234" y="478710"/>
                </a:lnTo>
                <a:lnTo>
                  <a:pt x="2104550" y="496702"/>
                </a:lnTo>
                <a:lnTo>
                  <a:pt x="2071877" y="503301"/>
                </a:lnTo>
                <a:lnTo>
                  <a:pt x="83820" y="503301"/>
                </a:lnTo>
                <a:lnTo>
                  <a:pt x="51167" y="496702"/>
                </a:lnTo>
                <a:lnTo>
                  <a:pt x="24526" y="478710"/>
                </a:lnTo>
                <a:lnTo>
                  <a:pt x="6578" y="452026"/>
                </a:lnTo>
                <a:lnTo>
                  <a:pt x="0" y="419354"/>
                </a:lnTo>
                <a:lnTo>
                  <a:pt x="0" y="83947"/>
                </a:lnTo>
                <a:close/>
              </a:path>
            </a:pathLst>
          </a:custGeom>
          <a:ln w="25400">
            <a:solidFill>
              <a:srgbClr val="3399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75379" y="1083055"/>
            <a:ext cx="1836420" cy="2159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Деятельность</a:t>
            </a:r>
            <a:endParaRPr sz="16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1150"/>
              </a:spcBef>
            </a:pP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Цепочки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и</a:t>
            </a:r>
            <a:r>
              <a:rPr sz="16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сети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создания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ценности</a:t>
            </a:r>
            <a:endParaRPr sz="1600">
              <a:latin typeface="Arial"/>
              <a:cs typeface="Arial"/>
            </a:endParaRPr>
          </a:p>
          <a:p>
            <a:pPr marR="23495" algn="ctr">
              <a:lnSpc>
                <a:spcPct val="100000"/>
              </a:lnSpc>
              <a:spcBef>
                <a:spcPts val="850"/>
              </a:spcBef>
            </a:pP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Процессы</a:t>
            </a:r>
            <a:endParaRPr sz="1600">
              <a:latin typeface="Arial"/>
              <a:cs typeface="Arial"/>
            </a:endParaRPr>
          </a:p>
          <a:p>
            <a:pPr marL="277495" marR="312420" indent="17145" algn="ctr">
              <a:lnSpc>
                <a:spcPct val="122200"/>
              </a:lnSpc>
              <a:spcBef>
                <a:spcPts val="490"/>
              </a:spcBef>
            </a:pP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Проекты  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С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по</a:t>
            </a:r>
            <a:r>
              <a:rPr sz="1600" spc="5" dirty="0">
                <a:solidFill>
                  <a:srgbClr val="404040"/>
                </a:solidFill>
                <a:latin typeface="Arial"/>
                <a:cs typeface="Arial"/>
              </a:rPr>
              <a:t>с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о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б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н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о</a:t>
            </a:r>
            <a:r>
              <a:rPr sz="1600" spc="5" dirty="0">
                <a:solidFill>
                  <a:srgbClr val="404040"/>
                </a:solidFill>
                <a:latin typeface="Arial"/>
                <a:cs typeface="Arial"/>
              </a:rPr>
              <a:t>с</a:t>
            </a:r>
            <a:r>
              <a:rPr sz="1600" spc="0" dirty="0">
                <a:solidFill>
                  <a:srgbClr val="404040"/>
                </a:solidFill>
                <a:latin typeface="Arial"/>
                <a:cs typeface="Arial"/>
              </a:rPr>
              <a:t>ти</a:t>
            </a:r>
            <a:endParaRPr sz="1600">
              <a:latin typeface="Arial"/>
              <a:cs typeface="Arial"/>
            </a:endParaRPr>
          </a:p>
          <a:p>
            <a:pPr marR="31115" algn="ctr">
              <a:lnSpc>
                <a:spcPct val="100000"/>
              </a:lnSpc>
            </a:pP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(функционал)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26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56" y="138125"/>
            <a:ext cx="854984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Методология </a:t>
            </a:r>
            <a:r>
              <a:rPr b="1" spc="-1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ОРГ-Мастер: основные</a:t>
            </a:r>
            <a:r>
              <a:rPr b="1" spc="16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b="1" spc="-4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модели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143000"/>
            <a:ext cx="7372731" cy="540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27</a:t>
            </a:fld>
            <a:endParaRPr spc="-5" dirty="0">
              <a:solidFill>
                <a:srgbClr val="404040"/>
              </a:solidFill>
            </a:endParaRPr>
          </a:p>
        </p:txBody>
      </p:sp>
      <p:pic>
        <p:nvPicPr>
          <p:cNvPr id="6" name="Picture 27" descr="логотип БИГ 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838200"/>
            <a:ext cx="2305050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ChangeArrowheads="1"/>
          </p:cNvSpPr>
          <p:nvPr/>
        </p:nvSpPr>
        <p:spPr bwMode="auto">
          <a:xfrm>
            <a:off x="0" y="836613"/>
            <a:ext cx="9144000" cy="6021387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7325"/>
            <a:ext cx="8101012" cy="923330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ru-RU" sz="2000" dirty="0" smtClean="0"/>
              <a:t>Программно-методический  комплекс    </a:t>
            </a:r>
            <a:br>
              <a:rPr lang="ru-RU" sz="2000" dirty="0" smtClean="0"/>
            </a:br>
            <a:r>
              <a:rPr lang="ru-RU" sz="2000" dirty="0" smtClean="0"/>
              <a:t>ОРГ-МАСТЕР</a:t>
            </a:r>
            <a:r>
              <a:rPr lang="en-US" sz="2000" dirty="0" smtClean="0"/>
              <a:t>®</a:t>
            </a:r>
            <a:r>
              <a:rPr lang="ru-RU" sz="2000" dirty="0" smtClean="0"/>
              <a:t>. Система моделирования деятельности организации и формирования корпоративных регламентов 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752600"/>
            <a:ext cx="7632700" cy="4525963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ru-RU" sz="1800" dirty="0" smtClean="0"/>
              <a:t>Моделирование и инжиниринг </a:t>
            </a:r>
            <a:r>
              <a:rPr lang="ru-RU" sz="1800" dirty="0" err="1" smtClean="0"/>
              <a:t>бизнес-систем</a:t>
            </a:r>
            <a:r>
              <a:rPr lang="ru-RU" sz="1800" dirty="0" smtClean="0"/>
              <a:t>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ru-RU" sz="1800" dirty="0" smtClean="0"/>
              <a:t>Корпоративная архитектура как объект моделирования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ru-RU" sz="1800" dirty="0" smtClean="0"/>
              <a:t>Концепция и принципы построения продукта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ru-RU" sz="1800" dirty="0" smtClean="0"/>
              <a:t>Позиционирование продукта по сравнению с аналогами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ru-RU" sz="1800" dirty="0" smtClean="0"/>
              <a:t>Технология процессного описания с помощью ОРГ-МАСТЕР</a:t>
            </a:r>
            <a:r>
              <a:rPr lang="en-US" sz="1800" dirty="0" smtClean="0">
                <a:cs typeface="Arial" charset="0"/>
              </a:rPr>
              <a:t>®</a:t>
            </a:r>
            <a:endParaRPr lang="ru-RU" sz="1800" dirty="0" smtClean="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ru-RU" sz="1800" dirty="0" smtClean="0"/>
              <a:t>Комплексные решения на основе системы ОРГ-МАСТЕР</a:t>
            </a:r>
            <a:r>
              <a:rPr lang="en-US" sz="1800" dirty="0" smtClean="0">
                <a:cs typeface="Arial" charset="0"/>
              </a:rPr>
              <a:t>®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ru-RU" sz="1800" dirty="0" smtClean="0"/>
              <a:t>Примеры пользователей продукта и реализованных решений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16DE60-904A-4CE4-B918-7E739F367B7B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>
          <a:xfrm>
            <a:off x="179388" y="157163"/>
            <a:ext cx="8229600" cy="534987"/>
          </a:xfrm>
        </p:spPr>
        <p:txBody>
          <a:bodyPr/>
          <a:lstStyle/>
          <a:p>
            <a:pPr marL="0" eaLnBrk="1" hangingPunct="1"/>
            <a:r>
              <a:rPr lang="ru-RU" sz="2000" b="1" smtClean="0">
                <a:solidFill>
                  <a:schemeClr val="tx1"/>
                </a:solidFill>
              </a:rPr>
              <a:t>Особенности инжиниринговой деятельности</a:t>
            </a:r>
          </a:p>
        </p:txBody>
      </p:sp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1403350" y="836613"/>
            <a:ext cx="6335713" cy="2154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FontTx/>
              <a:buChar char="•"/>
            </a:pPr>
            <a:r>
              <a:rPr lang="ru-RU" b="1"/>
              <a:t>Работа по точным чертежам (схемам, моделям)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ru-RU" b="1"/>
              <a:t>Работа с применением стандартов и лучшей практики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ru-RU" b="1"/>
              <a:t>Постоянный поиск оптимальных решений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ru-RU" b="1"/>
              <a:t>Проект как основной способ реализации деятельности</a:t>
            </a:r>
          </a:p>
        </p:txBody>
      </p:sp>
      <p:sp>
        <p:nvSpPr>
          <p:cNvPr id="26628" name="Line 7"/>
          <p:cNvSpPr>
            <a:spLocks noChangeShapeType="1"/>
          </p:cNvSpPr>
          <p:nvPr/>
        </p:nvSpPr>
        <p:spPr bwMode="auto">
          <a:xfrm>
            <a:off x="2301875" y="4048125"/>
            <a:ext cx="768350" cy="0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6629" name="Line 8"/>
          <p:cNvSpPr>
            <a:spLocks noChangeShapeType="1"/>
          </p:cNvSpPr>
          <p:nvPr/>
        </p:nvSpPr>
        <p:spPr bwMode="auto">
          <a:xfrm flipV="1">
            <a:off x="1395413" y="4835525"/>
            <a:ext cx="0" cy="668338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6630" name="Text Box 9"/>
          <p:cNvSpPr txBox="1">
            <a:spLocks noChangeArrowheads="1"/>
          </p:cNvSpPr>
          <p:nvPr/>
        </p:nvSpPr>
        <p:spPr bwMode="auto">
          <a:xfrm>
            <a:off x="2368550" y="4337050"/>
            <a:ext cx="2046288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  Результативность 1</a:t>
            </a:r>
          </a:p>
        </p:txBody>
      </p:sp>
      <p:sp>
        <p:nvSpPr>
          <p:cNvPr id="26631" name="Text Box 10"/>
          <p:cNvSpPr txBox="1">
            <a:spLocks noChangeArrowheads="1"/>
          </p:cNvSpPr>
          <p:nvPr/>
        </p:nvSpPr>
        <p:spPr bwMode="auto">
          <a:xfrm>
            <a:off x="430213" y="5561013"/>
            <a:ext cx="2074862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Эффективность 1</a:t>
            </a:r>
          </a:p>
        </p:txBody>
      </p:sp>
      <p:sp>
        <p:nvSpPr>
          <p:cNvPr id="26632" name="AutoShape 11"/>
          <p:cNvSpPr>
            <a:spLocks noChangeArrowheads="1"/>
          </p:cNvSpPr>
          <p:nvPr/>
        </p:nvSpPr>
        <p:spPr bwMode="auto">
          <a:xfrm>
            <a:off x="395288" y="3429000"/>
            <a:ext cx="1800225" cy="1079500"/>
          </a:xfrm>
          <a:prstGeom prst="flowChartAlternateProcess">
            <a:avLst/>
          </a:prstGeom>
          <a:solidFill>
            <a:srgbClr val="99FF99">
              <a:alpha val="34117"/>
            </a:srgbClr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ru-RU" sz="2000"/>
              <a:t>Модель «как есть»</a:t>
            </a:r>
          </a:p>
        </p:txBody>
      </p:sp>
      <p:sp>
        <p:nvSpPr>
          <p:cNvPr id="26633" name="Line 12"/>
          <p:cNvSpPr>
            <a:spLocks noChangeShapeType="1"/>
          </p:cNvSpPr>
          <p:nvPr/>
        </p:nvSpPr>
        <p:spPr bwMode="auto">
          <a:xfrm>
            <a:off x="7715250" y="4127500"/>
            <a:ext cx="768350" cy="0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6634" name="Line 13"/>
          <p:cNvSpPr>
            <a:spLocks noChangeShapeType="1"/>
          </p:cNvSpPr>
          <p:nvPr/>
        </p:nvSpPr>
        <p:spPr bwMode="auto">
          <a:xfrm flipV="1">
            <a:off x="6932613" y="4792663"/>
            <a:ext cx="0" cy="668337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6635" name="Text Box 14"/>
          <p:cNvSpPr txBox="1">
            <a:spLocks noChangeArrowheads="1"/>
          </p:cNvSpPr>
          <p:nvPr/>
        </p:nvSpPr>
        <p:spPr bwMode="auto">
          <a:xfrm>
            <a:off x="7154863" y="4652963"/>
            <a:ext cx="1989137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Результативность 2</a:t>
            </a:r>
          </a:p>
        </p:txBody>
      </p:sp>
      <p:sp>
        <p:nvSpPr>
          <p:cNvPr id="26636" name="Text Box 15"/>
          <p:cNvSpPr txBox="1">
            <a:spLocks noChangeArrowheads="1"/>
          </p:cNvSpPr>
          <p:nvPr/>
        </p:nvSpPr>
        <p:spPr bwMode="auto">
          <a:xfrm>
            <a:off x="5894388" y="5592763"/>
            <a:ext cx="2074862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/>
              <a:t>Эффективность 2</a:t>
            </a:r>
          </a:p>
        </p:txBody>
      </p:sp>
      <p:sp>
        <p:nvSpPr>
          <p:cNvPr id="26637" name="AutoShape 16"/>
          <p:cNvSpPr>
            <a:spLocks noChangeArrowheads="1"/>
          </p:cNvSpPr>
          <p:nvPr/>
        </p:nvSpPr>
        <p:spPr bwMode="auto">
          <a:xfrm>
            <a:off x="5795963" y="3429000"/>
            <a:ext cx="1655762" cy="1079500"/>
          </a:xfrm>
          <a:prstGeom prst="flowChartAlternateProcess">
            <a:avLst/>
          </a:prstGeom>
          <a:solidFill>
            <a:srgbClr val="99FF99">
              <a:alpha val="34117"/>
            </a:srgbClr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ru-RU" sz="2000"/>
              <a:t>Модель «как надо»</a:t>
            </a:r>
          </a:p>
        </p:txBody>
      </p:sp>
      <p:sp>
        <p:nvSpPr>
          <p:cNvPr id="26638" name="Rectangle 17"/>
          <p:cNvSpPr>
            <a:spLocks noChangeArrowheads="1"/>
          </p:cNvSpPr>
          <p:nvPr/>
        </p:nvSpPr>
        <p:spPr bwMode="auto">
          <a:xfrm>
            <a:off x="3509963" y="3505200"/>
            <a:ext cx="1709737" cy="6492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200"/>
              <a:t>Проект как основной способ реализации изменений</a:t>
            </a:r>
          </a:p>
        </p:txBody>
      </p:sp>
      <p:sp>
        <p:nvSpPr>
          <p:cNvPr id="26639" name="Line 18"/>
          <p:cNvSpPr>
            <a:spLocks noChangeShapeType="1"/>
          </p:cNvSpPr>
          <p:nvPr/>
        </p:nvSpPr>
        <p:spPr bwMode="auto">
          <a:xfrm>
            <a:off x="5022850" y="3187700"/>
            <a:ext cx="522288" cy="71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6640" name="Line 19"/>
          <p:cNvSpPr>
            <a:spLocks noChangeShapeType="1"/>
          </p:cNvSpPr>
          <p:nvPr/>
        </p:nvSpPr>
        <p:spPr bwMode="auto">
          <a:xfrm flipH="1">
            <a:off x="4908550" y="3870325"/>
            <a:ext cx="668338" cy="566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6641" name="Text Box 20"/>
          <p:cNvSpPr txBox="1">
            <a:spLocks noChangeArrowheads="1"/>
          </p:cNvSpPr>
          <p:nvPr/>
        </p:nvSpPr>
        <p:spPr bwMode="auto">
          <a:xfrm>
            <a:off x="696913" y="57546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 sz="2400"/>
          </a:p>
        </p:txBody>
      </p:sp>
      <p:sp>
        <p:nvSpPr>
          <p:cNvPr id="26642" name="Line 23"/>
          <p:cNvSpPr>
            <a:spLocks noChangeShapeType="1"/>
          </p:cNvSpPr>
          <p:nvPr/>
        </p:nvSpPr>
        <p:spPr bwMode="auto">
          <a:xfrm>
            <a:off x="4140200" y="2997200"/>
            <a:ext cx="0" cy="504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17112" name="Text Box 24"/>
          <p:cNvSpPr txBox="1">
            <a:spLocks noChangeArrowheads="1"/>
          </p:cNvSpPr>
          <p:nvPr/>
        </p:nvSpPr>
        <p:spPr bwMode="auto">
          <a:xfrm>
            <a:off x="250825" y="6021388"/>
            <a:ext cx="8604250" cy="590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>
                <a:solidFill>
                  <a:srgbClr val="FF0000"/>
                </a:solidFill>
              </a:rPr>
              <a:t>Изменения – это образ жизни современных компаний. Изменения должны быть предсказуемыми и контролируемыми. Для этого и нужен ОРГ-МАСТЕР</a:t>
            </a:r>
            <a:r>
              <a:rPr lang="en-US" sz="1600" b="1">
                <a:solidFill>
                  <a:srgbClr val="FF0000"/>
                </a:solidFill>
                <a:cs typeface="Arial" charset="0"/>
              </a:rPr>
              <a:t>®</a:t>
            </a:r>
            <a:r>
              <a:rPr lang="ru-RU" sz="16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29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420688" y="2074863"/>
            <a:ext cx="4262437" cy="41735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DB7C2D"/>
            </a:outer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ru-RU" sz="1600" b="1"/>
              <a:t>Технология бизнес-инжиниринга</a:t>
            </a:r>
            <a:r>
              <a:rPr lang="ru-RU" sz="1600"/>
              <a:t> базируется на формальном, точном и полном описании предприятия во взаимодействии с внешней средой. </a:t>
            </a:r>
          </a:p>
          <a:p>
            <a:pPr marL="342900" indent="-342900">
              <a:defRPr/>
            </a:pPr>
            <a:endParaRPr lang="ru-RU" sz="1600" b="1"/>
          </a:p>
          <a:p>
            <a:pPr marL="342900" indent="-342900">
              <a:defRPr/>
            </a:pPr>
            <a:r>
              <a:rPr lang="ru-RU" sz="1600"/>
              <a:t>В основе технологии лежат</a:t>
            </a:r>
            <a:r>
              <a:rPr lang="ru-RU" sz="1600" b="1"/>
              <a:t> компьютерные модели предприятия, </a:t>
            </a:r>
            <a:r>
              <a:rPr lang="ru-RU" sz="1600"/>
              <a:t>обеспечивающие:</a:t>
            </a:r>
          </a:p>
          <a:p>
            <a:pPr marL="342900" indent="-342900">
              <a:defRPr/>
            </a:pPr>
            <a:endParaRPr lang="ru-RU" sz="1600"/>
          </a:p>
          <a:p>
            <a:pPr marL="342900" indent="-342900">
              <a:buFontTx/>
              <a:buAutoNum type="arabicPeriod"/>
              <a:defRPr/>
            </a:pPr>
            <a:r>
              <a:rPr lang="ru-RU" sz="1600"/>
              <a:t>Прозрачность управляемого объекта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sz="1600"/>
              <a:t>Возможность анализа эффективности  деятельности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sz="1600"/>
              <a:t>Высокую скорость проведения изменений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sz="1600"/>
              <a:t>Автоматическую генерацию организационных  регламентов</a:t>
            </a:r>
          </a:p>
          <a:p>
            <a:pPr marL="342900" indent="-342900">
              <a:spcBef>
                <a:spcPct val="50000"/>
              </a:spcBef>
              <a:defRPr/>
            </a:pPr>
            <a:endParaRPr lang="ru-RU" sz="7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87325"/>
            <a:ext cx="8101012" cy="433388"/>
          </a:xfrm>
        </p:spPr>
        <p:txBody>
          <a:bodyPr/>
          <a:lstStyle/>
          <a:p>
            <a:pPr marL="0" eaLnBrk="1" hangingPunct="1"/>
            <a:r>
              <a:rPr lang="ru-RU" sz="2000" b="1" smtClean="0"/>
              <a:t>Технология и инструменты бизнес-инжиниринга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17488" y="841375"/>
            <a:ext cx="892651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/>
              <a:t>Реализация подхода требует: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392113" y="1423988"/>
            <a:ext cx="29051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ru-RU" sz="1600"/>
              <a:t>(а)  специальной технологии</a:t>
            </a:r>
          </a:p>
        </p:txBody>
      </p:sp>
      <p:sp>
        <p:nvSpPr>
          <p:cNvPr id="27654" name="Rectangle 7"/>
          <p:cNvSpPr>
            <a:spLocks noChangeArrowheads="1"/>
          </p:cNvSpPr>
          <p:nvPr/>
        </p:nvSpPr>
        <p:spPr bwMode="auto">
          <a:xfrm>
            <a:off x="5238750" y="1366838"/>
            <a:ext cx="3905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1600"/>
              <a:t>(б) особого инструментария </a:t>
            </a:r>
          </a:p>
        </p:txBody>
      </p:sp>
      <p:pic>
        <p:nvPicPr>
          <p:cNvPr id="27655" name="Picture 8" descr="ОРГ-Мастер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10188" y="2133600"/>
            <a:ext cx="3365500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Номер слайда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B131C7-64F0-4E8F-AEE1-D053497741E1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28600" y="4140200"/>
            <a:ext cx="8694738" cy="2057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sz="1600"/>
              <a:t> Проекты изменений касаются того или иного аспекта деятельности компании</a:t>
            </a:r>
          </a:p>
          <a:p>
            <a:endParaRPr lang="ru-RU" sz="1600"/>
          </a:p>
          <a:p>
            <a:pPr>
              <a:buFontTx/>
              <a:buChar char="•"/>
            </a:pPr>
            <a:r>
              <a:rPr lang="ru-RU" sz="1600"/>
              <a:t> Успешность проектов зависит от способности при проведении частных изменений адекватно представить целое. </a:t>
            </a:r>
          </a:p>
          <a:p>
            <a:endParaRPr lang="ru-RU" sz="1600"/>
          </a:p>
          <a:p>
            <a:pPr>
              <a:buFontTx/>
              <a:buChar char="•"/>
            </a:pPr>
            <a:r>
              <a:rPr lang="ru-RU" sz="1600"/>
              <a:t> </a:t>
            </a:r>
            <a:r>
              <a:rPr lang="ru-RU" sz="1600" b="1">
                <a:solidFill>
                  <a:srgbClr val="FF0000"/>
                </a:solidFill>
              </a:rPr>
              <a:t>Не видя целое, невозможно не только найти оптимальное решение, отвечающее стратегическим интересам фирмы, но и грамотно сформировать требования к необходимым изменениям.</a:t>
            </a:r>
            <a:r>
              <a:rPr lang="ru-RU" sz="1600"/>
              <a:t> </a:t>
            </a:r>
          </a:p>
        </p:txBody>
      </p:sp>
      <p:pic>
        <p:nvPicPr>
          <p:cNvPr id="11274" name="Picture 10" descr="полная-модель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932363" y="1125538"/>
            <a:ext cx="2952750" cy="2952750"/>
          </a:xfrm>
          <a:noFill/>
        </p:spPr>
      </p:pic>
      <p:sp>
        <p:nvSpPr>
          <p:cNvPr id="28676" name="Rectangle 3"/>
          <p:cNvSpPr>
            <a:spLocks noGrp="1" noChangeArrowheads="1"/>
          </p:cNvSpPr>
          <p:nvPr>
            <p:ph type="title"/>
          </p:nvPr>
        </p:nvSpPr>
        <p:spPr>
          <a:xfrm>
            <a:off x="196850" y="130175"/>
            <a:ext cx="8489950" cy="561975"/>
          </a:xfrm>
        </p:spPr>
        <p:txBody>
          <a:bodyPr/>
          <a:lstStyle/>
          <a:p>
            <a:pPr marL="0" eaLnBrk="1" hangingPunct="1"/>
            <a:r>
              <a:rPr lang="ru-RU" sz="2000" b="1" smtClean="0"/>
              <a:t>Взаимосвязанность и контроль преобразований</a:t>
            </a:r>
          </a:p>
        </p:txBody>
      </p:sp>
      <p:pic>
        <p:nvPicPr>
          <p:cNvPr id="28677" name="Picture 4" descr="кк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1538" y="2921000"/>
            <a:ext cx="9969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5" descr="кк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43213" y="1557338"/>
            <a:ext cx="6953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6" descr="кк3"/>
          <p:cNvPicPr>
            <a:picLocks noGrp="1" noChangeAspect="1" noChangeArrowheads="1"/>
          </p:cNvPicPr>
          <p:nvPr>
            <p:ph sz="half" idx="2"/>
          </p:nvPr>
        </p:nvPicPr>
        <p:blipFill>
          <a:blip r:embed="rId6" cstate="print"/>
          <a:srcRect/>
          <a:stretch>
            <a:fillRect/>
          </a:stretch>
        </p:blipFill>
        <p:spPr>
          <a:xfrm>
            <a:off x="814388" y="1295400"/>
            <a:ext cx="1116012" cy="1230313"/>
          </a:xfrm>
          <a:noFill/>
        </p:spPr>
      </p:pic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4859338" y="2708275"/>
            <a:ext cx="2879725" cy="15621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/>
              <a:t>Надо видеть полную модель объекта преобразований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5F8D6D-BF8A-4C02-A9BB-9BB6B6820C45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361" name="Picture 49" descr="224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8175" y="908050"/>
            <a:ext cx="5297488" cy="529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b="1">
                <a:latin typeface="verdana" pitchFamily="34" charset="0"/>
                <a:cs typeface="Arial" charset="0"/>
              </a:rPr>
              <a:t>Объект моделирования? 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0" y="506413"/>
            <a:ext cx="9417050" cy="6351587"/>
            <a:chOff x="0" y="319"/>
            <a:chExt cx="5932" cy="4001"/>
          </a:xfrm>
        </p:grpSpPr>
        <p:sp>
          <p:nvSpPr>
            <p:cNvPr id="29702" name="Text Box 3"/>
            <p:cNvSpPr txBox="1">
              <a:spLocks noChangeArrowheads="1"/>
            </p:cNvSpPr>
            <p:nvPr/>
          </p:nvSpPr>
          <p:spPr bwMode="auto">
            <a:xfrm>
              <a:off x="4876" y="391"/>
              <a:ext cx="1011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1400">
                  <a:solidFill>
                    <a:srgbClr val="000099"/>
                  </a:solidFill>
                  <a:cs typeface="Arial" charset="0"/>
                </a:rPr>
                <a:t>Корпоративное управление</a:t>
              </a:r>
            </a:p>
          </p:txBody>
        </p:sp>
        <p:sp>
          <p:nvSpPr>
            <p:cNvPr id="29703" name="Text Box 4"/>
            <p:cNvSpPr txBox="1">
              <a:spLocks noChangeArrowheads="1"/>
            </p:cNvSpPr>
            <p:nvPr/>
          </p:nvSpPr>
          <p:spPr bwMode="auto">
            <a:xfrm>
              <a:off x="4876" y="1116"/>
              <a:ext cx="1011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1400">
                  <a:solidFill>
                    <a:srgbClr val="000099"/>
                  </a:solidFill>
                  <a:cs typeface="Arial" charset="0"/>
                </a:rPr>
                <a:t>Стратегическое управление</a:t>
              </a:r>
            </a:p>
          </p:txBody>
        </p:sp>
        <p:sp>
          <p:nvSpPr>
            <p:cNvPr id="29704" name="Text Box 5"/>
            <p:cNvSpPr txBox="1">
              <a:spLocks noChangeArrowheads="1"/>
            </p:cNvSpPr>
            <p:nvPr/>
          </p:nvSpPr>
          <p:spPr bwMode="auto">
            <a:xfrm>
              <a:off x="4876" y="1978"/>
              <a:ext cx="1011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1400">
                  <a:solidFill>
                    <a:srgbClr val="000099"/>
                  </a:solidFill>
                  <a:cs typeface="Arial" charset="0"/>
                </a:rPr>
                <a:t>Операционное управление</a:t>
              </a:r>
            </a:p>
          </p:txBody>
        </p:sp>
        <p:sp>
          <p:nvSpPr>
            <p:cNvPr id="29705" name="Text Box 6"/>
            <p:cNvSpPr txBox="1">
              <a:spLocks noChangeArrowheads="1"/>
            </p:cNvSpPr>
            <p:nvPr/>
          </p:nvSpPr>
          <p:spPr bwMode="auto">
            <a:xfrm>
              <a:off x="4921" y="2696"/>
              <a:ext cx="1011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1400">
                  <a:solidFill>
                    <a:srgbClr val="000099"/>
                  </a:solidFill>
                  <a:cs typeface="Arial" charset="0"/>
                </a:rPr>
                <a:t>Бизнес-деятельность</a:t>
              </a:r>
            </a:p>
          </p:txBody>
        </p:sp>
        <p:grpSp>
          <p:nvGrpSpPr>
            <p:cNvPr id="3" name="Group 52"/>
            <p:cNvGrpSpPr>
              <a:grpSpLocks/>
            </p:cNvGrpSpPr>
            <p:nvPr/>
          </p:nvGrpSpPr>
          <p:grpSpPr bwMode="auto">
            <a:xfrm>
              <a:off x="0" y="319"/>
              <a:ext cx="5862" cy="4001"/>
              <a:chOff x="0" y="255"/>
              <a:chExt cx="5862" cy="4001"/>
            </a:xfrm>
          </p:grpSpPr>
          <p:sp>
            <p:nvSpPr>
              <p:cNvPr id="29707" name="Text Box 7"/>
              <p:cNvSpPr txBox="1">
                <a:spLocks noChangeArrowheads="1"/>
              </p:cNvSpPr>
              <p:nvPr/>
            </p:nvSpPr>
            <p:spPr bwMode="auto">
              <a:xfrm>
                <a:off x="4785" y="3612"/>
                <a:ext cx="1077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ru-RU" sz="1400">
                    <a:solidFill>
                      <a:srgbClr val="000099"/>
                    </a:solidFill>
                    <a:cs typeface="Arial" charset="0"/>
                  </a:rPr>
                  <a:t>Информационная архитектура</a:t>
                </a:r>
                <a:r>
                  <a:rPr lang="ru-RU" sz="1400" b="1">
                    <a:solidFill>
                      <a:srgbClr val="000099"/>
                    </a:solidFill>
                    <a:cs typeface="Arial" charset="0"/>
                  </a:rPr>
                  <a:t> </a:t>
                </a:r>
              </a:p>
            </p:txBody>
          </p:sp>
          <p:grpSp>
            <p:nvGrpSpPr>
              <p:cNvPr id="4" name="Group 48"/>
              <p:cNvGrpSpPr>
                <a:grpSpLocks/>
              </p:cNvGrpSpPr>
              <p:nvPr/>
            </p:nvGrpSpPr>
            <p:grpSpPr bwMode="auto">
              <a:xfrm>
                <a:off x="0" y="255"/>
                <a:ext cx="5635" cy="3781"/>
                <a:chOff x="17" y="255"/>
                <a:chExt cx="5635" cy="3781"/>
              </a:xfrm>
            </p:grpSpPr>
            <p:sp>
              <p:nvSpPr>
                <p:cNvPr id="29710" name="Rectangle 8"/>
                <p:cNvSpPr>
                  <a:spLocks noChangeArrowheads="1"/>
                </p:cNvSpPr>
                <p:nvPr/>
              </p:nvSpPr>
              <p:spPr bwMode="auto">
                <a:xfrm>
                  <a:off x="986" y="1506"/>
                  <a:ext cx="3749" cy="185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pPr algn="ctr"/>
                  <a:r>
                    <a:rPr lang="ru-RU" sz="1400" i="1">
                      <a:cs typeface="Arial" charset="0"/>
                    </a:rPr>
                    <a:t>Система стратегических показателей</a:t>
                  </a:r>
                </a:p>
              </p:txBody>
            </p:sp>
            <p:sp>
              <p:nvSpPr>
                <p:cNvPr id="29711" name="Rectangle 9"/>
                <p:cNvSpPr>
                  <a:spLocks noChangeArrowheads="1"/>
                </p:cNvSpPr>
                <p:nvPr/>
              </p:nvSpPr>
              <p:spPr bwMode="auto">
                <a:xfrm>
                  <a:off x="946" y="2337"/>
                  <a:ext cx="3794" cy="186"/>
                </a:xfrm>
                <a:prstGeom prst="rect">
                  <a:avLst/>
                </a:prstGeom>
                <a:solidFill>
                  <a:srgbClr val="FFFF5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pPr algn="ctr"/>
                  <a:r>
                    <a:rPr lang="ru-RU" sz="1400" i="1">
                      <a:cs typeface="Arial" charset="0"/>
                    </a:rPr>
                    <a:t>Система показателей операционной эффективности</a:t>
                  </a:r>
                </a:p>
              </p:txBody>
            </p:sp>
            <p:sp>
              <p:nvSpPr>
                <p:cNvPr id="29712" name="Rectangle 10"/>
                <p:cNvSpPr>
                  <a:spLocks noChangeArrowheads="1"/>
                </p:cNvSpPr>
                <p:nvPr/>
              </p:nvSpPr>
              <p:spPr bwMode="auto">
                <a:xfrm>
                  <a:off x="3487" y="3203"/>
                  <a:ext cx="1235" cy="387"/>
                </a:xfrm>
                <a:prstGeom prst="rect">
                  <a:avLst/>
                </a:prstGeom>
                <a:solidFill>
                  <a:srgbClr val="00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Архитектура человеческих ресурсов</a:t>
                  </a:r>
                </a:p>
              </p:txBody>
            </p:sp>
            <p:sp>
              <p:nvSpPr>
                <p:cNvPr id="29713" name="Rectangle 11"/>
                <p:cNvSpPr>
                  <a:spLocks noChangeArrowheads="1"/>
                </p:cNvSpPr>
                <p:nvPr/>
              </p:nvSpPr>
              <p:spPr bwMode="auto">
                <a:xfrm>
                  <a:off x="992" y="3203"/>
                  <a:ext cx="1179" cy="393"/>
                </a:xfrm>
                <a:prstGeom prst="rect">
                  <a:avLst/>
                </a:prstGeom>
                <a:solidFill>
                  <a:srgbClr val="00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Техническая архитектура</a:t>
                  </a:r>
                </a:p>
              </p:txBody>
            </p:sp>
            <p:sp>
              <p:nvSpPr>
                <p:cNvPr id="29714" name="Rectangle 12"/>
                <p:cNvSpPr>
                  <a:spLocks noChangeArrowheads="1"/>
                </p:cNvSpPr>
                <p:nvPr/>
              </p:nvSpPr>
              <p:spPr bwMode="auto">
                <a:xfrm>
                  <a:off x="992" y="3612"/>
                  <a:ext cx="1179" cy="394"/>
                </a:xfrm>
                <a:prstGeom prst="rect">
                  <a:avLst/>
                </a:prstGeom>
                <a:solidFill>
                  <a:srgbClr val="ABE3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 anchor="ctr"/>
                <a:lstStyle/>
                <a:p>
                  <a:pPr algn="ctr"/>
                  <a:r>
                    <a:rPr lang="ru-RU" sz="1400"/>
                    <a:t>Системная архитектура</a:t>
                  </a:r>
                  <a:endParaRPr lang="ru-RU" sz="1000">
                    <a:cs typeface="Arial" charset="0"/>
                  </a:endParaRPr>
                </a:p>
              </p:txBody>
            </p:sp>
            <p:sp>
              <p:nvSpPr>
                <p:cNvPr id="29715" name="Rectangle 13"/>
                <p:cNvSpPr>
                  <a:spLocks noChangeArrowheads="1"/>
                </p:cNvSpPr>
                <p:nvPr/>
              </p:nvSpPr>
              <p:spPr bwMode="auto">
                <a:xfrm>
                  <a:off x="2217" y="3612"/>
                  <a:ext cx="1235" cy="394"/>
                </a:xfrm>
                <a:prstGeom prst="rect">
                  <a:avLst/>
                </a:prstGeom>
                <a:solidFill>
                  <a:srgbClr val="ABE3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Архитектура данных</a:t>
                  </a:r>
                </a:p>
              </p:txBody>
            </p:sp>
            <p:sp>
              <p:nvSpPr>
                <p:cNvPr id="29716" name="Rectangle 14"/>
                <p:cNvSpPr>
                  <a:spLocks noChangeArrowheads="1"/>
                </p:cNvSpPr>
                <p:nvPr/>
              </p:nvSpPr>
              <p:spPr bwMode="auto">
                <a:xfrm>
                  <a:off x="3487" y="3612"/>
                  <a:ext cx="1235" cy="394"/>
                </a:xfrm>
                <a:prstGeom prst="rect">
                  <a:avLst/>
                </a:prstGeom>
                <a:solidFill>
                  <a:srgbClr val="ABE3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 anchor="ctr"/>
                <a:lstStyle/>
                <a:p>
                  <a:pPr algn="ctr"/>
                  <a:r>
                    <a:rPr lang="ru-RU" sz="1400"/>
                    <a:t>Архитектура Приложений и Сервисов</a:t>
                  </a:r>
                </a:p>
              </p:txBody>
            </p:sp>
            <p:sp>
              <p:nvSpPr>
                <p:cNvPr id="29717" name="Rectangle 15"/>
                <p:cNvSpPr>
                  <a:spLocks noChangeArrowheads="1"/>
                </p:cNvSpPr>
                <p:nvPr/>
              </p:nvSpPr>
              <p:spPr bwMode="auto">
                <a:xfrm>
                  <a:off x="2217" y="3203"/>
                  <a:ext cx="1236" cy="394"/>
                </a:xfrm>
                <a:prstGeom prst="rect">
                  <a:avLst/>
                </a:prstGeom>
                <a:solidFill>
                  <a:srgbClr val="00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Архитектура знаний </a:t>
                  </a:r>
                </a:p>
              </p:txBody>
            </p:sp>
            <p:sp>
              <p:nvSpPr>
                <p:cNvPr id="29718" name="Rectangle 16"/>
                <p:cNvSpPr>
                  <a:spLocks noChangeArrowheads="1"/>
                </p:cNvSpPr>
                <p:nvPr/>
              </p:nvSpPr>
              <p:spPr bwMode="auto">
                <a:xfrm>
                  <a:off x="2829" y="857"/>
                  <a:ext cx="1893" cy="32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r>
                    <a:rPr lang="ru-RU" sz="1400">
                      <a:cs typeface="Arial" charset="0"/>
                    </a:rPr>
                    <a:t>Система целей и Карта стратегий</a:t>
                  </a:r>
                </a:p>
                <a:p>
                  <a:endParaRPr lang="ru-RU" sz="1400">
                    <a:cs typeface="Arial" charset="0"/>
                  </a:endParaRPr>
                </a:p>
                <a:p>
                  <a:endParaRPr lang="ru-RU" sz="1400">
                    <a:cs typeface="Arial" charset="0"/>
                  </a:endParaRPr>
                </a:p>
              </p:txBody>
            </p:sp>
            <p:sp>
              <p:nvSpPr>
                <p:cNvPr id="29719" name="Rectangle 17"/>
                <p:cNvSpPr>
                  <a:spLocks noChangeArrowheads="1"/>
                </p:cNvSpPr>
                <p:nvPr/>
              </p:nvSpPr>
              <p:spPr bwMode="auto">
                <a:xfrm>
                  <a:off x="986" y="1738"/>
                  <a:ext cx="1786" cy="232"/>
                </a:xfrm>
                <a:prstGeom prst="rect">
                  <a:avLst/>
                </a:prstGeom>
                <a:solidFill>
                  <a:srgbClr val="FFFF5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Организационная структура</a:t>
                  </a:r>
                </a:p>
              </p:txBody>
            </p:sp>
            <p:sp>
              <p:nvSpPr>
                <p:cNvPr id="29720" name="Rectangle 18"/>
                <p:cNvSpPr>
                  <a:spLocks noChangeArrowheads="1"/>
                </p:cNvSpPr>
                <p:nvPr/>
              </p:nvSpPr>
              <p:spPr bwMode="auto">
                <a:xfrm>
                  <a:off x="2829" y="1738"/>
                  <a:ext cx="1906" cy="232"/>
                </a:xfrm>
                <a:prstGeom prst="rect">
                  <a:avLst/>
                </a:prstGeom>
                <a:solidFill>
                  <a:srgbClr val="FFFF5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Функциональные задачи</a:t>
                  </a:r>
                </a:p>
              </p:txBody>
            </p:sp>
            <p:sp>
              <p:nvSpPr>
                <p:cNvPr id="29721" name="Rectangle 19"/>
                <p:cNvSpPr>
                  <a:spLocks noChangeArrowheads="1"/>
                </p:cNvSpPr>
                <p:nvPr/>
              </p:nvSpPr>
              <p:spPr bwMode="auto">
                <a:xfrm>
                  <a:off x="986" y="857"/>
                  <a:ext cx="1786" cy="32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r>
                    <a:rPr lang="ru-RU" sz="1400">
                      <a:cs typeface="Arial" charset="0"/>
                    </a:rPr>
                    <a:t>Стратегическая идентификация и концепция  развития </a:t>
                  </a:r>
                </a:p>
              </p:txBody>
            </p:sp>
            <p:sp>
              <p:nvSpPr>
                <p:cNvPr id="29722" name="Rectangle 20"/>
                <p:cNvSpPr>
                  <a:spLocks noChangeArrowheads="1"/>
                </p:cNvSpPr>
                <p:nvPr/>
              </p:nvSpPr>
              <p:spPr bwMode="auto">
                <a:xfrm>
                  <a:off x="2829" y="255"/>
                  <a:ext cx="1893" cy="324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endParaRPr lang="ru-RU" sz="1200">
                    <a:cs typeface="Arial" charset="0"/>
                  </a:endParaRPr>
                </a:p>
              </p:txBody>
            </p:sp>
            <p:sp>
              <p:nvSpPr>
                <p:cNvPr id="29723" name="Rectangle 21"/>
                <p:cNvSpPr>
                  <a:spLocks noChangeArrowheads="1"/>
                </p:cNvSpPr>
                <p:nvPr/>
              </p:nvSpPr>
              <p:spPr bwMode="auto">
                <a:xfrm>
                  <a:off x="992" y="255"/>
                  <a:ext cx="1786" cy="324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pPr algn="ctr"/>
                  <a:endParaRPr lang="ru-RU" sz="400">
                    <a:cs typeface="Arial" charset="0"/>
                  </a:endParaRPr>
                </a:p>
                <a:p>
                  <a:pPr algn="ctr"/>
                  <a:r>
                    <a:rPr lang="ru-RU" sz="1400"/>
                    <a:t>Система ценностей и ожиданий</a:t>
                  </a:r>
                  <a:endParaRPr lang="ru-RU" sz="1000">
                    <a:cs typeface="Arial" charset="0"/>
                  </a:endParaRPr>
                </a:p>
              </p:txBody>
            </p:sp>
            <p:sp>
              <p:nvSpPr>
                <p:cNvPr id="29724" name="Rectangle 22"/>
                <p:cNvSpPr>
                  <a:spLocks noChangeArrowheads="1"/>
                </p:cNvSpPr>
                <p:nvPr/>
              </p:nvSpPr>
              <p:spPr bwMode="auto">
                <a:xfrm>
                  <a:off x="2852" y="255"/>
                  <a:ext cx="1847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ru-RU" sz="1400"/>
                    <a:t>Система прав и полномочий</a:t>
                  </a:r>
                </a:p>
              </p:txBody>
            </p:sp>
            <p:sp>
              <p:nvSpPr>
                <p:cNvPr id="29725" name="AutoShape 28" descr="Почтовая бумага"/>
                <p:cNvSpPr>
                  <a:spLocks noChangeArrowheads="1"/>
                </p:cNvSpPr>
                <p:nvPr/>
              </p:nvSpPr>
              <p:spPr bwMode="auto">
                <a:xfrm>
                  <a:off x="884" y="2012"/>
                  <a:ext cx="85" cy="226"/>
                </a:xfrm>
                <a:prstGeom prst="rightArrow">
                  <a:avLst>
                    <a:gd name="adj1" fmla="val 46898"/>
                    <a:gd name="adj2" fmla="val 67060"/>
                  </a:avLst>
                </a:prstGeom>
                <a:blipFill dpi="0" rotWithShape="1">
                  <a:blip r:embed="rId4" cstate="print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26" name="AutoShape 29" descr="Почтовая бумага"/>
                <p:cNvSpPr>
                  <a:spLocks noChangeArrowheads="1"/>
                </p:cNvSpPr>
                <p:nvPr/>
              </p:nvSpPr>
              <p:spPr bwMode="auto">
                <a:xfrm>
                  <a:off x="884" y="2608"/>
                  <a:ext cx="85" cy="226"/>
                </a:xfrm>
                <a:prstGeom prst="rightArrow">
                  <a:avLst>
                    <a:gd name="adj1" fmla="val 46898"/>
                    <a:gd name="adj2" fmla="val 67060"/>
                  </a:avLst>
                </a:prstGeom>
                <a:blipFill dpi="0" rotWithShape="1">
                  <a:blip r:embed="rId4" cstate="print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27" name="AutoShape 30" descr="Почтовая бумага"/>
                <p:cNvSpPr>
                  <a:spLocks noChangeArrowheads="1"/>
                </p:cNvSpPr>
                <p:nvPr/>
              </p:nvSpPr>
              <p:spPr bwMode="auto">
                <a:xfrm>
                  <a:off x="884" y="2949"/>
                  <a:ext cx="85" cy="226"/>
                </a:xfrm>
                <a:prstGeom prst="rightArrow">
                  <a:avLst>
                    <a:gd name="adj1" fmla="val 46898"/>
                    <a:gd name="adj2" fmla="val 67060"/>
                  </a:avLst>
                </a:prstGeom>
                <a:blipFill dpi="0" rotWithShape="1">
                  <a:blip r:embed="rId4" cstate="print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28" name="Rectangle 38"/>
                <p:cNvSpPr>
                  <a:spLocks noChangeArrowheads="1"/>
                </p:cNvSpPr>
                <p:nvPr/>
              </p:nvSpPr>
              <p:spPr bwMode="auto">
                <a:xfrm>
                  <a:off x="998" y="623"/>
                  <a:ext cx="3749" cy="185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54000" rIns="54000"/>
                <a:lstStyle/>
                <a:p>
                  <a:pPr algn="ctr"/>
                  <a:r>
                    <a:rPr lang="ru-RU" sz="1400" i="1">
                      <a:cs typeface="Arial" charset="0"/>
                    </a:rPr>
                    <a:t>Система показателей стоимости компании</a:t>
                  </a:r>
                </a:p>
              </p:txBody>
            </p:sp>
            <p:sp>
              <p:nvSpPr>
                <p:cNvPr id="29729" name="AutoShape 39"/>
                <p:cNvSpPr>
                  <a:spLocks noChangeArrowheads="1"/>
                </p:cNvSpPr>
                <p:nvPr/>
              </p:nvSpPr>
              <p:spPr bwMode="auto">
                <a:xfrm>
                  <a:off x="998" y="1219"/>
                  <a:ext cx="3770" cy="226"/>
                </a:xfrm>
                <a:prstGeom prst="homePlate">
                  <a:avLst>
                    <a:gd name="adj" fmla="val 80550"/>
                  </a:avLst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30" name="Rectangle 40"/>
                <p:cNvSpPr>
                  <a:spLocks noChangeArrowheads="1"/>
                </p:cNvSpPr>
                <p:nvPr/>
              </p:nvSpPr>
              <p:spPr bwMode="auto">
                <a:xfrm>
                  <a:off x="1054" y="1247"/>
                  <a:ext cx="3601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Система проектов развития компании</a:t>
                  </a:r>
                </a:p>
              </p:txBody>
            </p:sp>
            <p:sp>
              <p:nvSpPr>
                <p:cNvPr id="29731" name="AutoShape 41"/>
                <p:cNvSpPr>
                  <a:spLocks noChangeArrowheads="1"/>
                </p:cNvSpPr>
                <p:nvPr/>
              </p:nvSpPr>
              <p:spPr bwMode="auto">
                <a:xfrm>
                  <a:off x="997" y="2040"/>
                  <a:ext cx="3771" cy="227"/>
                </a:xfrm>
                <a:prstGeom prst="chevron">
                  <a:avLst>
                    <a:gd name="adj" fmla="val 151126"/>
                  </a:avLst>
                </a:prstGeom>
                <a:solidFill>
                  <a:srgbClr val="FFFF5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Процессы управления</a:t>
                  </a:r>
                </a:p>
              </p:txBody>
            </p:sp>
            <p:sp>
              <p:nvSpPr>
                <p:cNvPr id="29732" name="AutoShape 42"/>
                <p:cNvSpPr>
                  <a:spLocks noChangeArrowheads="1"/>
                </p:cNvSpPr>
                <p:nvPr/>
              </p:nvSpPr>
              <p:spPr bwMode="auto">
                <a:xfrm>
                  <a:off x="998" y="2607"/>
                  <a:ext cx="3771" cy="227"/>
                </a:xfrm>
                <a:prstGeom prst="chevron">
                  <a:avLst>
                    <a:gd name="adj" fmla="val 151126"/>
                  </a:avLst>
                </a:prstGeom>
                <a:solidFill>
                  <a:srgbClr val="B4F56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Бизнес-процессы</a:t>
                  </a:r>
                </a:p>
              </p:txBody>
            </p:sp>
            <p:sp>
              <p:nvSpPr>
                <p:cNvPr id="29733" name="AutoShape 43"/>
                <p:cNvSpPr>
                  <a:spLocks noChangeArrowheads="1"/>
                </p:cNvSpPr>
                <p:nvPr/>
              </p:nvSpPr>
              <p:spPr bwMode="auto">
                <a:xfrm>
                  <a:off x="997" y="2919"/>
                  <a:ext cx="3771" cy="227"/>
                </a:xfrm>
                <a:prstGeom prst="chevron">
                  <a:avLst>
                    <a:gd name="adj" fmla="val 151126"/>
                  </a:avLst>
                </a:prstGeom>
                <a:gradFill rotWithShape="1">
                  <a:gsLst>
                    <a:gs pos="0">
                      <a:srgbClr val="FFFF66"/>
                    </a:gs>
                    <a:gs pos="100000">
                      <a:srgbClr val="B4F565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Обеспечивающие процессы</a:t>
                  </a:r>
                </a:p>
              </p:txBody>
            </p:sp>
            <p:sp>
              <p:nvSpPr>
                <p:cNvPr id="29734" name="AutoShape 44" descr="Почтовая бумага"/>
                <p:cNvSpPr>
                  <a:spLocks noChangeArrowheads="1"/>
                </p:cNvSpPr>
                <p:nvPr/>
              </p:nvSpPr>
              <p:spPr bwMode="auto">
                <a:xfrm>
                  <a:off x="884" y="1219"/>
                  <a:ext cx="85" cy="226"/>
                </a:xfrm>
                <a:prstGeom prst="rightArrow">
                  <a:avLst>
                    <a:gd name="adj1" fmla="val 46898"/>
                    <a:gd name="adj2" fmla="val 67060"/>
                  </a:avLst>
                </a:prstGeom>
                <a:blipFill dpi="0" rotWithShape="1">
                  <a:blip r:embed="rId4" cstate="print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35" name="Rectangle 23" descr="Почтовая бумага"/>
                <p:cNvSpPr>
                  <a:spLocks noChangeArrowheads="1"/>
                </p:cNvSpPr>
                <p:nvPr/>
              </p:nvSpPr>
              <p:spPr bwMode="auto">
                <a:xfrm>
                  <a:off x="17" y="1048"/>
                  <a:ext cx="839" cy="2155"/>
                </a:xfrm>
                <a:prstGeom prst="rect">
                  <a:avLst/>
                </a:prstGeom>
                <a:blipFill dpi="0" rotWithShape="1">
                  <a:blip r:embed="rId4" cstate="print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3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45" y="1077"/>
                  <a:ext cx="822" cy="3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ru-RU" sz="1400">
                      <a:cs typeface="Arial" charset="0"/>
                    </a:rPr>
                    <a:t>Внешние  ресурсы</a:t>
                  </a:r>
                </a:p>
              </p:txBody>
            </p:sp>
            <p:sp>
              <p:nvSpPr>
                <p:cNvPr id="29737" name="Rectangle 25"/>
                <p:cNvSpPr>
                  <a:spLocks noChangeArrowheads="1"/>
                </p:cNvSpPr>
                <p:nvPr/>
              </p:nvSpPr>
              <p:spPr bwMode="auto">
                <a:xfrm>
                  <a:off x="62" y="1729"/>
                  <a:ext cx="738" cy="255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Материалы</a:t>
                  </a:r>
                </a:p>
              </p:txBody>
            </p:sp>
            <p:sp>
              <p:nvSpPr>
                <p:cNvPr id="29738" name="Rectangle 26"/>
                <p:cNvSpPr>
                  <a:spLocks noChangeArrowheads="1"/>
                </p:cNvSpPr>
                <p:nvPr/>
              </p:nvSpPr>
              <p:spPr bwMode="auto">
                <a:xfrm>
                  <a:off x="62" y="2069"/>
                  <a:ext cx="738" cy="255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Финансы</a:t>
                  </a:r>
                </a:p>
              </p:txBody>
            </p:sp>
            <p:sp>
              <p:nvSpPr>
                <p:cNvPr id="29739" name="Rectangle 27"/>
                <p:cNvSpPr>
                  <a:spLocks noChangeArrowheads="1"/>
                </p:cNvSpPr>
                <p:nvPr/>
              </p:nvSpPr>
              <p:spPr bwMode="auto">
                <a:xfrm>
                  <a:off x="62" y="2409"/>
                  <a:ext cx="738" cy="255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ru-RU" sz="1400">
                      <a:cs typeface="Arial" charset="0"/>
                    </a:rPr>
                    <a:t>Информация</a:t>
                  </a:r>
                </a:p>
              </p:txBody>
            </p:sp>
            <p:sp>
              <p:nvSpPr>
                <p:cNvPr id="29740" name="AutoShape 31"/>
                <p:cNvSpPr>
                  <a:spLocks/>
                </p:cNvSpPr>
                <p:nvPr/>
              </p:nvSpPr>
              <p:spPr bwMode="auto">
                <a:xfrm flipH="1">
                  <a:off x="4785" y="3203"/>
                  <a:ext cx="57" cy="397"/>
                </a:xfrm>
                <a:prstGeom prst="leftBrace">
                  <a:avLst>
                    <a:gd name="adj1" fmla="val 58041"/>
                    <a:gd name="adj2" fmla="val 50000"/>
                  </a:avLst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4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830" y="3240"/>
                  <a:ext cx="822" cy="3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ru-RU" sz="1400">
                      <a:solidFill>
                        <a:schemeClr val="accent2"/>
                      </a:solidFill>
                      <a:cs typeface="Arial" charset="0"/>
                    </a:rPr>
                    <a:t>Внутренние  ресурсы</a:t>
                  </a:r>
                </a:p>
              </p:txBody>
            </p:sp>
            <p:sp>
              <p:nvSpPr>
                <p:cNvPr id="29742" name="AutoShape 33"/>
                <p:cNvSpPr>
                  <a:spLocks/>
                </p:cNvSpPr>
                <p:nvPr/>
              </p:nvSpPr>
              <p:spPr bwMode="auto">
                <a:xfrm>
                  <a:off x="4768" y="255"/>
                  <a:ext cx="84" cy="538"/>
                </a:xfrm>
                <a:prstGeom prst="rightBrace">
                  <a:avLst>
                    <a:gd name="adj1" fmla="val 53373"/>
                    <a:gd name="adj2" fmla="val 50000"/>
                  </a:avLst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43" name="AutoShape 34"/>
                <p:cNvSpPr>
                  <a:spLocks/>
                </p:cNvSpPr>
                <p:nvPr/>
              </p:nvSpPr>
              <p:spPr bwMode="auto">
                <a:xfrm>
                  <a:off x="4768" y="850"/>
                  <a:ext cx="84" cy="850"/>
                </a:xfrm>
                <a:prstGeom prst="rightBrace">
                  <a:avLst>
                    <a:gd name="adj1" fmla="val 84325"/>
                    <a:gd name="adj2" fmla="val 50000"/>
                  </a:avLst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44" name="AutoShape 35"/>
                <p:cNvSpPr>
                  <a:spLocks/>
                </p:cNvSpPr>
                <p:nvPr/>
              </p:nvSpPr>
              <p:spPr bwMode="auto">
                <a:xfrm>
                  <a:off x="4751" y="1729"/>
                  <a:ext cx="101" cy="822"/>
                </a:xfrm>
                <a:prstGeom prst="rightBrace">
                  <a:avLst>
                    <a:gd name="adj1" fmla="val 67822"/>
                    <a:gd name="adj2" fmla="val 50000"/>
                  </a:avLst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45" name="AutoShape 36"/>
                <p:cNvSpPr>
                  <a:spLocks/>
                </p:cNvSpPr>
                <p:nvPr/>
              </p:nvSpPr>
              <p:spPr bwMode="auto">
                <a:xfrm>
                  <a:off x="4785" y="2609"/>
                  <a:ext cx="91" cy="549"/>
                </a:xfrm>
                <a:prstGeom prst="rightBrace">
                  <a:avLst>
                    <a:gd name="adj1" fmla="val 50275"/>
                    <a:gd name="adj2" fmla="val 50000"/>
                  </a:avLst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29746" name="AutoShape 37"/>
                <p:cNvSpPr>
                  <a:spLocks/>
                </p:cNvSpPr>
                <p:nvPr/>
              </p:nvSpPr>
              <p:spPr bwMode="auto">
                <a:xfrm>
                  <a:off x="4785" y="3612"/>
                  <a:ext cx="38" cy="424"/>
                </a:xfrm>
                <a:prstGeom prst="rightBrace">
                  <a:avLst>
                    <a:gd name="adj1" fmla="val 92982"/>
                    <a:gd name="adj2" fmla="val 50000"/>
                  </a:avLst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</p:grpSp>
          <p:sp>
            <p:nvSpPr>
              <p:cNvPr id="29709" name="Text Box 50"/>
              <p:cNvSpPr txBox="1">
                <a:spLocks noChangeArrowheads="1"/>
              </p:cNvSpPr>
              <p:nvPr/>
            </p:nvSpPr>
            <p:spPr bwMode="auto">
              <a:xfrm>
                <a:off x="1066" y="3929"/>
                <a:ext cx="3493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sz="2800" b="1">
                    <a:solidFill>
                      <a:srgbClr val="FF0000"/>
                    </a:solidFill>
                  </a:rPr>
                  <a:t>Корпоративная</a:t>
                </a:r>
                <a:r>
                  <a:rPr lang="ru-RU" sz="2000" b="1">
                    <a:solidFill>
                      <a:srgbClr val="FF0000"/>
                    </a:solidFill>
                  </a:rPr>
                  <a:t> </a:t>
                </a:r>
                <a:r>
                  <a:rPr lang="ru-RU" sz="2800" b="1">
                    <a:solidFill>
                      <a:srgbClr val="FF0000"/>
                    </a:solidFill>
                  </a:rPr>
                  <a:t>архитектура</a:t>
                </a:r>
                <a:r>
                  <a:rPr lang="ru-RU" sz="2000" b="1">
                    <a:solidFill>
                      <a:srgbClr val="FF0000"/>
                    </a:solidFill>
                  </a:rPr>
                  <a:t>!</a:t>
                </a:r>
              </a:p>
            </p:txBody>
          </p:sp>
        </p:grpSp>
      </p:grpSp>
      <p:sp>
        <p:nvSpPr>
          <p:cNvPr id="397357" name="Text Box 45"/>
          <p:cNvSpPr txBox="1">
            <a:spLocks noChangeArrowheads="1"/>
          </p:cNvSpPr>
          <p:nvPr/>
        </p:nvSpPr>
        <p:spPr bwMode="auto">
          <a:xfrm>
            <a:off x="611188" y="1989138"/>
            <a:ext cx="6804025" cy="353853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3200" b="1" dirty="0"/>
              <a:t>Корпоративная архитектура </a:t>
            </a:r>
            <a:r>
              <a:rPr lang="ru-RU" sz="3200" dirty="0"/>
              <a:t>– это общая модель бизнеса, определяющая политику инвесторов, стратегии, продукты, технологии, </a:t>
            </a:r>
            <a:r>
              <a:rPr lang="ru-RU" sz="3200" dirty="0">
                <a:solidFill>
                  <a:srgbClr val="FF0000"/>
                </a:solidFill>
              </a:rPr>
              <a:t>процессы</a:t>
            </a:r>
            <a:r>
              <a:rPr lang="ru-RU" sz="3200" dirty="0"/>
              <a:t>, структуры и информационную поддержку деятельности </a:t>
            </a:r>
          </a:p>
        </p:txBody>
      </p:sp>
      <p:sp>
        <p:nvSpPr>
          <p:cNvPr id="53" name="Номер слайда 5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A396A8-C8FA-4B1B-B07A-CA77F028F1E6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5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7791450" y="25542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 sz="2400"/>
          </a:p>
        </p:txBody>
      </p:sp>
      <p:sp>
        <p:nvSpPr>
          <p:cNvPr id="30723" name="Rectangle 10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>
                <a:solidFill>
                  <a:schemeClr val="tx1"/>
                </a:solidFill>
              </a:rPr>
              <a:t>Парадигмы информатизации бизнеса и смена объектов моделирования</a:t>
            </a:r>
            <a:br>
              <a:rPr lang="ru-RU" sz="2000" b="1" smtClean="0">
                <a:solidFill>
                  <a:schemeClr val="tx1"/>
                </a:solidFill>
              </a:rPr>
            </a:br>
            <a:endParaRPr lang="ru-RU" sz="2000" b="1" smtClean="0">
              <a:solidFill>
                <a:schemeClr val="tx1"/>
              </a:solidFill>
            </a:endParaRPr>
          </a:p>
        </p:txBody>
      </p:sp>
      <p:sp>
        <p:nvSpPr>
          <p:cNvPr id="30724" name="Text Box 6"/>
          <p:cNvSpPr txBox="1">
            <a:spLocks noChangeArrowheads="1"/>
          </p:cNvSpPr>
          <p:nvPr/>
        </p:nvSpPr>
        <p:spPr bwMode="auto">
          <a:xfrm>
            <a:off x="0" y="0"/>
            <a:ext cx="78851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ru-RU" sz="2400" b="1"/>
          </a:p>
        </p:txBody>
      </p:sp>
      <p:pic>
        <p:nvPicPr>
          <p:cNvPr id="219154" name="Picture 18" descr="Graphic58-bv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419475" y="3933825"/>
            <a:ext cx="792163" cy="495300"/>
          </a:xfrm>
          <a:solidFill>
            <a:schemeClr val="bg1"/>
          </a:solidFill>
          <a:ln w="28575">
            <a:solidFill>
              <a:srgbClr val="2DA736"/>
            </a:solidFill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30726" name="Line 20"/>
          <p:cNvSpPr>
            <a:spLocks noChangeShapeType="1"/>
          </p:cNvSpPr>
          <p:nvPr/>
        </p:nvSpPr>
        <p:spPr bwMode="auto">
          <a:xfrm>
            <a:off x="4427538" y="4221163"/>
            <a:ext cx="3603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30727" name="Picture 2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363" y="3716338"/>
            <a:ext cx="1049337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Text Box 27"/>
          <p:cNvSpPr txBox="1">
            <a:spLocks noChangeArrowheads="1"/>
          </p:cNvSpPr>
          <p:nvPr/>
        </p:nvSpPr>
        <p:spPr bwMode="auto">
          <a:xfrm>
            <a:off x="611188" y="5013325"/>
            <a:ext cx="83534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От моделей</a:t>
            </a:r>
            <a:r>
              <a:rPr lang="ru-RU">
                <a:solidFill>
                  <a:srgbClr val="FF0000"/>
                </a:solidFill>
              </a:rPr>
              <a:t> операций</a:t>
            </a:r>
            <a:r>
              <a:rPr lang="ru-RU"/>
              <a:t> к </a:t>
            </a:r>
            <a:r>
              <a:rPr lang="ru-RU">
                <a:solidFill>
                  <a:srgbClr val="FF0000"/>
                </a:solidFill>
              </a:rPr>
              <a:t>процессам</a:t>
            </a:r>
            <a:r>
              <a:rPr lang="ru-RU"/>
              <a:t> и далее к </a:t>
            </a:r>
            <a:r>
              <a:rPr lang="ru-RU">
                <a:solidFill>
                  <a:srgbClr val="FF0000"/>
                </a:solidFill>
              </a:rPr>
              <a:t>корпоративной архитектуре</a:t>
            </a:r>
          </a:p>
        </p:txBody>
      </p:sp>
      <p:pic>
        <p:nvPicPr>
          <p:cNvPr id="30729" name="Picture 32" descr="функции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1050" y="3860800"/>
            <a:ext cx="647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30" name="Line 48"/>
          <p:cNvSpPr>
            <a:spLocks noChangeShapeType="1"/>
          </p:cNvSpPr>
          <p:nvPr/>
        </p:nvSpPr>
        <p:spPr bwMode="auto">
          <a:xfrm>
            <a:off x="2843213" y="4149725"/>
            <a:ext cx="3603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0731" name="Text Box 49"/>
          <p:cNvSpPr txBox="1">
            <a:spLocks noChangeArrowheads="1"/>
          </p:cNvSpPr>
          <p:nvPr/>
        </p:nvSpPr>
        <p:spPr bwMode="auto">
          <a:xfrm>
            <a:off x="684213" y="5445125"/>
            <a:ext cx="784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Процессная модель – это только фрагмент общей модели компании</a:t>
            </a:r>
          </a:p>
        </p:txBody>
      </p:sp>
      <p:pic>
        <p:nvPicPr>
          <p:cNvPr id="30732" name="Picture 51" descr="поколения"/>
          <p:cNvPicPr>
            <a:picLocks noGrp="1" noChangeAspect="1" noChangeArrowheads="1"/>
          </p:cNvPicPr>
          <p:nvPr>
            <p:ph sz="half" idx="1"/>
          </p:nvPr>
        </p:nvPicPr>
        <p:blipFill>
          <a:blip r:embed="rId6" cstate="print"/>
          <a:srcRect/>
          <a:stretch>
            <a:fillRect/>
          </a:stretch>
        </p:blipFill>
        <p:spPr>
          <a:xfrm>
            <a:off x="1114425" y="1196975"/>
            <a:ext cx="6553200" cy="2386013"/>
          </a:xfrm>
          <a:noFill/>
        </p:spPr>
      </p:pic>
      <p:sp>
        <p:nvSpPr>
          <p:cNvPr id="15" name="Номер слайда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4CCB0E-62E5-4693-8562-D6494AF1FF38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15913" y="16525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2400">
              <a:latin typeface="Times New Roman" pitchFamily="18" charset="0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15913" y="16525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2400">
              <a:latin typeface="Times New Roman" pitchFamily="18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3541713" y="2852738"/>
            <a:ext cx="2060575" cy="1979612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940175" y="3429000"/>
            <a:ext cx="126365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>
                <a:solidFill>
                  <a:schemeClr val="bg1"/>
                </a:solidFill>
              </a:rPr>
              <a:t>Бизнес-модель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2195513" y="3573463"/>
            <a:ext cx="1395412" cy="15113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5516563" y="2619375"/>
            <a:ext cx="1528762" cy="15128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364163" y="4005263"/>
            <a:ext cx="1595437" cy="1584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0953" name="Text Box 9"/>
          <p:cNvSpPr txBox="1">
            <a:spLocks noChangeArrowheads="1"/>
          </p:cNvSpPr>
          <p:nvPr/>
        </p:nvSpPr>
        <p:spPr bwMode="auto">
          <a:xfrm>
            <a:off x="6011863" y="2924175"/>
            <a:ext cx="2327275" cy="91598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chemeClr val="tx2"/>
                </a:solidFill>
              </a:rPr>
              <a:t>Управление организационными документами</a:t>
            </a:r>
          </a:p>
        </p:txBody>
      </p:sp>
      <p:sp>
        <p:nvSpPr>
          <p:cNvPr id="210954" name="Text Box 10"/>
          <p:cNvSpPr txBox="1">
            <a:spLocks noChangeArrowheads="1"/>
          </p:cNvSpPr>
          <p:nvPr/>
        </p:nvSpPr>
        <p:spPr bwMode="auto">
          <a:xfrm>
            <a:off x="971550" y="3789363"/>
            <a:ext cx="2516188" cy="9159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chemeClr val="tx2"/>
                </a:solidFill>
              </a:rPr>
              <a:t>Постоянное совершенствование процессов</a:t>
            </a:r>
          </a:p>
        </p:txBody>
      </p:sp>
      <p:sp>
        <p:nvSpPr>
          <p:cNvPr id="210955" name="Text Box 11"/>
          <p:cNvSpPr txBox="1">
            <a:spLocks noChangeArrowheads="1"/>
          </p:cNvSpPr>
          <p:nvPr/>
        </p:nvSpPr>
        <p:spPr bwMode="auto">
          <a:xfrm>
            <a:off x="5724525" y="4221163"/>
            <a:ext cx="2659063" cy="9159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chemeClr val="tx2"/>
                </a:solidFill>
              </a:rPr>
              <a:t>Реструктуризация и реинжиниринг компании </a:t>
            </a:r>
          </a:p>
        </p:txBody>
      </p:sp>
      <p:sp>
        <p:nvSpPr>
          <p:cNvPr id="31756" name="Rectangle 12"/>
          <p:cNvSpPr>
            <a:spLocks noGrp="1" noChangeArrowheads="1"/>
          </p:cNvSpPr>
          <p:nvPr>
            <p:ph type="title"/>
          </p:nvPr>
        </p:nvSpPr>
        <p:spPr>
          <a:xfrm>
            <a:off x="684213" y="228600"/>
            <a:ext cx="7488237" cy="392113"/>
          </a:xfrm>
          <a:noFill/>
        </p:spPr>
        <p:txBody>
          <a:bodyPr/>
          <a:lstStyle/>
          <a:p>
            <a:pPr marL="0" eaLnBrk="1" hangingPunct="1"/>
            <a:r>
              <a:rPr lang="ru-RU" sz="2000" b="1" smtClean="0">
                <a:solidFill>
                  <a:schemeClr val="tx1"/>
                </a:solidFill>
              </a:rPr>
              <a:t>Некоторые задачи решаемые с помощью моделирования деятельности компании</a:t>
            </a:r>
          </a:p>
        </p:txBody>
      </p:sp>
      <p:sp>
        <p:nvSpPr>
          <p:cNvPr id="31757" name="Rectangle 13"/>
          <p:cNvSpPr>
            <a:spLocks noChangeArrowheads="1"/>
          </p:cNvSpPr>
          <p:nvPr/>
        </p:nvSpPr>
        <p:spPr bwMode="auto">
          <a:xfrm>
            <a:off x="4716463" y="1268413"/>
            <a:ext cx="1528762" cy="15128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5003800" y="1700213"/>
            <a:ext cx="2327275" cy="6413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chemeClr val="tx2"/>
                </a:solidFill>
              </a:rPr>
              <a:t>Регуляризация управления</a:t>
            </a:r>
          </a:p>
        </p:txBody>
      </p:sp>
      <p:sp>
        <p:nvSpPr>
          <p:cNvPr id="31759" name="Rectangle 18"/>
          <p:cNvSpPr>
            <a:spLocks noChangeArrowheads="1"/>
          </p:cNvSpPr>
          <p:nvPr/>
        </p:nvSpPr>
        <p:spPr bwMode="auto">
          <a:xfrm>
            <a:off x="4067175" y="4797425"/>
            <a:ext cx="1584325" cy="1512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1760" name="Rectangle 19"/>
          <p:cNvSpPr>
            <a:spLocks noChangeArrowheads="1"/>
          </p:cNvSpPr>
          <p:nvPr/>
        </p:nvSpPr>
        <p:spPr bwMode="auto">
          <a:xfrm>
            <a:off x="3348038" y="908050"/>
            <a:ext cx="1439862" cy="1655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1761" name="Rectangle 16"/>
          <p:cNvSpPr>
            <a:spLocks noChangeArrowheads="1"/>
          </p:cNvSpPr>
          <p:nvPr/>
        </p:nvSpPr>
        <p:spPr bwMode="auto">
          <a:xfrm>
            <a:off x="2195513" y="2205038"/>
            <a:ext cx="1528762" cy="15128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0961" name="Text Box 17"/>
          <p:cNvSpPr txBox="1">
            <a:spLocks noChangeArrowheads="1"/>
          </p:cNvSpPr>
          <p:nvPr/>
        </p:nvSpPr>
        <p:spPr bwMode="auto">
          <a:xfrm>
            <a:off x="1241425" y="2663825"/>
            <a:ext cx="2327275" cy="91598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solidFill>
                  <a:schemeClr val="tx2"/>
                </a:solidFill>
              </a:rPr>
              <a:t>Внедрение и сопровождение </a:t>
            </a:r>
            <a:r>
              <a:rPr lang="en-US">
                <a:solidFill>
                  <a:schemeClr val="tx2"/>
                </a:solidFill>
              </a:rPr>
              <a:t>ERP-</a:t>
            </a:r>
            <a:r>
              <a:rPr lang="ru-RU">
                <a:solidFill>
                  <a:schemeClr val="tx2"/>
                </a:solidFill>
              </a:rPr>
              <a:t>систем</a:t>
            </a:r>
          </a:p>
        </p:txBody>
      </p:sp>
      <p:sp>
        <p:nvSpPr>
          <p:cNvPr id="210966" name="Text Box 22"/>
          <p:cNvSpPr txBox="1">
            <a:spLocks noChangeArrowheads="1"/>
          </p:cNvSpPr>
          <p:nvPr/>
        </p:nvSpPr>
        <p:spPr bwMode="auto">
          <a:xfrm>
            <a:off x="2051050" y="1052513"/>
            <a:ext cx="2160588" cy="1190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Прояснение ситуации: что делается, кто за что отвечает?</a:t>
            </a:r>
          </a:p>
        </p:txBody>
      </p:sp>
      <p:sp>
        <p:nvSpPr>
          <p:cNvPr id="31764" name="Rectangle 23"/>
          <p:cNvSpPr>
            <a:spLocks noChangeArrowheads="1"/>
          </p:cNvSpPr>
          <p:nvPr/>
        </p:nvSpPr>
        <p:spPr bwMode="auto">
          <a:xfrm>
            <a:off x="2700338" y="4581525"/>
            <a:ext cx="1395412" cy="15113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0965" name="Text Box 21"/>
          <p:cNvSpPr txBox="1">
            <a:spLocks noChangeArrowheads="1"/>
          </p:cNvSpPr>
          <p:nvPr/>
        </p:nvSpPr>
        <p:spPr bwMode="auto">
          <a:xfrm>
            <a:off x="2124075" y="4868863"/>
            <a:ext cx="1800225" cy="9159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Описание отдельных процессов</a:t>
            </a:r>
          </a:p>
        </p:txBody>
      </p:sp>
      <p:sp>
        <p:nvSpPr>
          <p:cNvPr id="210968" name="Text Box 24"/>
          <p:cNvSpPr txBox="1">
            <a:spLocks noChangeArrowheads="1"/>
          </p:cNvSpPr>
          <p:nvPr/>
        </p:nvSpPr>
        <p:spPr bwMode="auto">
          <a:xfrm>
            <a:off x="4716463" y="5229225"/>
            <a:ext cx="1800225" cy="1190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Постановка Системы Менеджмента Качества</a:t>
            </a:r>
          </a:p>
        </p:txBody>
      </p:sp>
      <p:sp>
        <p:nvSpPr>
          <p:cNvPr id="25" name="Номер слайда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34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0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0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53" grpId="0" animBg="1"/>
      <p:bldP spid="210954" grpId="0" animBg="1"/>
      <p:bldP spid="210955" grpId="0" animBg="1"/>
      <p:bldP spid="210958" grpId="0" animBg="1"/>
      <p:bldP spid="210961" grpId="0" animBg="1"/>
      <p:bldP spid="210966" grpId="0" animBg="1"/>
      <p:bldP spid="210965" grpId="0" animBg="1"/>
      <p:bldP spid="21096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8"/>
          <p:cNvSpPr>
            <a:spLocks noChangeArrowheads="1"/>
          </p:cNvSpPr>
          <p:nvPr/>
        </p:nvSpPr>
        <p:spPr bwMode="auto">
          <a:xfrm>
            <a:off x="0" y="887413"/>
            <a:ext cx="9144000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1600">
                <a:cs typeface="Times New Roman" pitchFamily="18" charset="0"/>
              </a:rPr>
              <a:t>Задачи</a:t>
            </a:r>
            <a:r>
              <a:rPr lang="ru-RU" sz="1600"/>
              <a:t> </a:t>
            </a:r>
            <a:r>
              <a:rPr lang="ru-RU" sz="1600">
                <a:cs typeface="Times New Roman" pitchFamily="18" charset="0"/>
              </a:rPr>
              <a:t>анализа и оптимизации различных аспектов бизнес-модели компании могут характеризоваться двумя критериями:</a:t>
            </a:r>
            <a:endParaRPr lang="ru-RU" sz="1600"/>
          </a:p>
          <a:p>
            <a:pPr eaLnBrk="0" hangingPunct="0">
              <a:buFontTx/>
              <a:buChar char="•"/>
            </a:pPr>
            <a:r>
              <a:rPr lang="ru-RU" sz="1600" b="1">
                <a:cs typeface="Times New Roman" pitchFamily="18" charset="0"/>
              </a:rPr>
              <a:t>Масштабом решения</a:t>
            </a:r>
            <a:r>
              <a:rPr lang="ru-RU" sz="1600">
                <a:cs typeface="Times New Roman" pitchFamily="18" charset="0"/>
              </a:rPr>
              <a:t> – от локального (для отдельного объекта – подразделения, процесса, проекта) до решения в масштабе всего предприятия </a:t>
            </a:r>
          </a:p>
          <a:p>
            <a:pPr eaLnBrk="0" hangingPunct="0">
              <a:buFontTx/>
              <a:buChar char="•"/>
            </a:pPr>
            <a:r>
              <a:rPr lang="ru-RU" sz="1600" b="1">
                <a:cs typeface="Times New Roman" pitchFamily="18" charset="0"/>
              </a:rPr>
              <a:t>Степенью комплексности</a:t>
            </a:r>
            <a:r>
              <a:rPr lang="ru-RU" sz="1600">
                <a:cs typeface="Times New Roman" pitchFamily="18" charset="0"/>
              </a:rPr>
              <a:t> – от независимого решения (в рамках одного аспекта моделирования  -функции, процессы, цели, бюджеты…) до взаимосвязанного, требующего анализа разных объектов</a:t>
            </a:r>
          </a:p>
        </p:txBody>
      </p:sp>
      <p:sp>
        <p:nvSpPr>
          <p:cNvPr id="32771" name="Rectangle 21"/>
          <p:cNvSpPr>
            <a:spLocks noChangeArrowheads="1"/>
          </p:cNvSpPr>
          <p:nvPr/>
        </p:nvSpPr>
        <p:spPr bwMode="auto">
          <a:xfrm>
            <a:off x="5003800" y="2708275"/>
            <a:ext cx="381635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1200"/>
              <a:t>Решение, попадающее в область </a:t>
            </a:r>
            <a:r>
              <a:rPr lang="ru-RU" sz="1200" b="1"/>
              <a:t>1</a:t>
            </a:r>
            <a:r>
              <a:rPr lang="ru-RU" sz="1200"/>
              <a:t>, может проводиться с использованием подручных средств – офисных приложений и “рисовалок” типа Visio. Роль инструментов класса </a:t>
            </a:r>
            <a:r>
              <a:rPr lang="en-US" sz="1200" b="1">
                <a:solidFill>
                  <a:srgbClr val="FF0000"/>
                </a:solidFill>
              </a:rPr>
              <a:t>Orgware</a:t>
            </a:r>
            <a:r>
              <a:rPr lang="ru-RU" sz="1200"/>
              <a:t> в таких случаях невелика.</a:t>
            </a:r>
          </a:p>
          <a:p>
            <a:r>
              <a:rPr lang="ru-RU" sz="1200"/>
              <a:t>Эффект от использования более развитых инструментов бизнес-моделирования увеличивается для решений в областях </a:t>
            </a:r>
            <a:r>
              <a:rPr lang="ru-RU" sz="1200" b="1"/>
              <a:t>2</a:t>
            </a:r>
            <a:r>
              <a:rPr lang="ru-RU" sz="1200"/>
              <a:t> и </a:t>
            </a:r>
            <a:r>
              <a:rPr lang="ru-RU" sz="1200" b="1"/>
              <a:t>3</a:t>
            </a:r>
            <a:r>
              <a:rPr lang="ru-RU" sz="1200"/>
              <a:t> и максимально проявляется в случае применения продуктов класса </a:t>
            </a:r>
            <a:r>
              <a:rPr lang="en-US" sz="1200" b="1"/>
              <a:t>Orgware</a:t>
            </a:r>
            <a:r>
              <a:rPr lang="en-US" sz="1200"/>
              <a:t> </a:t>
            </a:r>
            <a:r>
              <a:rPr lang="ru-RU" sz="1200"/>
              <a:t>для решений из области </a:t>
            </a:r>
            <a:r>
              <a:rPr lang="ru-RU" sz="1200" b="1"/>
              <a:t>4</a:t>
            </a:r>
            <a:r>
              <a:rPr lang="ru-RU" sz="1200"/>
              <a:t>. </a:t>
            </a:r>
          </a:p>
        </p:txBody>
      </p:sp>
      <p:sp>
        <p:nvSpPr>
          <p:cNvPr id="32772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2000" b="1" smtClean="0"/>
              <a:t>Для каждого класса задач свой инструмент...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0" y="2492375"/>
            <a:ext cx="6376988" cy="3640138"/>
            <a:chOff x="133" y="1733"/>
            <a:chExt cx="4017" cy="2293"/>
          </a:xfrm>
        </p:grpSpPr>
        <p:sp>
          <p:nvSpPr>
            <p:cNvPr id="32776" name="Rectangle 14"/>
            <p:cNvSpPr>
              <a:spLocks noChangeArrowheads="1"/>
            </p:cNvSpPr>
            <p:nvPr/>
          </p:nvSpPr>
          <p:spPr bwMode="auto">
            <a:xfrm>
              <a:off x="3025" y="3632"/>
              <a:ext cx="1125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ru-RU" sz="1400" b="1"/>
                <a:t>Степень комплексности</a:t>
              </a:r>
            </a:p>
          </p:txBody>
        </p:sp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133" y="1733"/>
              <a:ext cx="3231" cy="2293"/>
              <a:chOff x="133" y="1733"/>
              <a:chExt cx="3231" cy="2293"/>
            </a:xfrm>
          </p:grpSpPr>
          <p:sp>
            <p:nvSpPr>
              <p:cNvPr id="32778" name="Rectangle 2"/>
              <p:cNvSpPr>
                <a:spLocks noChangeArrowheads="1"/>
              </p:cNvSpPr>
              <p:nvPr/>
            </p:nvSpPr>
            <p:spPr bwMode="auto">
              <a:xfrm>
                <a:off x="930" y="1888"/>
                <a:ext cx="2222" cy="1724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A71901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/>
              </a:p>
            </p:txBody>
          </p:sp>
          <p:sp>
            <p:nvSpPr>
              <p:cNvPr id="32779" name="Rectangle 3"/>
              <p:cNvSpPr>
                <a:spLocks noChangeArrowheads="1"/>
              </p:cNvSpPr>
              <p:nvPr/>
            </p:nvSpPr>
            <p:spPr bwMode="auto">
              <a:xfrm>
                <a:off x="975" y="2795"/>
                <a:ext cx="1043" cy="76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/>
                  <a:t>1</a:t>
                </a:r>
              </a:p>
            </p:txBody>
          </p:sp>
          <p:sp>
            <p:nvSpPr>
              <p:cNvPr id="32780" name="Rectangle 4"/>
              <p:cNvSpPr>
                <a:spLocks noChangeArrowheads="1"/>
              </p:cNvSpPr>
              <p:nvPr/>
            </p:nvSpPr>
            <p:spPr bwMode="auto">
              <a:xfrm>
                <a:off x="2064" y="2795"/>
                <a:ext cx="1043" cy="76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/>
                  <a:t>2</a:t>
                </a:r>
              </a:p>
            </p:txBody>
          </p:sp>
          <p:sp>
            <p:nvSpPr>
              <p:cNvPr id="32781" name="Rectangle 5"/>
              <p:cNvSpPr>
                <a:spLocks noChangeArrowheads="1"/>
              </p:cNvSpPr>
              <p:nvPr/>
            </p:nvSpPr>
            <p:spPr bwMode="auto">
              <a:xfrm>
                <a:off x="975" y="1979"/>
                <a:ext cx="1043" cy="76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/>
                  <a:t>3</a:t>
                </a:r>
              </a:p>
            </p:txBody>
          </p:sp>
          <p:sp>
            <p:nvSpPr>
              <p:cNvPr id="32782" name="Rectangle 6"/>
              <p:cNvSpPr>
                <a:spLocks noChangeArrowheads="1"/>
              </p:cNvSpPr>
              <p:nvPr/>
            </p:nvSpPr>
            <p:spPr bwMode="auto">
              <a:xfrm>
                <a:off x="2064" y="1979"/>
                <a:ext cx="1043" cy="76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ru-RU"/>
                  <a:t>4</a:t>
                </a:r>
              </a:p>
            </p:txBody>
          </p:sp>
          <p:sp>
            <p:nvSpPr>
              <p:cNvPr id="32783" name="Line 7"/>
              <p:cNvSpPr>
                <a:spLocks noChangeShapeType="1"/>
              </p:cNvSpPr>
              <p:nvPr/>
            </p:nvSpPr>
            <p:spPr bwMode="auto">
              <a:xfrm flipV="1">
                <a:off x="938" y="1733"/>
                <a:ext cx="0" cy="18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784" name="Line 8"/>
              <p:cNvSpPr>
                <a:spLocks noChangeShapeType="1"/>
              </p:cNvSpPr>
              <p:nvPr/>
            </p:nvSpPr>
            <p:spPr bwMode="auto">
              <a:xfrm>
                <a:off x="938" y="3620"/>
                <a:ext cx="24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785" name="Text Box 9"/>
              <p:cNvSpPr txBox="1">
                <a:spLocks noChangeArrowheads="1"/>
              </p:cNvSpPr>
              <p:nvPr/>
            </p:nvSpPr>
            <p:spPr bwMode="auto">
              <a:xfrm>
                <a:off x="1096" y="3700"/>
                <a:ext cx="879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ru-RU" sz="1400"/>
                  <a:t>Независимое решение</a:t>
                </a:r>
              </a:p>
            </p:txBody>
          </p:sp>
          <p:sp>
            <p:nvSpPr>
              <p:cNvPr id="32786" name="Text Box 10"/>
              <p:cNvSpPr txBox="1">
                <a:spLocks noChangeArrowheads="1"/>
              </p:cNvSpPr>
              <p:nvPr/>
            </p:nvSpPr>
            <p:spPr bwMode="auto">
              <a:xfrm>
                <a:off x="2047" y="3646"/>
                <a:ext cx="971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ru-RU" sz="1400"/>
                  <a:t>Комплексное</a:t>
                </a:r>
              </a:p>
              <a:p>
                <a:r>
                  <a:rPr lang="ru-RU" sz="1400"/>
                  <a:t>решение</a:t>
                </a:r>
              </a:p>
            </p:txBody>
          </p:sp>
          <p:sp>
            <p:nvSpPr>
              <p:cNvPr id="32787" name="Text Box 11"/>
              <p:cNvSpPr txBox="1">
                <a:spLocks noChangeArrowheads="1"/>
              </p:cNvSpPr>
              <p:nvPr/>
            </p:nvSpPr>
            <p:spPr bwMode="auto">
              <a:xfrm>
                <a:off x="254" y="3124"/>
                <a:ext cx="678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ru-RU" sz="1400"/>
                  <a:t>Локальное решение</a:t>
                </a:r>
              </a:p>
            </p:txBody>
          </p:sp>
          <p:sp>
            <p:nvSpPr>
              <p:cNvPr id="32788" name="Text Box 12"/>
              <p:cNvSpPr txBox="1">
                <a:spLocks noChangeArrowheads="1"/>
              </p:cNvSpPr>
              <p:nvPr/>
            </p:nvSpPr>
            <p:spPr bwMode="auto">
              <a:xfrm>
                <a:off x="133" y="2230"/>
                <a:ext cx="835" cy="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ru-RU" sz="1400"/>
                  <a:t>Решение в масштабе предприятия</a:t>
                </a:r>
              </a:p>
            </p:txBody>
          </p:sp>
          <p:sp>
            <p:nvSpPr>
              <p:cNvPr id="32789" name="Text Box 13"/>
              <p:cNvSpPr txBox="1">
                <a:spLocks noChangeArrowheads="1"/>
              </p:cNvSpPr>
              <p:nvPr/>
            </p:nvSpPr>
            <p:spPr bwMode="auto">
              <a:xfrm>
                <a:off x="204" y="1797"/>
                <a:ext cx="726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ru-RU" sz="1400" b="1"/>
                  <a:t>Масштаб решения</a:t>
                </a:r>
              </a:p>
            </p:txBody>
          </p:sp>
          <p:sp>
            <p:nvSpPr>
              <p:cNvPr id="32790" name="Rectangle 15"/>
              <p:cNvSpPr>
                <a:spLocks noChangeArrowheads="1"/>
              </p:cNvSpPr>
              <p:nvPr/>
            </p:nvSpPr>
            <p:spPr bwMode="auto">
              <a:xfrm>
                <a:off x="2290" y="2205"/>
                <a:ext cx="811" cy="19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ru-RU" sz="1400" b="1">
                    <a:solidFill>
                      <a:schemeClr val="bg1"/>
                    </a:solidFill>
                  </a:rPr>
                  <a:t>ОРГ-Мастер </a:t>
                </a:r>
              </a:p>
            </p:txBody>
          </p:sp>
          <p:sp>
            <p:nvSpPr>
              <p:cNvPr id="32791" name="Rectangle 16"/>
              <p:cNvSpPr>
                <a:spLocks noChangeArrowheads="1"/>
              </p:cNvSpPr>
              <p:nvPr/>
            </p:nvSpPr>
            <p:spPr bwMode="auto">
              <a:xfrm>
                <a:off x="947" y="3353"/>
                <a:ext cx="458" cy="21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ru-RU" sz="1600" b="1"/>
                  <a:t>Visio </a:t>
                </a:r>
              </a:p>
            </p:txBody>
          </p:sp>
          <p:sp>
            <p:nvSpPr>
              <p:cNvPr id="32792" name="Text Box 23"/>
              <p:cNvSpPr txBox="1">
                <a:spLocks noChangeArrowheads="1"/>
              </p:cNvSpPr>
              <p:nvPr/>
            </p:nvSpPr>
            <p:spPr bwMode="auto">
              <a:xfrm>
                <a:off x="1973" y="2341"/>
                <a:ext cx="54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400" b="1">
                    <a:solidFill>
                      <a:schemeClr val="bg1"/>
                    </a:solidFill>
                  </a:rPr>
                  <a:t>АРИС</a:t>
                </a:r>
              </a:p>
            </p:txBody>
          </p:sp>
          <p:sp>
            <p:nvSpPr>
              <p:cNvPr id="32793" name="Text Box 24"/>
              <p:cNvSpPr txBox="1">
                <a:spLocks noChangeArrowheads="1"/>
              </p:cNvSpPr>
              <p:nvPr/>
            </p:nvSpPr>
            <p:spPr bwMode="auto">
              <a:xfrm>
                <a:off x="2200" y="2523"/>
                <a:ext cx="77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b="1">
                    <a:solidFill>
                      <a:schemeClr val="bg1"/>
                    </a:solidFill>
                  </a:rPr>
                  <a:t>Casewise</a:t>
                </a:r>
                <a:endParaRPr lang="ru-RU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2794" name="Text Box 25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59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>
                    <a:solidFill>
                      <a:schemeClr val="bg1"/>
                    </a:solidFill>
                  </a:rPr>
                  <a:t>BPWin</a:t>
                </a:r>
                <a:endParaRPr lang="ru-RU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2795" name="Text Box 26"/>
              <p:cNvSpPr txBox="1">
                <a:spLocks noChangeArrowheads="1"/>
              </p:cNvSpPr>
              <p:nvPr/>
            </p:nvSpPr>
            <p:spPr bwMode="auto">
              <a:xfrm>
                <a:off x="1837" y="2840"/>
                <a:ext cx="998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b="1">
                    <a:solidFill>
                      <a:schemeClr val="bg1"/>
                    </a:solidFill>
                  </a:rPr>
                  <a:t>Business Studio</a:t>
                </a:r>
                <a:endParaRPr lang="ru-RU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2796" name="Text Box 27"/>
              <p:cNvSpPr txBox="1">
                <a:spLocks noChangeArrowheads="1"/>
              </p:cNvSpPr>
              <p:nvPr/>
            </p:nvSpPr>
            <p:spPr bwMode="auto">
              <a:xfrm>
                <a:off x="1911" y="1797"/>
                <a:ext cx="289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ru-RU"/>
              </a:p>
            </p:txBody>
          </p:sp>
          <p:sp>
            <p:nvSpPr>
              <p:cNvPr id="32797" name="Text Box 28"/>
              <p:cNvSpPr txBox="1">
                <a:spLocks noChangeArrowheads="1"/>
              </p:cNvSpPr>
              <p:nvPr/>
            </p:nvSpPr>
            <p:spPr bwMode="auto">
              <a:xfrm>
                <a:off x="1247" y="2886"/>
                <a:ext cx="6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b="1">
                    <a:solidFill>
                      <a:schemeClr val="accent2"/>
                    </a:solidFill>
                  </a:rPr>
                  <a:t>EMTool</a:t>
                </a:r>
                <a:endParaRPr lang="ru-RU" sz="16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2798" name="Text Box 29"/>
              <p:cNvSpPr txBox="1">
                <a:spLocks noChangeArrowheads="1"/>
              </p:cNvSpPr>
              <p:nvPr/>
            </p:nvSpPr>
            <p:spPr bwMode="auto">
              <a:xfrm>
                <a:off x="1565" y="3113"/>
                <a:ext cx="86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1600" b="1">
                    <a:solidFill>
                      <a:schemeClr val="accent2"/>
                    </a:solidFill>
                  </a:rPr>
                  <a:t>Графикс</a:t>
                </a:r>
              </a:p>
            </p:txBody>
          </p:sp>
        </p:grpSp>
      </p:grpSp>
      <p:sp>
        <p:nvSpPr>
          <p:cNvPr id="32774" name="Text Box 33"/>
          <p:cNvSpPr txBox="1">
            <a:spLocks noChangeArrowheads="1"/>
          </p:cNvSpPr>
          <p:nvPr/>
        </p:nvSpPr>
        <p:spPr bwMode="auto">
          <a:xfrm>
            <a:off x="6300788" y="4868863"/>
            <a:ext cx="2519362" cy="15684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ru-RU" sz="1600"/>
              <a:t>“</a:t>
            </a:r>
            <a:r>
              <a:rPr lang="en-US" sz="1600"/>
              <a:t>Orgware</a:t>
            </a:r>
            <a:r>
              <a:rPr lang="ru-RU" sz="1600"/>
              <a:t>” – специальный класс программных продуктов для поддержки организации деятельности </a:t>
            </a:r>
          </a:p>
        </p:txBody>
      </p:sp>
      <p:sp>
        <p:nvSpPr>
          <p:cNvPr id="32775" name="Line 34"/>
          <p:cNvSpPr>
            <a:spLocks noChangeShapeType="1"/>
          </p:cNvSpPr>
          <p:nvPr/>
        </p:nvSpPr>
        <p:spPr bwMode="auto">
          <a:xfrm>
            <a:off x="8027988" y="3500438"/>
            <a:ext cx="0" cy="1368425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3" name="Номер слайда 3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B131C7-64F0-4E8F-AEE1-D053497741E1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87325"/>
            <a:ext cx="8340725" cy="504825"/>
          </a:xfrm>
        </p:spPr>
        <p:txBody>
          <a:bodyPr/>
          <a:lstStyle/>
          <a:p>
            <a:pPr eaLnBrk="1" hangingPunct="1"/>
            <a:r>
              <a:rPr lang="ru-RU" sz="2000" b="1" dirty="0" smtClean="0"/>
              <a:t>Возможности </a:t>
            </a:r>
            <a:r>
              <a:rPr lang="en-US" sz="2000" b="1" dirty="0" err="1" smtClean="0"/>
              <a:t>orgware</a:t>
            </a:r>
            <a:r>
              <a:rPr lang="en-US" sz="2000" b="1" dirty="0" smtClean="0"/>
              <a:t> </a:t>
            </a:r>
            <a:r>
              <a:rPr lang="ru-RU" sz="2000" b="1" dirty="0" smtClean="0"/>
              <a:t>ОРГ-МАСТЕР</a:t>
            </a:r>
            <a:r>
              <a:rPr lang="en-US" sz="2000" b="1" dirty="0" smtClean="0"/>
              <a:t>®</a:t>
            </a:r>
            <a:r>
              <a:rPr lang="ru-RU" sz="2000" b="1" dirty="0" smtClean="0"/>
              <a:t>.</a:t>
            </a:r>
            <a:br>
              <a:rPr lang="ru-RU" sz="2000" b="1" dirty="0" smtClean="0"/>
            </a:br>
            <a:r>
              <a:rPr lang="ru-RU" sz="2000" b="1" dirty="0" smtClean="0"/>
              <a:t>Что позволяет делать продукт?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270000"/>
            <a:ext cx="7345362" cy="4679950"/>
          </a:xfrm>
          <a:prstGeom prst="rect">
            <a:avLst/>
          </a:prstGeo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r>
              <a:rPr lang="ru-RU" sz="1600" smtClean="0"/>
              <a:t>Взаимосвязанное описание в единой модели основных составляющих корпоративной архитектуры предприятия:</a:t>
            </a:r>
          </a:p>
          <a:p>
            <a:pPr lvl="1" algn="just" eaLnBrk="1" hangingPunct="1">
              <a:lnSpc>
                <a:spcPct val="80000"/>
              </a:lnSpc>
              <a:buFont typeface="Symbol" pitchFamily="18" charset="2"/>
              <a:buChar char=""/>
            </a:pPr>
            <a:r>
              <a:rPr lang="ru-RU" sz="1600" smtClean="0"/>
              <a:t>Формализация стратегической модели (целей, показателей, проектов развития)</a:t>
            </a:r>
          </a:p>
          <a:p>
            <a:pPr lvl="1" algn="just" eaLnBrk="1" hangingPunct="1">
              <a:lnSpc>
                <a:spcPct val="80000"/>
              </a:lnSpc>
              <a:buFont typeface="Symbol" pitchFamily="18" charset="2"/>
              <a:buChar char=""/>
            </a:pPr>
            <a:r>
              <a:rPr lang="ru-RU" sz="1600" smtClean="0"/>
              <a:t>Разработка организационно-ролевой, финансовой и других структур управления</a:t>
            </a:r>
          </a:p>
          <a:p>
            <a:pPr lvl="1" algn="just" eaLnBrk="1" hangingPunct="1">
              <a:lnSpc>
                <a:spcPct val="80000"/>
              </a:lnSpc>
              <a:buFont typeface="Symbol" pitchFamily="18" charset="2"/>
              <a:buChar char=""/>
            </a:pPr>
            <a:r>
              <a:rPr lang="ru-RU" sz="1600" smtClean="0"/>
              <a:t>Описание, оптимизация  и сопровождение моделей  процессов</a:t>
            </a:r>
            <a:endParaRPr lang="ru-RU" sz="1600" smtClean="0">
              <a:sym typeface="Wingdings" pitchFamily="2" charset="2"/>
            </a:endParaRPr>
          </a:p>
          <a:p>
            <a:pPr lvl="1" algn="just" eaLnBrk="1" hangingPunct="1">
              <a:lnSpc>
                <a:spcPct val="80000"/>
              </a:lnSpc>
              <a:buFont typeface="Symbol" pitchFamily="18" charset="2"/>
              <a:buNone/>
            </a:pPr>
            <a:endParaRPr lang="ru-RU" sz="1600" smtClean="0">
              <a:sym typeface="Wingdings" pitchFamily="2" charset="2"/>
            </a:endParaRPr>
          </a:p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r>
              <a:rPr lang="ru-RU" sz="1600" smtClean="0"/>
              <a:t>Возможность работать с единой базой данных и компактно хранить информацию о деятельности предприятия «в одном месте»</a:t>
            </a:r>
          </a:p>
          <a:p>
            <a:pPr algn="just" eaLnBrk="1" hangingPunct="1">
              <a:lnSpc>
                <a:spcPct val="80000"/>
              </a:lnSpc>
              <a:buFont typeface="Symbol" pitchFamily="18" charset="2"/>
              <a:buNone/>
            </a:pPr>
            <a:endParaRPr lang="ru-RU" sz="1600" smtClean="0"/>
          </a:p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r>
              <a:rPr lang="ru-RU" sz="1600" smtClean="0"/>
              <a:t>Автоматическое получение отчетов из единой модели: регламенты процессов (в текстовом, табличном или графическом видах), положения о подразделениях и функциональных областях, должностные инструкции, которые позволяют легко узнать, кто, чем и зачем занимается в компании, какие существуют взаимосвязи.</a:t>
            </a:r>
          </a:p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endParaRPr lang="ru-RU" sz="1600" smtClean="0"/>
          </a:p>
          <a:p>
            <a:pPr algn="just" eaLnBrk="1" hangingPunct="1">
              <a:lnSpc>
                <a:spcPct val="80000"/>
              </a:lnSpc>
              <a:buFont typeface="Symbol" pitchFamily="18" charset="2"/>
              <a:buChar char=""/>
            </a:pPr>
            <a:r>
              <a:rPr lang="ru-RU" sz="1600" smtClean="0"/>
              <a:t>Наглядное и удобное для восприятия представление знаний о компании разным заинтересованным лицам (руководству, сотрудникам компании, аналитикам, специалиста по ИТ, партнерам, контролирующим и сертифицирующим органам).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36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4" descr="обложка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788" y="1125538"/>
            <a:ext cx="2735262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188913"/>
            <a:ext cx="7854950" cy="504825"/>
          </a:xfrm>
        </p:spPr>
        <p:txBody>
          <a:bodyPr/>
          <a:lstStyle/>
          <a:p>
            <a:pPr eaLnBrk="1" hangingPunct="1"/>
            <a:r>
              <a:rPr lang="ru-RU" sz="1800" b="1" dirty="0" smtClean="0"/>
              <a:t>Методическая составляющая в ОРГ-МАСТЕР</a:t>
            </a:r>
            <a:r>
              <a:rPr lang="en-US" sz="1800" b="1" dirty="0" smtClean="0"/>
              <a:t>®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323850" y="4054475"/>
            <a:ext cx="6335713" cy="21399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/>
            <a:r>
              <a:rPr lang="ru-RU" sz="1400" b="1"/>
              <a:t>Технические руководства</a:t>
            </a:r>
            <a:endParaRPr lang="ru-RU" sz="1400"/>
          </a:p>
          <a:p>
            <a:pPr marL="342900" indent="-342900">
              <a:buFontTx/>
              <a:buAutoNum type="arabicPeriod"/>
            </a:pPr>
            <a:r>
              <a:rPr lang="ru-RU" sz="1400"/>
              <a:t>Руководство по созданию модели и документов </a:t>
            </a:r>
          </a:p>
          <a:p>
            <a:pPr marL="342900" indent="-342900"/>
            <a:r>
              <a:rPr lang="ru-RU" sz="1400"/>
              <a:t>Системы Менеджмента Качества с помощью ОРГ-МАСТЕР</a:t>
            </a:r>
            <a:r>
              <a:rPr lang="en-US" sz="1400">
                <a:cs typeface="Arial" charset="0"/>
              </a:rPr>
              <a:t>®</a:t>
            </a:r>
            <a:r>
              <a:rPr lang="ru-RU" sz="1400"/>
              <a:t>СМК</a:t>
            </a:r>
          </a:p>
          <a:p>
            <a:pPr marL="342900" indent="-342900">
              <a:buFontTx/>
              <a:buAutoNum type="arabicPeriod" startAt="2"/>
            </a:pPr>
            <a:r>
              <a:rPr lang="ru-RU" sz="1400"/>
              <a:t>Руководство по качеству, созданное с помощью                             ОРГ-МАСТЕР</a:t>
            </a:r>
            <a:r>
              <a:rPr lang="en-US"/>
              <a:t>®</a:t>
            </a:r>
            <a:r>
              <a:rPr lang="ru-RU" sz="1400"/>
              <a:t>СМК  </a:t>
            </a:r>
          </a:p>
          <a:p>
            <a:pPr marL="342900" indent="-342900">
              <a:buFontTx/>
              <a:buAutoNum type="arabicPeriod" startAt="2"/>
            </a:pPr>
            <a:r>
              <a:rPr lang="ru-RU" sz="1400"/>
              <a:t>Образцы документов СМК: Руководство по качеству.</a:t>
            </a:r>
          </a:p>
          <a:p>
            <a:pPr marL="342900" indent="-342900"/>
            <a:r>
              <a:rPr lang="ru-RU" sz="1400" b="1"/>
              <a:t>Методические материалы</a:t>
            </a:r>
            <a:endParaRPr lang="ru-RU" sz="1400"/>
          </a:p>
          <a:p>
            <a:pPr marL="342900" indent="-342900">
              <a:buFontTx/>
              <a:buChar char="•"/>
            </a:pPr>
            <a:r>
              <a:rPr lang="ru-RU" sz="1400"/>
              <a:t>Справочник по обеспечению выполнения требований стандарта </a:t>
            </a:r>
          </a:p>
          <a:p>
            <a:pPr marL="342900" indent="-342900"/>
            <a:r>
              <a:rPr lang="ru-RU" sz="1400"/>
              <a:t>ИСО 9001:2000 с использованием программы ОРГ-МАСТЕР</a:t>
            </a:r>
            <a:r>
              <a:rPr lang="en-US"/>
              <a:t>®</a:t>
            </a:r>
            <a:r>
              <a:rPr lang="ru-RU" sz="1400"/>
              <a:t>СМК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79388" y="3486150"/>
            <a:ext cx="57832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ru-RU"/>
              <a:t>Специализированное решение ОРГ-МАСТЕР</a:t>
            </a:r>
            <a:r>
              <a:rPr lang="en-US" sz="2000" b="1">
                <a:cs typeface="Arial" charset="0"/>
              </a:rPr>
              <a:t>®</a:t>
            </a:r>
            <a:r>
              <a:rPr lang="ru-RU"/>
              <a:t>СМК 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250825" y="1314450"/>
            <a:ext cx="6121400" cy="21399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/>
            <a:r>
              <a:rPr lang="ru-RU" sz="1400" b="1"/>
              <a:t>Технические руководства</a:t>
            </a:r>
            <a:endParaRPr lang="ru-RU" sz="1400"/>
          </a:p>
          <a:p>
            <a:pPr marL="342900" indent="-342900">
              <a:buFontTx/>
              <a:buAutoNum type="arabicPeriod"/>
            </a:pPr>
            <a:r>
              <a:rPr lang="ru-RU" sz="1400"/>
              <a:t>Руководство пользователя программы ОРГ-МАСТЕР</a:t>
            </a:r>
            <a:r>
              <a:rPr lang="en-US"/>
              <a:t>®</a:t>
            </a:r>
            <a:r>
              <a:rPr lang="ru-RU" sz="1400"/>
              <a:t> Руководство по созданию моделей и регламентов </a:t>
            </a:r>
          </a:p>
          <a:p>
            <a:pPr marL="342900" indent="-342900"/>
            <a:r>
              <a:rPr lang="ru-RU" sz="1400"/>
              <a:t>с помощью программы ОРГ-МАСТЕР</a:t>
            </a:r>
            <a:r>
              <a:rPr lang="en-US"/>
              <a:t>®</a:t>
            </a:r>
            <a:endParaRPr lang="ru-RU" sz="1400"/>
          </a:p>
          <a:p>
            <a:pPr marL="342900" indent="-342900"/>
            <a:r>
              <a:rPr lang="ru-RU" sz="1400" b="1"/>
              <a:t>Методические материалы</a:t>
            </a:r>
            <a:endParaRPr lang="ru-RU" sz="1400"/>
          </a:p>
          <a:p>
            <a:pPr marL="342900" indent="-342900">
              <a:buFontTx/>
              <a:buAutoNum type="arabicPeriod"/>
            </a:pPr>
            <a:r>
              <a:rPr lang="ru-RU" sz="1400"/>
              <a:t>Разработка организационно-функциональной модели предприятия</a:t>
            </a:r>
          </a:p>
          <a:p>
            <a:pPr marL="342900" indent="-342900">
              <a:buFontTx/>
              <a:buAutoNum type="arabicPeriod"/>
            </a:pPr>
            <a:r>
              <a:rPr lang="ru-RU" sz="1400"/>
              <a:t>Технология начальной идентификации процессов компании</a:t>
            </a:r>
          </a:p>
          <a:p>
            <a:pPr marL="342900" indent="-342900">
              <a:buFontTx/>
              <a:buAutoNum type="arabicPeriod"/>
            </a:pPr>
            <a:r>
              <a:rPr lang="ru-RU" sz="1400"/>
              <a:t>Методические материалы по совершенствованию процессов</a:t>
            </a:r>
          </a:p>
          <a:p>
            <a:pPr marL="342900" indent="-342900">
              <a:buFontTx/>
              <a:buAutoNum type="arabicPeriod"/>
            </a:pPr>
            <a:r>
              <a:rPr lang="ru-RU" sz="1400"/>
              <a:t>Система организационных управленческих регламентов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250825" y="836613"/>
            <a:ext cx="46069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ru-RU"/>
              <a:t>Базовая версия продукта ОРГ-МАСТЕР</a:t>
            </a:r>
            <a:r>
              <a:rPr lang="en-US" b="1">
                <a:cs typeface="Arial" charset="0"/>
              </a:rPr>
              <a:t>®</a:t>
            </a:r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250825" y="3789363"/>
            <a:ext cx="33131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/>
              <a:t>Дополнительно:</a:t>
            </a:r>
          </a:p>
        </p:txBody>
      </p:sp>
      <p:pic>
        <p:nvPicPr>
          <p:cNvPr id="34825" name="Picture 9" descr="ОРГ-Мастер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5450" y="1052513"/>
            <a:ext cx="1038225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6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3213100"/>
            <a:ext cx="963613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1355" name="Text Box 11"/>
          <p:cNvSpPr txBox="1">
            <a:spLocks noChangeArrowheads="1"/>
          </p:cNvSpPr>
          <p:nvPr/>
        </p:nvSpPr>
        <p:spPr bwMode="auto">
          <a:xfrm>
            <a:off x="6948488" y="1484313"/>
            <a:ext cx="2016125" cy="925512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/>
              <a:t>Библиотечные классификаторы объектов</a:t>
            </a:r>
          </a:p>
        </p:txBody>
      </p:sp>
      <p:sp>
        <p:nvSpPr>
          <p:cNvPr id="441356" name="Text Box 12"/>
          <p:cNvSpPr txBox="1">
            <a:spLocks noChangeArrowheads="1"/>
          </p:cNvSpPr>
          <p:nvPr/>
        </p:nvSpPr>
        <p:spPr bwMode="auto">
          <a:xfrm>
            <a:off x="6948488" y="3789363"/>
            <a:ext cx="2016125" cy="925512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/>
              <a:t>Референтные модели предприятий</a:t>
            </a:r>
          </a:p>
        </p:txBody>
      </p:sp>
      <p:sp>
        <p:nvSpPr>
          <p:cNvPr id="441357" name="Text Box 13"/>
          <p:cNvSpPr txBox="1">
            <a:spLocks noChangeArrowheads="1"/>
          </p:cNvSpPr>
          <p:nvPr/>
        </p:nvSpPr>
        <p:spPr bwMode="auto">
          <a:xfrm>
            <a:off x="6948488" y="2492375"/>
            <a:ext cx="2016125" cy="1200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/>
              <a:t>Референтные модели процессов (Графикс)</a:t>
            </a: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37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" y="187325"/>
            <a:ext cx="8281988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Управление сложностью комплексной модели предприятия</a:t>
            </a:r>
          </a:p>
        </p:txBody>
      </p:sp>
      <p:pic>
        <p:nvPicPr>
          <p:cNvPr id="1028" name="Picture 4" descr="Zachman_largeview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771775" y="3284538"/>
            <a:ext cx="2022475" cy="1463675"/>
          </a:xfrm>
          <a:noFill/>
        </p:spPr>
      </p:pic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107950" y="971550"/>
            <a:ext cx="4824413" cy="1323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1. Модель как коллекция диаграмм</a:t>
            </a:r>
            <a:r>
              <a:rPr lang="ru-RU" sz="1600"/>
              <a:t> </a:t>
            </a:r>
          </a:p>
          <a:p>
            <a:pPr>
              <a:spcBef>
                <a:spcPct val="50000"/>
              </a:spcBef>
            </a:pPr>
            <a:r>
              <a:rPr lang="ru-RU" sz="1400"/>
              <a:t>Состоит из моделей-диаграмм всех объектов и их взаимосвязей процессов в различных нотациях.  </a:t>
            </a:r>
            <a:r>
              <a:rPr lang="ru-RU" sz="1400" b="1"/>
              <a:t>Формат хранения и представления информации фактически не отличаются</a:t>
            </a:r>
            <a:r>
              <a:rPr lang="ru-RU" sz="1400"/>
              <a:t>.</a:t>
            </a:r>
          </a:p>
        </p:txBody>
      </p:sp>
      <p:pic>
        <p:nvPicPr>
          <p:cNvPr id="1030" name="Picture 12" descr="РИС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0" y="4583113"/>
            <a:ext cx="7731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13" descr="Aris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8175" y="4006850"/>
            <a:ext cx="1074738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4" descr="РИС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8175" y="5302250"/>
            <a:ext cx="1058863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16" descr="Aris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1200" y="3359150"/>
            <a:ext cx="82073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Text Box 19"/>
          <p:cNvSpPr txBox="1">
            <a:spLocks noChangeArrowheads="1"/>
          </p:cNvSpPr>
          <p:nvPr/>
        </p:nvSpPr>
        <p:spPr bwMode="auto">
          <a:xfrm>
            <a:off x="107950" y="2492375"/>
            <a:ext cx="244792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400"/>
              <a:t>1.а. Неструктурированная коллекция / Произвольно структурированная</a:t>
            </a:r>
          </a:p>
        </p:txBody>
      </p:sp>
      <p:sp>
        <p:nvSpPr>
          <p:cNvPr id="1035" name="Text Box 20"/>
          <p:cNvSpPr txBox="1">
            <a:spLocks noChangeArrowheads="1"/>
          </p:cNvSpPr>
          <p:nvPr/>
        </p:nvSpPr>
        <p:spPr bwMode="auto">
          <a:xfrm>
            <a:off x="2608263" y="2492375"/>
            <a:ext cx="268446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400"/>
              <a:t>1.б. Структурированная коллекция</a:t>
            </a:r>
          </a:p>
        </p:txBody>
      </p:sp>
      <p:pic>
        <p:nvPicPr>
          <p:cNvPr id="1036" name="Picture 23" descr="Aris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35238" y="5360988"/>
            <a:ext cx="12239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7" name="Picture 26" descr="РИС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32225" y="5322888"/>
            <a:ext cx="1058863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8" name="Line 27"/>
          <p:cNvSpPr>
            <a:spLocks noChangeShapeType="1"/>
          </p:cNvSpPr>
          <p:nvPr/>
        </p:nvSpPr>
        <p:spPr bwMode="auto">
          <a:xfrm flipV="1">
            <a:off x="3113088" y="3595688"/>
            <a:ext cx="71437" cy="1655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39" name="Line 28"/>
          <p:cNvSpPr>
            <a:spLocks noChangeShapeType="1"/>
          </p:cNvSpPr>
          <p:nvPr/>
        </p:nvSpPr>
        <p:spPr bwMode="auto">
          <a:xfrm flipH="1" flipV="1">
            <a:off x="3543300" y="4065588"/>
            <a:ext cx="792163" cy="1152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40" name="Text Box 29"/>
          <p:cNvSpPr txBox="1">
            <a:spLocks noChangeArrowheads="1"/>
          </p:cNvSpPr>
          <p:nvPr/>
        </p:nvSpPr>
        <p:spPr bwMode="auto">
          <a:xfrm>
            <a:off x="5364163" y="908050"/>
            <a:ext cx="3779837" cy="22240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 Модель как описание первичных объектов и связей между ними</a:t>
            </a:r>
            <a:endParaRPr lang="ru-RU"/>
          </a:p>
          <a:p>
            <a:pPr>
              <a:spcBef>
                <a:spcPct val="50000"/>
              </a:spcBef>
            </a:pPr>
            <a:r>
              <a:rPr lang="ru-RU" sz="1400"/>
              <a:t>Единая модель, представляющая собой базу знаний.</a:t>
            </a:r>
          </a:p>
          <a:p>
            <a:pPr>
              <a:spcBef>
                <a:spcPct val="50000"/>
              </a:spcBef>
            </a:pPr>
            <a:r>
              <a:rPr lang="ru-RU" sz="1400" b="1"/>
              <a:t>Диаграммы и</a:t>
            </a:r>
            <a:r>
              <a:rPr lang="ru-RU" sz="1400"/>
              <a:t> </a:t>
            </a:r>
            <a:r>
              <a:rPr lang="ru-RU" sz="1400" b="1"/>
              <a:t>организационные документы-регламенты являются</a:t>
            </a:r>
            <a:r>
              <a:rPr lang="ru-RU" sz="1400"/>
              <a:t> </a:t>
            </a:r>
            <a:r>
              <a:rPr lang="ru-RU" sz="1400" b="1"/>
              <a:t>отчетами из единой модели</a:t>
            </a:r>
            <a:r>
              <a:rPr lang="ru-RU" sz="1600"/>
              <a:t>.</a:t>
            </a:r>
          </a:p>
        </p:txBody>
      </p:sp>
      <p:pic>
        <p:nvPicPr>
          <p:cNvPr id="1041" name="Picture 32" descr="Куб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940425" y="3429000"/>
            <a:ext cx="26257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2" name="Picture 33" descr="Aris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435600" y="3390900"/>
            <a:ext cx="10795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3" name="Picture 34" descr="РИС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72450" y="3379788"/>
            <a:ext cx="76041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6" name="Object 35"/>
          <p:cNvGraphicFramePr>
            <a:graphicFrameLocks noChangeAspect="1"/>
          </p:cNvGraphicFramePr>
          <p:nvPr/>
        </p:nvGraphicFramePr>
        <p:xfrm>
          <a:off x="5651500" y="5445125"/>
          <a:ext cx="11525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12" imgW="7323455" imgH="4549534" progId="PBrush">
                  <p:embed/>
                </p:oleObj>
              </mc:Choice>
              <mc:Fallback>
                <p:oleObj r:id="rId12" imgW="7323455" imgH="4549534" progId="PBrush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445125"/>
                        <a:ext cx="1152525" cy="71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4" name="Picture 36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667625" y="5445125"/>
            <a:ext cx="1190625" cy="67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5" name="Line 40"/>
          <p:cNvSpPr>
            <a:spLocks noChangeShapeType="1"/>
          </p:cNvSpPr>
          <p:nvPr/>
        </p:nvSpPr>
        <p:spPr bwMode="auto">
          <a:xfrm>
            <a:off x="2484438" y="2420938"/>
            <a:ext cx="0" cy="40322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46" name="Line 41"/>
          <p:cNvSpPr>
            <a:spLocks noChangeShapeType="1"/>
          </p:cNvSpPr>
          <p:nvPr/>
        </p:nvSpPr>
        <p:spPr bwMode="auto">
          <a:xfrm>
            <a:off x="5148263" y="981075"/>
            <a:ext cx="0" cy="547211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" name="Номер слайда 2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5F8D6D-BF8A-4C02-A9BB-9BB6B6820C45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0350"/>
            <a:ext cx="8223250" cy="320675"/>
          </a:xfrm>
        </p:spPr>
        <p:txBody>
          <a:bodyPr/>
          <a:lstStyle/>
          <a:p>
            <a:pPr eaLnBrk="1" hangingPunct="1"/>
            <a:r>
              <a:rPr lang="ru-RU" sz="2000" b="1" dirty="0" smtClean="0">
                <a:solidFill>
                  <a:schemeClr val="tx1"/>
                </a:solidFill>
              </a:rPr>
              <a:t>Построение модели компании в системах на основе базы организационных знаний – это подход ОРГ-МАСТЕР</a:t>
            </a:r>
            <a:r>
              <a:rPr lang="en-US" sz="2000" b="1" dirty="0" smtClean="0">
                <a:solidFill>
                  <a:schemeClr val="tx1"/>
                </a:solidFill>
              </a:rPr>
              <a:t>®</a:t>
            </a:r>
          </a:p>
        </p:txBody>
      </p:sp>
      <p:pic>
        <p:nvPicPr>
          <p:cNvPr id="2052" name="Picture 3" descr="Куб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916238" y="1557338"/>
            <a:ext cx="3573462" cy="2903537"/>
          </a:xfrm>
          <a:noFill/>
        </p:spPr>
      </p:pic>
      <p:pic>
        <p:nvPicPr>
          <p:cNvPr id="205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87413" y="2482850"/>
            <a:ext cx="1873250" cy="129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89738" y="1296988"/>
            <a:ext cx="1679575" cy="111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224588" y="1439863"/>
            <a:ext cx="2708275" cy="3579812"/>
            <a:chOff x="3921" y="907"/>
            <a:chExt cx="1706" cy="2255"/>
          </a:xfrm>
        </p:grpSpPr>
        <p:sp>
          <p:nvSpPr>
            <p:cNvPr id="2070" name="Oval 6"/>
            <p:cNvSpPr>
              <a:spLocks noChangeArrowheads="1"/>
            </p:cNvSpPr>
            <p:nvPr/>
          </p:nvSpPr>
          <p:spPr bwMode="auto">
            <a:xfrm>
              <a:off x="5276" y="1067"/>
              <a:ext cx="305" cy="146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rgbClr val="3366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solidFill>
                    <a:srgbClr val="000000"/>
                  </a:solidFill>
                </a:rPr>
                <a:t>…</a:t>
              </a:r>
              <a:endParaRPr lang="ru-RU" sz="1200">
                <a:solidFill>
                  <a:srgbClr val="000000"/>
                </a:solidFill>
              </a:endParaRPr>
            </a:p>
          </p:txBody>
        </p:sp>
        <p:sp>
          <p:nvSpPr>
            <p:cNvPr id="2071" name="Oval 7"/>
            <p:cNvSpPr>
              <a:spLocks noChangeArrowheads="1"/>
            </p:cNvSpPr>
            <p:nvPr/>
          </p:nvSpPr>
          <p:spPr bwMode="auto">
            <a:xfrm>
              <a:off x="5164" y="977"/>
              <a:ext cx="305" cy="136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>
                  <a:latin typeface="Arial Narrow" pitchFamily="34" charset="0"/>
                  <a:cs typeface="Times New Roman" pitchFamily="18" charset="0"/>
                </a:rPr>
                <a:t>DFD</a:t>
              </a:r>
              <a:r>
                <a:rPr lang="ru-RU" sz="1200"/>
                <a:t> </a:t>
              </a:r>
            </a:p>
          </p:txBody>
        </p:sp>
        <p:sp>
          <p:nvSpPr>
            <p:cNvPr id="2072" name="Oval 8"/>
            <p:cNvSpPr>
              <a:spLocks noChangeArrowheads="1"/>
            </p:cNvSpPr>
            <p:nvPr/>
          </p:nvSpPr>
          <p:spPr bwMode="auto">
            <a:xfrm>
              <a:off x="5029" y="907"/>
              <a:ext cx="280" cy="134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>
                  <a:latin typeface="Arial Narrow" pitchFamily="34" charset="0"/>
                  <a:cs typeface="Times New Roman" pitchFamily="18" charset="0"/>
                </a:rPr>
                <a:t>EIDEF</a:t>
              </a:r>
              <a:r>
                <a:rPr lang="ru-RU" sz="1200">
                  <a:latin typeface="Arial Narrow" pitchFamily="34" charset="0"/>
                  <a:cs typeface="Times New Roman" pitchFamily="18" charset="0"/>
                </a:rPr>
                <a:t>0</a:t>
              </a:r>
              <a:r>
                <a:rPr lang="ru-RU" sz="1200"/>
                <a:t> </a:t>
              </a:r>
            </a:p>
          </p:txBody>
        </p:sp>
        <p:pic>
          <p:nvPicPr>
            <p:cNvPr id="2073" name="Picture 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949" y="1020"/>
              <a:ext cx="1098" cy="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74" name="Oval 10"/>
            <p:cNvSpPr>
              <a:spLocks noChangeArrowheads="1"/>
            </p:cNvSpPr>
            <p:nvPr/>
          </p:nvSpPr>
          <p:spPr bwMode="auto">
            <a:xfrm>
              <a:off x="3921" y="1131"/>
              <a:ext cx="280" cy="134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/>
                <a:t>IDEF0</a:t>
              </a:r>
              <a:endParaRPr lang="ru-RU" sz="1200"/>
            </a:p>
          </p:txBody>
        </p:sp>
        <p:graphicFrame>
          <p:nvGraphicFramePr>
            <p:cNvPr id="2050" name="Object 11"/>
            <p:cNvGraphicFramePr>
              <a:graphicFrameLocks noChangeAspect="1"/>
            </p:cNvGraphicFramePr>
            <p:nvPr/>
          </p:nvGraphicFramePr>
          <p:xfrm>
            <a:off x="4069" y="1676"/>
            <a:ext cx="1342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r:id="rId8" imgW="7323455" imgH="4549534" progId="PBrush">
                    <p:embed/>
                  </p:oleObj>
                </mc:Choice>
                <mc:Fallback>
                  <p:oleObj r:id="rId8" imgW="7323455" imgH="4549534" progId="PBrush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9" y="1676"/>
                          <a:ext cx="1342" cy="8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75" name="Picture 12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197" y="2346"/>
              <a:ext cx="143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56" name="AutoShape 13"/>
          <p:cNvSpPr>
            <a:spLocks noChangeArrowheads="1"/>
          </p:cNvSpPr>
          <p:nvPr/>
        </p:nvSpPr>
        <p:spPr bwMode="auto">
          <a:xfrm>
            <a:off x="4081463" y="2611438"/>
            <a:ext cx="1193800" cy="736600"/>
          </a:xfrm>
          <a:prstGeom prst="cube">
            <a:avLst>
              <a:gd name="adj" fmla="val 0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200">
                <a:solidFill>
                  <a:srgbClr val="FFFFFF"/>
                </a:solidFill>
                <a:latin typeface="Impact" pitchFamily="34" charset="0"/>
              </a:rPr>
              <a:t>Единая модель</a:t>
            </a:r>
          </a:p>
          <a:p>
            <a:pPr algn="ctr"/>
            <a:r>
              <a:rPr lang="ru-RU" sz="1200">
                <a:solidFill>
                  <a:srgbClr val="FFFFFF"/>
                </a:solidFill>
                <a:latin typeface="Impact" pitchFamily="34" charset="0"/>
              </a:rPr>
              <a:t>Деятельности</a:t>
            </a:r>
          </a:p>
          <a:p>
            <a:pPr algn="ctr"/>
            <a:r>
              <a:rPr lang="ru-RU" sz="1200">
                <a:solidFill>
                  <a:srgbClr val="FFFFFF"/>
                </a:solidFill>
                <a:latin typeface="Impact" pitchFamily="34" charset="0"/>
              </a:rPr>
              <a:t> (база знаний)</a:t>
            </a:r>
          </a:p>
        </p:txBody>
      </p:sp>
      <p:sp>
        <p:nvSpPr>
          <p:cNvPr id="2057" name="Text Box 14"/>
          <p:cNvSpPr txBox="1">
            <a:spLocks noChangeArrowheads="1"/>
          </p:cNvSpPr>
          <p:nvPr/>
        </p:nvSpPr>
        <p:spPr bwMode="auto">
          <a:xfrm>
            <a:off x="250825" y="1204913"/>
            <a:ext cx="3141663" cy="1216025"/>
          </a:xfrm>
          <a:prstGeom prst="rect">
            <a:avLst/>
          </a:prstGeom>
          <a:solidFill>
            <a:srgbClr val="EFF9F9"/>
          </a:solidFill>
          <a:ln w="57150" algn="ctr">
            <a:solidFill>
              <a:srgbClr val="8693A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000"/>
              <a:t>Иерархический справочник Функций, в котором можно выделить следующие разделы: Основные (связанные с задачами по реализации Государственных услуг, Внешних процессов и Поручений), Управленческие (внутреннее управление) и Обеспечивающие (внутреннее обеспечение)</a:t>
            </a:r>
            <a:r>
              <a:rPr lang="ru-RU" sz="700"/>
              <a:t> </a:t>
            </a:r>
            <a:endParaRPr lang="ru-RU"/>
          </a:p>
        </p:txBody>
      </p:sp>
      <p:pic>
        <p:nvPicPr>
          <p:cNvPr id="2058" name="Picture 15"/>
          <p:cNvPicPr>
            <a:picLocks noGrp="1" noChangeAspect="1" noChangeArrowheads="1"/>
          </p:cNvPicPr>
          <p:nvPr>
            <p:ph sz="half" idx="2"/>
          </p:nvPr>
        </p:nvPicPr>
        <p:blipFill>
          <a:blip r:embed="rId11" cstate="print"/>
          <a:srcRect/>
          <a:stretch>
            <a:fillRect/>
          </a:stretch>
        </p:blipFill>
        <p:spPr>
          <a:xfrm>
            <a:off x="1311275" y="3519488"/>
            <a:ext cx="1752600" cy="1268412"/>
          </a:xfrm>
          <a:solidFill>
            <a:schemeClr val="bg1"/>
          </a:solidFill>
        </p:spPr>
      </p:pic>
      <p:sp>
        <p:nvSpPr>
          <p:cNvPr id="2059" name="Text Box 16"/>
          <p:cNvSpPr txBox="1">
            <a:spLocks noChangeArrowheads="1"/>
          </p:cNvSpPr>
          <p:nvPr/>
        </p:nvSpPr>
        <p:spPr bwMode="auto">
          <a:xfrm>
            <a:off x="971550" y="2968625"/>
            <a:ext cx="1711325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1400" b="1"/>
              <a:t>Псевдографика</a:t>
            </a:r>
          </a:p>
        </p:txBody>
      </p:sp>
      <p:sp>
        <p:nvSpPr>
          <p:cNvPr id="2060" name="Text Box 17"/>
          <p:cNvSpPr txBox="1">
            <a:spLocks noChangeArrowheads="1"/>
          </p:cNvSpPr>
          <p:nvPr/>
        </p:nvSpPr>
        <p:spPr bwMode="auto">
          <a:xfrm>
            <a:off x="995363" y="4094163"/>
            <a:ext cx="1920875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/>
              <a:t>Простая графика</a:t>
            </a:r>
          </a:p>
        </p:txBody>
      </p:sp>
      <p:sp>
        <p:nvSpPr>
          <p:cNvPr id="2061" name="Text Box 18"/>
          <p:cNvSpPr txBox="1">
            <a:spLocks noChangeArrowheads="1"/>
          </p:cNvSpPr>
          <p:nvPr/>
        </p:nvSpPr>
        <p:spPr bwMode="auto">
          <a:xfrm>
            <a:off x="134938" y="908050"/>
            <a:ext cx="3357562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/>
              <a:t>Ввод информации в модель</a:t>
            </a:r>
          </a:p>
        </p:txBody>
      </p:sp>
      <p:sp>
        <p:nvSpPr>
          <p:cNvPr id="2062" name="Text Box 19"/>
          <p:cNvSpPr txBox="1">
            <a:spLocks noChangeArrowheads="1"/>
          </p:cNvSpPr>
          <p:nvPr/>
        </p:nvSpPr>
        <p:spPr bwMode="auto">
          <a:xfrm>
            <a:off x="5099050" y="908050"/>
            <a:ext cx="44418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/>
              <a:t>Вывод отчетов- диаграмм, регламентов</a:t>
            </a:r>
          </a:p>
        </p:txBody>
      </p:sp>
      <p:pic>
        <p:nvPicPr>
          <p:cNvPr id="2063" name="Picture 20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489325" y="4508500"/>
            <a:ext cx="2503488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4" name="Line 21"/>
          <p:cNvSpPr>
            <a:spLocks noChangeShapeType="1"/>
          </p:cNvSpPr>
          <p:nvPr/>
        </p:nvSpPr>
        <p:spPr bwMode="auto">
          <a:xfrm>
            <a:off x="4659313" y="3482975"/>
            <a:ext cx="0" cy="1016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2065" name="Picture 22" descr="ОРГ-Мастер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20675" y="4391025"/>
            <a:ext cx="123825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6" name="Picture 23" descr="кк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770813" y="4983163"/>
            <a:ext cx="1192212" cy="1309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7" name="Text Box 24"/>
          <p:cNvSpPr txBox="1">
            <a:spLocks noChangeArrowheads="1"/>
          </p:cNvSpPr>
          <p:nvPr/>
        </p:nvSpPr>
        <p:spPr bwMode="auto">
          <a:xfrm>
            <a:off x="1187450" y="1196975"/>
            <a:ext cx="1920875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Текст</a:t>
            </a:r>
          </a:p>
        </p:txBody>
      </p:sp>
      <p:sp>
        <p:nvSpPr>
          <p:cNvPr id="376857" name="Text Box 25"/>
          <p:cNvSpPr txBox="1">
            <a:spLocks noChangeArrowheads="1"/>
          </p:cNvSpPr>
          <p:nvPr/>
        </p:nvSpPr>
        <p:spPr bwMode="auto">
          <a:xfrm>
            <a:off x="0" y="6237288"/>
            <a:ext cx="93329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>
                <a:solidFill>
                  <a:srgbClr val="FF3300"/>
                </a:solidFill>
              </a:rPr>
              <a:t>Ключевая концепция (</a:t>
            </a:r>
            <a:r>
              <a:rPr lang="en-US" sz="1400" b="1">
                <a:solidFill>
                  <a:srgbClr val="FF3300"/>
                </a:solidFill>
              </a:rPr>
              <a:t>Core concept</a:t>
            </a:r>
            <a:r>
              <a:rPr lang="ru-RU" sz="1400" b="1">
                <a:solidFill>
                  <a:srgbClr val="FF3300"/>
                </a:solidFill>
              </a:rPr>
              <a:t>) </a:t>
            </a:r>
            <a:r>
              <a:rPr lang="en-US" sz="1400" b="1">
                <a:solidFill>
                  <a:srgbClr val="FF3300"/>
                </a:solidFill>
              </a:rPr>
              <a:t>– </a:t>
            </a:r>
            <a:r>
              <a:rPr lang="ru-RU" sz="1400" b="1">
                <a:solidFill>
                  <a:srgbClr val="FF3300"/>
                </a:solidFill>
              </a:rPr>
              <a:t>разделение языков внешнего и внутреннего представления</a:t>
            </a:r>
          </a:p>
        </p:txBody>
      </p:sp>
      <p:sp>
        <p:nvSpPr>
          <p:cNvPr id="2069" name="Text Box 27"/>
          <p:cNvSpPr txBox="1">
            <a:spLocks noChangeArrowheads="1"/>
          </p:cNvSpPr>
          <p:nvPr/>
        </p:nvSpPr>
        <p:spPr bwMode="auto">
          <a:xfrm>
            <a:off x="3276600" y="6021388"/>
            <a:ext cx="316706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b="1"/>
              <a:t>Внутреннее представление</a:t>
            </a:r>
          </a:p>
        </p:txBody>
      </p:sp>
      <p:sp>
        <p:nvSpPr>
          <p:cNvPr id="30" name="Номер слайда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5F8D6D-BF8A-4C02-A9BB-9BB6B6820C45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376857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5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Куб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32125" y="2928938"/>
            <a:ext cx="3092450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187325"/>
            <a:ext cx="8515350" cy="504825"/>
          </a:xfrm>
        </p:spPr>
        <p:txBody>
          <a:bodyPr/>
          <a:lstStyle/>
          <a:p>
            <a:pPr marL="0" eaLnBrk="1" hangingPunct="1"/>
            <a:r>
              <a:rPr lang="ru-RU" sz="2000" b="1" dirty="0" smtClean="0">
                <a:solidFill>
                  <a:schemeClr val="tx1"/>
                </a:solidFill>
              </a:rPr>
              <a:t>Внешнее представление:</a:t>
            </a:r>
            <a:r>
              <a:rPr lang="ru-RU" sz="2000" dirty="0" smtClean="0">
                <a:solidFill>
                  <a:schemeClr val="tx1"/>
                </a:solidFill>
              </a:rPr>
              <a:t> Разные потребители </a:t>
            </a:r>
            <a:r>
              <a:rPr lang="en-US" sz="2000" dirty="0" smtClean="0">
                <a:solidFill>
                  <a:schemeClr val="tx1"/>
                </a:solidFill>
              </a:rPr>
              <a:t>&gt; </a:t>
            </a:r>
            <a:r>
              <a:rPr lang="ru-RU" sz="2000" dirty="0" smtClean="0">
                <a:solidFill>
                  <a:schemeClr val="tx1"/>
                </a:solidFill>
              </a:rPr>
              <a:t>Разные потребности </a:t>
            </a:r>
            <a:r>
              <a:rPr lang="en-US" sz="2000" dirty="0" smtClean="0">
                <a:solidFill>
                  <a:schemeClr val="tx1"/>
                </a:solidFill>
              </a:rPr>
              <a:t>&gt; </a:t>
            </a:r>
            <a:r>
              <a:rPr lang="ru-RU" sz="2000" dirty="0" smtClean="0">
                <a:solidFill>
                  <a:schemeClr val="tx1"/>
                </a:solidFill>
              </a:rPr>
              <a:t>Разная информация </a:t>
            </a:r>
            <a:r>
              <a:rPr lang="en-US" sz="2000" dirty="0" smtClean="0">
                <a:solidFill>
                  <a:schemeClr val="tx1"/>
                </a:solidFill>
              </a:rPr>
              <a:t>&gt; </a:t>
            </a:r>
            <a:r>
              <a:rPr lang="ru-RU" sz="2000" dirty="0" smtClean="0">
                <a:solidFill>
                  <a:schemeClr val="tx1"/>
                </a:solidFill>
              </a:rPr>
              <a:t>Разные аспекты модели!</a:t>
            </a:r>
          </a:p>
        </p:txBody>
      </p:sp>
      <p:sp>
        <p:nvSpPr>
          <p:cNvPr id="37892" name="AutoShape 8"/>
          <p:cNvSpPr>
            <a:spLocks noChangeArrowheads="1"/>
          </p:cNvSpPr>
          <p:nvPr/>
        </p:nvSpPr>
        <p:spPr bwMode="auto">
          <a:xfrm>
            <a:off x="3792538" y="3798888"/>
            <a:ext cx="1419225" cy="738187"/>
          </a:xfrm>
          <a:prstGeom prst="cube">
            <a:avLst>
              <a:gd name="adj" fmla="val 0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Единая модель</a:t>
            </a:r>
          </a:p>
          <a:p>
            <a:pPr algn="ctr"/>
            <a:r>
              <a:rPr lang="ru-RU" sz="1400"/>
              <a:t>Деятельности</a:t>
            </a:r>
          </a:p>
          <a:p>
            <a:pPr algn="ctr"/>
            <a:r>
              <a:rPr lang="ru-RU" sz="1400"/>
              <a:t> (база знаний)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128713" y="3146425"/>
            <a:ext cx="2500312" cy="979488"/>
            <a:chOff x="501" y="1702"/>
            <a:chExt cx="1575" cy="617"/>
          </a:xfrm>
        </p:grpSpPr>
        <p:sp>
          <p:nvSpPr>
            <p:cNvPr id="37923" name="Rectangle 10"/>
            <p:cNvSpPr>
              <a:spLocks noChangeArrowheads="1"/>
            </p:cNvSpPr>
            <p:nvPr/>
          </p:nvSpPr>
          <p:spPr bwMode="auto">
            <a:xfrm>
              <a:off x="501" y="1994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2</a:t>
              </a:r>
            </a:p>
          </p:txBody>
        </p:sp>
        <p:cxnSp>
          <p:nvCxnSpPr>
            <p:cNvPr id="37924" name="AutoShape 11"/>
            <p:cNvCxnSpPr>
              <a:cxnSpLocks noChangeShapeType="1"/>
            </p:cNvCxnSpPr>
            <p:nvPr/>
          </p:nvCxnSpPr>
          <p:spPr bwMode="auto">
            <a:xfrm flipH="1" flipV="1">
              <a:off x="765" y="1702"/>
              <a:ext cx="1311" cy="61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173163" y="4233863"/>
            <a:ext cx="2454275" cy="1263650"/>
            <a:chOff x="519" y="2337"/>
            <a:chExt cx="1546" cy="796"/>
          </a:xfrm>
        </p:grpSpPr>
        <p:cxnSp>
          <p:nvCxnSpPr>
            <p:cNvPr id="37921" name="AutoShape 13"/>
            <p:cNvCxnSpPr>
              <a:cxnSpLocks noChangeShapeType="1"/>
            </p:cNvCxnSpPr>
            <p:nvPr/>
          </p:nvCxnSpPr>
          <p:spPr bwMode="auto">
            <a:xfrm flipH="1">
              <a:off x="771" y="2337"/>
              <a:ext cx="1294" cy="7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  <p:sp>
          <p:nvSpPr>
            <p:cNvPr id="37922" name="Rectangle 14"/>
            <p:cNvSpPr>
              <a:spLocks noChangeArrowheads="1"/>
            </p:cNvSpPr>
            <p:nvPr/>
          </p:nvSpPr>
          <p:spPr bwMode="auto">
            <a:xfrm>
              <a:off x="519" y="2560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3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484813" y="3219450"/>
            <a:ext cx="2447925" cy="949325"/>
            <a:chOff x="3715" y="1708"/>
            <a:chExt cx="1542" cy="598"/>
          </a:xfrm>
        </p:grpSpPr>
        <p:cxnSp>
          <p:nvCxnSpPr>
            <p:cNvPr id="37919" name="AutoShape 16"/>
            <p:cNvCxnSpPr>
              <a:cxnSpLocks noChangeShapeType="1"/>
            </p:cNvCxnSpPr>
            <p:nvPr/>
          </p:nvCxnSpPr>
          <p:spPr bwMode="auto">
            <a:xfrm flipV="1">
              <a:off x="3715" y="1708"/>
              <a:ext cx="1298" cy="59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  <p:sp>
          <p:nvSpPr>
            <p:cNvPr id="37920" name="Rectangle 17"/>
            <p:cNvSpPr>
              <a:spLocks noChangeArrowheads="1"/>
            </p:cNvSpPr>
            <p:nvPr/>
          </p:nvSpPr>
          <p:spPr bwMode="auto">
            <a:xfrm>
              <a:off x="4463" y="1954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5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5484813" y="4216400"/>
            <a:ext cx="2476500" cy="1108075"/>
            <a:chOff x="3715" y="2336"/>
            <a:chExt cx="1560" cy="698"/>
          </a:xfrm>
        </p:grpSpPr>
        <p:cxnSp>
          <p:nvCxnSpPr>
            <p:cNvPr id="37917" name="AutoShape 19"/>
            <p:cNvCxnSpPr>
              <a:cxnSpLocks noChangeShapeType="1"/>
            </p:cNvCxnSpPr>
            <p:nvPr/>
          </p:nvCxnSpPr>
          <p:spPr bwMode="auto">
            <a:xfrm>
              <a:off x="3715" y="2336"/>
              <a:ext cx="1304" cy="69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  <p:sp>
          <p:nvSpPr>
            <p:cNvPr id="37918" name="Rectangle 20"/>
            <p:cNvSpPr>
              <a:spLocks noChangeArrowheads="1"/>
            </p:cNvSpPr>
            <p:nvPr/>
          </p:nvSpPr>
          <p:spPr bwMode="auto">
            <a:xfrm>
              <a:off x="4481" y="2520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4</a:t>
              </a:r>
            </a:p>
          </p:txBody>
        </p:sp>
      </p:grpSp>
      <p:sp>
        <p:nvSpPr>
          <p:cNvPr id="37897" name="Rectangle 22"/>
          <p:cNvSpPr>
            <a:spLocks noChangeArrowheads="1"/>
          </p:cNvSpPr>
          <p:nvPr/>
        </p:nvSpPr>
        <p:spPr bwMode="auto">
          <a:xfrm>
            <a:off x="107950" y="5829300"/>
            <a:ext cx="2663825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Контролирующие и    </a:t>
            </a:r>
          </a:p>
          <a:p>
            <a:pPr algn="ctr"/>
            <a:r>
              <a:rPr lang="ru-RU" sz="1400" b="1"/>
              <a:t>сертифицирующие </a:t>
            </a:r>
          </a:p>
          <a:p>
            <a:pPr algn="ctr"/>
            <a:r>
              <a:rPr lang="ru-RU" sz="1400" b="1"/>
              <a:t>организации</a:t>
            </a:r>
          </a:p>
        </p:txBody>
      </p:sp>
      <p:sp>
        <p:nvSpPr>
          <p:cNvPr id="37898" name="Rectangle 23"/>
          <p:cNvSpPr>
            <a:spLocks noChangeArrowheads="1"/>
          </p:cNvSpPr>
          <p:nvPr/>
        </p:nvSpPr>
        <p:spPr bwMode="auto">
          <a:xfrm>
            <a:off x="6300788" y="5829300"/>
            <a:ext cx="2663825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Специалисты по </a:t>
            </a:r>
            <a:r>
              <a:rPr lang="en-US" sz="1400" b="1"/>
              <a:t>IT</a:t>
            </a:r>
            <a:endParaRPr lang="ru-RU" sz="1400" b="1"/>
          </a:p>
        </p:txBody>
      </p:sp>
      <p:sp>
        <p:nvSpPr>
          <p:cNvPr id="37899" name="Rectangle 24"/>
          <p:cNvSpPr>
            <a:spLocks noChangeArrowheads="1"/>
          </p:cNvSpPr>
          <p:nvPr/>
        </p:nvSpPr>
        <p:spPr bwMode="auto">
          <a:xfrm>
            <a:off x="107950" y="136525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Партнеры и контрагенты</a:t>
            </a:r>
          </a:p>
        </p:txBody>
      </p:sp>
      <p:sp>
        <p:nvSpPr>
          <p:cNvPr id="37900" name="Rectangle 25"/>
          <p:cNvSpPr>
            <a:spLocks noChangeArrowheads="1"/>
          </p:cNvSpPr>
          <p:nvPr/>
        </p:nvSpPr>
        <p:spPr bwMode="auto">
          <a:xfrm>
            <a:off x="3206750" y="582930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Сотрудники</a:t>
            </a:r>
          </a:p>
        </p:txBody>
      </p:sp>
      <p:sp>
        <p:nvSpPr>
          <p:cNvPr id="37901" name="Rectangle 26"/>
          <p:cNvSpPr>
            <a:spLocks noChangeArrowheads="1"/>
          </p:cNvSpPr>
          <p:nvPr/>
        </p:nvSpPr>
        <p:spPr bwMode="auto">
          <a:xfrm>
            <a:off x="6303963" y="136525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Аналитики</a:t>
            </a:r>
          </a:p>
        </p:txBody>
      </p:sp>
      <p:sp>
        <p:nvSpPr>
          <p:cNvPr id="37902" name="Rectangle 27"/>
          <p:cNvSpPr>
            <a:spLocks noChangeArrowheads="1"/>
          </p:cNvSpPr>
          <p:nvPr/>
        </p:nvSpPr>
        <p:spPr bwMode="auto">
          <a:xfrm>
            <a:off x="2552700" y="2676525"/>
            <a:ext cx="1260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ФОРМАТ 1</a:t>
            </a:r>
          </a:p>
        </p:txBody>
      </p:sp>
      <p:cxnSp>
        <p:nvCxnSpPr>
          <p:cNvPr id="37903" name="AutoShape 28"/>
          <p:cNvCxnSpPr>
            <a:cxnSpLocks noChangeShapeType="1"/>
          </p:cNvCxnSpPr>
          <p:nvPr/>
        </p:nvCxnSpPr>
        <p:spPr bwMode="auto">
          <a:xfrm flipH="1" flipV="1">
            <a:off x="3903663" y="2565400"/>
            <a:ext cx="6350" cy="93345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</p:cxnSp>
      <p:cxnSp>
        <p:nvCxnSpPr>
          <p:cNvPr id="37904" name="AutoShape 29"/>
          <p:cNvCxnSpPr>
            <a:cxnSpLocks noChangeShapeType="1"/>
          </p:cNvCxnSpPr>
          <p:nvPr/>
        </p:nvCxnSpPr>
        <p:spPr bwMode="auto">
          <a:xfrm flipV="1">
            <a:off x="5449888" y="2844800"/>
            <a:ext cx="1914525" cy="9382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905" name="AutoShape 30"/>
          <p:cNvCxnSpPr>
            <a:cxnSpLocks noChangeShapeType="1"/>
          </p:cNvCxnSpPr>
          <p:nvPr/>
        </p:nvCxnSpPr>
        <p:spPr bwMode="auto">
          <a:xfrm flipH="1" flipV="1">
            <a:off x="1577975" y="2778125"/>
            <a:ext cx="2057400" cy="958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906" name="AutoShape 31"/>
          <p:cNvCxnSpPr>
            <a:cxnSpLocks noChangeShapeType="1"/>
          </p:cNvCxnSpPr>
          <p:nvPr/>
        </p:nvCxnSpPr>
        <p:spPr bwMode="auto">
          <a:xfrm flipH="1">
            <a:off x="1751013" y="4648200"/>
            <a:ext cx="1855787" cy="11017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907" name="AutoShape 32"/>
          <p:cNvCxnSpPr>
            <a:cxnSpLocks noChangeShapeType="1"/>
          </p:cNvCxnSpPr>
          <p:nvPr/>
        </p:nvCxnSpPr>
        <p:spPr bwMode="auto">
          <a:xfrm>
            <a:off x="5449888" y="4632325"/>
            <a:ext cx="2087562" cy="1117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7908" name="AutoShape 33"/>
          <p:cNvCxnSpPr>
            <a:cxnSpLocks noChangeShapeType="1"/>
          </p:cNvCxnSpPr>
          <p:nvPr/>
        </p:nvCxnSpPr>
        <p:spPr bwMode="auto">
          <a:xfrm flipH="1" flipV="1">
            <a:off x="5246688" y="2466975"/>
            <a:ext cx="6350" cy="10588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7909" name="Text Box 34"/>
          <p:cNvSpPr txBox="1">
            <a:spLocks noChangeArrowheads="1"/>
          </p:cNvSpPr>
          <p:nvPr/>
        </p:nvSpPr>
        <p:spPr bwMode="auto">
          <a:xfrm>
            <a:off x="5334000" y="256063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Инф1</a:t>
            </a:r>
          </a:p>
        </p:txBody>
      </p:sp>
      <p:sp>
        <p:nvSpPr>
          <p:cNvPr id="37910" name="Text Box 35"/>
          <p:cNvSpPr txBox="1">
            <a:spLocks noChangeArrowheads="1"/>
          </p:cNvSpPr>
          <p:nvPr/>
        </p:nvSpPr>
        <p:spPr bwMode="auto">
          <a:xfrm>
            <a:off x="1389063" y="242728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Инф2</a:t>
            </a:r>
          </a:p>
        </p:txBody>
      </p:sp>
      <p:sp>
        <p:nvSpPr>
          <p:cNvPr id="37911" name="Text Box 36"/>
          <p:cNvSpPr txBox="1">
            <a:spLocks noChangeArrowheads="1"/>
          </p:cNvSpPr>
          <p:nvPr/>
        </p:nvSpPr>
        <p:spPr bwMode="auto">
          <a:xfrm>
            <a:off x="2241550" y="547528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Инф3</a:t>
            </a:r>
          </a:p>
        </p:txBody>
      </p:sp>
      <p:sp>
        <p:nvSpPr>
          <p:cNvPr id="37912" name="Text Box 37"/>
          <p:cNvSpPr txBox="1">
            <a:spLocks noChangeArrowheads="1"/>
          </p:cNvSpPr>
          <p:nvPr/>
        </p:nvSpPr>
        <p:spPr bwMode="auto">
          <a:xfrm>
            <a:off x="6099175" y="544353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Инф4</a:t>
            </a:r>
          </a:p>
        </p:txBody>
      </p:sp>
      <p:sp>
        <p:nvSpPr>
          <p:cNvPr id="37913" name="Text Box 38"/>
          <p:cNvSpPr txBox="1">
            <a:spLocks noChangeArrowheads="1"/>
          </p:cNvSpPr>
          <p:nvPr/>
        </p:nvSpPr>
        <p:spPr bwMode="auto">
          <a:xfrm>
            <a:off x="6554788" y="2487613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Инф5</a:t>
            </a:r>
          </a:p>
        </p:txBody>
      </p:sp>
      <p:sp>
        <p:nvSpPr>
          <p:cNvPr id="37914" name="Rectangle 39"/>
          <p:cNvSpPr>
            <a:spLocks noChangeArrowheads="1"/>
          </p:cNvSpPr>
          <p:nvPr/>
        </p:nvSpPr>
        <p:spPr bwMode="auto">
          <a:xfrm>
            <a:off x="3206750" y="136525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Высшее руководство</a:t>
            </a:r>
          </a:p>
        </p:txBody>
      </p:sp>
      <p:sp>
        <p:nvSpPr>
          <p:cNvPr id="37915" name="Line 40"/>
          <p:cNvSpPr>
            <a:spLocks noChangeShapeType="1"/>
          </p:cNvSpPr>
          <p:nvPr/>
        </p:nvSpPr>
        <p:spPr bwMode="auto">
          <a:xfrm>
            <a:off x="3924300" y="5157788"/>
            <a:ext cx="14288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16" name="Line 41"/>
          <p:cNvSpPr>
            <a:spLocks noChangeShapeType="1"/>
          </p:cNvSpPr>
          <p:nvPr/>
        </p:nvSpPr>
        <p:spPr bwMode="auto">
          <a:xfrm flipH="1" flipV="1">
            <a:off x="5076825" y="5084763"/>
            <a:ext cx="12700" cy="6238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9" name="Номер слайда 3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B131C7-64F0-4E8F-AEE1-D053497741E1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1410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827088" y="1844675"/>
          <a:ext cx="6719887" cy="446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Точечный рисунок" r:id="rId4" imgW="5504762" imgH="4982270" progId="PBrush">
                  <p:embed/>
                </p:oleObj>
              </mc:Choice>
              <mc:Fallback>
                <p:oleObj name="Точечный рисунок" r:id="rId4" imgW="5504762" imgH="498227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44675"/>
                        <a:ext cx="6719887" cy="446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908175" y="1773238"/>
            <a:ext cx="5307013" cy="3986212"/>
            <a:chOff x="667" y="510"/>
            <a:chExt cx="4672" cy="3583"/>
          </a:xfrm>
        </p:grpSpPr>
        <p:sp>
          <p:nvSpPr>
            <p:cNvPr id="3079" name="Oval 4"/>
            <p:cNvSpPr>
              <a:spLocks noChangeArrowheads="1"/>
            </p:cNvSpPr>
            <p:nvPr/>
          </p:nvSpPr>
          <p:spPr bwMode="auto">
            <a:xfrm>
              <a:off x="2482" y="510"/>
              <a:ext cx="1015" cy="4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 b="1">
                  <a:solidFill>
                    <a:schemeClr val="bg1"/>
                  </a:solidFill>
                </a:rPr>
                <a:t>Бизнес-</a:t>
              </a:r>
            </a:p>
            <a:p>
              <a:pPr algn="ctr"/>
              <a:r>
                <a:rPr lang="ru-RU" sz="1400" b="1">
                  <a:solidFill>
                    <a:schemeClr val="bg1"/>
                  </a:solidFill>
                </a:rPr>
                <a:t>концепция</a:t>
              </a:r>
            </a:p>
          </p:txBody>
        </p:sp>
        <p:sp>
          <p:nvSpPr>
            <p:cNvPr id="3080" name="Oval 5"/>
            <p:cNvSpPr>
              <a:spLocks noChangeArrowheads="1"/>
            </p:cNvSpPr>
            <p:nvPr/>
          </p:nvSpPr>
          <p:spPr bwMode="auto">
            <a:xfrm>
              <a:off x="2495" y="1566"/>
              <a:ext cx="1015" cy="45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Цели и</a:t>
              </a:r>
            </a:p>
            <a:p>
              <a:pPr algn="ctr"/>
              <a:r>
                <a:rPr lang="ru-RU" sz="1400"/>
                <a:t> показатели</a:t>
              </a:r>
            </a:p>
          </p:txBody>
        </p:sp>
        <p:sp>
          <p:nvSpPr>
            <p:cNvPr id="3081" name="Oval 6"/>
            <p:cNvSpPr>
              <a:spLocks noChangeArrowheads="1"/>
            </p:cNvSpPr>
            <p:nvPr/>
          </p:nvSpPr>
          <p:spPr bwMode="auto">
            <a:xfrm>
              <a:off x="2495" y="2294"/>
              <a:ext cx="1015" cy="451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Процессы</a:t>
              </a:r>
            </a:p>
          </p:txBody>
        </p:sp>
        <p:sp>
          <p:nvSpPr>
            <p:cNvPr id="3082" name="Oval 7"/>
            <p:cNvSpPr>
              <a:spLocks noChangeArrowheads="1"/>
            </p:cNvSpPr>
            <p:nvPr/>
          </p:nvSpPr>
          <p:spPr bwMode="auto">
            <a:xfrm>
              <a:off x="1846" y="3642"/>
              <a:ext cx="1015" cy="45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Организация</a:t>
              </a:r>
            </a:p>
          </p:txBody>
        </p:sp>
        <p:sp>
          <p:nvSpPr>
            <p:cNvPr id="3083" name="Oval 8"/>
            <p:cNvSpPr>
              <a:spLocks noChangeArrowheads="1"/>
            </p:cNvSpPr>
            <p:nvPr/>
          </p:nvSpPr>
          <p:spPr bwMode="auto">
            <a:xfrm>
              <a:off x="4323" y="3642"/>
              <a:ext cx="1016" cy="451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>
                  <a:solidFill>
                    <a:schemeClr val="bg1"/>
                  </a:solidFill>
                </a:rPr>
                <a:t>Информация</a:t>
              </a:r>
            </a:p>
          </p:txBody>
        </p:sp>
        <p:sp>
          <p:nvSpPr>
            <p:cNvPr id="3084" name="Oval 9"/>
            <p:cNvSpPr>
              <a:spLocks noChangeArrowheads="1"/>
            </p:cNvSpPr>
            <p:nvPr/>
          </p:nvSpPr>
          <p:spPr bwMode="auto">
            <a:xfrm>
              <a:off x="713" y="827"/>
              <a:ext cx="1015" cy="4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Рынок и внешняя </a:t>
              </a:r>
            </a:p>
            <a:p>
              <a:pPr algn="ctr"/>
              <a:r>
                <a:rPr lang="ru-RU" sz="1400"/>
                <a:t>среда</a:t>
              </a:r>
            </a:p>
          </p:txBody>
        </p:sp>
        <p:sp>
          <p:nvSpPr>
            <p:cNvPr id="3085" name="Oval 10"/>
            <p:cNvSpPr>
              <a:spLocks noChangeArrowheads="1"/>
            </p:cNvSpPr>
            <p:nvPr/>
          </p:nvSpPr>
          <p:spPr bwMode="auto">
            <a:xfrm>
              <a:off x="4160" y="827"/>
              <a:ext cx="1016" cy="451"/>
            </a:xfrm>
            <a:prstGeom prst="ellipse">
              <a:avLst/>
            </a:prstGeom>
            <a:solidFill>
              <a:srgbClr val="E4F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Финансы</a:t>
              </a:r>
            </a:p>
          </p:txBody>
        </p:sp>
        <p:sp>
          <p:nvSpPr>
            <p:cNvPr id="3086" name="Oval 11"/>
            <p:cNvSpPr>
              <a:spLocks noChangeArrowheads="1"/>
            </p:cNvSpPr>
            <p:nvPr/>
          </p:nvSpPr>
          <p:spPr bwMode="auto">
            <a:xfrm>
              <a:off x="3145" y="3642"/>
              <a:ext cx="1015" cy="451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Персонал</a:t>
              </a:r>
            </a:p>
          </p:txBody>
        </p:sp>
        <p:sp>
          <p:nvSpPr>
            <p:cNvPr id="3087" name="Oval 12"/>
            <p:cNvSpPr>
              <a:spLocks noChangeArrowheads="1"/>
            </p:cNvSpPr>
            <p:nvPr/>
          </p:nvSpPr>
          <p:spPr bwMode="auto">
            <a:xfrm>
              <a:off x="667" y="3642"/>
              <a:ext cx="1016" cy="45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Материальные </a:t>
              </a:r>
            </a:p>
            <a:p>
              <a:pPr algn="ctr"/>
              <a:r>
                <a:rPr lang="ru-RU" sz="1400"/>
                <a:t>ресурсы</a:t>
              </a:r>
            </a:p>
          </p:txBody>
        </p:sp>
        <p:cxnSp>
          <p:nvCxnSpPr>
            <p:cNvPr id="3088" name="AutoShape 13"/>
            <p:cNvCxnSpPr>
              <a:cxnSpLocks noChangeShapeType="1"/>
              <a:stCxn id="3084" idx="0"/>
              <a:endCxn id="3079" idx="2"/>
            </p:cNvCxnSpPr>
            <p:nvPr/>
          </p:nvCxnSpPr>
          <p:spPr bwMode="auto">
            <a:xfrm flipV="1">
              <a:off x="1221" y="728"/>
              <a:ext cx="1261" cy="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3089" name="AutoShape 14"/>
            <p:cNvCxnSpPr>
              <a:cxnSpLocks noChangeShapeType="1"/>
            </p:cNvCxnSpPr>
            <p:nvPr/>
          </p:nvCxnSpPr>
          <p:spPr bwMode="auto">
            <a:xfrm>
              <a:off x="1393" y="1281"/>
              <a:ext cx="1147" cy="114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90" name="AutoShape 15"/>
            <p:cNvCxnSpPr>
              <a:cxnSpLocks noChangeShapeType="1"/>
            </p:cNvCxnSpPr>
            <p:nvPr/>
          </p:nvCxnSpPr>
          <p:spPr bwMode="auto">
            <a:xfrm flipV="1">
              <a:off x="3480" y="1281"/>
              <a:ext cx="1043" cy="11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91" name="AutoShape 16"/>
            <p:cNvCxnSpPr>
              <a:cxnSpLocks noChangeShapeType="1"/>
              <a:stCxn id="3079" idx="6"/>
              <a:endCxn id="3085" idx="0"/>
            </p:cNvCxnSpPr>
            <p:nvPr/>
          </p:nvCxnSpPr>
          <p:spPr bwMode="auto">
            <a:xfrm>
              <a:off x="3497" y="728"/>
              <a:ext cx="1171" cy="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3092" name="AutoShape 17"/>
            <p:cNvCxnSpPr>
              <a:cxnSpLocks noChangeShapeType="1"/>
              <a:stCxn id="3080" idx="4"/>
              <a:endCxn id="3081" idx="0"/>
            </p:cNvCxnSpPr>
            <p:nvPr/>
          </p:nvCxnSpPr>
          <p:spPr bwMode="auto">
            <a:xfrm>
              <a:off x="3003" y="2017"/>
              <a:ext cx="0" cy="27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3093" name="AutoShape 18"/>
            <p:cNvCxnSpPr>
              <a:cxnSpLocks noChangeShapeType="1"/>
            </p:cNvCxnSpPr>
            <p:nvPr/>
          </p:nvCxnSpPr>
          <p:spPr bwMode="auto">
            <a:xfrm flipH="1">
              <a:off x="2391" y="2732"/>
              <a:ext cx="506" cy="9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94" name="AutoShape 19"/>
            <p:cNvCxnSpPr>
              <a:cxnSpLocks noChangeShapeType="1"/>
              <a:stCxn id="3082" idx="6"/>
              <a:endCxn id="3086" idx="2"/>
            </p:cNvCxnSpPr>
            <p:nvPr/>
          </p:nvCxnSpPr>
          <p:spPr bwMode="auto">
            <a:xfrm>
              <a:off x="2861" y="3867"/>
              <a:ext cx="28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95" name="AutoShape 20"/>
            <p:cNvCxnSpPr>
              <a:cxnSpLocks noChangeShapeType="1"/>
              <a:stCxn id="3081" idx="3"/>
              <a:endCxn id="3087" idx="0"/>
            </p:cNvCxnSpPr>
            <p:nvPr/>
          </p:nvCxnSpPr>
          <p:spPr bwMode="auto">
            <a:xfrm flipH="1">
              <a:off x="1175" y="2679"/>
              <a:ext cx="1468" cy="9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96" name="AutoShape 21"/>
            <p:cNvCxnSpPr>
              <a:cxnSpLocks noChangeShapeType="1"/>
              <a:stCxn id="3079" idx="4"/>
              <a:endCxn id="3080" idx="0"/>
            </p:cNvCxnSpPr>
            <p:nvPr/>
          </p:nvCxnSpPr>
          <p:spPr bwMode="auto">
            <a:xfrm>
              <a:off x="2990" y="946"/>
              <a:ext cx="13" cy="6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097" name="AutoShape 22"/>
            <p:cNvCxnSpPr>
              <a:cxnSpLocks noChangeShapeType="1"/>
              <a:stCxn id="3081" idx="5"/>
              <a:endCxn id="3083" idx="0"/>
            </p:cNvCxnSpPr>
            <p:nvPr/>
          </p:nvCxnSpPr>
          <p:spPr bwMode="auto">
            <a:xfrm>
              <a:off x="3362" y="2679"/>
              <a:ext cx="1469" cy="9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98" name="AutoShape 23"/>
            <p:cNvCxnSpPr>
              <a:cxnSpLocks noChangeShapeType="1"/>
              <a:stCxn id="3083" idx="2"/>
              <a:endCxn id="3086" idx="6"/>
            </p:cNvCxnSpPr>
            <p:nvPr/>
          </p:nvCxnSpPr>
          <p:spPr bwMode="auto">
            <a:xfrm flipH="1">
              <a:off x="4160" y="3867"/>
              <a:ext cx="16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99" name="AutoShape 24"/>
            <p:cNvCxnSpPr>
              <a:cxnSpLocks noChangeShapeType="1"/>
              <a:stCxn id="3082" idx="2"/>
              <a:endCxn id="3087" idx="6"/>
            </p:cNvCxnSpPr>
            <p:nvPr/>
          </p:nvCxnSpPr>
          <p:spPr bwMode="auto">
            <a:xfrm flipH="1">
              <a:off x="1683" y="3867"/>
              <a:ext cx="16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00" name="AutoShape 25"/>
            <p:cNvCxnSpPr>
              <a:cxnSpLocks noChangeShapeType="1"/>
              <a:stCxn id="3081" idx="4"/>
              <a:endCxn id="3086" idx="0"/>
            </p:cNvCxnSpPr>
            <p:nvPr/>
          </p:nvCxnSpPr>
          <p:spPr bwMode="auto">
            <a:xfrm>
              <a:off x="3003" y="2745"/>
              <a:ext cx="650" cy="8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3076" name="Rectangle 26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229600" cy="358775"/>
          </a:xfrm>
        </p:spPr>
        <p:txBody>
          <a:bodyPr/>
          <a:lstStyle/>
          <a:p>
            <a:pPr eaLnBrk="1" hangingPunct="1"/>
            <a:r>
              <a:rPr lang="ru-RU" sz="2000" b="1" smtClean="0"/>
              <a:t>Внутренняя структура модели</a:t>
            </a:r>
            <a:r>
              <a:rPr lang="ru-RU" sz="2000" smtClean="0"/>
              <a:t> – предметные области для описания бизнес-системы</a:t>
            </a:r>
          </a:p>
        </p:txBody>
      </p:sp>
      <p:sp>
        <p:nvSpPr>
          <p:cNvPr id="3077" name="Rectangle 27"/>
          <p:cNvSpPr>
            <a:spLocks noChangeArrowheads="1"/>
          </p:cNvSpPr>
          <p:nvPr/>
        </p:nvSpPr>
        <p:spPr bwMode="auto">
          <a:xfrm>
            <a:off x="323850" y="908050"/>
            <a:ext cx="8494713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1600"/>
              <a:t>Для облегчения задачи построения бизнес-модели применяются типовые схемы, описывающие необходимый набор предметных  областей для описания деятельности бизнес-системы (предприятия, компании, группы)</a:t>
            </a:r>
          </a:p>
        </p:txBody>
      </p:sp>
      <p:sp>
        <p:nvSpPr>
          <p:cNvPr id="30" name="Номер слайда 2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41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52400" y="152400"/>
            <a:ext cx="8763000" cy="615553"/>
          </a:xfrm>
          <a:noFill/>
        </p:spPr>
        <p:txBody>
          <a:bodyPr/>
          <a:lstStyle/>
          <a:p>
            <a:pPr marL="0" eaLnBrk="1" hangingPunct="1"/>
            <a:r>
              <a:rPr lang="ru-RU" sz="2000" b="1" dirty="0" smtClean="0"/>
              <a:t>Внутренняя структура </a:t>
            </a:r>
            <a:r>
              <a:rPr lang="ru-RU" sz="2000" b="1" dirty="0" err="1" smtClean="0"/>
              <a:t>бизнес-модели</a:t>
            </a:r>
            <a:r>
              <a:rPr lang="ru-RU" sz="2000" b="1" dirty="0" smtClean="0"/>
              <a:t>:  два основных инструмента построения</a:t>
            </a:r>
          </a:p>
        </p:txBody>
      </p:sp>
      <p:pic>
        <p:nvPicPr>
          <p:cNvPr id="38915" name="Picture 4" descr="ca2831_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399213" y="2514600"/>
            <a:ext cx="971550" cy="742950"/>
          </a:xfrm>
          <a:noFill/>
        </p:spPr>
      </p:pic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211138" y="936625"/>
            <a:ext cx="382111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ru-RU" sz="1600" b="1" i="1">
                <a:solidFill>
                  <a:srgbClr val="0066FF"/>
                </a:solidFill>
              </a:rPr>
              <a:t>1. Иерархические классификаторы</a:t>
            </a:r>
          </a:p>
        </p:txBody>
      </p:sp>
      <p:sp>
        <p:nvSpPr>
          <p:cNvPr id="38917" name="Rectangle 7"/>
          <p:cNvSpPr>
            <a:spLocks noChangeArrowheads="1"/>
          </p:cNvSpPr>
          <p:nvPr/>
        </p:nvSpPr>
        <p:spPr bwMode="auto">
          <a:xfrm>
            <a:off x="4572000" y="966788"/>
            <a:ext cx="457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/>
            <a:r>
              <a:rPr lang="ru-RU" sz="1600" b="1" i="1">
                <a:solidFill>
                  <a:srgbClr val="CC3300"/>
                </a:solidFill>
              </a:rPr>
              <a:t>2. Отношения-проекции между ними</a:t>
            </a:r>
          </a:p>
        </p:txBody>
      </p:sp>
      <p:sp>
        <p:nvSpPr>
          <p:cNvPr id="38918" name="Text Box 10"/>
          <p:cNvSpPr txBox="1">
            <a:spLocks noChangeArrowheads="1"/>
          </p:cNvSpPr>
          <p:nvPr/>
        </p:nvSpPr>
        <p:spPr bwMode="auto">
          <a:xfrm>
            <a:off x="0" y="4648200"/>
            <a:ext cx="9144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>
                <a:solidFill>
                  <a:srgbClr val="FF3300"/>
                </a:solidFill>
              </a:rPr>
              <a:t>«</a:t>
            </a:r>
            <a:r>
              <a:rPr lang="ru-RU" sz="1400" b="1" u="sng">
                <a:solidFill>
                  <a:srgbClr val="FF3300"/>
                </a:solidFill>
              </a:rPr>
              <a:t>Классификаторы</a:t>
            </a:r>
            <a:r>
              <a:rPr lang="ru-RU" sz="1400" b="1">
                <a:solidFill>
                  <a:srgbClr val="FF0000"/>
                </a:solidFill>
              </a:rPr>
              <a:t>»</a:t>
            </a:r>
            <a:r>
              <a:rPr lang="ru-RU" sz="1400" b="1"/>
              <a:t> – иерархические модели-онтологии существенных </a:t>
            </a:r>
            <a:r>
              <a:rPr lang="ru-RU" sz="1400" b="1" u="sng"/>
              <a:t>предметных областей</a:t>
            </a:r>
            <a:r>
              <a:rPr lang="ru-RU" sz="1400" b="1"/>
              <a:t> </a:t>
            </a:r>
            <a:r>
              <a:rPr lang="ru-RU" sz="1400" b="1">
                <a:solidFill>
                  <a:srgbClr val="FF3300"/>
                </a:solidFill>
              </a:rPr>
              <a:t>«</a:t>
            </a:r>
            <a:r>
              <a:rPr lang="ru-RU" sz="1400" b="1" u="sng">
                <a:solidFill>
                  <a:srgbClr val="FF3300"/>
                </a:solidFill>
              </a:rPr>
              <a:t>Проекции</a:t>
            </a:r>
            <a:r>
              <a:rPr lang="ru-RU" sz="1400" b="1">
                <a:solidFill>
                  <a:srgbClr val="FF3300"/>
                </a:solidFill>
              </a:rPr>
              <a:t>»</a:t>
            </a:r>
            <a:r>
              <a:rPr lang="ru-RU" sz="1400" b="1"/>
              <a:t> </a:t>
            </a:r>
            <a:r>
              <a:rPr lang="ru-RU" b="1"/>
              <a:t>–</a:t>
            </a:r>
            <a:r>
              <a:rPr lang="ru-RU" sz="1400" b="1"/>
              <a:t> модели парных и «тройных» отношений между ними </a:t>
            </a:r>
          </a:p>
        </p:txBody>
      </p:sp>
      <p:sp>
        <p:nvSpPr>
          <p:cNvPr id="38919" name="Rectangle 11"/>
          <p:cNvSpPr>
            <a:spLocks noChangeArrowheads="1"/>
          </p:cNvSpPr>
          <p:nvPr/>
        </p:nvSpPr>
        <p:spPr bwMode="auto">
          <a:xfrm>
            <a:off x="1692275" y="5302250"/>
            <a:ext cx="6264275" cy="13446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1600" b="1"/>
              <a:t>OR</a:t>
            </a:r>
            <a:r>
              <a:rPr lang="en-US" sz="1600" b="1"/>
              <a:t>e</a:t>
            </a:r>
            <a:r>
              <a:rPr lang="ru-RU" sz="1600" b="1"/>
              <a:t>L (</a:t>
            </a:r>
            <a:r>
              <a:rPr lang="en-US" sz="1600" b="1"/>
              <a:t>Organization Relations Language</a:t>
            </a:r>
            <a:r>
              <a:rPr lang="ru-RU" sz="1600" b="1"/>
              <a:t>) </a:t>
            </a:r>
            <a:r>
              <a:rPr lang="ru-RU" b="1"/>
              <a:t>–</a:t>
            </a:r>
            <a:r>
              <a:rPr lang="ru-RU"/>
              <a:t> </a:t>
            </a:r>
            <a:r>
              <a:rPr lang="ru-RU" sz="1600" b="1"/>
              <a:t>язык организационных отношений, базирующийся на этих элементах. Позволяет  формально описать любую бизнес-систему. Интерфейс ОРГ-МАСТЕР</a:t>
            </a:r>
            <a:r>
              <a:rPr lang="en-US" sz="1600" b="1">
                <a:cs typeface="Arial" charset="0"/>
              </a:rPr>
              <a:t>®</a:t>
            </a:r>
            <a:r>
              <a:rPr lang="ru-RU" sz="1600" b="1"/>
              <a:t> – способ простого задания конструкций этого языка</a:t>
            </a:r>
          </a:p>
        </p:txBody>
      </p:sp>
      <p:pic>
        <p:nvPicPr>
          <p:cNvPr id="38920" name="Picture 14" descr="Классификатор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59563" y="3357563"/>
            <a:ext cx="935037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1" name="Picture 17" descr="Классификатор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25" y="1557338"/>
            <a:ext cx="935038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2" name="Picture 19" descr="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00113" y="1773238"/>
            <a:ext cx="2505075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3" name="Picture 21" descr="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8263" y="2349500"/>
            <a:ext cx="935037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Номер слайда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971649-5739-4E0C-9F50-B0C6B89A49B6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1438"/>
            <a:ext cx="8388350" cy="620712"/>
          </a:xfrm>
        </p:spPr>
        <p:txBody>
          <a:bodyPr/>
          <a:lstStyle/>
          <a:p>
            <a:pPr marL="0" eaLnBrk="1" hangingPunct="1"/>
            <a:r>
              <a:rPr lang="ru-RU" sz="2000" b="1" smtClean="0"/>
              <a:t>Классификаторы – что это?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79388" y="1033463"/>
            <a:ext cx="8497887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1600" b="1" u="sng"/>
              <a:t>Классификатор </a:t>
            </a:r>
            <a:r>
              <a:rPr lang="ru-RU" sz="1600"/>
              <a:t>– иерархический список, справочник (онтологическая модель) объектов управления (организационных звеньев, функций, материальных ресурсов, баз и хранилищ данных, документов и т.п.), которым могут быть приписаны различные атрибуты: тип, значения, комментарий и т.п. 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2354263" y="2333625"/>
            <a:ext cx="19081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/>
          </a:p>
        </p:txBody>
      </p:sp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068638"/>
            <a:ext cx="4564063" cy="209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5543" name="Group 23"/>
          <p:cNvGraphicFramePr>
            <a:graphicFrameLocks noGrp="1"/>
          </p:cNvGraphicFramePr>
          <p:nvPr/>
        </p:nvGraphicFramePr>
        <p:xfrm>
          <a:off x="971550" y="2492375"/>
          <a:ext cx="7848600" cy="3017520"/>
        </p:xfrm>
        <a:graphic>
          <a:graphicData uri="http://schemas.openxmlformats.org/drawingml/2006/table">
            <a:tbl>
              <a:tblPr/>
              <a:tblGrid>
                <a:gridCol w="3376613"/>
                <a:gridCol w="4471987"/>
              </a:tblGrid>
              <a:tr h="228600">
                <a:tc rowSpan="9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Фрагмент классификатора «Бизнес-процессы»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Основные процессы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1.1. 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Изучение рынка и потребителей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1.1.1. 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Выявление потребностей клиента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1.1.1.1. </a:t>
                      </a:r>
                      <a:r>
                        <a:rPr kumimoji="0" lang="ru-RU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Проведение количественных оценок</a:t>
                      </a: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1.1.1.2. </a:t>
                      </a:r>
                      <a:r>
                        <a:rPr kumimoji="0" lang="ru-RU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Проведение качественных оценок</a:t>
                      </a:r>
                      <a:endParaRPr kumimoji="0" lang="ru-RU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1.1.2. 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Оценка удовлетворенности клиента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1.2. 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Разработка виденья и стратегии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Процессы управления и обеспечения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Номер слайда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43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8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Классификаторы (программная реализация)</a:t>
            </a:r>
          </a:p>
        </p:txBody>
      </p:sp>
      <p:pic>
        <p:nvPicPr>
          <p:cNvPr id="40963" name="Picture 14" descr="21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85738" y="836613"/>
            <a:ext cx="8778875" cy="5992812"/>
          </a:xfrm>
          <a:prstGeom prst="rect">
            <a:avLst/>
          </a:prstGeom>
          <a:noFill/>
        </p:spPr>
      </p:pic>
      <p:sp>
        <p:nvSpPr>
          <p:cNvPr id="6" name="Номер слайда 5"/>
          <p:cNvSpPr>
            <a:spLocks noGrp="1"/>
          </p:cNvSpPr>
          <p:nvPr>
            <p:ph type="sldNum" sz="quarter" idx="7"/>
          </p:nvPr>
        </p:nvSpPr>
        <p:spPr>
          <a:xfrm>
            <a:off x="8153401" y="6324600"/>
            <a:ext cx="788034" cy="410539"/>
          </a:xfrm>
        </p:spPr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44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marL="0" eaLnBrk="1" hangingPunct="1"/>
            <a:r>
              <a:rPr lang="ru-RU" sz="2000" b="1" smtClean="0"/>
              <a:t>Проекции – что это?</a:t>
            </a: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184400"/>
            <a:ext cx="6624638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323850" y="981075"/>
            <a:ext cx="84963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b="1" u="sng"/>
              <a:t>Проекции</a:t>
            </a:r>
            <a:r>
              <a:rPr lang="ru-RU"/>
              <a:t> – это простые матричные модели, задающие систему отношений между классификаторами в нужной комбинации. Связи также могут иметь дополнительные атрибуты (направление, название, индекс, шкала </a:t>
            </a:r>
          </a:p>
        </p:txBody>
      </p:sp>
      <p:graphicFrame>
        <p:nvGraphicFramePr>
          <p:cNvPr id="20485" name="Group 5"/>
          <p:cNvGraphicFramePr>
            <a:graphicFrameLocks noGrp="1"/>
          </p:cNvGraphicFramePr>
          <p:nvPr>
            <p:ph idx="1"/>
          </p:nvPr>
        </p:nvGraphicFramePr>
        <p:xfrm>
          <a:off x="468313" y="4797425"/>
          <a:ext cx="8280400" cy="1066800"/>
        </p:xfrm>
        <a:graphic>
          <a:graphicData uri="http://schemas.openxmlformats.org/drawingml/2006/table">
            <a:tbl>
              <a:tblPr/>
              <a:tblGrid>
                <a:gridCol w="2584450"/>
                <a:gridCol w="3108325"/>
                <a:gridCol w="2587625"/>
              </a:tblGrid>
              <a:tr h="6477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А) Проекция в виде связей элементов двух классификаторов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В) Матричное отображение проекции классификаторов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С) «Тройная проекция»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Номер слайда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6B6246-AE44-4F14-96C7-74EF6F28C706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Проекции (программная реализация)</a:t>
            </a:r>
          </a:p>
        </p:txBody>
      </p:sp>
      <p:pic>
        <p:nvPicPr>
          <p:cNvPr id="43011" name="Picture 12" descr="2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50825" y="1341438"/>
            <a:ext cx="8637588" cy="4678362"/>
          </a:xfrm>
          <a:prstGeom prst="rect">
            <a:avLst/>
          </a:prstGeom>
          <a:noFill/>
        </p:spPr>
      </p:pic>
      <p:sp>
        <p:nvSpPr>
          <p:cNvPr id="6" name="Номер слайда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46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11" descr="схема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4213" y="1268413"/>
            <a:ext cx="7661275" cy="417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5943600" y="2563813"/>
            <a:ext cx="3200400" cy="19700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Классификаторы:</a:t>
            </a:r>
          </a:p>
          <a:p>
            <a:pPr algn="ctr">
              <a:buFontTx/>
              <a:buChar char="•"/>
            </a:pPr>
            <a:r>
              <a:rPr lang="ru-RU" sz="1400"/>
              <a:t> Процессы</a:t>
            </a:r>
          </a:p>
          <a:p>
            <a:pPr algn="ctr">
              <a:buFontTx/>
              <a:buChar char="•"/>
            </a:pPr>
            <a:r>
              <a:rPr lang="ru-RU" sz="1400"/>
              <a:t> Проекты</a:t>
            </a:r>
          </a:p>
          <a:p>
            <a:pPr algn="ctr">
              <a:buFontTx/>
              <a:buChar char="•"/>
            </a:pPr>
            <a:r>
              <a:rPr lang="ru-RU" sz="1400"/>
              <a:t> Функции</a:t>
            </a:r>
          </a:p>
          <a:p>
            <a:pPr algn="ctr"/>
            <a:endParaRPr lang="ru-RU" sz="1400"/>
          </a:p>
          <a:p>
            <a:pPr algn="ctr"/>
            <a:r>
              <a:rPr lang="ru-RU" sz="1400" b="1"/>
              <a:t>Матричные проекции:</a:t>
            </a:r>
          </a:p>
          <a:p>
            <a:pPr algn="ctr">
              <a:buFontTx/>
              <a:buChar char="•"/>
            </a:pPr>
            <a:r>
              <a:rPr lang="ru-RU" sz="1400"/>
              <a:t> Процессы - Функции</a:t>
            </a:r>
          </a:p>
        </p:txBody>
      </p:sp>
      <p:sp>
        <p:nvSpPr>
          <p:cNvPr id="44036" name="AutoShape 4"/>
          <p:cNvSpPr>
            <a:spLocks noChangeArrowheads="1"/>
          </p:cNvSpPr>
          <p:nvPr/>
        </p:nvSpPr>
        <p:spPr bwMode="auto">
          <a:xfrm>
            <a:off x="0" y="2132013"/>
            <a:ext cx="3046413" cy="1927225"/>
          </a:xfrm>
          <a:prstGeom prst="wedgeEllipseCallout">
            <a:avLst>
              <a:gd name="adj1" fmla="val 70634"/>
              <a:gd name="adj2" fmla="val 43903"/>
            </a:avLst>
          </a:prstGeom>
          <a:solidFill>
            <a:srgbClr val="C0C0C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ru-RU" sz="1400" b="1"/>
              <a:t>Матричные проекции:</a:t>
            </a:r>
          </a:p>
          <a:p>
            <a:pPr algn="ctr">
              <a:buFontTx/>
              <a:buChar char="•"/>
            </a:pPr>
            <a:r>
              <a:rPr lang="ru-RU" sz="1400"/>
              <a:t> Процессы - Сотрудники - Оргзвенья</a:t>
            </a:r>
          </a:p>
          <a:p>
            <a:pPr algn="ctr">
              <a:buFontTx/>
              <a:buChar char="•"/>
            </a:pPr>
            <a:r>
              <a:rPr lang="ru-RU" sz="1400"/>
              <a:t> Проекты - Сотрудники - Оргзвенья</a:t>
            </a:r>
          </a:p>
          <a:p>
            <a:pPr algn="ctr">
              <a:buFontTx/>
              <a:buChar char="•"/>
            </a:pPr>
            <a:r>
              <a:rPr lang="ru-RU" sz="1400"/>
              <a:t> Функции - Оргзвенья</a:t>
            </a:r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 flipV="1">
            <a:off x="4500563" y="2563813"/>
            <a:ext cx="2678112" cy="7604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auto">
          <a:xfrm>
            <a:off x="4572000" y="3860800"/>
            <a:ext cx="2254250" cy="5603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39" name="Rectangle 8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Внутренняя структура бизнес-модели: связь понятий верхнего и нижнего уровней</a:t>
            </a:r>
          </a:p>
        </p:txBody>
      </p:sp>
      <p:sp>
        <p:nvSpPr>
          <p:cNvPr id="399369" name="Text Box 9"/>
          <p:cNvSpPr txBox="1">
            <a:spLocks noChangeArrowheads="1"/>
          </p:cNvSpPr>
          <p:nvPr/>
        </p:nvSpPr>
        <p:spPr bwMode="auto">
          <a:xfrm>
            <a:off x="179388" y="5949950"/>
            <a:ext cx="8713787" cy="641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Итак, предметные области и связи между ними описываются с помощью первичных объектов – классификаторов и проекций..   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B131C7-64F0-4E8F-AEE1-D053497741E1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0975" y="187325"/>
            <a:ext cx="9144000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Внутренняя структура бизнес-модели (программная реализация)</a:t>
            </a:r>
          </a:p>
        </p:txBody>
      </p:sp>
      <p:pic>
        <p:nvPicPr>
          <p:cNvPr id="45059" name="Picture 5" descr="25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79388" y="908050"/>
            <a:ext cx="8813800" cy="5759450"/>
          </a:xfrm>
          <a:prstGeom prst="rect">
            <a:avLst/>
          </a:prstGeom>
          <a:noFill/>
        </p:spPr>
      </p:pic>
      <p:sp>
        <p:nvSpPr>
          <p:cNvPr id="6" name="Номер слайда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48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557213" y="2203450"/>
            <a:ext cx="1058862" cy="425450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Функция </a:t>
            </a:r>
            <a:r>
              <a:rPr lang="en-US" sz="1400"/>
              <a:t>1</a:t>
            </a:r>
            <a:endParaRPr lang="ru-RU" sz="1400"/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179388" y="1504950"/>
            <a:ext cx="1435100" cy="425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200"/>
              <a:t>Регламентирущие</a:t>
            </a:r>
          </a:p>
          <a:p>
            <a:pPr algn="ctr"/>
            <a:r>
              <a:rPr lang="ru-RU" sz="1200"/>
              <a:t>документы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1989138" y="1941513"/>
            <a:ext cx="1058862" cy="42545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Ресурсы</a:t>
            </a: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989138" y="2576513"/>
            <a:ext cx="1058862" cy="42545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Документы</a:t>
            </a: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1989138" y="3319463"/>
            <a:ext cx="1058862" cy="42545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200"/>
              <a:t>Инфо. </a:t>
            </a:r>
          </a:p>
          <a:p>
            <a:pPr algn="ctr"/>
            <a:r>
              <a:rPr lang="ru-RU" sz="1200"/>
              <a:t>хранилище</a:t>
            </a:r>
          </a:p>
        </p:txBody>
      </p:sp>
      <p:cxnSp>
        <p:nvCxnSpPr>
          <p:cNvPr id="46087" name="AutoShape 7"/>
          <p:cNvCxnSpPr>
            <a:cxnSpLocks noChangeShapeType="1"/>
            <a:stCxn id="46083" idx="2"/>
            <a:endCxn id="46082" idx="0"/>
          </p:cNvCxnSpPr>
          <p:nvPr/>
        </p:nvCxnSpPr>
        <p:spPr bwMode="auto">
          <a:xfrm>
            <a:off x="896938" y="1930400"/>
            <a:ext cx="19050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6088" name="AutoShape 8"/>
          <p:cNvCxnSpPr>
            <a:cxnSpLocks noChangeShapeType="1"/>
            <a:stCxn id="46082" idx="3"/>
            <a:endCxn id="46084" idx="1"/>
          </p:cNvCxnSpPr>
          <p:nvPr/>
        </p:nvCxnSpPr>
        <p:spPr bwMode="auto">
          <a:xfrm flipV="1">
            <a:off x="1616075" y="2154238"/>
            <a:ext cx="373063" cy="261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6089" name="AutoShape 9"/>
          <p:cNvCxnSpPr>
            <a:cxnSpLocks noChangeShapeType="1"/>
            <a:stCxn id="46082" idx="3"/>
            <a:endCxn id="46085" idx="1"/>
          </p:cNvCxnSpPr>
          <p:nvPr/>
        </p:nvCxnSpPr>
        <p:spPr bwMode="auto">
          <a:xfrm>
            <a:off x="1616075" y="2416175"/>
            <a:ext cx="373063" cy="3730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090" name="Line 10"/>
          <p:cNvSpPr>
            <a:spLocks noChangeShapeType="1"/>
          </p:cNvSpPr>
          <p:nvPr/>
        </p:nvSpPr>
        <p:spPr bwMode="auto">
          <a:xfrm flipV="1">
            <a:off x="820738" y="2628900"/>
            <a:ext cx="0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1" name="Line 11"/>
          <p:cNvSpPr>
            <a:spLocks noChangeShapeType="1"/>
          </p:cNvSpPr>
          <p:nvPr/>
        </p:nvSpPr>
        <p:spPr bwMode="auto">
          <a:xfrm flipV="1">
            <a:off x="1349375" y="2628900"/>
            <a:ext cx="0" cy="1052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3511550" y="2203450"/>
            <a:ext cx="1058863" cy="425450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Функция</a:t>
            </a:r>
            <a:r>
              <a:rPr lang="en-US" sz="1400"/>
              <a:t> 2</a:t>
            </a:r>
            <a:endParaRPr lang="ru-RU" sz="1400"/>
          </a:p>
        </p:txBody>
      </p:sp>
      <p:cxnSp>
        <p:nvCxnSpPr>
          <p:cNvPr id="46093" name="AutoShape 14"/>
          <p:cNvCxnSpPr>
            <a:cxnSpLocks noChangeShapeType="1"/>
            <a:endCxn id="46092" idx="0"/>
          </p:cNvCxnSpPr>
          <p:nvPr/>
        </p:nvCxnSpPr>
        <p:spPr bwMode="auto">
          <a:xfrm>
            <a:off x="4040188" y="1930400"/>
            <a:ext cx="1587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094" name="Line 15"/>
          <p:cNvSpPr>
            <a:spLocks noChangeShapeType="1"/>
          </p:cNvSpPr>
          <p:nvPr/>
        </p:nvSpPr>
        <p:spPr bwMode="auto">
          <a:xfrm flipV="1">
            <a:off x="3775075" y="2628900"/>
            <a:ext cx="0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5" name="Line 16"/>
          <p:cNvSpPr>
            <a:spLocks noChangeShapeType="1"/>
          </p:cNvSpPr>
          <p:nvPr/>
        </p:nvSpPr>
        <p:spPr bwMode="auto">
          <a:xfrm flipV="1">
            <a:off x="4381500" y="2628900"/>
            <a:ext cx="0" cy="996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46096" name="AutoShape 17"/>
          <p:cNvCxnSpPr>
            <a:cxnSpLocks noChangeShapeType="1"/>
            <a:stCxn id="46084" idx="3"/>
            <a:endCxn id="46092" idx="1"/>
          </p:cNvCxnSpPr>
          <p:nvPr/>
        </p:nvCxnSpPr>
        <p:spPr bwMode="auto">
          <a:xfrm>
            <a:off x="3048000" y="2154238"/>
            <a:ext cx="463550" cy="261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6097" name="AutoShape 18"/>
          <p:cNvCxnSpPr>
            <a:cxnSpLocks noChangeShapeType="1"/>
            <a:stCxn id="46085" idx="3"/>
            <a:endCxn id="46092" idx="1"/>
          </p:cNvCxnSpPr>
          <p:nvPr/>
        </p:nvCxnSpPr>
        <p:spPr bwMode="auto">
          <a:xfrm flipV="1">
            <a:off x="3048000" y="2416175"/>
            <a:ext cx="463550" cy="3730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098" name="Line 19"/>
          <p:cNvSpPr>
            <a:spLocks noChangeShapeType="1"/>
          </p:cNvSpPr>
          <p:nvPr/>
        </p:nvSpPr>
        <p:spPr bwMode="auto">
          <a:xfrm>
            <a:off x="2254250" y="3001963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9" name="Line 20"/>
          <p:cNvSpPr>
            <a:spLocks noChangeShapeType="1"/>
          </p:cNvSpPr>
          <p:nvPr/>
        </p:nvSpPr>
        <p:spPr bwMode="auto">
          <a:xfrm flipV="1">
            <a:off x="2693988" y="3001963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0" name="AutoShape 21"/>
          <p:cNvSpPr>
            <a:spLocks noChangeArrowheads="1"/>
          </p:cNvSpPr>
          <p:nvPr/>
        </p:nvSpPr>
        <p:spPr bwMode="auto">
          <a:xfrm>
            <a:off x="107950" y="950913"/>
            <a:ext cx="5006975" cy="3121025"/>
          </a:xfrm>
          <a:prstGeom prst="homePlate">
            <a:avLst>
              <a:gd name="adj" fmla="val 1242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ru-RU" sz="1600" b="1"/>
              <a:t>Бизнес-процесс</a:t>
            </a:r>
          </a:p>
        </p:txBody>
      </p:sp>
      <p:sp>
        <p:nvSpPr>
          <p:cNvPr id="46101" name="Rectangle 22"/>
          <p:cNvSpPr>
            <a:spLocks noChangeArrowheads="1"/>
          </p:cNvSpPr>
          <p:nvPr/>
        </p:nvSpPr>
        <p:spPr bwMode="auto">
          <a:xfrm>
            <a:off x="179388" y="2924175"/>
            <a:ext cx="1152525" cy="4254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200"/>
              <a:t>Инфраструктура</a:t>
            </a:r>
          </a:p>
        </p:txBody>
      </p:sp>
      <p:sp>
        <p:nvSpPr>
          <p:cNvPr id="46102" name="Rectangle 23"/>
          <p:cNvSpPr>
            <a:spLocks noChangeArrowheads="1"/>
          </p:cNvSpPr>
          <p:nvPr/>
        </p:nvSpPr>
        <p:spPr bwMode="auto">
          <a:xfrm>
            <a:off x="619125" y="3513138"/>
            <a:ext cx="1058863" cy="425450"/>
          </a:xfrm>
          <a:prstGeom prst="rect">
            <a:avLst/>
          </a:prstGeom>
          <a:solidFill>
            <a:srgbClr val="D0E8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Организац. </a:t>
            </a:r>
          </a:p>
          <a:p>
            <a:pPr algn="ctr"/>
            <a:r>
              <a:rPr lang="ru-RU" sz="1400"/>
              <a:t>роль</a:t>
            </a:r>
          </a:p>
        </p:txBody>
      </p:sp>
      <p:sp>
        <p:nvSpPr>
          <p:cNvPr id="46103" name="Rectangle 25"/>
          <p:cNvSpPr>
            <a:spLocks noChangeArrowheads="1"/>
          </p:cNvSpPr>
          <p:nvPr/>
        </p:nvSpPr>
        <p:spPr bwMode="auto">
          <a:xfrm>
            <a:off x="3603625" y="3513138"/>
            <a:ext cx="1060450" cy="425450"/>
          </a:xfrm>
          <a:prstGeom prst="rect">
            <a:avLst/>
          </a:prstGeom>
          <a:solidFill>
            <a:srgbClr val="D0E8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Организац. </a:t>
            </a:r>
          </a:p>
          <a:p>
            <a:pPr algn="ctr"/>
            <a:r>
              <a:rPr lang="ru-RU" sz="1400"/>
              <a:t>роль</a:t>
            </a:r>
          </a:p>
        </p:txBody>
      </p:sp>
      <p:sp>
        <p:nvSpPr>
          <p:cNvPr id="46104" name="Text Box 26"/>
          <p:cNvSpPr txBox="1">
            <a:spLocks noChangeArrowheads="1"/>
          </p:cNvSpPr>
          <p:nvPr/>
        </p:nvSpPr>
        <p:spPr bwMode="auto">
          <a:xfrm>
            <a:off x="5064125" y="3335338"/>
            <a:ext cx="2873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=</a:t>
            </a:r>
            <a:endParaRPr lang="ru-RU" sz="1400"/>
          </a:p>
        </p:txBody>
      </p:sp>
      <p:sp>
        <p:nvSpPr>
          <p:cNvPr id="46105" name="Rectangle 27"/>
          <p:cNvSpPr>
            <a:spLocks noChangeArrowheads="1"/>
          </p:cNvSpPr>
          <p:nvPr/>
        </p:nvSpPr>
        <p:spPr bwMode="auto">
          <a:xfrm>
            <a:off x="1973263" y="1208088"/>
            <a:ext cx="1058862" cy="42545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Хранилище </a:t>
            </a:r>
          </a:p>
          <a:p>
            <a:pPr algn="ctr"/>
            <a:r>
              <a:rPr lang="ru-RU" sz="1400"/>
              <a:t>ресурсов</a:t>
            </a:r>
          </a:p>
        </p:txBody>
      </p:sp>
      <p:sp>
        <p:nvSpPr>
          <p:cNvPr id="46106" name="Line 28"/>
          <p:cNvSpPr>
            <a:spLocks noChangeShapeType="1"/>
          </p:cNvSpPr>
          <p:nvPr/>
        </p:nvSpPr>
        <p:spPr bwMode="auto">
          <a:xfrm>
            <a:off x="2268538" y="16383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7" name="Line 29"/>
          <p:cNvSpPr>
            <a:spLocks noChangeShapeType="1"/>
          </p:cNvSpPr>
          <p:nvPr/>
        </p:nvSpPr>
        <p:spPr bwMode="auto">
          <a:xfrm flipV="1">
            <a:off x="2709863" y="16383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8" name="Rectangle 30"/>
          <p:cNvSpPr>
            <a:spLocks noChangeArrowheads="1"/>
          </p:cNvSpPr>
          <p:nvPr/>
        </p:nvSpPr>
        <p:spPr bwMode="auto">
          <a:xfrm>
            <a:off x="5149850" y="3844925"/>
            <a:ext cx="1042988" cy="425450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Функции</a:t>
            </a:r>
          </a:p>
        </p:txBody>
      </p:sp>
      <p:sp>
        <p:nvSpPr>
          <p:cNvPr id="46109" name="Rectangle 31"/>
          <p:cNvSpPr>
            <a:spLocks noChangeArrowheads="1"/>
          </p:cNvSpPr>
          <p:nvPr/>
        </p:nvSpPr>
        <p:spPr bwMode="auto">
          <a:xfrm>
            <a:off x="6454775" y="3844925"/>
            <a:ext cx="1460500" cy="4460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Регламентирущие</a:t>
            </a:r>
          </a:p>
          <a:p>
            <a:pPr algn="ctr"/>
            <a:r>
              <a:rPr lang="ru-RU" sz="1400"/>
              <a:t>документы</a:t>
            </a:r>
          </a:p>
        </p:txBody>
      </p:sp>
      <p:cxnSp>
        <p:nvCxnSpPr>
          <p:cNvPr id="46110" name="AutoShape 32"/>
          <p:cNvCxnSpPr>
            <a:cxnSpLocks noChangeShapeType="1"/>
            <a:stCxn id="46109" idx="1"/>
            <a:endCxn id="46108" idx="3"/>
          </p:cNvCxnSpPr>
          <p:nvPr/>
        </p:nvCxnSpPr>
        <p:spPr bwMode="auto">
          <a:xfrm flipH="1" flipV="1">
            <a:off x="6192838" y="4057650"/>
            <a:ext cx="261937" cy="111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111" name="Rectangle 33"/>
          <p:cNvSpPr>
            <a:spLocks noChangeArrowheads="1"/>
          </p:cNvSpPr>
          <p:nvPr/>
        </p:nvSpPr>
        <p:spPr bwMode="auto">
          <a:xfrm>
            <a:off x="6443663" y="3397250"/>
            <a:ext cx="1458912" cy="4079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Инфраструктура</a:t>
            </a:r>
          </a:p>
        </p:txBody>
      </p:sp>
      <p:sp>
        <p:nvSpPr>
          <p:cNvPr id="46112" name="Rectangle 34"/>
          <p:cNvSpPr>
            <a:spLocks noChangeArrowheads="1"/>
          </p:cNvSpPr>
          <p:nvPr/>
        </p:nvSpPr>
        <p:spPr bwMode="auto">
          <a:xfrm>
            <a:off x="5149850" y="3397250"/>
            <a:ext cx="1042988" cy="387350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Функции</a:t>
            </a:r>
          </a:p>
        </p:txBody>
      </p:sp>
      <p:sp>
        <p:nvSpPr>
          <p:cNvPr id="46113" name="Rectangle 35"/>
          <p:cNvSpPr>
            <a:spLocks noChangeArrowheads="1"/>
          </p:cNvSpPr>
          <p:nvPr/>
        </p:nvSpPr>
        <p:spPr bwMode="auto">
          <a:xfrm>
            <a:off x="6453188" y="2947988"/>
            <a:ext cx="1458912" cy="387350"/>
          </a:xfrm>
          <a:prstGeom prst="rect">
            <a:avLst/>
          </a:prstGeom>
          <a:solidFill>
            <a:srgbClr val="D0E8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Организац. </a:t>
            </a:r>
          </a:p>
          <a:p>
            <a:pPr algn="ctr"/>
            <a:r>
              <a:rPr lang="ru-RU" sz="1400"/>
              <a:t>роль</a:t>
            </a:r>
          </a:p>
        </p:txBody>
      </p:sp>
      <p:sp>
        <p:nvSpPr>
          <p:cNvPr id="46114" name="Rectangle 36"/>
          <p:cNvSpPr>
            <a:spLocks noChangeArrowheads="1"/>
          </p:cNvSpPr>
          <p:nvPr/>
        </p:nvSpPr>
        <p:spPr bwMode="auto">
          <a:xfrm>
            <a:off x="5149850" y="2947988"/>
            <a:ext cx="1042988" cy="369887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Функции</a:t>
            </a:r>
          </a:p>
        </p:txBody>
      </p:sp>
      <p:cxnSp>
        <p:nvCxnSpPr>
          <p:cNvPr id="46115" name="AutoShape 37"/>
          <p:cNvCxnSpPr>
            <a:cxnSpLocks noChangeShapeType="1"/>
            <a:stCxn id="46113" idx="1"/>
            <a:endCxn id="46114" idx="3"/>
          </p:cNvCxnSpPr>
          <p:nvPr/>
        </p:nvCxnSpPr>
        <p:spPr bwMode="auto">
          <a:xfrm flipH="1" flipV="1">
            <a:off x="6192838" y="3133725"/>
            <a:ext cx="260350" cy="7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6116" name="AutoShape 38"/>
          <p:cNvCxnSpPr>
            <a:cxnSpLocks noChangeShapeType="1"/>
            <a:stCxn id="46111" idx="1"/>
            <a:endCxn id="46112" idx="3"/>
          </p:cNvCxnSpPr>
          <p:nvPr/>
        </p:nvCxnSpPr>
        <p:spPr bwMode="auto">
          <a:xfrm flipH="1" flipV="1">
            <a:off x="6192838" y="3590925"/>
            <a:ext cx="250825" cy="111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117" name="Rectangle 39"/>
          <p:cNvSpPr>
            <a:spLocks noChangeArrowheads="1"/>
          </p:cNvSpPr>
          <p:nvPr/>
        </p:nvSpPr>
        <p:spPr bwMode="auto">
          <a:xfrm>
            <a:off x="5149850" y="4325938"/>
            <a:ext cx="1042988" cy="388937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Функции</a:t>
            </a:r>
          </a:p>
        </p:txBody>
      </p:sp>
      <p:sp>
        <p:nvSpPr>
          <p:cNvPr id="46118" name="Rectangle 40"/>
          <p:cNvSpPr>
            <a:spLocks noChangeArrowheads="1"/>
          </p:cNvSpPr>
          <p:nvPr/>
        </p:nvSpPr>
        <p:spPr bwMode="auto">
          <a:xfrm>
            <a:off x="6453188" y="4325938"/>
            <a:ext cx="1458912" cy="409575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Ресурсы</a:t>
            </a:r>
          </a:p>
        </p:txBody>
      </p:sp>
      <p:sp>
        <p:nvSpPr>
          <p:cNvPr id="46119" name="Rectangle 41"/>
          <p:cNvSpPr>
            <a:spLocks noChangeArrowheads="1"/>
          </p:cNvSpPr>
          <p:nvPr/>
        </p:nvSpPr>
        <p:spPr bwMode="auto">
          <a:xfrm>
            <a:off x="8101013" y="4325938"/>
            <a:ext cx="949325" cy="388937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Функции</a:t>
            </a:r>
          </a:p>
        </p:txBody>
      </p:sp>
      <p:cxnSp>
        <p:nvCxnSpPr>
          <p:cNvPr id="46120" name="AutoShape 42"/>
          <p:cNvCxnSpPr>
            <a:cxnSpLocks noChangeShapeType="1"/>
            <a:stCxn id="46117" idx="3"/>
            <a:endCxn id="46118" idx="1"/>
          </p:cNvCxnSpPr>
          <p:nvPr/>
        </p:nvCxnSpPr>
        <p:spPr bwMode="auto">
          <a:xfrm>
            <a:off x="6192838" y="4521200"/>
            <a:ext cx="260350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6121" name="AutoShape 43"/>
          <p:cNvCxnSpPr>
            <a:cxnSpLocks noChangeShapeType="1"/>
            <a:stCxn id="46118" idx="3"/>
            <a:endCxn id="46119" idx="1"/>
          </p:cNvCxnSpPr>
          <p:nvPr/>
        </p:nvCxnSpPr>
        <p:spPr bwMode="auto">
          <a:xfrm flipV="1">
            <a:off x="7912100" y="4521200"/>
            <a:ext cx="188913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122" name="Rectangle 44"/>
          <p:cNvSpPr>
            <a:spLocks noChangeArrowheads="1"/>
          </p:cNvSpPr>
          <p:nvPr/>
        </p:nvSpPr>
        <p:spPr bwMode="auto">
          <a:xfrm>
            <a:off x="5149850" y="4775200"/>
            <a:ext cx="1042988" cy="387350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Функции</a:t>
            </a:r>
          </a:p>
        </p:txBody>
      </p:sp>
      <p:sp>
        <p:nvSpPr>
          <p:cNvPr id="46123" name="Rectangle 45"/>
          <p:cNvSpPr>
            <a:spLocks noChangeArrowheads="1"/>
          </p:cNvSpPr>
          <p:nvPr/>
        </p:nvSpPr>
        <p:spPr bwMode="auto">
          <a:xfrm>
            <a:off x="8101013" y="4775200"/>
            <a:ext cx="949325" cy="387350"/>
          </a:xfrm>
          <a:prstGeom prst="rect">
            <a:avLst/>
          </a:prstGeom>
          <a:solidFill>
            <a:srgbClr val="69CD6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Функции</a:t>
            </a:r>
          </a:p>
        </p:txBody>
      </p:sp>
      <p:cxnSp>
        <p:nvCxnSpPr>
          <p:cNvPr id="46124" name="AutoShape 46"/>
          <p:cNvCxnSpPr>
            <a:cxnSpLocks noChangeShapeType="1"/>
            <a:stCxn id="46122" idx="3"/>
          </p:cNvCxnSpPr>
          <p:nvPr/>
        </p:nvCxnSpPr>
        <p:spPr bwMode="auto">
          <a:xfrm>
            <a:off x="6192838" y="4968875"/>
            <a:ext cx="34448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6125" name="AutoShape 47"/>
          <p:cNvCxnSpPr>
            <a:cxnSpLocks noChangeShapeType="1"/>
            <a:endCxn id="46123" idx="1"/>
          </p:cNvCxnSpPr>
          <p:nvPr/>
        </p:nvCxnSpPr>
        <p:spPr bwMode="auto">
          <a:xfrm>
            <a:off x="7777163" y="4968875"/>
            <a:ext cx="3238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126" name="Rectangle 48"/>
          <p:cNvSpPr>
            <a:spLocks noChangeArrowheads="1"/>
          </p:cNvSpPr>
          <p:nvPr/>
        </p:nvSpPr>
        <p:spPr bwMode="auto">
          <a:xfrm>
            <a:off x="6453188" y="4775200"/>
            <a:ext cx="1458912" cy="407988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Документы</a:t>
            </a:r>
          </a:p>
        </p:txBody>
      </p:sp>
      <p:sp>
        <p:nvSpPr>
          <p:cNvPr id="46127" name="Rectangle 49"/>
          <p:cNvSpPr>
            <a:spLocks noChangeArrowheads="1"/>
          </p:cNvSpPr>
          <p:nvPr/>
        </p:nvSpPr>
        <p:spPr bwMode="auto">
          <a:xfrm>
            <a:off x="5149850" y="5241925"/>
            <a:ext cx="1042988" cy="388938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Документы</a:t>
            </a:r>
          </a:p>
        </p:txBody>
      </p:sp>
      <p:sp>
        <p:nvSpPr>
          <p:cNvPr id="46128" name="Rectangle 50"/>
          <p:cNvSpPr>
            <a:spLocks noChangeArrowheads="1"/>
          </p:cNvSpPr>
          <p:nvPr/>
        </p:nvSpPr>
        <p:spPr bwMode="auto">
          <a:xfrm>
            <a:off x="6469063" y="5237163"/>
            <a:ext cx="1462087" cy="409575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Информационное </a:t>
            </a:r>
          </a:p>
          <a:p>
            <a:pPr algn="ctr"/>
            <a:r>
              <a:rPr lang="ru-RU" sz="1400"/>
              <a:t>хранилище</a:t>
            </a:r>
          </a:p>
        </p:txBody>
      </p:sp>
      <p:cxnSp>
        <p:nvCxnSpPr>
          <p:cNvPr id="46129" name="AutoShape 51"/>
          <p:cNvCxnSpPr>
            <a:cxnSpLocks noChangeShapeType="1"/>
            <a:stCxn id="46127" idx="3"/>
            <a:endCxn id="46128" idx="1"/>
          </p:cNvCxnSpPr>
          <p:nvPr/>
        </p:nvCxnSpPr>
        <p:spPr bwMode="auto">
          <a:xfrm>
            <a:off x="6192838" y="5437188"/>
            <a:ext cx="276225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46130" name="Rectangle 52"/>
          <p:cNvSpPr>
            <a:spLocks noChangeArrowheads="1"/>
          </p:cNvSpPr>
          <p:nvPr/>
        </p:nvSpPr>
        <p:spPr bwMode="auto">
          <a:xfrm>
            <a:off x="5149850" y="5710238"/>
            <a:ext cx="1042988" cy="3683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Ресурсы</a:t>
            </a:r>
            <a:r>
              <a:rPr lang="en-US" sz="1400"/>
              <a:t> </a:t>
            </a:r>
            <a:endParaRPr lang="ru-RU" sz="1400"/>
          </a:p>
        </p:txBody>
      </p:sp>
      <p:sp>
        <p:nvSpPr>
          <p:cNvPr id="46131" name="Rectangle 53"/>
          <p:cNvSpPr>
            <a:spLocks noChangeArrowheads="1"/>
          </p:cNvSpPr>
          <p:nvPr/>
        </p:nvSpPr>
        <p:spPr bwMode="auto">
          <a:xfrm>
            <a:off x="6469063" y="5705475"/>
            <a:ext cx="1462087" cy="38735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Хранилище </a:t>
            </a:r>
          </a:p>
          <a:p>
            <a:pPr algn="ctr"/>
            <a:r>
              <a:rPr lang="ru-RU" sz="1400"/>
              <a:t>ресурсов</a:t>
            </a:r>
          </a:p>
        </p:txBody>
      </p:sp>
      <p:cxnSp>
        <p:nvCxnSpPr>
          <p:cNvPr id="46132" name="AutoShape 54"/>
          <p:cNvCxnSpPr>
            <a:cxnSpLocks noChangeShapeType="1"/>
            <a:stCxn id="46130" idx="3"/>
            <a:endCxn id="46131" idx="1"/>
          </p:cNvCxnSpPr>
          <p:nvPr/>
        </p:nvCxnSpPr>
        <p:spPr bwMode="auto">
          <a:xfrm>
            <a:off x="6192838" y="5894388"/>
            <a:ext cx="276225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46133" name="Rectangle 55"/>
          <p:cNvSpPr>
            <a:spLocks noChangeArrowheads="1"/>
          </p:cNvSpPr>
          <p:nvPr/>
        </p:nvSpPr>
        <p:spPr bwMode="auto">
          <a:xfrm>
            <a:off x="6516688" y="1882775"/>
            <a:ext cx="21209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1600" b="1"/>
              <a:t>Система классификаторов </a:t>
            </a:r>
          </a:p>
          <a:p>
            <a:r>
              <a:rPr lang="ru-RU" sz="1600" b="1"/>
              <a:t>и проекций</a:t>
            </a:r>
          </a:p>
        </p:txBody>
      </p:sp>
      <p:sp>
        <p:nvSpPr>
          <p:cNvPr id="46134" name="Rectangle 56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388350" cy="765175"/>
          </a:xfrm>
        </p:spPr>
        <p:txBody>
          <a:bodyPr/>
          <a:lstStyle/>
          <a:p>
            <a:pPr marL="0" eaLnBrk="1" hangingPunct="1"/>
            <a:r>
              <a:rPr lang="ru-RU" sz="2000" b="1" smtClean="0"/>
              <a:t>Бизнес-процесс тоже описывается системой  классификаторов и проекций!</a:t>
            </a:r>
          </a:p>
        </p:txBody>
      </p:sp>
      <p:sp>
        <p:nvSpPr>
          <p:cNvPr id="46135" name="Rectangle 57"/>
          <p:cNvSpPr>
            <a:spLocks noChangeArrowheads="1"/>
          </p:cNvSpPr>
          <p:nvPr/>
        </p:nvSpPr>
        <p:spPr bwMode="auto">
          <a:xfrm>
            <a:off x="3348038" y="1563688"/>
            <a:ext cx="1435100" cy="425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200"/>
              <a:t>Регламентирущие</a:t>
            </a:r>
          </a:p>
          <a:p>
            <a:pPr algn="ctr"/>
            <a:r>
              <a:rPr lang="ru-RU" sz="1200"/>
              <a:t>документы</a:t>
            </a:r>
          </a:p>
        </p:txBody>
      </p:sp>
      <p:sp>
        <p:nvSpPr>
          <p:cNvPr id="46136" name="Rectangle 58"/>
          <p:cNvSpPr>
            <a:spLocks noChangeArrowheads="1"/>
          </p:cNvSpPr>
          <p:nvPr/>
        </p:nvSpPr>
        <p:spPr bwMode="auto">
          <a:xfrm>
            <a:off x="3203575" y="2932113"/>
            <a:ext cx="1152525" cy="4254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200"/>
              <a:t>Инфраструктура</a:t>
            </a:r>
          </a:p>
        </p:txBody>
      </p:sp>
      <p:sp>
        <p:nvSpPr>
          <p:cNvPr id="59" name="Номер слайда 5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B131C7-64F0-4E8F-AEE1-D053497741E1}" type="slidenum">
              <a:rPr lang="ru-RU" smtClean="0"/>
              <a:pPr>
                <a:defRPr/>
              </a:pPr>
              <a:t>49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7704137" cy="361950"/>
          </a:xfrm>
        </p:spPr>
        <p:txBody>
          <a:bodyPr/>
          <a:lstStyle/>
          <a:p>
            <a:pPr marL="0" eaLnBrk="1" hangingPunct="1"/>
            <a:r>
              <a:rPr lang="ru-RU" sz="2000" b="1" smtClean="0">
                <a:solidFill>
                  <a:schemeClr val="tx1"/>
                </a:solidFill>
              </a:rPr>
              <a:t>Окно описания процессов (псевдографика)</a:t>
            </a: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708025" y="717550"/>
          <a:ext cx="7924800" cy="573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Точечный рисунок" r:id="rId4" imgW="9752381" imgH="7085714" progId="PBrush">
                  <p:embed/>
                </p:oleObj>
              </mc:Choice>
              <mc:Fallback>
                <p:oleObj name="Точечный рисунок" r:id="rId4" imgW="9752381" imgH="708571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717550"/>
                        <a:ext cx="7924800" cy="573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2833688" y="3279775"/>
            <a:ext cx="5334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7175500" y="4775200"/>
            <a:ext cx="914400" cy="22383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ru-RU" sz="800">
                <a:latin typeface="Tahoma" charset="0"/>
              </a:rPr>
              <a:t>Документы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7031038" y="5988050"/>
            <a:ext cx="685800" cy="22383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800">
                <a:latin typeface="Tahoma" charset="0"/>
              </a:rPr>
              <a:t>Процесс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622300" y="3073400"/>
            <a:ext cx="685800" cy="22383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800">
                <a:latin typeface="Tahoma" charset="0"/>
              </a:rPr>
              <a:t>Процессы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5842000" y="4762500"/>
            <a:ext cx="685800" cy="2238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800">
                <a:latin typeface="Tahoma" charset="0"/>
              </a:rPr>
              <a:t>Ресурсы</a:t>
            </a:r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 flipV="1">
            <a:off x="6781800" y="5410200"/>
            <a:ext cx="152400" cy="152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 flipH="1" flipV="1">
            <a:off x="7620000" y="5410200"/>
            <a:ext cx="152400" cy="152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B131C7-64F0-4E8F-AEE1-D053497741E1}" type="slidenum">
              <a:rPr lang="ru-RU" smtClean="0"/>
              <a:pPr>
                <a:defRPr/>
              </a:pPr>
              <a:t>50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ВСПОМОГАТЕЛЬНЫЕ инструменты ввода информации</a:t>
            </a:r>
          </a:p>
        </p:txBody>
      </p:sp>
      <p:pic>
        <p:nvPicPr>
          <p:cNvPr id="47107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916238" y="3789363"/>
            <a:ext cx="2305050" cy="2190750"/>
          </a:xfrm>
          <a:solidFill>
            <a:schemeClr val="bg1"/>
          </a:solidFill>
        </p:spPr>
      </p:pic>
      <p:pic>
        <p:nvPicPr>
          <p:cNvPr id="47108" name="Picture 10" descr="1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051050" y="981075"/>
            <a:ext cx="7129463" cy="2141538"/>
          </a:xfrm>
          <a:noFill/>
        </p:spPr>
      </p:pic>
      <p:sp>
        <p:nvSpPr>
          <p:cNvPr id="47109" name="Text Box 13"/>
          <p:cNvSpPr txBox="1">
            <a:spLocks noChangeArrowheads="1"/>
          </p:cNvSpPr>
          <p:nvPr/>
        </p:nvSpPr>
        <p:spPr bwMode="auto">
          <a:xfrm>
            <a:off x="179388" y="4365625"/>
            <a:ext cx="2520950" cy="13541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/>
              <a:t>ОРГ-МАСТЕР</a:t>
            </a:r>
            <a:r>
              <a:rPr lang="en-US"/>
              <a:t>®</a:t>
            </a:r>
            <a:r>
              <a:rPr lang="ru-RU" sz="1600"/>
              <a:t>Графикс</a:t>
            </a:r>
            <a:r>
              <a:rPr lang="ru-RU" sz="1600">
                <a:cs typeface="Arial" charset="0"/>
              </a:rPr>
              <a:t> </a:t>
            </a:r>
            <a:r>
              <a:rPr lang="ru-RU" sz="1600"/>
              <a:t>в роли простого средства ввода информации о процессах</a:t>
            </a:r>
          </a:p>
        </p:txBody>
      </p:sp>
      <p:sp>
        <p:nvSpPr>
          <p:cNvPr id="47110" name="Text Box 9"/>
          <p:cNvSpPr txBox="1">
            <a:spLocks noChangeArrowheads="1"/>
          </p:cNvSpPr>
          <p:nvPr/>
        </p:nvSpPr>
        <p:spPr bwMode="auto">
          <a:xfrm>
            <a:off x="179388" y="981075"/>
            <a:ext cx="2089150" cy="1812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/>
              <a:t>Импорт </a:t>
            </a:r>
          </a:p>
          <a:p>
            <a:r>
              <a:rPr lang="ru-RU" sz="1600"/>
              <a:t>иерархических </a:t>
            </a:r>
          </a:p>
          <a:p>
            <a:r>
              <a:rPr lang="ru-RU" sz="1600"/>
              <a:t>списков и произвольных текстов для формирования классификаторов</a:t>
            </a:r>
          </a:p>
        </p:txBody>
      </p:sp>
      <p:pic>
        <p:nvPicPr>
          <p:cNvPr id="47111" name="Picture 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51500" y="3357563"/>
            <a:ext cx="2349500" cy="218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2" name="Picture 1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40425" y="3933825"/>
            <a:ext cx="3035300" cy="218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3" name="Line 18"/>
          <p:cNvSpPr>
            <a:spLocks noChangeShapeType="1"/>
          </p:cNvSpPr>
          <p:nvPr/>
        </p:nvSpPr>
        <p:spPr bwMode="auto">
          <a:xfrm>
            <a:off x="5364163" y="4941888"/>
            <a:ext cx="2873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4CCB0E-62E5-4693-8562-D6494AF1FF38}" type="slidenum">
              <a:rPr lang="ru-RU" smtClean="0"/>
              <a:pPr>
                <a:defRPr/>
              </a:pPr>
              <a:t>51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marL="0" eaLnBrk="1" hangingPunct="1"/>
            <a:r>
              <a:rPr lang="ru-RU" sz="2000" b="1" smtClean="0">
                <a:solidFill>
                  <a:schemeClr val="tx1"/>
                </a:solidFill>
              </a:rPr>
              <a:t>Значение единого внутреннего «языка» модели</a:t>
            </a:r>
          </a:p>
        </p:txBody>
      </p:sp>
      <p:pic>
        <p:nvPicPr>
          <p:cNvPr id="48131" name="Picture 3" descr="yar_ia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9675" y="1270000"/>
            <a:ext cx="2706688" cy="381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1833563" y="2066925"/>
            <a:ext cx="904875" cy="514350"/>
            <a:chOff x="2520" y="4504"/>
            <a:chExt cx="7462" cy="4231"/>
          </a:xfrm>
        </p:grpSpPr>
        <p:sp>
          <p:nvSpPr>
            <p:cNvPr id="48149" name="AutoShape 5"/>
            <p:cNvSpPr>
              <a:spLocks noChangeAspect="1" noChangeArrowheads="1" noTextEdit="1"/>
            </p:cNvSpPr>
            <p:nvPr/>
          </p:nvSpPr>
          <p:spPr bwMode="auto">
            <a:xfrm>
              <a:off x="2520" y="4504"/>
              <a:ext cx="7462" cy="4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50" name="Line 6"/>
            <p:cNvSpPr>
              <a:spLocks noChangeShapeType="1"/>
            </p:cNvSpPr>
            <p:nvPr/>
          </p:nvSpPr>
          <p:spPr bwMode="auto">
            <a:xfrm>
              <a:off x="2944" y="6957"/>
              <a:ext cx="7038" cy="94"/>
            </a:xfrm>
            <a:prstGeom prst="line">
              <a:avLst/>
            </a:prstGeom>
            <a:noFill/>
            <a:ln w="57150">
              <a:solidFill>
                <a:srgbClr val="6666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48133" name="Picture 7" descr="ENGLpic2_обработка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2063" y="1122363"/>
            <a:ext cx="2771775" cy="408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4" name="Rectangle 8"/>
          <p:cNvSpPr>
            <a:spLocks noChangeArrowheads="1"/>
          </p:cNvSpPr>
          <p:nvPr/>
        </p:nvSpPr>
        <p:spPr bwMode="auto">
          <a:xfrm>
            <a:off x="1833563" y="2066925"/>
            <a:ext cx="2409825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48135" name="Rectangle 9"/>
          <p:cNvSpPr>
            <a:spLocks noChangeArrowheads="1"/>
          </p:cNvSpPr>
          <p:nvPr/>
        </p:nvSpPr>
        <p:spPr bwMode="auto">
          <a:xfrm>
            <a:off x="1833563" y="2066925"/>
            <a:ext cx="1011237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48136" name="Rectangle 10"/>
          <p:cNvSpPr>
            <a:spLocks noChangeArrowheads="1"/>
          </p:cNvSpPr>
          <p:nvPr/>
        </p:nvSpPr>
        <p:spPr bwMode="auto">
          <a:xfrm>
            <a:off x="1833563" y="2066925"/>
            <a:ext cx="20574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/>
          </a:p>
        </p:txBody>
      </p:sp>
      <p:graphicFrame>
        <p:nvGraphicFramePr>
          <p:cNvPr id="32779" name="Group 11"/>
          <p:cNvGraphicFramePr>
            <a:graphicFrameLocks noGrp="1"/>
          </p:cNvGraphicFramePr>
          <p:nvPr/>
        </p:nvGraphicFramePr>
        <p:xfrm>
          <a:off x="1833563" y="2066925"/>
          <a:ext cx="5478462" cy="518160"/>
        </p:xfrm>
        <a:graphic>
          <a:graphicData uri="http://schemas.openxmlformats.org/drawingml/2006/table">
            <a:tbl>
              <a:tblPr/>
              <a:tblGrid>
                <a:gridCol w="2409825"/>
                <a:gridCol w="1011237"/>
                <a:gridCol w="20574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41" name="Line 19"/>
          <p:cNvSpPr>
            <a:spLocks noChangeShapeType="1"/>
          </p:cNvSpPr>
          <p:nvPr/>
        </p:nvSpPr>
        <p:spPr bwMode="auto">
          <a:xfrm>
            <a:off x="4281488" y="3324225"/>
            <a:ext cx="769937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pic>
        <p:nvPicPr>
          <p:cNvPr id="48142" name="Picture 2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9425" y="4679950"/>
            <a:ext cx="1590675" cy="128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43" name="Picture 29" descr="Куб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4238" y="4684713"/>
            <a:ext cx="1663700" cy="13525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</p:spPr>
      </p:pic>
      <p:sp>
        <p:nvSpPr>
          <p:cNvPr id="48144" name="Text Box 30"/>
          <p:cNvSpPr txBox="1">
            <a:spLocks noChangeArrowheads="1"/>
          </p:cNvSpPr>
          <p:nvPr/>
        </p:nvSpPr>
        <p:spPr bwMode="auto">
          <a:xfrm>
            <a:off x="1763713" y="4221163"/>
            <a:ext cx="2663825" cy="9159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Вавилонская башня нотаций…Модель как система картинок </a:t>
            </a:r>
          </a:p>
        </p:txBody>
      </p:sp>
      <p:sp>
        <p:nvSpPr>
          <p:cNvPr id="48145" name="Text Box 31"/>
          <p:cNvSpPr txBox="1">
            <a:spLocks noChangeArrowheads="1"/>
          </p:cNvSpPr>
          <p:nvPr/>
        </p:nvSpPr>
        <p:spPr bwMode="auto">
          <a:xfrm>
            <a:off x="4716463" y="4941888"/>
            <a:ext cx="2663825" cy="1190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Простые средства ввода информации… Модель как база знаний, </a:t>
            </a:r>
          </a:p>
        </p:txBody>
      </p:sp>
      <p:sp>
        <p:nvSpPr>
          <p:cNvPr id="48146" name="Text Box 39"/>
          <p:cNvSpPr txBox="1">
            <a:spLocks noChangeArrowheads="1"/>
          </p:cNvSpPr>
          <p:nvPr/>
        </p:nvSpPr>
        <p:spPr bwMode="auto">
          <a:xfrm>
            <a:off x="468313" y="908050"/>
            <a:ext cx="7991475" cy="366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     От Вавилонской башни</a:t>
            </a:r>
            <a:r>
              <a:rPr lang="ru-RU"/>
              <a:t>	  </a:t>
            </a:r>
            <a:r>
              <a:rPr lang="ru-RU" b="1"/>
              <a:t>к</a:t>
            </a:r>
            <a:r>
              <a:rPr lang="ru-RU"/>
              <a:t>	              </a:t>
            </a:r>
            <a:r>
              <a:rPr lang="ru-RU" b="1"/>
              <a:t>Единому языку</a:t>
            </a:r>
          </a:p>
        </p:txBody>
      </p:sp>
      <p:sp>
        <p:nvSpPr>
          <p:cNvPr id="32808" name="Text Box 40"/>
          <p:cNvSpPr txBox="1">
            <a:spLocks noChangeArrowheads="1"/>
          </p:cNvSpPr>
          <p:nvPr/>
        </p:nvSpPr>
        <p:spPr bwMode="auto">
          <a:xfrm>
            <a:off x="4606925" y="5734050"/>
            <a:ext cx="45370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ru-RU">
                <a:solidFill>
                  <a:srgbClr val="FF0000"/>
                </a:solidFill>
              </a:rPr>
              <a:t>из которой возможен вывод информации в различных форматах различным классам пользователей </a:t>
            </a:r>
          </a:p>
        </p:txBody>
      </p:sp>
      <p:sp>
        <p:nvSpPr>
          <p:cNvPr id="32809" name="Text Box 41"/>
          <p:cNvSpPr txBox="1">
            <a:spLocks noChangeArrowheads="1"/>
          </p:cNvSpPr>
          <p:nvPr/>
        </p:nvSpPr>
        <p:spPr bwMode="auto">
          <a:xfrm>
            <a:off x="611188" y="1773238"/>
            <a:ext cx="8281987" cy="3787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4000"/>
              <a:t>Задача внутреннего «языка» - обеспечить единство и связность модели простыми стандартными средствами, которые легко осваиваются, но позволяют создать сложные модели!</a:t>
            </a:r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6B6246-AE44-4F14-96C7-74EF6F28C706}" type="slidenum">
              <a:rPr lang="ru-RU" smtClean="0"/>
              <a:pPr>
                <a:defRPr/>
              </a:pPr>
              <a:t>52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08" grpId="0"/>
      <p:bldP spid="3280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Куб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32125" y="2928938"/>
            <a:ext cx="3092450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351837" cy="504825"/>
          </a:xfrm>
        </p:spPr>
        <p:txBody>
          <a:bodyPr/>
          <a:lstStyle/>
          <a:p>
            <a:pPr marL="0" eaLnBrk="1" hangingPunct="1"/>
            <a:r>
              <a:rPr lang="ru-RU" sz="2000" b="1" smtClean="0">
                <a:solidFill>
                  <a:schemeClr val="tx1"/>
                </a:solidFill>
              </a:rPr>
              <a:t>Вывод информации</a:t>
            </a:r>
            <a:r>
              <a:rPr lang="ru-RU" sz="2000" smtClean="0">
                <a:solidFill>
                  <a:schemeClr val="tx1"/>
                </a:solidFill>
              </a:rPr>
              <a:t>: Разные потребители</a:t>
            </a:r>
            <a:r>
              <a:rPr lang="en-US" sz="2000" smtClean="0">
                <a:solidFill>
                  <a:schemeClr val="tx1"/>
                </a:solidFill>
              </a:rPr>
              <a:t>&gt; </a:t>
            </a:r>
            <a:r>
              <a:rPr lang="ru-RU" sz="2000" smtClean="0">
                <a:solidFill>
                  <a:schemeClr val="tx1"/>
                </a:solidFill>
              </a:rPr>
              <a:t>Разные потребности </a:t>
            </a:r>
            <a:r>
              <a:rPr lang="en-US" sz="2000" smtClean="0">
                <a:solidFill>
                  <a:schemeClr val="tx1"/>
                </a:solidFill>
              </a:rPr>
              <a:t>&gt; </a:t>
            </a:r>
            <a:r>
              <a:rPr lang="ru-RU" sz="2000" smtClean="0">
                <a:solidFill>
                  <a:schemeClr val="tx1"/>
                </a:solidFill>
              </a:rPr>
              <a:t>Разная информация из модели</a:t>
            </a:r>
          </a:p>
        </p:txBody>
      </p:sp>
      <p:sp>
        <p:nvSpPr>
          <p:cNvPr id="49156" name="AutoShape 8"/>
          <p:cNvSpPr>
            <a:spLocks noChangeArrowheads="1"/>
          </p:cNvSpPr>
          <p:nvPr/>
        </p:nvSpPr>
        <p:spPr bwMode="auto">
          <a:xfrm>
            <a:off x="3792538" y="3798888"/>
            <a:ext cx="1419225" cy="738187"/>
          </a:xfrm>
          <a:prstGeom prst="cube">
            <a:avLst>
              <a:gd name="adj" fmla="val 0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Единая модель</a:t>
            </a:r>
          </a:p>
          <a:p>
            <a:pPr algn="ctr"/>
            <a:r>
              <a:rPr lang="ru-RU" sz="1400"/>
              <a:t>Деятельности</a:t>
            </a:r>
          </a:p>
          <a:p>
            <a:pPr algn="ctr"/>
            <a:r>
              <a:rPr lang="ru-RU" sz="1400"/>
              <a:t> (база знаний)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128713" y="3146425"/>
            <a:ext cx="2500312" cy="979488"/>
            <a:chOff x="501" y="1702"/>
            <a:chExt cx="1575" cy="617"/>
          </a:xfrm>
        </p:grpSpPr>
        <p:sp>
          <p:nvSpPr>
            <p:cNvPr id="49187" name="Rectangle 10"/>
            <p:cNvSpPr>
              <a:spLocks noChangeArrowheads="1"/>
            </p:cNvSpPr>
            <p:nvPr/>
          </p:nvSpPr>
          <p:spPr bwMode="auto">
            <a:xfrm>
              <a:off x="501" y="1994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2</a:t>
              </a:r>
            </a:p>
          </p:txBody>
        </p:sp>
        <p:cxnSp>
          <p:nvCxnSpPr>
            <p:cNvPr id="49188" name="AutoShape 11"/>
            <p:cNvCxnSpPr>
              <a:cxnSpLocks noChangeShapeType="1"/>
            </p:cNvCxnSpPr>
            <p:nvPr/>
          </p:nvCxnSpPr>
          <p:spPr bwMode="auto">
            <a:xfrm flipH="1" flipV="1">
              <a:off x="765" y="1702"/>
              <a:ext cx="1311" cy="61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173163" y="4233863"/>
            <a:ext cx="2454275" cy="1263650"/>
            <a:chOff x="519" y="2337"/>
            <a:chExt cx="1546" cy="796"/>
          </a:xfrm>
        </p:grpSpPr>
        <p:cxnSp>
          <p:nvCxnSpPr>
            <p:cNvPr id="49185" name="AutoShape 13"/>
            <p:cNvCxnSpPr>
              <a:cxnSpLocks noChangeShapeType="1"/>
            </p:cNvCxnSpPr>
            <p:nvPr/>
          </p:nvCxnSpPr>
          <p:spPr bwMode="auto">
            <a:xfrm flipH="1">
              <a:off x="771" y="2337"/>
              <a:ext cx="1294" cy="7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  <p:sp>
          <p:nvSpPr>
            <p:cNvPr id="49186" name="Rectangle 14"/>
            <p:cNvSpPr>
              <a:spLocks noChangeArrowheads="1"/>
            </p:cNvSpPr>
            <p:nvPr/>
          </p:nvSpPr>
          <p:spPr bwMode="auto">
            <a:xfrm>
              <a:off x="519" y="2560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3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484813" y="3219450"/>
            <a:ext cx="2447925" cy="949325"/>
            <a:chOff x="3715" y="1708"/>
            <a:chExt cx="1542" cy="598"/>
          </a:xfrm>
        </p:grpSpPr>
        <p:cxnSp>
          <p:nvCxnSpPr>
            <p:cNvPr id="49183" name="AutoShape 16"/>
            <p:cNvCxnSpPr>
              <a:cxnSpLocks noChangeShapeType="1"/>
            </p:cNvCxnSpPr>
            <p:nvPr/>
          </p:nvCxnSpPr>
          <p:spPr bwMode="auto">
            <a:xfrm flipV="1">
              <a:off x="3715" y="1708"/>
              <a:ext cx="1298" cy="59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  <p:sp>
          <p:nvSpPr>
            <p:cNvPr id="49184" name="Rectangle 17"/>
            <p:cNvSpPr>
              <a:spLocks noChangeArrowheads="1"/>
            </p:cNvSpPr>
            <p:nvPr/>
          </p:nvSpPr>
          <p:spPr bwMode="auto">
            <a:xfrm>
              <a:off x="4463" y="1954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5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5484813" y="4216400"/>
            <a:ext cx="2476500" cy="1108075"/>
            <a:chOff x="3715" y="2336"/>
            <a:chExt cx="1560" cy="698"/>
          </a:xfrm>
        </p:grpSpPr>
        <p:cxnSp>
          <p:nvCxnSpPr>
            <p:cNvPr id="49181" name="AutoShape 19"/>
            <p:cNvCxnSpPr>
              <a:cxnSpLocks noChangeShapeType="1"/>
            </p:cNvCxnSpPr>
            <p:nvPr/>
          </p:nvCxnSpPr>
          <p:spPr bwMode="auto">
            <a:xfrm>
              <a:off x="3715" y="2336"/>
              <a:ext cx="1304" cy="69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</p:spPr>
        </p:cxnSp>
        <p:sp>
          <p:nvSpPr>
            <p:cNvPr id="49182" name="Rectangle 20"/>
            <p:cNvSpPr>
              <a:spLocks noChangeArrowheads="1"/>
            </p:cNvSpPr>
            <p:nvPr/>
          </p:nvSpPr>
          <p:spPr bwMode="auto">
            <a:xfrm>
              <a:off x="4481" y="2520"/>
              <a:ext cx="79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 b="1">
                  <a:solidFill>
                    <a:srgbClr val="202062"/>
                  </a:solidFill>
                </a:rPr>
                <a:t>ФОРМАТ 4</a:t>
              </a:r>
            </a:p>
          </p:txBody>
        </p:sp>
      </p:grpSp>
      <p:sp>
        <p:nvSpPr>
          <p:cNvPr id="49161" name="Rectangle 22"/>
          <p:cNvSpPr>
            <a:spLocks noChangeArrowheads="1"/>
          </p:cNvSpPr>
          <p:nvPr/>
        </p:nvSpPr>
        <p:spPr bwMode="auto">
          <a:xfrm>
            <a:off x="107950" y="5829300"/>
            <a:ext cx="2663825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Контролирующие и    </a:t>
            </a:r>
          </a:p>
          <a:p>
            <a:pPr algn="ctr"/>
            <a:r>
              <a:rPr lang="ru-RU" sz="1400" b="1"/>
              <a:t>сертифицирующие </a:t>
            </a:r>
          </a:p>
          <a:p>
            <a:pPr algn="ctr"/>
            <a:r>
              <a:rPr lang="ru-RU" sz="1400" b="1"/>
              <a:t>организации</a:t>
            </a:r>
          </a:p>
        </p:txBody>
      </p:sp>
      <p:sp>
        <p:nvSpPr>
          <p:cNvPr id="49162" name="Rectangle 23"/>
          <p:cNvSpPr>
            <a:spLocks noChangeArrowheads="1"/>
          </p:cNvSpPr>
          <p:nvPr/>
        </p:nvSpPr>
        <p:spPr bwMode="auto">
          <a:xfrm>
            <a:off x="6300788" y="5829300"/>
            <a:ext cx="2663825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Специалисты по </a:t>
            </a:r>
            <a:r>
              <a:rPr lang="en-US" sz="1400" b="1"/>
              <a:t>IT</a:t>
            </a:r>
            <a:endParaRPr lang="ru-RU" sz="1400" b="1"/>
          </a:p>
        </p:txBody>
      </p:sp>
      <p:sp>
        <p:nvSpPr>
          <p:cNvPr id="49163" name="Rectangle 24"/>
          <p:cNvSpPr>
            <a:spLocks noChangeArrowheads="1"/>
          </p:cNvSpPr>
          <p:nvPr/>
        </p:nvSpPr>
        <p:spPr bwMode="auto">
          <a:xfrm>
            <a:off x="107950" y="136525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Партнеры и контрагенты</a:t>
            </a:r>
          </a:p>
        </p:txBody>
      </p:sp>
      <p:sp>
        <p:nvSpPr>
          <p:cNvPr id="49164" name="Rectangle 25"/>
          <p:cNvSpPr>
            <a:spLocks noChangeArrowheads="1"/>
          </p:cNvSpPr>
          <p:nvPr/>
        </p:nvSpPr>
        <p:spPr bwMode="auto">
          <a:xfrm>
            <a:off x="3206750" y="582930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Сотрудники</a:t>
            </a:r>
          </a:p>
        </p:txBody>
      </p:sp>
      <p:sp>
        <p:nvSpPr>
          <p:cNvPr id="49165" name="Rectangle 26"/>
          <p:cNvSpPr>
            <a:spLocks noChangeArrowheads="1"/>
          </p:cNvSpPr>
          <p:nvPr/>
        </p:nvSpPr>
        <p:spPr bwMode="auto">
          <a:xfrm>
            <a:off x="6303963" y="136525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Аналитики</a:t>
            </a:r>
          </a:p>
        </p:txBody>
      </p:sp>
      <p:sp>
        <p:nvSpPr>
          <p:cNvPr id="49166" name="Rectangle 27"/>
          <p:cNvSpPr>
            <a:spLocks noChangeArrowheads="1"/>
          </p:cNvSpPr>
          <p:nvPr/>
        </p:nvSpPr>
        <p:spPr bwMode="auto">
          <a:xfrm>
            <a:off x="2552700" y="2676525"/>
            <a:ext cx="1260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ФОРМАТ 1</a:t>
            </a:r>
          </a:p>
        </p:txBody>
      </p:sp>
      <p:cxnSp>
        <p:nvCxnSpPr>
          <p:cNvPr id="49167" name="AutoShape 28"/>
          <p:cNvCxnSpPr>
            <a:cxnSpLocks noChangeShapeType="1"/>
          </p:cNvCxnSpPr>
          <p:nvPr/>
        </p:nvCxnSpPr>
        <p:spPr bwMode="auto">
          <a:xfrm flipH="1" flipV="1">
            <a:off x="3903663" y="2565400"/>
            <a:ext cx="6350" cy="93345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</p:cxnSp>
      <p:cxnSp>
        <p:nvCxnSpPr>
          <p:cNvPr id="49168" name="AutoShape 29"/>
          <p:cNvCxnSpPr>
            <a:cxnSpLocks noChangeShapeType="1"/>
          </p:cNvCxnSpPr>
          <p:nvPr/>
        </p:nvCxnSpPr>
        <p:spPr bwMode="auto">
          <a:xfrm flipV="1">
            <a:off x="5449888" y="2844800"/>
            <a:ext cx="1914525" cy="9382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9169" name="AutoShape 30"/>
          <p:cNvCxnSpPr>
            <a:cxnSpLocks noChangeShapeType="1"/>
          </p:cNvCxnSpPr>
          <p:nvPr/>
        </p:nvCxnSpPr>
        <p:spPr bwMode="auto">
          <a:xfrm flipH="1" flipV="1">
            <a:off x="1577975" y="2778125"/>
            <a:ext cx="2057400" cy="958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9170" name="AutoShape 31"/>
          <p:cNvCxnSpPr>
            <a:cxnSpLocks noChangeShapeType="1"/>
          </p:cNvCxnSpPr>
          <p:nvPr/>
        </p:nvCxnSpPr>
        <p:spPr bwMode="auto">
          <a:xfrm flipH="1">
            <a:off x="1751013" y="4648200"/>
            <a:ext cx="1855787" cy="11017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9171" name="AutoShape 32"/>
          <p:cNvCxnSpPr>
            <a:cxnSpLocks noChangeShapeType="1"/>
          </p:cNvCxnSpPr>
          <p:nvPr/>
        </p:nvCxnSpPr>
        <p:spPr bwMode="auto">
          <a:xfrm>
            <a:off x="5449888" y="4632325"/>
            <a:ext cx="2087562" cy="1117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9172" name="AutoShape 33"/>
          <p:cNvCxnSpPr>
            <a:cxnSpLocks noChangeShapeType="1"/>
          </p:cNvCxnSpPr>
          <p:nvPr/>
        </p:nvCxnSpPr>
        <p:spPr bwMode="auto">
          <a:xfrm flipH="1" flipV="1">
            <a:off x="5246688" y="2466975"/>
            <a:ext cx="6350" cy="10588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9173" name="Text Box 34"/>
          <p:cNvSpPr txBox="1">
            <a:spLocks noChangeArrowheads="1"/>
          </p:cNvSpPr>
          <p:nvPr/>
        </p:nvSpPr>
        <p:spPr bwMode="auto">
          <a:xfrm>
            <a:off x="5334000" y="256063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Инф1</a:t>
            </a:r>
          </a:p>
        </p:txBody>
      </p:sp>
      <p:sp>
        <p:nvSpPr>
          <p:cNvPr id="49174" name="Text Box 35"/>
          <p:cNvSpPr txBox="1">
            <a:spLocks noChangeArrowheads="1"/>
          </p:cNvSpPr>
          <p:nvPr/>
        </p:nvSpPr>
        <p:spPr bwMode="auto">
          <a:xfrm>
            <a:off x="1389063" y="242728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Инф2</a:t>
            </a:r>
          </a:p>
        </p:txBody>
      </p:sp>
      <p:sp>
        <p:nvSpPr>
          <p:cNvPr id="49175" name="Text Box 36"/>
          <p:cNvSpPr txBox="1">
            <a:spLocks noChangeArrowheads="1"/>
          </p:cNvSpPr>
          <p:nvPr/>
        </p:nvSpPr>
        <p:spPr bwMode="auto">
          <a:xfrm>
            <a:off x="2241550" y="547528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Инф3</a:t>
            </a:r>
          </a:p>
        </p:txBody>
      </p:sp>
      <p:sp>
        <p:nvSpPr>
          <p:cNvPr id="49176" name="Text Box 37"/>
          <p:cNvSpPr txBox="1">
            <a:spLocks noChangeArrowheads="1"/>
          </p:cNvSpPr>
          <p:nvPr/>
        </p:nvSpPr>
        <p:spPr bwMode="auto">
          <a:xfrm>
            <a:off x="6099175" y="5443538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Инф4</a:t>
            </a:r>
          </a:p>
        </p:txBody>
      </p:sp>
      <p:sp>
        <p:nvSpPr>
          <p:cNvPr id="49177" name="Text Box 38"/>
          <p:cNvSpPr txBox="1">
            <a:spLocks noChangeArrowheads="1"/>
          </p:cNvSpPr>
          <p:nvPr/>
        </p:nvSpPr>
        <p:spPr bwMode="auto">
          <a:xfrm>
            <a:off x="6554788" y="2487613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b="1">
                <a:solidFill>
                  <a:srgbClr val="202062"/>
                </a:solidFill>
              </a:rPr>
              <a:t>Инф5</a:t>
            </a:r>
          </a:p>
        </p:txBody>
      </p:sp>
      <p:sp>
        <p:nvSpPr>
          <p:cNvPr id="49178" name="Rectangle 39"/>
          <p:cNvSpPr>
            <a:spLocks noChangeArrowheads="1"/>
          </p:cNvSpPr>
          <p:nvPr/>
        </p:nvSpPr>
        <p:spPr bwMode="auto">
          <a:xfrm>
            <a:off x="3206750" y="1365250"/>
            <a:ext cx="2660650" cy="623888"/>
          </a:xfrm>
          <a:prstGeom prst="rect">
            <a:avLst/>
          </a:prstGeom>
          <a:solidFill>
            <a:srgbClr val="85E1F7"/>
          </a:solidFill>
          <a:ln w="57150" cmpd="thinThick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 b="1"/>
              <a:t>Высшее руководство</a:t>
            </a:r>
          </a:p>
        </p:txBody>
      </p:sp>
      <p:sp>
        <p:nvSpPr>
          <p:cNvPr id="49179" name="Line 40"/>
          <p:cNvSpPr>
            <a:spLocks noChangeShapeType="1"/>
          </p:cNvSpPr>
          <p:nvPr/>
        </p:nvSpPr>
        <p:spPr bwMode="auto">
          <a:xfrm>
            <a:off x="4224338" y="5141913"/>
            <a:ext cx="14287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9180" name="Line 41"/>
          <p:cNvSpPr>
            <a:spLocks noChangeShapeType="1"/>
          </p:cNvSpPr>
          <p:nvPr/>
        </p:nvSpPr>
        <p:spPr bwMode="auto">
          <a:xfrm flipH="1" flipV="1">
            <a:off x="4849813" y="5111750"/>
            <a:ext cx="12700" cy="6238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9" name="Номер слайда 3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B131C7-64F0-4E8F-AEE1-D053497741E1}" type="slidenum">
              <a:rPr lang="ru-RU" smtClean="0"/>
              <a:pPr>
                <a:defRPr/>
              </a:pPr>
              <a:t>53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229600" cy="808038"/>
          </a:xfrm>
          <a:noFill/>
        </p:spPr>
        <p:txBody>
          <a:bodyPr/>
          <a:lstStyle/>
          <a:p>
            <a:pPr marL="0" eaLnBrk="1" hangingPunct="1"/>
            <a:r>
              <a:rPr lang="ru-RU" sz="2000" b="1" smtClean="0"/>
              <a:t>Потребители – цель получения – форматы представления</a:t>
            </a:r>
          </a:p>
        </p:txBody>
      </p:sp>
      <p:graphicFrame>
        <p:nvGraphicFramePr>
          <p:cNvPr id="30723" name="Group 3"/>
          <p:cNvGraphicFramePr>
            <a:graphicFrameLocks noGrp="1"/>
          </p:cNvGraphicFramePr>
          <p:nvPr>
            <p:ph idx="1"/>
          </p:nvPr>
        </p:nvGraphicFramePr>
        <p:xfrm>
          <a:off x="0" y="920750"/>
          <a:ext cx="9144000" cy="5547360"/>
        </p:xfrm>
        <a:graphic>
          <a:graphicData uri="http://schemas.openxmlformats.org/drawingml/2006/table">
            <a:tbl>
              <a:tblPr/>
              <a:tblGrid>
                <a:gridCol w="1997075"/>
                <a:gridCol w="3006725"/>
                <a:gridCol w="4140200"/>
              </a:tblGrid>
              <a:tr h="2365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Потребители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Цель получения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Формат представления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Высшее руководство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Понимание общей организации деятельности и ролевого участия подразделений 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Принятие управленческих решений по определению «правил игры» 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Общая картина («ландшафт») процессов, возможно, в индивидуальном формате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Политики, Карты стратегий, Дерево целей и показателей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Матрицы ответственности 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8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Сотрудники компании (исполнители)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Четкое понимание правил игры, ожиданий руководства, последовательности действий, распределения ответственности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Регламенты процесса (текст или таблица) 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Должностные инструкции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Карты операций и технологические инструкции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Аналитики, Сотрудники – владельцы процессов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Оптимизация структур и процессов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Стандартные нотации представления процессов (нотации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IDEF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IDEF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EPC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ЛФС и т.д.), возможно специальные отчеты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Процесс во взаимосвязи с другими процессами и объектами управления (цели, показатели, структуры…)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Специалисты по IT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Постановка задач для ИТ-решений в рамках подготовки к внедрению информационных систем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Стандартные нотации представления процессов (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IDEF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DFD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и т.д.)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Таблицы информационных структур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Партнеры, контрагенты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Создание партнерств, совместных предприятий, аутсорсинг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Графическое представление процесса в удобном для восприятия виде.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Стандарты взаимодействия (регламент процесса, отражающий только точки  и характеристики взаимодействия)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6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Контролирующие и сертифицирующие организации. Система внутреннего контроля.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Проверка соответствия управления компанией требованиям стандартов (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ISO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9000, 14000, отраслевые стандарты по безопасности труда,   закон 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Sarbanes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Oxley</a:t>
                      </a: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внутренние стандарты и т.п.)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Текстовые документы (Политики, Положения, Должностные и технологические инструкции)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Общепринятые графические форматы 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Специальные таблицы соответствия требований и фактической организации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6B6246-AE44-4F14-96C7-74EF6F28C706}" type="slidenum">
              <a:rPr lang="ru-RU" smtClean="0"/>
              <a:pPr>
                <a:defRPr/>
              </a:pPr>
              <a:t>54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229600" cy="328613"/>
          </a:xfrm>
          <a:noFill/>
        </p:spPr>
        <p:txBody>
          <a:bodyPr/>
          <a:lstStyle/>
          <a:p>
            <a:pPr eaLnBrk="1" hangingPunct="1"/>
            <a:r>
              <a:rPr lang="ru-RU" sz="2000" b="1" smtClean="0"/>
              <a:t>Множество взглядов на организацию или «каждому – свое»</a:t>
            </a:r>
          </a:p>
        </p:txBody>
      </p:sp>
      <p:pic>
        <p:nvPicPr>
          <p:cNvPr id="5124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92100" y="1209675"/>
            <a:ext cx="2678113" cy="3540125"/>
          </a:xfrm>
          <a:noFill/>
        </p:spPr>
      </p:pic>
      <p:graphicFrame>
        <p:nvGraphicFramePr>
          <p:cNvPr id="512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216525" y="762000"/>
          <a:ext cx="3497263" cy="465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Точечный рисунок" r:id="rId5" imgW="3000000" imgH="3990476" progId="PBrush">
                  <p:embed/>
                </p:oleObj>
              </mc:Choice>
              <mc:Fallback>
                <p:oleObj name="Точечный рисунок" r:id="rId5" imgW="3000000" imgH="3990476" progId="PBrush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762000"/>
                        <a:ext cx="3497263" cy="465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228600" y="5791200"/>
            <a:ext cx="8359775" cy="8255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dirty="0"/>
              <a:t>Для каждого уровня управления компанией (руководителей, начальников подразделений, рядовых сотрудников) из единой модели могут быть сформированы свои регламенты, отражающие интересующие их аспекты и уровень деятельности</a:t>
            </a:r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3090863" y="1349375"/>
            <a:ext cx="3063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ru-RU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>
            <a:off x="3294063" y="2960688"/>
            <a:ext cx="162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ru-RU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2568575" y="4673600"/>
            <a:ext cx="2381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ru-RU"/>
          </a:p>
        </p:txBody>
      </p:sp>
      <p:pic>
        <p:nvPicPr>
          <p:cNvPr id="5129" name="Picture 11" descr="Куб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00113" y="2276475"/>
            <a:ext cx="1366837" cy="111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6234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8313" y="908050"/>
            <a:ext cx="8351837" cy="47720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436236" name="Text Box 12"/>
          <p:cNvSpPr txBox="1">
            <a:spLocks noChangeArrowheads="1"/>
          </p:cNvSpPr>
          <p:nvPr/>
        </p:nvSpPr>
        <p:spPr bwMode="auto">
          <a:xfrm>
            <a:off x="2195513" y="3573463"/>
            <a:ext cx="6624637" cy="865187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Матрица предоставления информации из модели </a:t>
            </a:r>
            <a:r>
              <a:rPr lang="ru-RU" sz="1600" b="1">
                <a:solidFill>
                  <a:srgbClr val="FF0000"/>
                </a:solidFill>
              </a:rPr>
              <a:t>– в каждой ячейке типы отчетов, предоставляемые соответствующему потребителю на соответствующем уровне</a:t>
            </a: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5F8D6D-BF8A-4C02-A9BB-9BB6B6820C45}" type="slidenum">
              <a:rPr lang="ru-RU" smtClean="0"/>
              <a:pPr>
                <a:defRPr/>
              </a:pPr>
              <a:t>55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6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6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Средства вывода: генератор табличных и текстовых отчетов в ОРГ-МАСТЕР</a:t>
            </a:r>
            <a:r>
              <a:rPr lang="en-US" sz="2000" b="1" smtClean="0"/>
              <a:t>®</a:t>
            </a:r>
          </a:p>
        </p:txBody>
      </p:sp>
      <p:pic>
        <p:nvPicPr>
          <p:cNvPr id="51203" name="Picture 12" descr="3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971550" y="1052513"/>
            <a:ext cx="7283450" cy="5397500"/>
          </a:xfrm>
          <a:prstGeom prst="rect">
            <a:avLst/>
          </a:prstGeom>
          <a:noFill/>
        </p:spPr>
      </p:pic>
      <p:sp>
        <p:nvSpPr>
          <p:cNvPr id="6" name="Номер слайда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56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Средства вывода: мастер диаграмм в ОРГ-МАСТЕР</a:t>
            </a:r>
            <a:r>
              <a:rPr lang="en-US" sz="2000" b="1" smtClean="0"/>
              <a:t>®</a:t>
            </a:r>
          </a:p>
        </p:txBody>
      </p:sp>
      <p:graphicFrame>
        <p:nvGraphicFramePr>
          <p:cNvPr id="6146" name="Object 6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50825" y="1173163"/>
          <a:ext cx="3814763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Точечный рисунок" r:id="rId4" imgW="4401164" imgH="3048426" progId="PBrush">
                  <p:embed/>
                </p:oleObj>
              </mc:Choice>
              <mc:Fallback>
                <p:oleObj name="Точечный рисунок" r:id="rId4" imgW="4401164" imgH="304842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73163"/>
                        <a:ext cx="3814763" cy="264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8676" name="Picture 2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 cstate="print"/>
          <a:srcRect/>
          <a:stretch>
            <a:fillRect/>
          </a:stretch>
        </p:blipFill>
        <p:spPr>
          <a:xfrm>
            <a:off x="1187450" y="1557338"/>
            <a:ext cx="5641975" cy="4713287"/>
          </a:xfrm>
          <a:noFill/>
          <a:ln>
            <a:solidFill>
              <a:schemeClr val="tx1"/>
            </a:solidFill>
          </a:ln>
        </p:spPr>
      </p:pic>
      <p:pic>
        <p:nvPicPr>
          <p:cNvPr id="198672" name="Picture 1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24525" y="908050"/>
            <a:ext cx="2519363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661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76375" y="1628775"/>
            <a:ext cx="7380288" cy="471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678" name="Picture 22" descr="ЛФС_План1_0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9" cstate="print"/>
          <a:srcRect/>
          <a:stretch>
            <a:fillRect/>
          </a:stretch>
        </p:blipFill>
        <p:spPr>
          <a:xfrm>
            <a:off x="4356100" y="1557338"/>
            <a:ext cx="3200400" cy="4525962"/>
          </a:xfrm>
          <a:noFill/>
          <a:ln>
            <a:solidFill>
              <a:schemeClr val="tx1"/>
            </a:solidFill>
          </a:ln>
        </p:spPr>
      </p:pic>
      <p:graphicFrame>
        <p:nvGraphicFramePr>
          <p:cNvPr id="198673" name="Object 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55650" y="2708275"/>
          <a:ext cx="2863850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Точечный рисунок" r:id="rId10" imgW="4304762" imgH="3285714" progId="PBrush">
                  <p:embed/>
                </p:oleObj>
              </mc:Choice>
              <mc:Fallback>
                <p:oleObj name="Точечный рисунок" r:id="rId10" imgW="4304762" imgH="3285714" progId="PBrush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708275"/>
                        <a:ext cx="2863850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Номер слайда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971649-5739-4E0C-9F50-B0C6B89A49B6}" type="slidenum">
              <a:rPr lang="ru-RU" smtClean="0"/>
              <a:pPr>
                <a:defRPr/>
              </a:pPr>
              <a:t>57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17"/>
          <p:cNvGraphicFramePr>
            <a:graphicFrameLocks noChangeAspect="1"/>
          </p:cNvGraphicFramePr>
          <p:nvPr/>
        </p:nvGraphicFramePr>
        <p:xfrm>
          <a:off x="684213" y="908050"/>
          <a:ext cx="638175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VISIO" r:id="rId4" imgW="6490557" imgH="5727622" progId="">
                  <p:embed/>
                </p:oleObj>
              </mc:Choice>
              <mc:Fallback>
                <p:oleObj name="VISIO" r:id="rId4" imgW="6490557" imgH="5727622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908050"/>
                        <a:ext cx="6381750" cy="563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79388" y="187325"/>
            <a:ext cx="8496300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Средства вывода: ОРГ-МАСТЕР</a:t>
            </a:r>
            <a:r>
              <a:rPr lang="en-US" sz="2000" b="1" smtClean="0"/>
              <a:t>®</a:t>
            </a:r>
            <a:r>
              <a:rPr lang="ru-RU" sz="2000" b="1" smtClean="0"/>
              <a:t>Графикс</a:t>
            </a:r>
            <a:r>
              <a:rPr lang="en-US" sz="2000" b="1" smtClean="0"/>
              <a:t> </a:t>
            </a:r>
            <a:r>
              <a:rPr lang="ru-RU" sz="2000" b="1" smtClean="0"/>
              <a:t>как дополнительное средство графического представления модели</a:t>
            </a:r>
          </a:p>
        </p:txBody>
      </p:sp>
      <p:pic>
        <p:nvPicPr>
          <p:cNvPr id="197646" name="Picture 14" descr="Рисунок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 cstate="print"/>
          <a:srcRect/>
          <a:stretch>
            <a:fillRect/>
          </a:stretch>
        </p:blipFill>
        <p:spPr>
          <a:xfrm>
            <a:off x="1547813" y="1125538"/>
            <a:ext cx="7048500" cy="4946650"/>
          </a:xfrm>
          <a:noFill/>
        </p:spPr>
      </p:pic>
      <p:pic>
        <p:nvPicPr>
          <p:cNvPr id="197640" name="Picture 8" descr="Приход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7" cstate="print"/>
          <a:srcRect/>
          <a:stretch>
            <a:fillRect/>
          </a:stretch>
        </p:blipFill>
        <p:spPr>
          <a:xfrm>
            <a:off x="1763713" y="1844675"/>
            <a:ext cx="6732587" cy="4570413"/>
          </a:xfrm>
          <a:noFill/>
        </p:spPr>
      </p:pic>
      <p:pic>
        <p:nvPicPr>
          <p:cNvPr id="197642" name="Picture 10" descr="Ремонт3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8" cstate="print"/>
          <a:srcRect/>
          <a:stretch>
            <a:fillRect/>
          </a:stretch>
        </p:blipFill>
        <p:spPr>
          <a:xfrm>
            <a:off x="2484438" y="736600"/>
            <a:ext cx="4379912" cy="6121400"/>
          </a:xfrm>
          <a:noFill/>
        </p:spPr>
      </p:pic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971649-5739-4E0C-9F50-B0C6B89A49B6}" type="slidenum">
              <a:rPr lang="ru-RU" smtClean="0"/>
              <a:pPr>
                <a:defRPr/>
              </a:pPr>
              <a:t>58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33" descr="Классификатор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92500" y="2565400"/>
            <a:ext cx="13811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30" descr="Ремонт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50163" y="3141663"/>
            <a:ext cx="1493837" cy="208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194" name="Object 28"/>
          <p:cNvGraphicFramePr>
            <a:graphicFrameLocks noGrp="1" noChangeAspect="1"/>
          </p:cNvGraphicFramePr>
          <p:nvPr>
            <p:ph idx="4294967295"/>
          </p:nvPr>
        </p:nvGraphicFramePr>
        <p:xfrm>
          <a:off x="5867400" y="404813"/>
          <a:ext cx="2070100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VISIO" r:id="rId6" imgW="6490557" imgH="5727622" progId="">
                  <p:embed/>
                </p:oleObj>
              </mc:Choice>
              <mc:Fallback>
                <p:oleObj name="VISIO" r:id="rId6" imgW="6490557" imgH="5727622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04813"/>
                        <a:ext cx="2070100" cy="182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Технология ОРГ-МАСТЕР</a:t>
            </a:r>
            <a:r>
              <a:rPr lang="en-US" sz="2000" b="1" smtClean="0"/>
              <a:t>®</a:t>
            </a:r>
            <a:r>
              <a:rPr lang="ru-RU" sz="2000" b="1" smtClean="0"/>
              <a:t>:</a:t>
            </a:r>
            <a:br>
              <a:rPr lang="ru-RU" sz="2000" b="1" smtClean="0"/>
            </a:br>
            <a:r>
              <a:rPr lang="ru-RU" sz="2000" b="1" smtClean="0"/>
              <a:t>от концепта к детальным описаниям</a:t>
            </a:r>
          </a:p>
        </p:txBody>
      </p:sp>
      <p:pic>
        <p:nvPicPr>
          <p:cNvPr id="8199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8313" y="4437063"/>
            <a:ext cx="1893887" cy="195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19250" y="3429000"/>
            <a:ext cx="3095625" cy="217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435725" y="765175"/>
            <a:ext cx="2708275" cy="3579813"/>
            <a:chOff x="3921" y="907"/>
            <a:chExt cx="1706" cy="2255"/>
          </a:xfrm>
        </p:grpSpPr>
        <p:sp>
          <p:nvSpPr>
            <p:cNvPr id="8219" name="Oval 8"/>
            <p:cNvSpPr>
              <a:spLocks noChangeArrowheads="1"/>
            </p:cNvSpPr>
            <p:nvPr/>
          </p:nvSpPr>
          <p:spPr bwMode="auto">
            <a:xfrm>
              <a:off x="5276" y="1067"/>
              <a:ext cx="305" cy="146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rgbClr val="3366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200">
                  <a:solidFill>
                    <a:srgbClr val="000000"/>
                  </a:solidFill>
                </a:rPr>
                <a:t>…</a:t>
              </a:r>
              <a:endParaRPr lang="ru-RU" sz="1200">
                <a:solidFill>
                  <a:srgbClr val="000000"/>
                </a:solidFill>
              </a:endParaRPr>
            </a:p>
          </p:txBody>
        </p:sp>
        <p:sp>
          <p:nvSpPr>
            <p:cNvPr id="8220" name="Oval 9"/>
            <p:cNvSpPr>
              <a:spLocks noChangeArrowheads="1"/>
            </p:cNvSpPr>
            <p:nvPr/>
          </p:nvSpPr>
          <p:spPr bwMode="auto">
            <a:xfrm>
              <a:off x="5164" y="977"/>
              <a:ext cx="305" cy="136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>
                  <a:latin typeface="Arial Narrow" pitchFamily="34" charset="0"/>
                  <a:cs typeface="Times New Roman" pitchFamily="18" charset="0"/>
                </a:rPr>
                <a:t>DFD</a:t>
              </a:r>
              <a:r>
                <a:rPr lang="ru-RU" sz="1200"/>
                <a:t> </a:t>
              </a:r>
            </a:p>
          </p:txBody>
        </p:sp>
        <p:sp>
          <p:nvSpPr>
            <p:cNvPr id="8221" name="Oval 10"/>
            <p:cNvSpPr>
              <a:spLocks noChangeArrowheads="1"/>
            </p:cNvSpPr>
            <p:nvPr/>
          </p:nvSpPr>
          <p:spPr bwMode="auto">
            <a:xfrm>
              <a:off x="5029" y="907"/>
              <a:ext cx="280" cy="134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>
                  <a:latin typeface="Arial Narrow" pitchFamily="34" charset="0"/>
                  <a:cs typeface="Times New Roman" pitchFamily="18" charset="0"/>
                </a:rPr>
                <a:t>EIDEF</a:t>
              </a:r>
              <a:r>
                <a:rPr lang="ru-RU" sz="1200">
                  <a:latin typeface="Arial Narrow" pitchFamily="34" charset="0"/>
                  <a:cs typeface="Times New Roman" pitchFamily="18" charset="0"/>
                </a:rPr>
                <a:t>0</a:t>
              </a:r>
              <a:r>
                <a:rPr lang="ru-RU" sz="1200"/>
                <a:t> </a:t>
              </a:r>
            </a:p>
          </p:txBody>
        </p:sp>
        <p:pic>
          <p:nvPicPr>
            <p:cNvPr id="8222" name="Picture 11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3949" y="1020"/>
              <a:ext cx="1098" cy="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23" name="Oval 12"/>
            <p:cNvSpPr>
              <a:spLocks noChangeArrowheads="1"/>
            </p:cNvSpPr>
            <p:nvPr/>
          </p:nvSpPr>
          <p:spPr bwMode="auto">
            <a:xfrm>
              <a:off x="3921" y="1131"/>
              <a:ext cx="280" cy="134"/>
            </a:xfrm>
            <a:prstGeom prst="ellipse">
              <a:avLst/>
            </a:prstGeom>
            <a:solidFill>
              <a:srgbClr val="FDB32F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200"/>
                <a:t>IDEF0</a:t>
              </a:r>
              <a:endParaRPr lang="ru-RU" sz="1200"/>
            </a:p>
          </p:txBody>
        </p:sp>
        <p:graphicFrame>
          <p:nvGraphicFramePr>
            <p:cNvPr id="8195" name="Object 13"/>
            <p:cNvGraphicFramePr>
              <a:graphicFrameLocks noChangeAspect="1"/>
            </p:cNvGraphicFramePr>
            <p:nvPr/>
          </p:nvGraphicFramePr>
          <p:xfrm>
            <a:off x="4069" y="1676"/>
            <a:ext cx="1342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1" r:id="rId11" imgW="7323455" imgH="4549534" progId="PBrush">
                    <p:embed/>
                  </p:oleObj>
                </mc:Choice>
                <mc:Fallback>
                  <p:oleObj r:id="rId11" imgW="7323455" imgH="4549534" progId="PBrush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9" y="1676"/>
                          <a:ext cx="1342" cy="8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224" name="Picture 14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4197" y="2346"/>
              <a:ext cx="143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202" name="Line 15"/>
          <p:cNvSpPr>
            <a:spLocks noChangeShapeType="1"/>
          </p:cNvSpPr>
          <p:nvPr/>
        </p:nvSpPr>
        <p:spPr bwMode="auto">
          <a:xfrm>
            <a:off x="1187450" y="5300663"/>
            <a:ext cx="1081088" cy="1444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03" name="Line 16"/>
          <p:cNvSpPr>
            <a:spLocks noChangeShapeType="1"/>
          </p:cNvSpPr>
          <p:nvPr/>
        </p:nvSpPr>
        <p:spPr bwMode="auto">
          <a:xfrm flipV="1">
            <a:off x="1979613" y="5516563"/>
            <a:ext cx="1079500" cy="5048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8204" name="Picture 17" descr="Куб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708400" y="3213100"/>
            <a:ext cx="1584325" cy="1287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5" name="Line 18"/>
          <p:cNvSpPr>
            <a:spLocks noChangeShapeType="1"/>
          </p:cNvSpPr>
          <p:nvPr/>
        </p:nvSpPr>
        <p:spPr bwMode="auto">
          <a:xfrm flipV="1">
            <a:off x="1042988" y="3644900"/>
            <a:ext cx="2016125" cy="10795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06" name="Line 19"/>
          <p:cNvSpPr>
            <a:spLocks noChangeShapeType="1"/>
          </p:cNvSpPr>
          <p:nvPr/>
        </p:nvSpPr>
        <p:spPr bwMode="auto">
          <a:xfrm>
            <a:off x="1258888" y="494188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07" name="Line 20"/>
          <p:cNvSpPr>
            <a:spLocks noChangeShapeType="1"/>
          </p:cNvSpPr>
          <p:nvPr/>
        </p:nvSpPr>
        <p:spPr bwMode="auto">
          <a:xfrm flipV="1">
            <a:off x="1116013" y="4652963"/>
            <a:ext cx="1800225" cy="108108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08" name="Line 21"/>
          <p:cNvSpPr>
            <a:spLocks noChangeShapeType="1"/>
          </p:cNvSpPr>
          <p:nvPr/>
        </p:nvSpPr>
        <p:spPr bwMode="auto">
          <a:xfrm flipV="1">
            <a:off x="3779838" y="4005263"/>
            <a:ext cx="504825" cy="287337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8209" name="Picture 35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00563" y="1916113"/>
            <a:ext cx="2736850" cy="15636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8210" name="Line 32"/>
          <p:cNvSpPr>
            <a:spLocks noChangeShapeType="1"/>
          </p:cNvSpPr>
          <p:nvPr/>
        </p:nvSpPr>
        <p:spPr bwMode="auto">
          <a:xfrm flipV="1">
            <a:off x="5364163" y="1412875"/>
            <a:ext cx="792162" cy="1079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1" name="Line 25"/>
          <p:cNvSpPr>
            <a:spLocks noChangeShapeType="1"/>
          </p:cNvSpPr>
          <p:nvPr/>
        </p:nvSpPr>
        <p:spPr bwMode="auto">
          <a:xfrm flipV="1">
            <a:off x="5940425" y="1628775"/>
            <a:ext cx="792163" cy="863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2" name="Line 26"/>
          <p:cNvSpPr>
            <a:spLocks noChangeShapeType="1"/>
          </p:cNvSpPr>
          <p:nvPr/>
        </p:nvSpPr>
        <p:spPr bwMode="auto">
          <a:xfrm flipV="1">
            <a:off x="6156325" y="2636838"/>
            <a:ext cx="792163" cy="1444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3" name="Line 31"/>
          <p:cNvSpPr>
            <a:spLocks noChangeShapeType="1"/>
          </p:cNvSpPr>
          <p:nvPr/>
        </p:nvSpPr>
        <p:spPr bwMode="auto">
          <a:xfrm>
            <a:off x="6443663" y="3429000"/>
            <a:ext cx="1368425" cy="1295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4" name="Line 27"/>
          <p:cNvSpPr>
            <a:spLocks noChangeShapeType="1"/>
          </p:cNvSpPr>
          <p:nvPr/>
        </p:nvSpPr>
        <p:spPr bwMode="auto">
          <a:xfrm>
            <a:off x="6443663" y="3141663"/>
            <a:ext cx="720725" cy="3603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5" name="Line 24"/>
          <p:cNvSpPr>
            <a:spLocks noChangeShapeType="1"/>
          </p:cNvSpPr>
          <p:nvPr/>
        </p:nvSpPr>
        <p:spPr bwMode="auto">
          <a:xfrm flipV="1">
            <a:off x="5003800" y="3429000"/>
            <a:ext cx="1223963" cy="6477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6" name="Line 23"/>
          <p:cNvSpPr>
            <a:spLocks noChangeShapeType="1"/>
          </p:cNvSpPr>
          <p:nvPr/>
        </p:nvSpPr>
        <p:spPr bwMode="auto">
          <a:xfrm flipV="1">
            <a:off x="4932363" y="2997200"/>
            <a:ext cx="935037" cy="57626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7" name="Line 22"/>
          <p:cNvSpPr>
            <a:spLocks noChangeShapeType="1"/>
          </p:cNvSpPr>
          <p:nvPr/>
        </p:nvSpPr>
        <p:spPr bwMode="auto">
          <a:xfrm flipV="1">
            <a:off x="4643438" y="2708275"/>
            <a:ext cx="433387" cy="7207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218" name="Text Box 36"/>
          <p:cNvSpPr txBox="1">
            <a:spLocks noChangeArrowheads="1"/>
          </p:cNvSpPr>
          <p:nvPr/>
        </p:nvSpPr>
        <p:spPr bwMode="auto">
          <a:xfrm>
            <a:off x="5003800" y="2420938"/>
            <a:ext cx="1655763" cy="739775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>
                <a:solidFill>
                  <a:srgbClr val="FF0000"/>
                </a:solidFill>
              </a:rPr>
              <a:t>Матрица предоставления информации</a:t>
            </a:r>
          </a:p>
        </p:txBody>
      </p:sp>
      <p:sp>
        <p:nvSpPr>
          <p:cNvPr id="35" name="Номер слайда 3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59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7325"/>
            <a:ext cx="8101012" cy="504825"/>
          </a:xfrm>
        </p:spPr>
        <p:txBody>
          <a:bodyPr/>
          <a:lstStyle/>
          <a:p>
            <a:pPr eaLnBrk="1" hangingPunct="1"/>
            <a:r>
              <a:rPr lang="ru-RU" sz="2000" b="1" smtClean="0"/>
              <a:t>Дополнительные преимущества ОРГ-МАСТЕР</a:t>
            </a:r>
            <a:r>
              <a:rPr lang="en-US" sz="2000" b="1" smtClean="0"/>
              <a:t>®</a:t>
            </a:r>
          </a:p>
        </p:txBody>
      </p:sp>
      <p:sp>
        <p:nvSpPr>
          <p:cNvPr id="52227" name="Rectangle 5"/>
          <p:cNvSpPr>
            <a:spLocks noChangeArrowheads="1"/>
          </p:cNvSpPr>
          <p:nvPr/>
        </p:nvSpPr>
        <p:spPr bwMode="auto">
          <a:xfrm>
            <a:off x="1835150" y="1446213"/>
            <a:ext cx="5903913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sz="2000"/>
              <a:t>Практическая реализуемость сложных взаимосвязанных моделей </a:t>
            </a:r>
          </a:p>
          <a:p>
            <a:pPr marL="342900" indent="-342900">
              <a:buFontTx/>
              <a:buChar char="•"/>
            </a:pPr>
            <a:endParaRPr lang="ru-RU" sz="2000"/>
          </a:p>
          <a:p>
            <a:pPr marL="342900" indent="-342900">
              <a:buFontTx/>
              <a:buAutoNum type="arabicPeriod" startAt="2"/>
            </a:pPr>
            <a:r>
              <a:rPr lang="ru-RU" sz="2000"/>
              <a:t>Открытость и адаптируемость к моделированию любых типов организаций</a:t>
            </a:r>
          </a:p>
          <a:p>
            <a:pPr marL="342900" indent="-342900"/>
            <a:endParaRPr lang="ru-RU" sz="2000"/>
          </a:p>
          <a:p>
            <a:pPr marL="342900" indent="-342900">
              <a:buFontTx/>
              <a:buAutoNum type="arabicPeriod" startAt="3"/>
            </a:pPr>
            <a:r>
              <a:rPr lang="ru-RU" sz="2000"/>
              <a:t>Непротиворечивость частных моделей организации в различных нотациях</a:t>
            </a:r>
          </a:p>
          <a:p>
            <a:pPr marL="342900" indent="-342900">
              <a:buFontTx/>
              <a:buChar char="•"/>
            </a:pPr>
            <a:endParaRPr lang="ru-RU" sz="2000"/>
          </a:p>
          <a:p>
            <a:pPr marL="342900" indent="-342900">
              <a:buFontTx/>
              <a:buAutoNum type="arabicPeriod" startAt="4"/>
            </a:pPr>
            <a:r>
              <a:rPr lang="ru-RU" sz="2000"/>
              <a:t>Легкость внесения изменений в модель</a:t>
            </a:r>
          </a:p>
          <a:p>
            <a:pPr marL="342900" indent="-342900"/>
            <a:endParaRPr lang="ru-RU" sz="2000"/>
          </a:p>
          <a:p>
            <a:pPr marL="342900" indent="-342900">
              <a:buFontTx/>
              <a:buAutoNum type="arabicPeriod" startAt="5"/>
            </a:pPr>
            <a:r>
              <a:rPr lang="ru-RU" sz="2000"/>
              <a:t>Сравнительно мягкие требования к квалификации и количеству специалистов, занятых созданием и актуализацией модели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lang="ru-RU" spc="-5" smtClean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60</a:t>
            </a:fld>
            <a:endParaRPr lang="ru-RU"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56" y="0"/>
            <a:ext cx="7573645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" dirty="0"/>
              <a:t>Развитие </a:t>
            </a:r>
            <a:r>
              <a:rPr sz="2800" spc="-10" dirty="0"/>
              <a:t>инструментов </a:t>
            </a:r>
            <a:r>
              <a:rPr sz="2800" spc="-5" dirty="0"/>
              <a:t>управления</a:t>
            </a:r>
            <a:r>
              <a:rPr sz="2800" spc="-30" dirty="0"/>
              <a:t> </a:t>
            </a:r>
            <a:r>
              <a:rPr sz="2800" spc="-10" dirty="0"/>
              <a:t>архитектурой</a:t>
            </a:r>
            <a:endParaRPr sz="2800"/>
          </a:p>
          <a:p>
            <a:pPr marL="12700">
              <a:lnSpc>
                <a:spcPct val="100000"/>
              </a:lnSpc>
            </a:pPr>
            <a:r>
              <a:rPr sz="2800" spc="-10" dirty="0"/>
              <a:t>предприятия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6018529" y="1708404"/>
            <a:ext cx="2987675" cy="3620770"/>
          </a:xfrm>
          <a:custGeom>
            <a:avLst/>
            <a:gdLst/>
            <a:ahLst/>
            <a:cxnLst/>
            <a:rect l="l" t="t" r="r" b="b"/>
            <a:pathLst>
              <a:path w="2987675" h="3620770">
                <a:moveTo>
                  <a:pt x="0" y="3620516"/>
                </a:moveTo>
                <a:lnTo>
                  <a:pt x="2987167" y="3620516"/>
                </a:lnTo>
                <a:lnTo>
                  <a:pt x="2987167" y="0"/>
                </a:lnTo>
                <a:lnTo>
                  <a:pt x="0" y="0"/>
                </a:lnTo>
                <a:lnTo>
                  <a:pt x="0" y="3620516"/>
                </a:lnTo>
                <a:close/>
              </a:path>
            </a:pathLst>
          </a:custGeom>
          <a:solidFill>
            <a:srgbClr val="098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78354" y="1748917"/>
            <a:ext cx="4489450" cy="3580129"/>
          </a:xfrm>
          <a:custGeom>
            <a:avLst/>
            <a:gdLst/>
            <a:ahLst/>
            <a:cxnLst/>
            <a:rect l="l" t="t" r="r" b="b"/>
            <a:pathLst>
              <a:path w="4489450" h="3580129">
                <a:moveTo>
                  <a:pt x="4488942" y="0"/>
                </a:moveTo>
                <a:lnTo>
                  <a:pt x="0" y="3580002"/>
                </a:lnTo>
                <a:lnTo>
                  <a:pt x="4488942" y="3580003"/>
                </a:lnTo>
                <a:lnTo>
                  <a:pt x="4488942" y="0"/>
                </a:lnTo>
                <a:close/>
              </a:path>
            </a:pathLst>
          </a:custGeom>
          <a:solidFill>
            <a:srgbClr val="098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33016" y="4419980"/>
            <a:ext cx="2373122" cy="8949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33016" y="4419980"/>
            <a:ext cx="2373630" cy="895350"/>
          </a:xfrm>
          <a:custGeom>
            <a:avLst/>
            <a:gdLst/>
            <a:ahLst/>
            <a:cxnLst/>
            <a:rect l="l" t="t" r="r" b="b"/>
            <a:pathLst>
              <a:path w="2373629" h="895350">
                <a:moveTo>
                  <a:pt x="0" y="0"/>
                </a:moveTo>
                <a:lnTo>
                  <a:pt x="1925573" y="0"/>
                </a:lnTo>
                <a:lnTo>
                  <a:pt x="2373122" y="447548"/>
                </a:lnTo>
                <a:lnTo>
                  <a:pt x="1925573" y="894969"/>
                </a:lnTo>
                <a:lnTo>
                  <a:pt x="0" y="89496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66872" y="3518027"/>
            <a:ext cx="2373122" cy="8949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66872" y="3518027"/>
            <a:ext cx="2373630" cy="895350"/>
          </a:xfrm>
          <a:custGeom>
            <a:avLst/>
            <a:gdLst/>
            <a:ahLst/>
            <a:cxnLst/>
            <a:rect l="l" t="t" r="r" b="b"/>
            <a:pathLst>
              <a:path w="2373629" h="895350">
                <a:moveTo>
                  <a:pt x="0" y="0"/>
                </a:moveTo>
                <a:lnTo>
                  <a:pt x="1925574" y="0"/>
                </a:lnTo>
                <a:lnTo>
                  <a:pt x="2373122" y="447421"/>
                </a:lnTo>
                <a:lnTo>
                  <a:pt x="1925574" y="894969"/>
                </a:lnTo>
                <a:lnTo>
                  <a:pt x="0" y="89496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69640" y="3817365"/>
            <a:ext cx="15430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latin typeface="Calibri"/>
                <a:cs typeface="Calibri"/>
              </a:rPr>
              <a:t>BPR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инструменты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84623" y="2615945"/>
            <a:ext cx="2373122" cy="8950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84623" y="2615945"/>
            <a:ext cx="2373630" cy="895350"/>
          </a:xfrm>
          <a:custGeom>
            <a:avLst/>
            <a:gdLst/>
            <a:ahLst/>
            <a:cxnLst/>
            <a:rect l="l" t="t" r="r" b="b"/>
            <a:pathLst>
              <a:path w="2373629" h="895350">
                <a:moveTo>
                  <a:pt x="0" y="0"/>
                </a:moveTo>
                <a:lnTo>
                  <a:pt x="1925574" y="0"/>
                </a:lnTo>
                <a:lnTo>
                  <a:pt x="2373122" y="447548"/>
                </a:lnTo>
                <a:lnTo>
                  <a:pt x="1925574" y="895095"/>
                </a:lnTo>
                <a:lnTo>
                  <a:pt x="0" y="895095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93538" y="2914904"/>
            <a:ext cx="7334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5" dirty="0">
                <a:latin typeface="Calibri"/>
                <a:cs typeface="Calibri"/>
              </a:rPr>
              <a:t>Orgware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18885" y="1713992"/>
            <a:ext cx="2560192" cy="8949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18885" y="1713992"/>
            <a:ext cx="2560320" cy="895350"/>
          </a:xfrm>
          <a:custGeom>
            <a:avLst/>
            <a:gdLst/>
            <a:ahLst/>
            <a:cxnLst/>
            <a:rect l="l" t="t" r="r" b="b"/>
            <a:pathLst>
              <a:path w="2560320" h="895350">
                <a:moveTo>
                  <a:pt x="0" y="0"/>
                </a:moveTo>
                <a:lnTo>
                  <a:pt x="2112644" y="0"/>
                </a:lnTo>
                <a:lnTo>
                  <a:pt x="2560192" y="447548"/>
                </a:lnTo>
                <a:lnTo>
                  <a:pt x="2112644" y="894969"/>
                </a:lnTo>
                <a:lnTo>
                  <a:pt x="0" y="89496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45173" y="1890471"/>
            <a:ext cx="1287780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5" dirty="0">
                <a:latin typeface="Calibri"/>
                <a:cs typeface="Calibri"/>
              </a:rPr>
              <a:t>Strategy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design</a:t>
            </a:r>
            <a:endParaRPr sz="16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инструменты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00798" y="3172205"/>
            <a:ext cx="1871345" cy="1749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EAM </a:t>
            </a:r>
            <a:r>
              <a:rPr sz="1700" spc="-15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(Enterprise  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architecture  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management)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endParaRPr sz="1600">
              <a:latin typeface="Calibri"/>
              <a:cs typeface="Calibri"/>
            </a:endParaRPr>
          </a:p>
          <a:p>
            <a:pPr marL="350520" marR="344170" indent="-1905" algn="ctr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Инст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руме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нты  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управления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а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х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т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е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кт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у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р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о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й  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предприятия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0694" y="4719650"/>
            <a:ext cx="1858010" cy="964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10"/>
              </a:spcBef>
            </a:pPr>
            <a:r>
              <a:rPr sz="1600" spc="0" dirty="0">
                <a:latin typeface="Calibri"/>
                <a:cs typeface="Calibri"/>
              </a:rPr>
              <a:t>CASE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средства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97610" algn="l"/>
              </a:tabLst>
            </a:pPr>
            <a:r>
              <a:rPr sz="2700" spc="-7" baseline="1543" dirty="0">
                <a:latin typeface="Calibri"/>
                <a:cs typeface="Calibri"/>
              </a:rPr>
              <a:t>198</a:t>
            </a:r>
            <a:r>
              <a:rPr sz="2700" baseline="1543" dirty="0">
                <a:latin typeface="Calibri"/>
                <a:cs typeface="Calibri"/>
              </a:rPr>
              <a:t>0-е	</a:t>
            </a:r>
            <a:r>
              <a:rPr sz="1800" spc="-5" dirty="0">
                <a:latin typeface="Calibri"/>
                <a:cs typeface="Calibri"/>
              </a:rPr>
              <a:t>1990</a:t>
            </a:r>
            <a:r>
              <a:rPr sz="1800" dirty="0">
                <a:latin typeface="Calibri"/>
                <a:cs typeface="Calibri"/>
              </a:rPr>
              <a:t>-е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84216" y="5377078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2000</a:t>
            </a:r>
            <a:r>
              <a:rPr sz="1800" dirty="0">
                <a:latin typeface="Calibri"/>
                <a:cs typeface="Calibri"/>
              </a:rPr>
              <a:t>-е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8865" y="5377078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201</a:t>
            </a:r>
            <a:r>
              <a:rPr sz="1800" dirty="0">
                <a:latin typeface="Calibri"/>
                <a:cs typeface="Calibri"/>
              </a:rPr>
              <a:t>0-е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5790" y="4481525"/>
            <a:ext cx="1431290" cy="758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" dirty="0">
                <a:latin typeface="Calibri"/>
                <a:cs typeface="Calibri"/>
              </a:rPr>
              <a:t>Приложения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Данные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55698" y="3704082"/>
            <a:ext cx="859790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509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latin typeface="Calibri"/>
                <a:cs typeface="Calibri"/>
              </a:rPr>
              <a:t>Бизнес-  </a:t>
            </a:r>
            <a:r>
              <a:rPr sz="1600" dirty="0">
                <a:latin typeface="Calibri"/>
                <a:cs typeface="Calibri"/>
              </a:rPr>
              <a:t>пр</a:t>
            </a:r>
            <a:r>
              <a:rPr sz="1600" spc="-10" dirty="0">
                <a:latin typeface="Calibri"/>
                <a:cs typeface="Calibri"/>
              </a:rPr>
              <a:t>о</a:t>
            </a:r>
            <a:r>
              <a:rPr sz="1600" spc="-35" dirty="0">
                <a:latin typeface="Calibri"/>
                <a:cs typeface="Calibri"/>
              </a:rPr>
              <a:t>ц</a:t>
            </a:r>
            <a:r>
              <a:rPr sz="1600" spc="-10" dirty="0">
                <a:latin typeface="Calibri"/>
                <a:cs typeface="Calibri"/>
              </a:rPr>
              <a:t>есс</a:t>
            </a:r>
            <a:r>
              <a:rPr sz="1600" spc="0" dirty="0">
                <a:latin typeface="Calibri"/>
                <a:cs typeface="Calibri"/>
              </a:rPr>
              <a:t>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52394" y="2801873"/>
            <a:ext cx="1166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8542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libri"/>
                <a:cs typeface="Calibri"/>
              </a:rPr>
              <a:t>Функции  </a:t>
            </a:r>
            <a:r>
              <a:rPr sz="1600" spc="-5" dirty="0">
                <a:latin typeface="Calibri"/>
                <a:cs typeface="Calibri"/>
              </a:rPr>
              <a:t>Ор</a:t>
            </a:r>
            <a:r>
              <a:rPr sz="1600" spc="-35" dirty="0">
                <a:latin typeface="Calibri"/>
                <a:cs typeface="Calibri"/>
              </a:rPr>
              <a:t>г</a:t>
            </a:r>
            <a:r>
              <a:rPr sz="1600" spc="-10" dirty="0">
                <a:latin typeface="Calibri"/>
                <a:cs typeface="Calibri"/>
              </a:rPr>
              <a:t>с</a:t>
            </a:r>
            <a:r>
              <a:rPr sz="1600" spc="-5" dirty="0">
                <a:latin typeface="Calibri"/>
                <a:cs typeface="Calibri"/>
              </a:rPr>
              <a:t>тр</a:t>
            </a:r>
            <a:r>
              <a:rPr sz="1600" spc="-15" dirty="0">
                <a:latin typeface="Calibri"/>
                <a:cs typeface="Calibri"/>
              </a:rPr>
              <a:t>у</a:t>
            </a:r>
            <a:r>
              <a:rPr sz="1600" dirty="0">
                <a:latin typeface="Calibri"/>
                <a:cs typeface="Calibri"/>
              </a:rPr>
              <a:t>кт</a:t>
            </a:r>
            <a:r>
              <a:rPr sz="1600" spc="-10" dirty="0">
                <a:latin typeface="Calibri"/>
                <a:cs typeface="Calibri"/>
              </a:rPr>
              <a:t>у</a:t>
            </a:r>
            <a:r>
              <a:rPr sz="1600" spc="-5" dirty="0">
                <a:latin typeface="Calibri"/>
                <a:cs typeface="Calibri"/>
              </a:rPr>
              <a:t>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35526" y="1885314"/>
            <a:ext cx="1336040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latin typeface="Calibri"/>
                <a:cs typeface="Calibri"/>
              </a:rPr>
              <a:t>Стратегия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Б</a:t>
            </a:r>
            <a:r>
              <a:rPr sz="1600" spc="-10" dirty="0">
                <a:latin typeface="Calibri"/>
                <a:cs typeface="Calibri"/>
              </a:rPr>
              <a:t>из</a:t>
            </a:r>
            <a:r>
              <a:rPr sz="1600" dirty="0">
                <a:latin typeface="Calibri"/>
                <a:cs typeface="Calibri"/>
              </a:rPr>
              <a:t>н</a:t>
            </a:r>
            <a:r>
              <a:rPr sz="1600" spc="-5" dirty="0">
                <a:latin typeface="Calibri"/>
                <a:cs typeface="Calibri"/>
              </a:rPr>
              <a:t>е</a:t>
            </a:r>
            <a:r>
              <a:rPr sz="1600" spc="-10" dirty="0">
                <a:latin typeface="Calibri"/>
                <a:cs typeface="Calibri"/>
              </a:rPr>
              <a:t>с</a:t>
            </a:r>
            <a:r>
              <a:rPr sz="1600" spc="5" dirty="0">
                <a:latin typeface="Calibri"/>
                <a:cs typeface="Calibri"/>
              </a:rPr>
              <a:t>-</a:t>
            </a:r>
            <a:r>
              <a:rPr sz="1600" spc="-5" dirty="0">
                <a:latin typeface="Calibri"/>
                <a:cs typeface="Calibri"/>
              </a:rPr>
              <a:t>м</a:t>
            </a:r>
            <a:r>
              <a:rPr sz="1600" spc="-60" dirty="0">
                <a:latin typeface="Calibri"/>
                <a:cs typeface="Calibri"/>
              </a:rPr>
              <a:t>о</a:t>
            </a:r>
            <a:r>
              <a:rPr sz="1600" spc="-35" dirty="0">
                <a:latin typeface="Calibri"/>
                <a:cs typeface="Calibri"/>
              </a:rPr>
              <a:t>де</a:t>
            </a:r>
            <a:r>
              <a:rPr sz="1600" spc="-5" dirty="0">
                <a:latin typeface="Calibri"/>
                <a:cs typeface="Calibri"/>
              </a:rPr>
              <a:t>ль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6219" y="2248661"/>
            <a:ext cx="1697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latin typeface="Calibri"/>
                <a:cs typeface="Calibri"/>
              </a:rPr>
              <a:t>Ключевые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объекты</a:t>
            </a:r>
            <a:endParaRPr sz="1600">
              <a:latin typeface="Calibri"/>
              <a:cs typeface="Calibri"/>
            </a:endParaRPr>
          </a:p>
          <a:p>
            <a:pPr marL="5715" algn="ctr">
              <a:lnSpc>
                <a:spcPct val="100000"/>
              </a:lnSpc>
            </a:pPr>
            <a:r>
              <a:rPr sz="1600" u="sng" spc="-40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Calibri"/>
                <a:cs typeface="Calibri"/>
              </a:rPr>
              <a:t>проектирования</a:t>
            </a:r>
            <a:r>
              <a:rPr sz="1600" dirty="0">
                <a:latin typeface="Calibri"/>
                <a:cs typeface="Calibri"/>
              </a:rPr>
              <a:t>*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95032" y="2813430"/>
            <a:ext cx="397510" cy="1649095"/>
          </a:xfrm>
          <a:custGeom>
            <a:avLst/>
            <a:gdLst/>
            <a:ahLst/>
            <a:cxnLst/>
            <a:rect l="l" t="t" r="r" b="b"/>
            <a:pathLst>
              <a:path w="397509" h="1649095">
                <a:moveTo>
                  <a:pt x="387946" y="0"/>
                </a:moveTo>
                <a:lnTo>
                  <a:pt x="379691" y="37211"/>
                </a:lnTo>
                <a:lnTo>
                  <a:pt x="388962" y="39370"/>
                </a:lnTo>
                <a:lnTo>
                  <a:pt x="397217" y="2159"/>
                </a:lnTo>
                <a:lnTo>
                  <a:pt x="387946" y="0"/>
                </a:lnTo>
                <a:close/>
              </a:path>
              <a:path w="397509" h="1649095">
                <a:moveTo>
                  <a:pt x="373595" y="65151"/>
                </a:moveTo>
                <a:lnTo>
                  <a:pt x="365340" y="102362"/>
                </a:lnTo>
                <a:lnTo>
                  <a:pt x="374738" y="104394"/>
                </a:lnTo>
                <a:lnTo>
                  <a:pt x="382866" y="67183"/>
                </a:lnTo>
                <a:lnTo>
                  <a:pt x="373595" y="65151"/>
                </a:lnTo>
                <a:close/>
              </a:path>
              <a:path w="397509" h="1649095">
                <a:moveTo>
                  <a:pt x="359244" y="130302"/>
                </a:moveTo>
                <a:lnTo>
                  <a:pt x="351116" y="167513"/>
                </a:lnTo>
                <a:lnTo>
                  <a:pt x="360387" y="169545"/>
                </a:lnTo>
                <a:lnTo>
                  <a:pt x="368515" y="132334"/>
                </a:lnTo>
                <a:lnTo>
                  <a:pt x="359244" y="130302"/>
                </a:lnTo>
                <a:close/>
              </a:path>
              <a:path w="397509" h="1649095">
                <a:moveTo>
                  <a:pt x="344893" y="195453"/>
                </a:moveTo>
                <a:lnTo>
                  <a:pt x="336765" y="232664"/>
                </a:lnTo>
                <a:lnTo>
                  <a:pt x="346036" y="234696"/>
                </a:lnTo>
                <a:lnTo>
                  <a:pt x="354291" y="197485"/>
                </a:lnTo>
                <a:lnTo>
                  <a:pt x="344893" y="195453"/>
                </a:lnTo>
                <a:close/>
              </a:path>
              <a:path w="397509" h="1649095">
                <a:moveTo>
                  <a:pt x="330669" y="260477"/>
                </a:moveTo>
                <a:lnTo>
                  <a:pt x="322414" y="297688"/>
                </a:lnTo>
                <a:lnTo>
                  <a:pt x="331812" y="299847"/>
                </a:lnTo>
                <a:lnTo>
                  <a:pt x="339940" y="262636"/>
                </a:lnTo>
                <a:lnTo>
                  <a:pt x="330669" y="260477"/>
                </a:lnTo>
                <a:close/>
              </a:path>
              <a:path w="397509" h="1649095">
                <a:moveTo>
                  <a:pt x="316318" y="325628"/>
                </a:moveTo>
                <a:lnTo>
                  <a:pt x="308190" y="362839"/>
                </a:lnTo>
                <a:lnTo>
                  <a:pt x="317461" y="364871"/>
                </a:lnTo>
                <a:lnTo>
                  <a:pt x="325589" y="327660"/>
                </a:lnTo>
                <a:lnTo>
                  <a:pt x="316318" y="325628"/>
                </a:lnTo>
                <a:close/>
              </a:path>
              <a:path w="397509" h="1649095">
                <a:moveTo>
                  <a:pt x="301967" y="390779"/>
                </a:moveTo>
                <a:lnTo>
                  <a:pt x="293839" y="427990"/>
                </a:lnTo>
                <a:lnTo>
                  <a:pt x="303110" y="430022"/>
                </a:lnTo>
                <a:lnTo>
                  <a:pt x="311238" y="392811"/>
                </a:lnTo>
                <a:lnTo>
                  <a:pt x="301967" y="390779"/>
                </a:lnTo>
                <a:close/>
              </a:path>
              <a:path w="397509" h="1649095">
                <a:moveTo>
                  <a:pt x="287743" y="455930"/>
                </a:moveTo>
                <a:lnTo>
                  <a:pt x="279488" y="493141"/>
                </a:lnTo>
                <a:lnTo>
                  <a:pt x="288759" y="495173"/>
                </a:lnTo>
                <a:lnTo>
                  <a:pt x="297014" y="457962"/>
                </a:lnTo>
                <a:lnTo>
                  <a:pt x="287743" y="455930"/>
                </a:lnTo>
                <a:close/>
              </a:path>
              <a:path w="397509" h="1649095">
                <a:moveTo>
                  <a:pt x="273392" y="520954"/>
                </a:moveTo>
                <a:lnTo>
                  <a:pt x="265137" y="558165"/>
                </a:lnTo>
                <a:lnTo>
                  <a:pt x="274535" y="560324"/>
                </a:lnTo>
                <a:lnTo>
                  <a:pt x="282663" y="523113"/>
                </a:lnTo>
                <a:lnTo>
                  <a:pt x="273392" y="520954"/>
                </a:lnTo>
                <a:close/>
              </a:path>
              <a:path w="397509" h="1649095">
                <a:moveTo>
                  <a:pt x="259041" y="586105"/>
                </a:moveTo>
                <a:lnTo>
                  <a:pt x="250913" y="623316"/>
                </a:lnTo>
                <a:lnTo>
                  <a:pt x="260184" y="625348"/>
                </a:lnTo>
                <a:lnTo>
                  <a:pt x="268312" y="588137"/>
                </a:lnTo>
                <a:lnTo>
                  <a:pt x="259041" y="586105"/>
                </a:lnTo>
                <a:close/>
              </a:path>
              <a:path w="397509" h="1649095">
                <a:moveTo>
                  <a:pt x="244690" y="651256"/>
                </a:moveTo>
                <a:lnTo>
                  <a:pt x="236562" y="688467"/>
                </a:lnTo>
                <a:lnTo>
                  <a:pt x="245833" y="690499"/>
                </a:lnTo>
                <a:lnTo>
                  <a:pt x="254088" y="653288"/>
                </a:lnTo>
                <a:lnTo>
                  <a:pt x="244690" y="651256"/>
                </a:lnTo>
                <a:close/>
              </a:path>
              <a:path w="397509" h="1649095">
                <a:moveTo>
                  <a:pt x="230466" y="716407"/>
                </a:moveTo>
                <a:lnTo>
                  <a:pt x="222211" y="753618"/>
                </a:lnTo>
                <a:lnTo>
                  <a:pt x="231482" y="755650"/>
                </a:lnTo>
                <a:lnTo>
                  <a:pt x="239737" y="718439"/>
                </a:lnTo>
                <a:lnTo>
                  <a:pt x="230466" y="716407"/>
                </a:lnTo>
                <a:close/>
              </a:path>
              <a:path w="397509" h="1649095">
                <a:moveTo>
                  <a:pt x="216115" y="781558"/>
                </a:moveTo>
                <a:lnTo>
                  <a:pt x="207860" y="818769"/>
                </a:lnTo>
                <a:lnTo>
                  <a:pt x="217258" y="820801"/>
                </a:lnTo>
                <a:lnTo>
                  <a:pt x="225386" y="783590"/>
                </a:lnTo>
                <a:lnTo>
                  <a:pt x="216115" y="781558"/>
                </a:lnTo>
                <a:close/>
              </a:path>
              <a:path w="397509" h="1649095">
                <a:moveTo>
                  <a:pt x="201764" y="846582"/>
                </a:moveTo>
                <a:lnTo>
                  <a:pt x="193636" y="883793"/>
                </a:lnTo>
                <a:lnTo>
                  <a:pt x="202907" y="885825"/>
                </a:lnTo>
                <a:lnTo>
                  <a:pt x="211035" y="848614"/>
                </a:lnTo>
                <a:lnTo>
                  <a:pt x="201764" y="846582"/>
                </a:lnTo>
                <a:close/>
              </a:path>
              <a:path w="397509" h="1649095">
                <a:moveTo>
                  <a:pt x="187413" y="911733"/>
                </a:moveTo>
                <a:lnTo>
                  <a:pt x="179285" y="948944"/>
                </a:lnTo>
                <a:lnTo>
                  <a:pt x="188556" y="950976"/>
                </a:lnTo>
                <a:lnTo>
                  <a:pt x="196811" y="913765"/>
                </a:lnTo>
                <a:lnTo>
                  <a:pt x="187413" y="911733"/>
                </a:lnTo>
                <a:close/>
              </a:path>
              <a:path w="397509" h="1649095">
                <a:moveTo>
                  <a:pt x="173151" y="976884"/>
                </a:moveTo>
                <a:lnTo>
                  <a:pt x="164972" y="1014095"/>
                </a:lnTo>
                <a:lnTo>
                  <a:pt x="174269" y="1016127"/>
                </a:lnTo>
                <a:lnTo>
                  <a:pt x="182460" y="978916"/>
                </a:lnTo>
                <a:lnTo>
                  <a:pt x="173151" y="976884"/>
                </a:lnTo>
                <a:close/>
              </a:path>
              <a:path w="397509" h="1649095">
                <a:moveTo>
                  <a:pt x="158838" y="1042035"/>
                </a:moveTo>
                <a:lnTo>
                  <a:pt x="150647" y="1079246"/>
                </a:lnTo>
                <a:lnTo>
                  <a:pt x="159956" y="1081278"/>
                </a:lnTo>
                <a:lnTo>
                  <a:pt x="168135" y="1044067"/>
                </a:lnTo>
                <a:lnTo>
                  <a:pt x="158838" y="1042035"/>
                </a:lnTo>
                <a:close/>
              </a:path>
              <a:path w="397509" h="1649095">
                <a:moveTo>
                  <a:pt x="144513" y="1107059"/>
                </a:moveTo>
                <a:lnTo>
                  <a:pt x="136334" y="1144270"/>
                </a:lnTo>
                <a:lnTo>
                  <a:pt x="145643" y="1146302"/>
                </a:lnTo>
                <a:lnTo>
                  <a:pt x="153822" y="1109091"/>
                </a:lnTo>
                <a:lnTo>
                  <a:pt x="144513" y="1107059"/>
                </a:lnTo>
                <a:close/>
              </a:path>
              <a:path w="397509" h="1649095">
                <a:moveTo>
                  <a:pt x="130200" y="1172210"/>
                </a:moveTo>
                <a:lnTo>
                  <a:pt x="122021" y="1209421"/>
                </a:lnTo>
                <a:lnTo>
                  <a:pt x="131318" y="1211453"/>
                </a:lnTo>
                <a:lnTo>
                  <a:pt x="139509" y="1174242"/>
                </a:lnTo>
                <a:lnTo>
                  <a:pt x="130200" y="1172210"/>
                </a:lnTo>
                <a:close/>
              </a:path>
              <a:path w="397509" h="1649095">
                <a:moveTo>
                  <a:pt x="115887" y="1237361"/>
                </a:moveTo>
                <a:lnTo>
                  <a:pt x="107708" y="1274572"/>
                </a:lnTo>
                <a:lnTo>
                  <a:pt x="117005" y="1276604"/>
                </a:lnTo>
                <a:lnTo>
                  <a:pt x="125183" y="1239393"/>
                </a:lnTo>
                <a:lnTo>
                  <a:pt x="115887" y="1237361"/>
                </a:lnTo>
                <a:close/>
              </a:path>
              <a:path w="397509" h="1649095">
                <a:moveTo>
                  <a:pt x="101561" y="1302512"/>
                </a:moveTo>
                <a:lnTo>
                  <a:pt x="93383" y="1339723"/>
                </a:lnTo>
                <a:lnTo>
                  <a:pt x="102692" y="1341755"/>
                </a:lnTo>
                <a:lnTo>
                  <a:pt x="110871" y="1304544"/>
                </a:lnTo>
                <a:lnTo>
                  <a:pt x="101561" y="1302512"/>
                </a:lnTo>
                <a:close/>
              </a:path>
              <a:path w="397509" h="1649095">
                <a:moveTo>
                  <a:pt x="87249" y="1367536"/>
                </a:moveTo>
                <a:lnTo>
                  <a:pt x="79070" y="1404747"/>
                </a:lnTo>
                <a:lnTo>
                  <a:pt x="88379" y="1406779"/>
                </a:lnTo>
                <a:lnTo>
                  <a:pt x="96558" y="1369568"/>
                </a:lnTo>
                <a:lnTo>
                  <a:pt x="87249" y="1367536"/>
                </a:lnTo>
                <a:close/>
              </a:path>
              <a:path w="397509" h="1649095">
                <a:moveTo>
                  <a:pt x="72936" y="1432687"/>
                </a:moveTo>
                <a:lnTo>
                  <a:pt x="64757" y="1469898"/>
                </a:lnTo>
                <a:lnTo>
                  <a:pt x="74053" y="1471930"/>
                </a:lnTo>
                <a:lnTo>
                  <a:pt x="82232" y="1434719"/>
                </a:lnTo>
                <a:lnTo>
                  <a:pt x="72936" y="1432687"/>
                </a:lnTo>
                <a:close/>
              </a:path>
              <a:path w="397509" h="1649095">
                <a:moveTo>
                  <a:pt x="58623" y="1497838"/>
                </a:moveTo>
                <a:lnTo>
                  <a:pt x="50431" y="1535049"/>
                </a:lnTo>
                <a:lnTo>
                  <a:pt x="59740" y="1537081"/>
                </a:lnTo>
                <a:lnTo>
                  <a:pt x="67919" y="1499870"/>
                </a:lnTo>
                <a:lnTo>
                  <a:pt x="58623" y="1497838"/>
                </a:lnTo>
                <a:close/>
              </a:path>
              <a:path w="397509" h="1649095">
                <a:moveTo>
                  <a:pt x="6388" y="1550035"/>
                </a:moveTo>
                <a:lnTo>
                  <a:pt x="1371" y="1551559"/>
                </a:lnTo>
                <a:lnTo>
                  <a:pt x="0" y="1554226"/>
                </a:lnTo>
                <a:lnTo>
                  <a:pt x="800" y="1556766"/>
                </a:lnTo>
                <a:lnTo>
                  <a:pt x="30365" y="1648587"/>
                </a:lnTo>
                <a:lnTo>
                  <a:pt x="37959" y="1640332"/>
                </a:lnTo>
                <a:lnTo>
                  <a:pt x="37033" y="1640332"/>
                </a:lnTo>
                <a:lnTo>
                  <a:pt x="27724" y="1638300"/>
                </a:lnTo>
                <a:lnTo>
                  <a:pt x="29984" y="1628013"/>
                </a:lnTo>
                <a:lnTo>
                  <a:pt x="33767" y="1628013"/>
                </a:lnTo>
                <a:lnTo>
                  <a:pt x="9867" y="1553845"/>
                </a:lnTo>
                <a:lnTo>
                  <a:pt x="9067" y="1551305"/>
                </a:lnTo>
                <a:lnTo>
                  <a:pt x="6388" y="1550035"/>
                </a:lnTo>
                <a:close/>
              </a:path>
              <a:path w="397509" h="1649095">
                <a:moveTo>
                  <a:pt x="29984" y="1628013"/>
                </a:moveTo>
                <a:lnTo>
                  <a:pt x="27724" y="1638300"/>
                </a:lnTo>
                <a:lnTo>
                  <a:pt x="37033" y="1640332"/>
                </a:lnTo>
                <a:lnTo>
                  <a:pt x="37591" y="1637792"/>
                </a:lnTo>
                <a:lnTo>
                  <a:pt x="36918" y="1637792"/>
                </a:lnTo>
                <a:lnTo>
                  <a:pt x="28892" y="1636014"/>
                </a:lnTo>
                <a:lnTo>
                  <a:pt x="34416" y="1630027"/>
                </a:lnTo>
                <a:lnTo>
                  <a:pt x="34053" y="1628901"/>
                </a:lnTo>
                <a:lnTo>
                  <a:pt x="29984" y="1628013"/>
                </a:lnTo>
                <a:close/>
              </a:path>
              <a:path w="397509" h="1649095">
                <a:moveTo>
                  <a:pt x="93459" y="1569085"/>
                </a:moveTo>
                <a:lnTo>
                  <a:pt x="90449" y="1569212"/>
                </a:lnTo>
                <a:lnTo>
                  <a:pt x="88658" y="1571244"/>
                </a:lnTo>
                <a:lnTo>
                  <a:pt x="35220" y="1629155"/>
                </a:lnTo>
                <a:lnTo>
                  <a:pt x="39293" y="1630045"/>
                </a:lnTo>
                <a:lnTo>
                  <a:pt x="37033" y="1640332"/>
                </a:lnTo>
                <a:lnTo>
                  <a:pt x="37959" y="1640332"/>
                </a:lnTo>
                <a:lnTo>
                  <a:pt x="95669" y="1577594"/>
                </a:lnTo>
                <a:lnTo>
                  <a:pt x="97447" y="1575689"/>
                </a:lnTo>
                <a:lnTo>
                  <a:pt x="97332" y="1572641"/>
                </a:lnTo>
                <a:lnTo>
                  <a:pt x="93459" y="1569085"/>
                </a:lnTo>
                <a:close/>
              </a:path>
              <a:path w="397509" h="1649095">
                <a:moveTo>
                  <a:pt x="34416" y="1630027"/>
                </a:moveTo>
                <a:lnTo>
                  <a:pt x="28892" y="1636014"/>
                </a:lnTo>
                <a:lnTo>
                  <a:pt x="36918" y="1637792"/>
                </a:lnTo>
                <a:lnTo>
                  <a:pt x="34416" y="1630027"/>
                </a:lnTo>
                <a:close/>
              </a:path>
              <a:path w="397509" h="1649095">
                <a:moveTo>
                  <a:pt x="35220" y="1629155"/>
                </a:moveTo>
                <a:lnTo>
                  <a:pt x="34416" y="1630027"/>
                </a:lnTo>
                <a:lnTo>
                  <a:pt x="36918" y="1637792"/>
                </a:lnTo>
                <a:lnTo>
                  <a:pt x="37591" y="1637792"/>
                </a:lnTo>
                <a:lnTo>
                  <a:pt x="39293" y="1630045"/>
                </a:lnTo>
                <a:lnTo>
                  <a:pt x="35220" y="1629155"/>
                </a:lnTo>
                <a:close/>
              </a:path>
              <a:path w="397509" h="1649095">
                <a:moveTo>
                  <a:pt x="34053" y="1628901"/>
                </a:moveTo>
                <a:lnTo>
                  <a:pt x="34416" y="1630027"/>
                </a:lnTo>
                <a:lnTo>
                  <a:pt x="35220" y="1629155"/>
                </a:lnTo>
                <a:lnTo>
                  <a:pt x="34053" y="1628901"/>
                </a:lnTo>
                <a:close/>
              </a:path>
              <a:path w="397509" h="1649095">
                <a:moveTo>
                  <a:pt x="33767" y="1628013"/>
                </a:moveTo>
                <a:lnTo>
                  <a:pt x="29984" y="1628013"/>
                </a:lnTo>
                <a:lnTo>
                  <a:pt x="34053" y="1628901"/>
                </a:lnTo>
                <a:lnTo>
                  <a:pt x="33767" y="1628013"/>
                </a:lnTo>
                <a:close/>
              </a:path>
              <a:path w="397509" h="1649095">
                <a:moveTo>
                  <a:pt x="44297" y="1562989"/>
                </a:moveTo>
                <a:lnTo>
                  <a:pt x="36118" y="1600200"/>
                </a:lnTo>
                <a:lnTo>
                  <a:pt x="45427" y="1602232"/>
                </a:lnTo>
                <a:lnTo>
                  <a:pt x="53606" y="1565021"/>
                </a:lnTo>
                <a:lnTo>
                  <a:pt x="44297" y="156298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09876" y="2806573"/>
            <a:ext cx="570865" cy="878840"/>
          </a:xfrm>
          <a:custGeom>
            <a:avLst/>
            <a:gdLst/>
            <a:ahLst/>
            <a:cxnLst/>
            <a:rect l="l" t="t" r="r" b="b"/>
            <a:pathLst>
              <a:path w="570864" h="878839">
                <a:moveTo>
                  <a:pt x="8000" y="0"/>
                </a:moveTo>
                <a:lnTo>
                  <a:pt x="0" y="5206"/>
                </a:lnTo>
                <a:lnTo>
                  <a:pt x="20700" y="37211"/>
                </a:lnTo>
                <a:lnTo>
                  <a:pt x="28702" y="32003"/>
                </a:lnTo>
                <a:lnTo>
                  <a:pt x="8000" y="0"/>
                </a:lnTo>
                <a:close/>
              </a:path>
              <a:path w="570864" h="878839">
                <a:moveTo>
                  <a:pt x="44196" y="56006"/>
                </a:moveTo>
                <a:lnTo>
                  <a:pt x="36195" y="61213"/>
                </a:lnTo>
                <a:lnTo>
                  <a:pt x="56896" y="93090"/>
                </a:lnTo>
                <a:lnTo>
                  <a:pt x="64770" y="88011"/>
                </a:lnTo>
                <a:lnTo>
                  <a:pt x="44196" y="56006"/>
                </a:lnTo>
                <a:close/>
              </a:path>
              <a:path w="570864" h="878839">
                <a:moveTo>
                  <a:pt x="80391" y="112013"/>
                </a:moveTo>
                <a:lnTo>
                  <a:pt x="72390" y="117093"/>
                </a:lnTo>
                <a:lnTo>
                  <a:pt x="92964" y="149098"/>
                </a:lnTo>
                <a:lnTo>
                  <a:pt x="100965" y="144017"/>
                </a:lnTo>
                <a:lnTo>
                  <a:pt x="80391" y="112013"/>
                </a:lnTo>
                <a:close/>
              </a:path>
              <a:path w="570864" h="878839">
                <a:moveTo>
                  <a:pt x="116586" y="168021"/>
                </a:moveTo>
                <a:lnTo>
                  <a:pt x="108585" y="173100"/>
                </a:lnTo>
                <a:lnTo>
                  <a:pt x="129159" y="205104"/>
                </a:lnTo>
                <a:lnTo>
                  <a:pt x="137160" y="200025"/>
                </a:lnTo>
                <a:lnTo>
                  <a:pt x="116586" y="168021"/>
                </a:lnTo>
                <a:close/>
              </a:path>
              <a:path w="570864" h="878839">
                <a:moveTo>
                  <a:pt x="152781" y="224027"/>
                </a:moveTo>
                <a:lnTo>
                  <a:pt x="144780" y="229107"/>
                </a:lnTo>
                <a:lnTo>
                  <a:pt x="165354" y="261112"/>
                </a:lnTo>
                <a:lnTo>
                  <a:pt x="173355" y="256031"/>
                </a:lnTo>
                <a:lnTo>
                  <a:pt x="152781" y="224027"/>
                </a:lnTo>
                <a:close/>
              </a:path>
              <a:path w="570864" h="878839">
                <a:moveTo>
                  <a:pt x="188975" y="279907"/>
                </a:moveTo>
                <a:lnTo>
                  <a:pt x="180975" y="285114"/>
                </a:lnTo>
                <a:lnTo>
                  <a:pt x="201549" y="317118"/>
                </a:lnTo>
                <a:lnTo>
                  <a:pt x="209550" y="311912"/>
                </a:lnTo>
                <a:lnTo>
                  <a:pt x="188975" y="279907"/>
                </a:lnTo>
                <a:close/>
              </a:path>
              <a:path w="570864" h="878839">
                <a:moveTo>
                  <a:pt x="225171" y="335914"/>
                </a:moveTo>
                <a:lnTo>
                  <a:pt x="217170" y="341122"/>
                </a:lnTo>
                <a:lnTo>
                  <a:pt x="237744" y="373125"/>
                </a:lnTo>
                <a:lnTo>
                  <a:pt x="245745" y="367918"/>
                </a:lnTo>
                <a:lnTo>
                  <a:pt x="225171" y="335914"/>
                </a:lnTo>
                <a:close/>
              </a:path>
              <a:path w="570864" h="878839">
                <a:moveTo>
                  <a:pt x="261366" y="391922"/>
                </a:moveTo>
                <a:lnTo>
                  <a:pt x="253365" y="397128"/>
                </a:lnTo>
                <a:lnTo>
                  <a:pt x="273939" y="429132"/>
                </a:lnTo>
                <a:lnTo>
                  <a:pt x="281940" y="423925"/>
                </a:lnTo>
                <a:lnTo>
                  <a:pt x="261366" y="391922"/>
                </a:lnTo>
                <a:close/>
              </a:path>
              <a:path w="570864" h="878839">
                <a:moveTo>
                  <a:pt x="297561" y="447928"/>
                </a:moveTo>
                <a:lnTo>
                  <a:pt x="289560" y="453136"/>
                </a:lnTo>
                <a:lnTo>
                  <a:pt x="310134" y="485139"/>
                </a:lnTo>
                <a:lnTo>
                  <a:pt x="318135" y="479932"/>
                </a:lnTo>
                <a:lnTo>
                  <a:pt x="297561" y="447928"/>
                </a:lnTo>
                <a:close/>
              </a:path>
              <a:path w="570864" h="878839">
                <a:moveTo>
                  <a:pt x="333756" y="503936"/>
                </a:moveTo>
                <a:lnTo>
                  <a:pt x="325755" y="509142"/>
                </a:lnTo>
                <a:lnTo>
                  <a:pt x="346329" y="541147"/>
                </a:lnTo>
                <a:lnTo>
                  <a:pt x="354330" y="535939"/>
                </a:lnTo>
                <a:lnTo>
                  <a:pt x="333756" y="503936"/>
                </a:lnTo>
                <a:close/>
              </a:path>
              <a:path w="570864" h="878839">
                <a:moveTo>
                  <a:pt x="369824" y="559942"/>
                </a:moveTo>
                <a:lnTo>
                  <a:pt x="361950" y="565150"/>
                </a:lnTo>
                <a:lnTo>
                  <a:pt x="382524" y="597153"/>
                </a:lnTo>
                <a:lnTo>
                  <a:pt x="390525" y="591947"/>
                </a:lnTo>
                <a:lnTo>
                  <a:pt x="369824" y="559942"/>
                </a:lnTo>
                <a:close/>
              </a:path>
              <a:path w="570864" h="878839">
                <a:moveTo>
                  <a:pt x="406019" y="615950"/>
                </a:moveTo>
                <a:lnTo>
                  <a:pt x="398018" y="621156"/>
                </a:lnTo>
                <a:lnTo>
                  <a:pt x="418719" y="653161"/>
                </a:lnTo>
                <a:lnTo>
                  <a:pt x="426720" y="647953"/>
                </a:lnTo>
                <a:lnTo>
                  <a:pt x="406019" y="615950"/>
                </a:lnTo>
                <a:close/>
              </a:path>
              <a:path w="570864" h="878839">
                <a:moveTo>
                  <a:pt x="442214" y="671956"/>
                </a:moveTo>
                <a:lnTo>
                  <a:pt x="434213" y="677163"/>
                </a:lnTo>
                <a:lnTo>
                  <a:pt x="454914" y="709167"/>
                </a:lnTo>
                <a:lnTo>
                  <a:pt x="462915" y="703961"/>
                </a:lnTo>
                <a:lnTo>
                  <a:pt x="442214" y="671956"/>
                </a:lnTo>
                <a:close/>
              </a:path>
              <a:path w="570864" h="878839">
                <a:moveTo>
                  <a:pt x="478409" y="727963"/>
                </a:moveTo>
                <a:lnTo>
                  <a:pt x="470408" y="733171"/>
                </a:lnTo>
                <a:lnTo>
                  <a:pt x="491109" y="765175"/>
                </a:lnTo>
                <a:lnTo>
                  <a:pt x="499110" y="759967"/>
                </a:lnTo>
                <a:lnTo>
                  <a:pt x="478409" y="727963"/>
                </a:lnTo>
                <a:close/>
              </a:path>
              <a:path w="570864" h="878839">
                <a:moveTo>
                  <a:pt x="486283" y="825626"/>
                </a:moveTo>
                <a:lnTo>
                  <a:pt x="483489" y="826515"/>
                </a:lnTo>
                <a:lnTo>
                  <a:pt x="482219" y="828928"/>
                </a:lnTo>
                <a:lnTo>
                  <a:pt x="481075" y="831214"/>
                </a:lnTo>
                <a:lnTo>
                  <a:pt x="481965" y="834135"/>
                </a:lnTo>
                <a:lnTo>
                  <a:pt x="484378" y="835278"/>
                </a:lnTo>
                <a:lnTo>
                  <a:pt x="570357" y="878839"/>
                </a:lnTo>
                <a:lnTo>
                  <a:pt x="570110" y="873506"/>
                </a:lnTo>
                <a:lnTo>
                  <a:pt x="561213" y="873506"/>
                </a:lnTo>
                <a:lnTo>
                  <a:pt x="551622" y="858690"/>
                </a:lnTo>
                <a:lnTo>
                  <a:pt x="488696" y="826769"/>
                </a:lnTo>
                <a:lnTo>
                  <a:pt x="486283" y="825626"/>
                </a:lnTo>
                <a:close/>
              </a:path>
              <a:path w="570864" h="878839">
                <a:moveTo>
                  <a:pt x="551622" y="858690"/>
                </a:moveTo>
                <a:lnTo>
                  <a:pt x="561213" y="873506"/>
                </a:lnTo>
                <a:lnTo>
                  <a:pt x="564920" y="871093"/>
                </a:lnTo>
                <a:lnTo>
                  <a:pt x="560451" y="871093"/>
                </a:lnTo>
                <a:lnTo>
                  <a:pt x="560075" y="862978"/>
                </a:lnTo>
                <a:lnTo>
                  <a:pt x="551622" y="858690"/>
                </a:lnTo>
                <a:close/>
              </a:path>
              <a:path w="570864" h="878839">
                <a:moveTo>
                  <a:pt x="563626" y="777875"/>
                </a:moveTo>
                <a:lnTo>
                  <a:pt x="558292" y="778128"/>
                </a:lnTo>
                <a:lnTo>
                  <a:pt x="556260" y="780414"/>
                </a:lnTo>
                <a:lnTo>
                  <a:pt x="559641" y="853577"/>
                </a:lnTo>
                <a:lnTo>
                  <a:pt x="569214" y="868299"/>
                </a:lnTo>
                <a:lnTo>
                  <a:pt x="561213" y="873506"/>
                </a:lnTo>
                <a:lnTo>
                  <a:pt x="570110" y="873506"/>
                </a:lnTo>
                <a:lnTo>
                  <a:pt x="565785" y="779906"/>
                </a:lnTo>
                <a:lnTo>
                  <a:pt x="563626" y="777875"/>
                </a:lnTo>
                <a:close/>
              </a:path>
              <a:path w="570864" h="878839">
                <a:moveTo>
                  <a:pt x="560075" y="862978"/>
                </a:moveTo>
                <a:lnTo>
                  <a:pt x="560451" y="871093"/>
                </a:lnTo>
                <a:lnTo>
                  <a:pt x="567309" y="866647"/>
                </a:lnTo>
                <a:lnTo>
                  <a:pt x="560075" y="862978"/>
                </a:lnTo>
                <a:close/>
              </a:path>
              <a:path w="570864" h="878839">
                <a:moveTo>
                  <a:pt x="559641" y="853577"/>
                </a:moveTo>
                <a:lnTo>
                  <a:pt x="560075" y="862978"/>
                </a:lnTo>
                <a:lnTo>
                  <a:pt x="567309" y="866647"/>
                </a:lnTo>
                <a:lnTo>
                  <a:pt x="560451" y="871093"/>
                </a:lnTo>
                <a:lnTo>
                  <a:pt x="564920" y="871093"/>
                </a:lnTo>
                <a:lnTo>
                  <a:pt x="569214" y="868299"/>
                </a:lnTo>
                <a:lnTo>
                  <a:pt x="559641" y="853577"/>
                </a:lnTo>
                <a:close/>
              </a:path>
              <a:path w="570864" h="878839">
                <a:moveTo>
                  <a:pt x="550799" y="839977"/>
                </a:moveTo>
                <a:lnTo>
                  <a:pt x="542798" y="845057"/>
                </a:lnTo>
                <a:lnTo>
                  <a:pt x="551622" y="858690"/>
                </a:lnTo>
                <a:lnTo>
                  <a:pt x="560075" y="862978"/>
                </a:lnTo>
                <a:lnTo>
                  <a:pt x="559641" y="853577"/>
                </a:lnTo>
                <a:lnTo>
                  <a:pt x="550799" y="839977"/>
                </a:lnTo>
                <a:close/>
              </a:path>
              <a:path w="570864" h="878839">
                <a:moveTo>
                  <a:pt x="514604" y="783971"/>
                </a:moveTo>
                <a:lnTo>
                  <a:pt x="506603" y="789051"/>
                </a:lnTo>
                <a:lnTo>
                  <a:pt x="527304" y="821054"/>
                </a:lnTo>
                <a:lnTo>
                  <a:pt x="535305" y="815975"/>
                </a:lnTo>
                <a:lnTo>
                  <a:pt x="514604" y="78397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68423" y="2665602"/>
            <a:ext cx="877569" cy="247015"/>
          </a:xfrm>
          <a:custGeom>
            <a:avLst/>
            <a:gdLst/>
            <a:ahLst/>
            <a:cxnLst/>
            <a:rect l="l" t="t" r="r" b="b"/>
            <a:pathLst>
              <a:path w="877569" h="247014">
                <a:moveTo>
                  <a:pt x="2158" y="0"/>
                </a:moveTo>
                <a:lnTo>
                  <a:pt x="0" y="9271"/>
                </a:lnTo>
                <a:lnTo>
                  <a:pt x="36956" y="18287"/>
                </a:lnTo>
                <a:lnTo>
                  <a:pt x="39243" y="9017"/>
                </a:lnTo>
                <a:lnTo>
                  <a:pt x="2158" y="0"/>
                </a:lnTo>
                <a:close/>
              </a:path>
              <a:path w="877569" h="247014">
                <a:moveTo>
                  <a:pt x="67056" y="15748"/>
                </a:moveTo>
                <a:lnTo>
                  <a:pt x="64769" y="25019"/>
                </a:lnTo>
                <a:lnTo>
                  <a:pt x="101726" y="34036"/>
                </a:lnTo>
                <a:lnTo>
                  <a:pt x="104012" y="24764"/>
                </a:lnTo>
                <a:lnTo>
                  <a:pt x="67056" y="15748"/>
                </a:lnTo>
                <a:close/>
              </a:path>
              <a:path w="877569" h="247014">
                <a:moveTo>
                  <a:pt x="131825" y="31623"/>
                </a:moveTo>
                <a:lnTo>
                  <a:pt x="129539" y="40894"/>
                </a:lnTo>
                <a:lnTo>
                  <a:pt x="166496" y="49911"/>
                </a:lnTo>
                <a:lnTo>
                  <a:pt x="168782" y="40639"/>
                </a:lnTo>
                <a:lnTo>
                  <a:pt x="131825" y="31623"/>
                </a:lnTo>
                <a:close/>
              </a:path>
              <a:path w="877569" h="247014">
                <a:moveTo>
                  <a:pt x="196595" y="47371"/>
                </a:moveTo>
                <a:lnTo>
                  <a:pt x="194309" y="56642"/>
                </a:lnTo>
                <a:lnTo>
                  <a:pt x="231266" y="65659"/>
                </a:lnTo>
                <a:lnTo>
                  <a:pt x="233552" y="56387"/>
                </a:lnTo>
                <a:lnTo>
                  <a:pt x="196595" y="47371"/>
                </a:lnTo>
                <a:close/>
              </a:path>
              <a:path w="877569" h="247014">
                <a:moveTo>
                  <a:pt x="261365" y="63246"/>
                </a:moveTo>
                <a:lnTo>
                  <a:pt x="259079" y="72389"/>
                </a:lnTo>
                <a:lnTo>
                  <a:pt x="296037" y="81534"/>
                </a:lnTo>
                <a:lnTo>
                  <a:pt x="298322" y="72262"/>
                </a:lnTo>
                <a:lnTo>
                  <a:pt x="261365" y="63246"/>
                </a:lnTo>
                <a:close/>
              </a:path>
              <a:path w="877569" h="247014">
                <a:moveTo>
                  <a:pt x="326135" y="78994"/>
                </a:moveTo>
                <a:lnTo>
                  <a:pt x="323850" y="88264"/>
                </a:lnTo>
                <a:lnTo>
                  <a:pt x="360806" y="97282"/>
                </a:lnTo>
                <a:lnTo>
                  <a:pt x="363093" y="88011"/>
                </a:lnTo>
                <a:lnTo>
                  <a:pt x="326135" y="78994"/>
                </a:lnTo>
                <a:close/>
              </a:path>
              <a:path w="877569" h="247014">
                <a:moveTo>
                  <a:pt x="390906" y="94742"/>
                </a:moveTo>
                <a:lnTo>
                  <a:pt x="388619" y="104012"/>
                </a:lnTo>
                <a:lnTo>
                  <a:pt x="425576" y="113030"/>
                </a:lnTo>
                <a:lnTo>
                  <a:pt x="427863" y="103759"/>
                </a:lnTo>
                <a:lnTo>
                  <a:pt x="390906" y="94742"/>
                </a:lnTo>
                <a:close/>
              </a:path>
              <a:path w="877569" h="247014">
                <a:moveTo>
                  <a:pt x="455675" y="110617"/>
                </a:moveTo>
                <a:lnTo>
                  <a:pt x="453389" y="119887"/>
                </a:lnTo>
                <a:lnTo>
                  <a:pt x="490474" y="128905"/>
                </a:lnTo>
                <a:lnTo>
                  <a:pt x="492632" y="119634"/>
                </a:lnTo>
                <a:lnTo>
                  <a:pt x="455675" y="110617"/>
                </a:lnTo>
                <a:close/>
              </a:path>
              <a:path w="877569" h="247014">
                <a:moveTo>
                  <a:pt x="520445" y="126364"/>
                </a:moveTo>
                <a:lnTo>
                  <a:pt x="518159" y="135636"/>
                </a:lnTo>
                <a:lnTo>
                  <a:pt x="555244" y="144652"/>
                </a:lnTo>
                <a:lnTo>
                  <a:pt x="557402" y="135382"/>
                </a:lnTo>
                <a:lnTo>
                  <a:pt x="520445" y="126364"/>
                </a:lnTo>
                <a:close/>
              </a:path>
              <a:path w="877569" h="247014">
                <a:moveTo>
                  <a:pt x="585215" y="142239"/>
                </a:moveTo>
                <a:lnTo>
                  <a:pt x="582929" y="151384"/>
                </a:lnTo>
                <a:lnTo>
                  <a:pt x="620013" y="160527"/>
                </a:lnTo>
                <a:lnTo>
                  <a:pt x="622172" y="151257"/>
                </a:lnTo>
                <a:lnTo>
                  <a:pt x="585215" y="142239"/>
                </a:lnTo>
                <a:close/>
              </a:path>
              <a:path w="877569" h="247014">
                <a:moveTo>
                  <a:pt x="649985" y="157987"/>
                </a:moveTo>
                <a:lnTo>
                  <a:pt x="647700" y="167259"/>
                </a:lnTo>
                <a:lnTo>
                  <a:pt x="684783" y="176275"/>
                </a:lnTo>
                <a:lnTo>
                  <a:pt x="686943" y="167005"/>
                </a:lnTo>
                <a:lnTo>
                  <a:pt x="649985" y="157987"/>
                </a:lnTo>
                <a:close/>
              </a:path>
              <a:path w="877569" h="247014">
                <a:moveTo>
                  <a:pt x="714756" y="173736"/>
                </a:moveTo>
                <a:lnTo>
                  <a:pt x="712469" y="183007"/>
                </a:lnTo>
                <a:lnTo>
                  <a:pt x="749553" y="192024"/>
                </a:lnTo>
                <a:lnTo>
                  <a:pt x="751713" y="182752"/>
                </a:lnTo>
                <a:lnTo>
                  <a:pt x="714756" y="173736"/>
                </a:lnTo>
                <a:close/>
              </a:path>
              <a:path w="877569" h="247014">
                <a:moveTo>
                  <a:pt x="850055" y="216590"/>
                </a:moveTo>
                <a:lnTo>
                  <a:pt x="782319" y="236727"/>
                </a:lnTo>
                <a:lnTo>
                  <a:pt x="779779" y="237362"/>
                </a:lnTo>
                <a:lnTo>
                  <a:pt x="778382" y="240030"/>
                </a:lnTo>
                <a:lnTo>
                  <a:pt x="779018" y="242570"/>
                </a:lnTo>
                <a:lnTo>
                  <a:pt x="779779" y="245110"/>
                </a:lnTo>
                <a:lnTo>
                  <a:pt x="782446" y="246507"/>
                </a:lnTo>
                <a:lnTo>
                  <a:pt x="869196" y="220725"/>
                </a:lnTo>
                <a:lnTo>
                  <a:pt x="867028" y="220725"/>
                </a:lnTo>
                <a:lnTo>
                  <a:pt x="850055" y="216590"/>
                </a:lnTo>
                <a:close/>
              </a:path>
              <a:path w="877569" h="247014">
                <a:moveTo>
                  <a:pt x="859014" y="213926"/>
                </a:moveTo>
                <a:lnTo>
                  <a:pt x="850055" y="216590"/>
                </a:lnTo>
                <a:lnTo>
                  <a:pt x="867028" y="220725"/>
                </a:lnTo>
                <a:lnTo>
                  <a:pt x="867310" y="219583"/>
                </a:lnTo>
                <a:lnTo>
                  <a:pt x="864869" y="219583"/>
                </a:lnTo>
                <a:lnTo>
                  <a:pt x="859014" y="213926"/>
                </a:lnTo>
                <a:close/>
              </a:path>
              <a:path w="877569" h="247014">
                <a:moveTo>
                  <a:pt x="806069" y="149606"/>
                </a:moveTo>
                <a:lnTo>
                  <a:pt x="803147" y="149733"/>
                </a:lnTo>
                <a:lnTo>
                  <a:pt x="801243" y="151511"/>
                </a:lnTo>
                <a:lnTo>
                  <a:pt x="799464" y="153416"/>
                </a:lnTo>
                <a:lnTo>
                  <a:pt x="799464" y="156463"/>
                </a:lnTo>
                <a:lnTo>
                  <a:pt x="801369" y="158242"/>
                </a:lnTo>
                <a:lnTo>
                  <a:pt x="852118" y="207264"/>
                </a:lnTo>
                <a:lnTo>
                  <a:pt x="869314" y="211455"/>
                </a:lnTo>
                <a:lnTo>
                  <a:pt x="867028" y="220725"/>
                </a:lnTo>
                <a:lnTo>
                  <a:pt x="869196" y="220725"/>
                </a:lnTo>
                <a:lnTo>
                  <a:pt x="877315" y="218312"/>
                </a:lnTo>
                <a:lnTo>
                  <a:pt x="807974" y="151384"/>
                </a:lnTo>
                <a:lnTo>
                  <a:pt x="806069" y="149606"/>
                </a:lnTo>
                <a:close/>
              </a:path>
              <a:path w="877569" h="247014">
                <a:moveTo>
                  <a:pt x="866901" y="211582"/>
                </a:moveTo>
                <a:lnTo>
                  <a:pt x="859014" y="213926"/>
                </a:lnTo>
                <a:lnTo>
                  <a:pt x="864869" y="219583"/>
                </a:lnTo>
                <a:lnTo>
                  <a:pt x="866901" y="211582"/>
                </a:lnTo>
                <a:close/>
              </a:path>
              <a:path w="877569" h="247014">
                <a:moveTo>
                  <a:pt x="869283" y="211582"/>
                </a:moveTo>
                <a:lnTo>
                  <a:pt x="866901" y="211582"/>
                </a:lnTo>
                <a:lnTo>
                  <a:pt x="864869" y="219583"/>
                </a:lnTo>
                <a:lnTo>
                  <a:pt x="867310" y="219583"/>
                </a:lnTo>
                <a:lnTo>
                  <a:pt x="869283" y="211582"/>
                </a:lnTo>
                <a:close/>
              </a:path>
              <a:path w="877569" h="247014">
                <a:moveTo>
                  <a:pt x="844295" y="205359"/>
                </a:moveTo>
                <a:lnTo>
                  <a:pt x="842009" y="214630"/>
                </a:lnTo>
                <a:lnTo>
                  <a:pt x="850055" y="216590"/>
                </a:lnTo>
                <a:lnTo>
                  <a:pt x="859014" y="213926"/>
                </a:lnTo>
                <a:lnTo>
                  <a:pt x="852118" y="207264"/>
                </a:lnTo>
                <a:lnTo>
                  <a:pt x="844295" y="205359"/>
                </a:lnTo>
                <a:close/>
              </a:path>
              <a:path w="877569" h="247014">
                <a:moveTo>
                  <a:pt x="852118" y="207264"/>
                </a:moveTo>
                <a:lnTo>
                  <a:pt x="859014" y="213926"/>
                </a:lnTo>
                <a:lnTo>
                  <a:pt x="866901" y="211582"/>
                </a:lnTo>
                <a:lnTo>
                  <a:pt x="869283" y="211582"/>
                </a:lnTo>
                <a:lnTo>
                  <a:pt x="852118" y="207264"/>
                </a:lnTo>
                <a:close/>
              </a:path>
              <a:path w="877569" h="247014">
                <a:moveTo>
                  <a:pt x="779526" y="189611"/>
                </a:moveTo>
                <a:lnTo>
                  <a:pt x="777239" y="198882"/>
                </a:lnTo>
                <a:lnTo>
                  <a:pt x="814324" y="207899"/>
                </a:lnTo>
                <a:lnTo>
                  <a:pt x="816609" y="198627"/>
                </a:lnTo>
                <a:lnTo>
                  <a:pt x="779526" y="1896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21763" y="2088007"/>
            <a:ext cx="1422400" cy="405130"/>
          </a:xfrm>
          <a:custGeom>
            <a:avLst/>
            <a:gdLst/>
            <a:ahLst/>
            <a:cxnLst/>
            <a:rect l="l" t="t" r="r" b="b"/>
            <a:pathLst>
              <a:path w="1422400" h="405130">
                <a:moveTo>
                  <a:pt x="36830" y="386206"/>
                </a:moveTo>
                <a:lnTo>
                  <a:pt x="0" y="395985"/>
                </a:lnTo>
                <a:lnTo>
                  <a:pt x="2412" y="405129"/>
                </a:lnTo>
                <a:lnTo>
                  <a:pt x="39243" y="395477"/>
                </a:lnTo>
                <a:lnTo>
                  <a:pt x="36830" y="386206"/>
                </a:lnTo>
                <a:close/>
              </a:path>
              <a:path w="1422400" h="405130">
                <a:moveTo>
                  <a:pt x="101345" y="369315"/>
                </a:moveTo>
                <a:lnTo>
                  <a:pt x="64388" y="378967"/>
                </a:lnTo>
                <a:lnTo>
                  <a:pt x="66929" y="388238"/>
                </a:lnTo>
                <a:lnTo>
                  <a:pt x="103759" y="378459"/>
                </a:lnTo>
                <a:lnTo>
                  <a:pt x="101345" y="369315"/>
                </a:lnTo>
                <a:close/>
              </a:path>
              <a:path w="1422400" h="405130">
                <a:moveTo>
                  <a:pt x="165735" y="352297"/>
                </a:moveTo>
                <a:lnTo>
                  <a:pt x="128905" y="361950"/>
                </a:lnTo>
                <a:lnTo>
                  <a:pt x="131318" y="371220"/>
                </a:lnTo>
                <a:lnTo>
                  <a:pt x="168148" y="361568"/>
                </a:lnTo>
                <a:lnTo>
                  <a:pt x="165735" y="352297"/>
                </a:lnTo>
                <a:close/>
              </a:path>
              <a:path w="1422400" h="405130">
                <a:moveTo>
                  <a:pt x="230250" y="335406"/>
                </a:moveTo>
                <a:lnTo>
                  <a:pt x="193420" y="345058"/>
                </a:lnTo>
                <a:lnTo>
                  <a:pt x="195834" y="354202"/>
                </a:lnTo>
                <a:lnTo>
                  <a:pt x="232663" y="344550"/>
                </a:lnTo>
                <a:lnTo>
                  <a:pt x="230250" y="335406"/>
                </a:lnTo>
                <a:close/>
              </a:path>
              <a:path w="1422400" h="405130">
                <a:moveTo>
                  <a:pt x="294767" y="318388"/>
                </a:moveTo>
                <a:lnTo>
                  <a:pt x="257937" y="328040"/>
                </a:lnTo>
                <a:lnTo>
                  <a:pt x="260350" y="337312"/>
                </a:lnTo>
                <a:lnTo>
                  <a:pt x="297180" y="327532"/>
                </a:lnTo>
                <a:lnTo>
                  <a:pt x="294767" y="318388"/>
                </a:lnTo>
                <a:close/>
              </a:path>
              <a:path w="1422400" h="405130">
                <a:moveTo>
                  <a:pt x="359156" y="301370"/>
                </a:moveTo>
                <a:lnTo>
                  <a:pt x="322325" y="311150"/>
                </a:lnTo>
                <a:lnTo>
                  <a:pt x="324738" y="320293"/>
                </a:lnTo>
                <a:lnTo>
                  <a:pt x="361695" y="310641"/>
                </a:lnTo>
                <a:lnTo>
                  <a:pt x="359156" y="301370"/>
                </a:lnTo>
                <a:close/>
              </a:path>
              <a:path w="1422400" h="405130">
                <a:moveTo>
                  <a:pt x="423672" y="284479"/>
                </a:moveTo>
                <a:lnTo>
                  <a:pt x="386842" y="294131"/>
                </a:lnTo>
                <a:lnTo>
                  <a:pt x="389255" y="303402"/>
                </a:lnTo>
                <a:lnTo>
                  <a:pt x="426085" y="293623"/>
                </a:lnTo>
                <a:lnTo>
                  <a:pt x="423672" y="284479"/>
                </a:lnTo>
                <a:close/>
              </a:path>
              <a:path w="1422400" h="405130">
                <a:moveTo>
                  <a:pt x="488188" y="267462"/>
                </a:moveTo>
                <a:lnTo>
                  <a:pt x="451357" y="277113"/>
                </a:lnTo>
                <a:lnTo>
                  <a:pt x="453770" y="286384"/>
                </a:lnTo>
                <a:lnTo>
                  <a:pt x="490600" y="276732"/>
                </a:lnTo>
                <a:lnTo>
                  <a:pt x="488188" y="267462"/>
                </a:lnTo>
                <a:close/>
              </a:path>
              <a:path w="1422400" h="405130">
                <a:moveTo>
                  <a:pt x="552704" y="250443"/>
                </a:moveTo>
                <a:lnTo>
                  <a:pt x="515747" y="260222"/>
                </a:lnTo>
                <a:lnTo>
                  <a:pt x="518287" y="269366"/>
                </a:lnTo>
                <a:lnTo>
                  <a:pt x="555117" y="259714"/>
                </a:lnTo>
                <a:lnTo>
                  <a:pt x="552704" y="250443"/>
                </a:lnTo>
                <a:close/>
              </a:path>
              <a:path w="1422400" h="405130">
                <a:moveTo>
                  <a:pt x="617093" y="233552"/>
                </a:moveTo>
                <a:lnTo>
                  <a:pt x="580263" y="243204"/>
                </a:lnTo>
                <a:lnTo>
                  <a:pt x="582676" y="252475"/>
                </a:lnTo>
                <a:lnTo>
                  <a:pt x="619506" y="242696"/>
                </a:lnTo>
                <a:lnTo>
                  <a:pt x="617093" y="233552"/>
                </a:lnTo>
                <a:close/>
              </a:path>
              <a:path w="1422400" h="405130">
                <a:moveTo>
                  <a:pt x="681609" y="216534"/>
                </a:moveTo>
                <a:lnTo>
                  <a:pt x="644779" y="226313"/>
                </a:lnTo>
                <a:lnTo>
                  <a:pt x="647192" y="235457"/>
                </a:lnTo>
                <a:lnTo>
                  <a:pt x="684022" y="225805"/>
                </a:lnTo>
                <a:lnTo>
                  <a:pt x="681609" y="216534"/>
                </a:lnTo>
                <a:close/>
              </a:path>
              <a:path w="1422400" h="405130">
                <a:moveTo>
                  <a:pt x="746125" y="199643"/>
                </a:moveTo>
                <a:lnTo>
                  <a:pt x="709294" y="209295"/>
                </a:lnTo>
                <a:lnTo>
                  <a:pt x="711707" y="218566"/>
                </a:lnTo>
                <a:lnTo>
                  <a:pt x="748538" y="208787"/>
                </a:lnTo>
                <a:lnTo>
                  <a:pt x="746125" y="199643"/>
                </a:lnTo>
                <a:close/>
              </a:path>
              <a:path w="1422400" h="405130">
                <a:moveTo>
                  <a:pt x="810513" y="182625"/>
                </a:moveTo>
                <a:lnTo>
                  <a:pt x="773684" y="192277"/>
                </a:lnTo>
                <a:lnTo>
                  <a:pt x="776097" y="201548"/>
                </a:lnTo>
                <a:lnTo>
                  <a:pt x="813054" y="191896"/>
                </a:lnTo>
                <a:lnTo>
                  <a:pt x="810513" y="182625"/>
                </a:lnTo>
                <a:close/>
              </a:path>
              <a:path w="1422400" h="405130">
                <a:moveTo>
                  <a:pt x="875029" y="165607"/>
                </a:moveTo>
                <a:lnTo>
                  <a:pt x="838200" y="175387"/>
                </a:lnTo>
                <a:lnTo>
                  <a:pt x="840613" y="184530"/>
                </a:lnTo>
                <a:lnTo>
                  <a:pt x="877442" y="174878"/>
                </a:lnTo>
                <a:lnTo>
                  <a:pt x="875029" y="165607"/>
                </a:lnTo>
                <a:close/>
              </a:path>
              <a:path w="1422400" h="405130">
                <a:moveTo>
                  <a:pt x="939546" y="148716"/>
                </a:moveTo>
                <a:lnTo>
                  <a:pt x="902715" y="158368"/>
                </a:lnTo>
                <a:lnTo>
                  <a:pt x="905128" y="167639"/>
                </a:lnTo>
                <a:lnTo>
                  <a:pt x="941959" y="157860"/>
                </a:lnTo>
                <a:lnTo>
                  <a:pt x="939546" y="148716"/>
                </a:lnTo>
                <a:close/>
              </a:path>
              <a:path w="1422400" h="405130">
                <a:moveTo>
                  <a:pt x="1004062" y="131698"/>
                </a:moveTo>
                <a:lnTo>
                  <a:pt x="967104" y="141477"/>
                </a:lnTo>
                <a:lnTo>
                  <a:pt x="969645" y="150621"/>
                </a:lnTo>
                <a:lnTo>
                  <a:pt x="1006475" y="140969"/>
                </a:lnTo>
                <a:lnTo>
                  <a:pt x="1004062" y="131698"/>
                </a:lnTo>
                <a:close/>
              </a:path>
              <a:path w="1422400" h="405130">
                <a:moveTo>
                  <a:pt x="1068451" y="114807"/>
                </a:moveTo>
                <a:lnTo>
                  <a:pt x="1031621" y="124459"/>
                </a:lnTo>
                <a:lnTo>
                  <a:pt x="1034034" y="133603"/>
                </a:lnTo>
                <a:lnTo>
                  <a:pt x="1070864" y="123951"/>
                </a:lnTo>
                <a:lnTo>
                  <a:pt x="1068451" y="114807"/>
                </a:lnTo>
                <a:close/>
              </a:path>
              <a:path w="1422400" h="405130">
                <a:moveTo>
                  <a:pt x="1132966" y="97789"/>
                </a:moveTo>
                <a:lnTo>
                  <a:pt x="1096137" y="107441"/>
                </a:lnTo>
                <a:lnTo>
                  <a:pt x="1098550" y="116712"/>
                </a:lnTo>
                <a:lnTo>
                  <a:pt x="1135379" y="107060"/>
                </a:lnTo>
                <a:lnTo>
                  <a:pt x="1132966" y="97789"/>
                </a:lnTo>
                <a:close/>
              </a:path>
              <a:path w="1422400" h="405130">
                <a:moveTo>
                  <a:pt x="1197483" y="80771"/>
                </a:moveTo>
                <a:lnTo>
                  <a:pt x="1160652" y="90550"/>
                </a:lnTo>
                <a:lnTo>
                  <a:pt x="1163065" y="99694"/>
                </a:lnTo>
                <a:lnTo>
                  <a:pt x="1199896" y="90042"/>
                </a:lnTo>
                <a:lnTo>
                  <a:pt x="1197483" y="80771"/>
                </a:lnTo>
                <a:close/>
              </a:path>
              <a:path w="1422400" h="405130">
                <a:moveTo>
                  <a:pt x="1261872" y="63880"/>
                </a:moveTo>
                <a:lnTo>
                  <a:pt x="1225041" y="73532"/>
                </a:lnTo>
                <a:lnTo>
                  <a:pt x="1227454" y="82803"/>
                </a:lnTo>
                <a:lnTo>
                  <a:pt x="1264412" y="73025"/>
                </a:lnTo>
                <a:lnTo>
                  <a:pt x="1261872" y="63880"/>
                </a:lnTo>
                <a:close/>
              </a:path>
              <a:path w="1422400" h="405130">
                <a:moveTo>
                  <a:pt x="1404144" y="31347"/>
                </a:moveTo>
                <a:lnTo>
                  <a:pt x="1347597" y="88010"/>
                </a:lnTo>
                <a:lnTo>
                  <a:pt x="1345691" y="89788"/>
                </a:lnTo>
                <a:lnTo>
                  <a:pt x="1345691" y="92837"/>
                </a:lnTo>
                <a:lnTo>
                  <a:pt x="1349375" y="96519"/>
                </a:lnTo>
                <a:lnTo>
                  <a:pt x="1352423" y="96519"/>
                </a:lnTo>
                <a:lnTo>
                  <a:pt x="1354327" y="94741"/>
                </a:lnTo>
                <a:lnTo>
                  <a:pt x="1415428" y="33527"/>
                </a:lnTo>
                <a:lnTo>
                  <a:pt x="1411986" y="33527"/>
                </a:lnTo>
                <a:lnTo>
                  <a:pt x="1404144" y="31347"/>
                </a:lnTo>
                <a:close/>
              </a:path>
              <a:path w="1422400" h="405130">
                <a:moveTo>
                  <a:pt x="1326388" y="46862"/>
                </a:moveTo>
                <a:lnTo>
                  <a:pt x="1289558" y="56641"/>
                </a:lnTo>
                <a:lnTo>
                  <a:pt x="1291971" y="65785"/>
                </a:lnTo>
                <a:lnTo>
                  <a:pt x="1328801" y="56133"/>
                </a:lnTo>
                <a:lnTo>
                  <a:pt x="1326388" y="46862"/>
                </a:lnTo>
                <a:close/>
              </a:path>
              <a:path w="1422400" h="405130">
                <a:moveTo>
                  <a:pt x="1390903" y="29971"/>
                </a:moveTo>
                <a:lnTo>
                  <a:pt x="1354074" y="39623"/>
                </a:lnTo>
                <a:lnTo>
                  <a:pt x="1356487" y="48767"/>
                </a:lnTo>
                <a:lnTo>
                  <a:pt x="1393316" y="39115"/>
                </a:lnTo>
                <a:lnTo>
                  <a:pt x="1390903" y="29971"/>
                </a:lnTo>
                <a:close/>
              </a:path>
              <a:path w="1422400" h="405130">
                <a:moveTo>
                  <a:pt x="1409953" y="25526"/>
                </a:moveTo>
                <a:lnTo>
                  <a:pt x="1404144" y="31347"/>
                </a:lnTo>
                <a:lnTo>
                  <a:pt x="1411986" y="33527"/>
                </a:lnTo>
                <a:lnTo>
                  <a:pt x="1409953" y="25526"/>
                </a:lnTo>
                <a:close/>
              </a:path>
              <a:path w="1422400" h="405130">
                <a:moveTo>
                  <a:pt x="1418741" y="25526"/>
                </a:moveTo>
                <a:lnTo>
                  <a:pt x="1409953" y="25526"/>
                </a:lnTo>
                <a:lnTo>
                  <a:pt x="1411986" y="33527"/>
                </a:lnTo>
                <a:lnTo>
                  <a:pt x="1415428" y="33527"/>
                </a:lnTo>
                <a:lnTo>
                  <a:pt x="1422400" y="26542"/>
                </a:lnTo>
                <a:lnTo>
                  <a:pt x="1418741" y="25526"/>
                </a:lnTo>
                <a:close/>
              </a:path>
              <a:path w="1422400" h="405130">
                <a:moveTo>
                  <a:pt x="1327023" y="0"/>
                </a:moveTo>
                <a:lnTo>
                  <a:pt x="1324483" y="1523"/>
                </a:lnTo>
                <a:lnTo>
                  <a:pt x="1323721" y="4063"/>
                </a:lnTo>
                <a:lnTo>
                  <a:pt x="1323086" y="6603"/>
                </a:lnTo>
                <a:lnTo>
                  <a:pt x="1324483" y="9270"/>
                </a:lnTo>
                <a:lnTo>
                  <a:pt x="1327023" y="9905"/>
                </a:lnTo>
                <a:lnTo>
                  <a:pt x="1404144" y="31347"/>
                </a:lnTo>
                <a:lnTo>
                  <a:pt x="1409953" y="25526"/>
                </a:lnTo>
                <a:lnTo>
                  <a:pt x="1418741" y="25526"/>
                </a:lnTo>
                <a:lnTo>
                  <a:pt x="1329563" y="762"/>
                </a:lnTo>
                <a:lnTo>
                  <a:pt x="1327023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29180" y="375831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61</a:t>
            </a:fld>
            <a:endParaRPr spc="-5" dirty="0">
              <a:solidFill>
                <a:srgbClr val="404040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73120" y="281406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2442" y="1905076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6860" marR="5080">
              <a:lnSpc>
                <a:spcPct val="100000"/>
              </a:lnSpc>
              <a:spcBef>
                <a:spcPts val="90"/>
              </a:spcBef>
            </a:pPr>
            <a:r>
              <a:rPr spc="-15" dirty="0"/>
              <a:t>Инструменты </a:t>
            </a:r>
            <a:r>
              <a:rPr spc="-25" dirty="0"/>
              <a:t>моделирования </a:t>
            </a:r>
            <a:r>
              <a:rPr spc="-5" dirty="0"/>
              <a:t>и </a:t>
            </a:r>
            <a:r>
              <a:rPr spc="-10" dirty="0"/>
              <a:t>анализа </a:t>
            </a:r>
            <a:r>
              <a:rPr spc="-5" dirty="0"/>
              <a:t>бизнес-  </a:t>
            </a:r>
            <a:r>
              <a:rPr spc="-10" dirty="0"/>
              <a:t>архитектуры</a:t>
            </a:r>
          </a:p>
        </p:txBody>
      </p:sp>
      <p:sp>
        <p:nvSpPr>
          <p:cNvPr id="3" name="object 3"/>
          <p:cNvSpPr/>
          <p:nvPr/>
        </p:nvSpPr>
        <p:spPr>
          <a:xfrm>
            <a:off x="539546" y="908773"/>
            <a:ext cx="8225155" cy="5544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62</a:t>
            </a:fld>
            <a:endParaRPr spc="-5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spc="-5" dirty="0">
                <a:solidFill>
                  <a:srgbClr val="404040"/>
                </a:solidFill>
              </a:rPr>
              <a:pPr marL="25400">
                <a:lnSpc>
                  <a:spcPts val="1425"/>
                </a:lnSpc>
              </a:pPr>
              <a:t>63</a:t>
            </a:fld>
            <a:endParaRPr spc="-5" dirty="0">
              <a:solidFill>
                <a:srgbClr val="40404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4007" y="1070813"/>
            <a:ext cx="8325484" cy="5149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27685" marR="161925" indent="-514984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600" spc="-20" dirty="0">
                <a:latin typeface="Calibri"/>
                <a:cs typeface="Calibri"/>
              </a:rPr>
              <a:t>Григорьев </a:t>
            </a:r>
            <a:r>
              <a:rPr sz="1600" dirty="0">
                <a:latin typeface="Calibri"/>
                <a:cs typeface="Calibri"/>
              </a:rPr>
              <a:t>Л. </a:t>
            </a:r>
            <a:r>
              <a:rPr sz="1600" spc="-10" dirty="0">
                <a:latin typeface="Calibri"/>
                <a:cs typeface="Calibri"/>
              </a:rPr>
              <a:t>Ю., </a:t>
            </a:r>
            <a:r>
              <a:rPr sz="1600" spc="-20" dirty="0">
                <a:latin typeface="Calibri"/>
                <a:cs typeface="Calibri"/>
              </a:rPr>
              <a:t>Кудрявцев </a:t>
            </a:r>
            <a:r>
              <a:rPr sz="1600" dirty="0">
                <a:latin typeface="Calibri"/>
                <a:cs typeface="Calibri"/>
              </a:rPr>
              <a:t>Д. </a:t>
            </a:r>
            <a:r>
              <a:rPr sz="1600" spc="-5" dirty="0">
                <a:latin typeface="Calibri"/>
                <a:cs typeface="Calibri"/>
              </a:rPr>
              <a:t>В., Бобриков </a:t>
            </a:r>
            <a:r>
              <a:rPr sz="1600" dirty="0">
                <a:latin typeface="Calibri"/>
                <a:cs typeface="Calibri"/>
              </a:rPr>
              <a:t>С. А. </a:t>
            </a:r>
            <a:r>
              <a:rPr sz="1600" b="1" dirty="0">
                <a:latin typeface="Calibri"/>
                <a:cs typeface="Calibri"/>
              </a:rPr>
              <a:t>Основные </a:t>
            </a:r>
            <a:r>
              <a:rPr sz="1600" b="1" spc="-10" dirty="0">
                <a:latin typeface="Calibri"/>
                <a:cs typeface="Calibri"/>
              </a:rPr>
              <a:t>положения моделирования  </a:t>
            </a:r>
            <a:r>
              <a:rPr sz="1600" b="1" spc="-5" dirty="0">
                <a:latin typeface="Calibri"/>
                <a:cs typeface="Calibri"/>
              </a:rPr>
              <a:t>деятельности </a:t>
            </a:r>
            <a:r>
              <a:rPr sz="1600" b="1" dirty="0">
                <a:latin typeface="Calibri"/>
                <a:cs typeface="Calibri"/>
              </a:rPr>
              <a:t>в </a:t>
            </a:r>
            <a:r>
              <a:rPr sz="1600" b="1" spc="-10" dirty="0">
                <a:latin typeface="Calibri"/>
                <a:cs typeface="Calibri"/>
              </a:rPr>
              <a:t>методологии </a:t>
            </a:r>
            <a:r>
              <a:rPr sz="1600" b="1" spc="-5" dirty="0">
                <a:latin typeface="Calibri"/>
                <a:cs typeface="Calibri"/>
              </a:rPr>
              <a:t>архитектурного бизнес-инжиниринга </a:t>
            </a:r>
            <a:r>
              <a:rPr sz="1600" b="1" dirty="0">
                <a:latin typeface="Calibri"/>
                <a:cs typeface="Calibri"/>
              </a:rPr>
              <a:t>(АБИ) </a:t>
            </a:r>
            <a:r>
              <a:rPr sz="1600" b="1" spc="-5" dirty="0">
                <a:latin typeface="Calibri"/>
                <a:cs typeface="Calibri"/>
              </a:rPr>
              <a:t>компании  </a:t>
            </a:r>
            <a:r>
              <a:rPr sz="1600" b="1" spc="-30" dirty="0">
                <a:latin typeface="Calibri"/>
                <a:cs typeface="Calibri"/>
              </a:rPr>
              <a:t>БИГ.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ИП&amp;УЗ-2014.</a:t>
            </a:r>
            <a:endParaRPr sz="16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1600" spc="-25" dirty="0">
                <a:latin typeface="Calibri"/>
                <a:cs typeface="Calibri"/>
              </a:rPr>
              <a:t>Григорьев </a:t>
            </a:r>
            <a:r>
              <a:rPr sz="1600" dirty="0">
                <a:latin typeface="Calibri"/>
                <a:cs typeface="Calibri"/>
              </a:rPr>
              <a:t>Л. </a:t>
            </a:r>
            <a:r>
              <a:rPr sz="1600" spc="-10" dirty="0">
                <a:latin typeface="Calibri"/>
                <a:cs typeface="Calibri"/>
              </a:rPr>
              <a:t>Ю., </a:t>
            </a:r>
            <a:r>
              <a:rPr sz="1600" spc="-20" dirty="0">
                <a:latin typeface="Calibri"/>
                <a:cs typeface="Calibri"/>
              </a:rPr>
              <a:t>Кудрявцев </a:t>
            </a:r>
            <a:r>
              <a:rPr sz="1600" dirty="0">
                <a:latin typeface="Calibri"/>
                <a:cs typeface="Calibri"/>
              </a:rPr>
              <a:t>Д. </a:t>
            </a:r>
            <a:r>
              <a:rPr sz="1600" spc="-5" dirty="0">
                <a:latin typeface="Calibri"/>
                <a:cs typeface="Calibri"/>
              </a:rPr>
              <a:t>В., Арзуманян М. </a:t>
            </a:r>
            <a:r>
              <a:rPr sz="1600" spc="-10" dirty="0">
                <a:latin typeface="Calibri"/>
                <a:cs typeface="Calibri"/>
              </a:rPr>
              <a:t>Ю., </a:t>
            </a:r>
            <a:r>
              <a:rPr sz="1600" spc="-5" dirty="0">
                <a:latin typeface="Calibri"/>
                <a:cs typeface="Calibri"/>
              </a:rPr>
              <a:t>Прокопеня К. </a:t>
            </a:r>
            <a:r>
              <a:rPr sz="1600" dirty="0">
                <a:latin typeface="Calibri"/>
                <a:cs typeface="Calibri"/>
              </a:rPr>
              <a:t>А. </a:t>
            </a:r>
            <a:r>
              <a:rPr sz="1600" b="1" spc="-15" dirty="0">
                <a:latin typeface="Calibri"/>
                <a:cs typeface="Calibri"/>
              </a:rPr>
              <a:t>Подходы</a:t>
            </a:r>
            <a:r>
              <a:rPr sz="1600" b="1" spc="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к</a:t>
            </a:r>
            <a:endParaRPr sz="1600">
              <a:latin typeface="Calibri"/>
              <a:cs typeface="Calibri"/>
            </a:endParaRPr>
          </a:p>
          <a:p>
            <a:pPr marL="527685" marR="37211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реализации проектов преобразований организации в </a:t>
            </a:r>
            <a:r>
              <a:rPr sz="1600" b="1" spc="-10" dirty="0">
                <a:latin typeface="Calibri"/>
                <a:cs typeface="Calibri"/>
              </a:rPr>
              <a:t>методологии</a:t>
            </a:r>
            <a:r>
              <a:rPr sz="1600" b="1" spc="-204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архитектурного  </a:t>
            </a:r>
            <a:r>
              <a:rPr sz="1600" b="1" dirty="0">
                <a:latin typeface="Calibri"/>
                <a:cs typeface="Calibri"/>
              </a:rPr>
              <a:t>бизнес-инжиниринга </a:t>
            </a:r>
            <a:r>
              <a:rPr sz="1600" b="1" spc="-5" dirty="0">
                <a:latin typeface="Calibri"/>
                <a:cs typeface="Calibri"/>
              </a:rPr>
              <a:t>(АБИ) </a:t>
            </a:r>
            <a:r>
              <a:rPr sz="1600" b="1" dirty="0">
                <a:latin typeface="Calibri"/>
                <a:cs typeface="Calibri"/>
              </a:rPr>
              <a:t>компании БИГ </a:t>
            </a:r>
            <a:r>
              <a:rPr sz="1600" b="1" spc="0" dirty="0">
                <a:latin typeface="Calibri"/>
                <a:cs typeface="Calibri"/>
              </a:rPr>
              <a:t>в </a:t>
            </a:r>
            <a:r>
              <a:rPr sz="1600" b="1" dirty="0">
                <a:latin typeface="Calibri"/>
                <a:cs typeface="Calibri"/>
              </a:rPr>
              <a:t>сравнении с </a:t>
            </a:r>
            <a:r>
              <a:rPr sz="1600" b="1" spc="-10" dirty="0">
                <a:latin typeface="Calibri"/>
                <a:cs typeface="Calibri"/>
              </a:rPr>
              <a:t>Architecture </a:t>
            </a:r>
            <a:r>
              <a:rPr sz="1600" b="1" spc="-5" dirty="0">
                <a:latin typeface="Calibri"/>
                <a:cs typeface="Calibri"/>
              </a:rPr>
              <a:t>Development  </a:t>
            </a:r>
            <a:r>
              <a:rPr sz="1600" b="1" dirty="0">
                <a:latin typeface="Calibri"/>
                <a:cs typeface="Calibri"/>
              </a:rPr>
              <a:t>Method (ADM) </a:t>
            </a:r>
            <a:r>
              <a:rPr sz="1600" b="1" spc="-10" dirty="0">
                <a:latin typeface="Calibri"/>
                <a:cs typeface="Calibri"/>
              </a:rPr>
              <a:t>методологии </a:t>
            </a:r>
            <a:r>
              <a:rPr sz="1600" b="1" spc="-5" dirty="0">
                <a:latin typeface="Calibri"/>
                <a:cs typeface="Calibri"/>
              </a:rPr>
              <a:t>TOGAF</a:t>
            </a:r>
            <a:r>
              <a:rPr sz="1600" spc="-5" dirty="0">
                <a:latin typeface="Calibri"/>
                <a:cs typeface="Calibri"/>
              </a:rPr>
              <a:t>.</a:t>
            </a:r>
            <a:r>
              <a:rPr sz="1600" spc="-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ИП&amp;УЗ-2014.</a:t>
            </a:r>
            <a:endParaRPr sz="1600">
              <a:latin typeface="Calibri"/>
              <a:cs typeface="Calibri"/>
            </a:endParaRPr>
          </a:p>
          <a:p>
            <a:pPr marL="527685" marR="114935" indent="-514984">
              <a:lnSpc>
                <a:spcPct val="100000"/>
              </a:lnSpc>
              <a:spcBef>
                <a:spcPts val="385"/>
              </a:spcBef>
              <a:buAutoNum type="arabicPeriod" startAt="3"/>
              <a:tabLst>
                <a:tab pos="527685" algn="l"/>
                <a:tab pos="528320" algn="l"/>
              </a:tabLst>
            </a:pPr>
            <a:r>
              <a:rPr sz="1600" spc="-25" dirty="0">
                <a:latin typeface="Calibri"/>
                <a:cs typeface="Calibri"/>
              </a:rPr>
              <a:t>Kudryavtsev, </a:t>
            </a:r>
            <a:r>
              <a:rPr sz="1600" spc="-20" dirty="0">
                <a:latin typeface="Calibri"/>
                <a:cs typeface="Calibri"/>
              </a:rPr>
              <a:t>D., Grigoriev, </a:t>
            </a:r>
            <a:r>
              <a:rPr sz="1600" spc="-5" dirty="0">
                <a:latin typeface="Calibri"/>
                <a:cs typeface="Calibri"/>
              </a:rPr>
              <a:t>L.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Ontology-based 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business </a:t>
            </a:r>
            <a:r>
              <a:rPr sz="1600" u="sng" spc="-1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architecture 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engineering </a:t>
            </a:r>
            <a:r>
              <a:rPr sz="1600" u="sng" spc="-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technology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600" dirty="0">
                <a:latin typeface="Calibri"/>
                <a:cs typeface="Calibri"/>
              </a:rPr>
              <a:t>//  The </a:t>
            </a:r>
            <a:r>
              <a:rPr sz="1600" spc="-5" dirty="0">
                <a:latin typeface="Calibri"/>
                <a:cs typeface="Calibri"/>
              </a:rPr>
              <a:t>10th </a:t>
            </a:r>
            <a:r>
              <a:rPr sz="1600" spc="-10" dirty="0">
                <a:latin typeface="Calibri"/>
                <a:cs typeface="Calibri"/>
              </a:rPr>
              <a:t>International </a:t>
            </a:r>
            <a:r>
              <a:rPr sz="1600" spc="-15" dirty="0">
                <a:latin typeface="Calibri"/>
                <a:cs typeface="Calibri"/>
              </a:rPr>
              <a:t>Conference </a:t>
            </a:r>
            <a:r>
              <a:rPr sz="1600" dirty="0">
                <a:latin typeface="Calibri"/>
                <a:cs typeface="Calibri"/>
              </a:rPr>
              <a:t>on </a:t>
            </a:r>
            <a:r>
              <a:rPr sz="1600" spc="-15" dirty="0">
                <a:latin typeface="Calibri"/>
                <a:cs typeface="Calibri"/>
              </a:rPr>
              <a:t>Intelligent </a:t>
            </a:r>
            <a:r>
              <a:rPr sz="1600" spc="-10" dirty="0">
                <a:latin typeface="Calibri"/>
                <a:cs typeface="Calibri"/>
              </a:rPr>
              <a:t>Software </a:t>
            </a:r>
            <a:r>
              <a:rPr sz="1600" spc="-5" dirty="0">
                <a:latin typeface="Calibri"/>
                <a:cs typeface="Calibri"/>
              </a:rPr>
              <a:t>Methodologies, </a:t>
            </a:r>
            <a:r>
              <a:rPr sz="1600" spc="-30" dirty="0">
                <a:latin typeface="Calibri"/>
                <a:cs typeface="Calibri"/>
              </a:rPr>
              <a:t>Tools </a:t>
            </a:r>
            <a:r>
              <a:rPr sz="1600" spc="-5" dirty="0">
                <a:latin typeface="Calibri"/>
                <a:cs typeface="Calibri"/>
              </a:rPr>
              <a:t>and  </a:t>
            </a:r>
            <a:r>
              <a:rPr sz="1600" spc="-20" dirty="0">
                <a:latin typeface="Calibri"/>
                <a:cs typeface="Calibri"/>
              </a:rPr>
              <a:t>Techniques, </a:t>
            </a:r>
            <a:r>
              <a:rPr sz="1600" spc="-10" dirty="0">
                <a:latin typeface="Calibri"/>
                <a:cs typeface="Calibri"/>
              </a:rPr>
              <a:t>September </a:t>
            </a:r>
            <a:r>
              <a:rPr sz="1600" dirty="0">
                <a:latin typeface="Calibri"/>
                <a:cs typeface="Calibri"/>
              </a:rPr>
              <a:t>28-30, 2011. </a:t>
            </a:r>
            <a:r>
              <a:rPr sz="1600" spc="-105" dirty="0">
                <a:latin typeface="Calibri"/>
                <a:cs typeface="Calibri"/>
              </a:rPr>
              <a:t>P.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233-252.</a:t>
            </a:r>
            <a:endParaRPr sz="1600">
              <a:latin typeface="Calibri"/>
              <a:cs typeface="Calibri"/>
            </a:endParaRPr>
          </a:p>
          <a:p>
            <a:pPr marL="527685" marR="116839" indent="-514984">
              <a:lnSpc>
                <a:spcPct val="100000"/>
              </a:lnSpc>
              <a:spcBef>
                <a:spcPts val="380"/>
              </a:spcBef>
              <a:buAutoNum type="arabicPeriod" startAt="3"/>
              <a:tabLst>
                <a:tab pos="527685" algn="l"/>
                <a:tab pos="528320" algn="l"/>
              </a:tabLst>
            </a:pPr>
            <a:r>
              <a:rPr sz="1600" spc="-25" dirty="0">
                <a:latin typeface="Calibri"/>
                <a:cs typeface="Calibri"/>
              </a:rPr>
              <a:t>Kudryavtsev, </a:t>
            </a:r>
            <a:r>
              <a:rPr sz="1600" spc="-20" dirty="0">
                <a:latin typeface="Calibri"/>
                <a:cs typeface="Calibri"/>
              </a:rPr>
              <a:t>D., Grigoriev, </a:t>
            </a:r>
            <a:r>
              <a:rPr sz="1600" spc="-5" dirty="0">
                <a:latin typeface="Calibri"/>
                <a:cs typeface="Calibri"/>
              </a:rPr>
              <a:t>L.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u="sng" spc="-15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Systemic </a:t>
            </a:r>
            <a:r>
              <a:rPr sz="1600" u="sng" spc="-10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approach </a:t>
            </a:r>
            <a:r>
              <a:rPr sz="1600" u="sng" spc="-15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towards enterprise </a:t>
            </a:r>
            <a:r>
              <a:rPr sz="1600" u="sng" spc="-10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functional  decomposition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600" dirty="0">
                <a:latin typeface="Calibri"/>
                <a:cs typeface="Calibri"/>
              </a:rPr>
              <a:t>// The </a:t>
            </a:r>
            <a:r>
              <a:rPr sz="1600" spc="-10" dirty="0">
                <a:latin typeface="Calibri"/>
                <a:cs typeface="Calibri"/>
              </a:rPr>
              <a:t>workshop “Convergence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spc="-10" dirty="0">
                <a:latin typeface="Calibri"/>
                <a:cs typeface="Calibri"/>
              </a:rPr>
              <a:t>Business </a:t>
            </a:r>
            <a:r>
              <a:rPr sz="1600" spc="-15" dirty="0">
                <a:latin typeface="Calibri"/>
                <a:cs typeface="Calibri"/>
              </a:rPr>
              <a:t>Architecture, </a:t>
            </a:r>
            <a:r>
              <a:rPr sz="1600" spc="-10" dirty="0">
                <a:latin typeface="Calibri"/>
                <a:cs typeface="Calibri"/>
              </a:rPr>
              <a:t>Business Process  </a:t>
            </a:r>
            <a:r>
              <a:rPr sz="1600" spc="-15" dirty="0">
                <a:latin typeface="Calibri"/>
                <a:cs typeface="Calibri"/>
              </a:rPr>
              <a:t>Architecture, </a:t>
            </a:r>
            <a:r>
              <a:rPr sz="1600" spc="-10" dirty="0">
                <a:latin typeface="Calibri"/>
                <a:cs typeface="Calibri"/>
              </a:rPr>
              <a:t>Enterprise </a:t>
            </a:r>
            <a:r>
              <a:rPr sz="1600" spc="-15" dirty="0">
                <a:latin typeface="Calibri"/>
                <a:cs typeface="Calibri"/>
              </a:rPr>
              <a:t>Architecture </a:t>
            </a:r>
            <a:r>
              <a:rPr sz="1600" dirty="0">
                <a:latin typeface="Calibri"/>
                <a:cs typeface="Calibri"/>
              </a:rPr>
              <a:t>and </a:t>
            </a:r>
            <a:r>
              <a:rPr sz="1600" spc="-5" dirty="0">
                <a:latin typeface="Calibri"/>
                <a:cs typeface="Calibri"/>
              </a:rPr>
              <a:t>Service </a:t>
            </a:r>
            <a:r>
              <a:rPr sz="1600" spc="-15" dirty="0">
                <a:latin typeface="Calibri"/>
                <a:cs typeface="Calibri"/>
              </a:rPr>
              <a:t>Oriented Architecture” </a:t>
            </a:r>
            <a:r>
              <a:rPr sz="1600" spc="-5" dirty="0">
                <a:latin typeface="Calibri"/>
                <a:cs typeface="Calibri"/>
              </a:rPr>
              <a:t>within the </a:t>
            </a:r>
            <a:r>
              <a:rPr sz="1600" dirty="0">
                <a:latin typeface="Calibri"/>
                <a:cs typeface="Calibri"/>
              </a:rPr>
              <a:t>13th IEEE  </a:t>
            </a:r>
            <a:r>
              <a:rPr sz="1600" spc="-15" dirty="0">
                <a:latin typeface="Calibri"/>
                <a:cs typeface="Calibri"/>
              </a:rPr>
              <a:t>Conference </a:t>
            </a:r>
            <a:r>
              <a:rPr sz="1600" spc="-5" dirty="0">
                <a:latin typeface="Calibri"/>
                <a:cs typeface="Calibri"/>
              </a:rPr>
              <a:t>on Commerce and </a:t>
            </a:r>
            <a:r>
              <a:rPr sz="1600" spc="-10" dirty="0">
                <a:latin typeface="Calibri"/>
                <a:cs typeface="Calibri"/>
              </a:rPr>
              <a:t>Enterprise </a:t>
            </a:r>
            <a:r>
              <a:rPr sz="1600" dirty="0">
                <a:latin typeface="Calibri"/>
                <a:cs typeface="Calibri"/>
              </a:rPr>
              <a:t>Computing, </a:t>
            </a:r>
            <a:r>
              <a:rPr sz="1600" spc="-10" dirty="0">
                <a:latin typeface="Calibri"/>
                <a:cs typeface="Calibri"/>
              </a:rPr>
              <a:t>Luxembourg, September </a:t>
            </a:r>
            <a:r>
              <a:rPr sz="1600" spc="5" dirty="0">
                <a:latin typeface="Calibri"/>
                <a:cs typeface="Calibri"/>
              </a:rPr>
              <a:t>5-7, </a:t>
            </a:r>
            <a:r>
              <a:rPr sz="1600" dirty="0">
                <a:latin typeface="Calibri"/>
                <a:cs typeface="Calibri"/>
              </a:rPr>
              <a:t>2011. </a:t>
            </a:r>
            <a:r>
              <a:rPr sz="1600" spc="-100" dirty="0">
                <a:latin typeface="Calibri"/>
                <a:cs typeface="Calibri"/>
              </a:rPr>
              <a:t>P.  </a:t>
            </a:r>
            <a:r>
              <a:rPr sz="1600" dirty="0">
                <a:latin typeface="Calibri"/>
                <a:cs typeface="Calibri"/>
              </a:rPr>
              <a:t>310-317.</a:t>
            </a:r>
            <a:endParaRPr sz="16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380"/>
              </a:spcBef>
              <a:buAutoNum type="arabicPeriod" startAt="3"/>
              <a:tabLst>
                <a:tab pos="527685" algn="l"/>
                <a:tab pos="528320" algn="l"/>
              </a:tabLst>
            </a:pPr>
            <a:r>
              <a:rPr sz="1600" spc="-25" dirty="0">
                <a:latin typeface="Calibri"/>
                <a:cs typeface="Calibri"/>
              </a:rPr>
              <a:t>Григорьев </a:t>
            </a:r>
            <a:r>
              <a:rPr sz="1600" dirty="0">
                <a:latin typeface="Calibri"/>
                <a:cs typeface="Calibri"/>
              </a:rPr>
              <a:t>Л. </a:t>
            </a:r>
            <a:r>
              <a:rPr sz="1600" spc="-10" dirty="0">
                <a:latin typeface="Calibri"/>
                <a:cs typeface="Calibri"/>
              </a:rPr>
              <a:t>Ю., </a:t>
            </a:r>
            <a:r>
              <a:rPr sz="1600" spc="-20" dirty="0">
                <a:latin typeface="Calibri"/>
                <a:cs typeface="Calibri"/>
              </a:rPr>
              <a:t>Кудрявцев </a:t>
            </a:r>
            <a:r>
              <a:rPr sz="1600" dirty="0">
                <a:latin typeface="Calibri"/>
                <a:cs typeface="Calibri"/>
              </a:rPr>
              <a:t>Д. </a:t>
            </a:r>
            <a:r>
              <a:rPr sz="1600" spc="-5" dirty="0">
                <a:latin typeface="Calibri"/>
                <a:cs typeface="Calibri"/>
              </a:rPr>
              <a:t>В.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Организационное проектирование </a:t>
            </a:r>
            <a:r>
              <a:rPr sz="1600" u="sng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на 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основе</a:t>
            </a:r>
            <a:r>
              <a:rPr sz="1600" u="sng" spc="135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1600" u="sng" spc="-1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онтологий:</a:t>
            </a:r>
            <a:endParaRPr sz="160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</a:pPr>
            <a:r>
              <a:rPr sz="1600" u="sng" spc="-4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u="sng" spc="-15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методология </a:t>
            </a:r>
            <a:r>
              <a:rPr sz="1600" u="sng" spc="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и </a:t>
            </a:r>
            <a:r>
              <a:rPr sz="1600" u="sng" spc="-10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система 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  <a:hlinkClick r:id="rId5"/>
              </a:rPr>
              <a:t>ОРГ-Мастер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// </a:t>
            </a:r>
            <a:r>
              <a:rPr sz="1600" spc="-10" dirty="0">
                <a:latin typeface="Calibri"/>
                <a:cs typeface="Calibri"/>
              </a:rPr>
              <a:t>Журнал </a:t>
            </a:r>
            <a:r>
              <a:rPr sz="1600" spc="-5" dirty="0">
                <a:latin typeface="Calibri"/>
                <a:cs typeface="Calibri"/>
              </a:rPr>
              <a:t>«Научно-технические </a:t>
            </a:r>
            <a:r>
              <a:rPr sz="1600" spc="-10" dirty="0">
                <a:latin typeface="Calibri"/>
                <a:cs typeface="Calibri"/>
              </a:rPr>
              <a:t>ведомости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СПбГПУ.</a:t>
            </a:r>
            <a:endParaRPr sz="160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Серия «Информатика. </a:t>
            </a:r>
            <a:r>
              <a:rPr sz="1600" spc="-20" dirty="0">
                <a:latin typeface="Calibri"/>
                <a:cs typeface="Calibri"/>
              </a:rPr>
              <a:t>Телекоммуникации. </a:t>
            </a:r>
            <a:r>
              <a:rPr sz="1600" spc="-10" dirty="0">
                <a:latin typeface="Calibri"/>
                <a:cs typeface="Calibri"/>
              </a:rPr>
              <a:t>Управление». </a:t>
            </a:r>
            <a:r>
              <a:rPr sz="1600" dirty="0">
                <a:latin typeface="Calibri"/>
                <a:cs typeface="Calibri"/>
              </a:rPr>
              <a:t>№1. 2012. – С.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21–28.</a:t>
            </a:r>
            <a:endParaRPr sz="16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385"/>
              </a:spcBef>
              <a:buAutoNum type="arabicPeriod" startAt="6"/>
              <a:tabLst>
                <a:tab pos="527685" algn="l"/>
                <a:tab pos="528320" algn="l"/>
              </a:tabLst>
            </a:pPr>
            <a:r>
              <a:rPr sz="1600" spc="-20" dirty="0">
                <a:latin typeface="Calibri"/>
                <a:cs typeface="Calibri"/>
              </a:rPr>
              <a:t>Кудрявцев </a:t>
            </a:r>
            <a:r>
              <a:rPr sz="1600" dirty="0">
                <a:latin typeface="Calibri"/>
                <a:cs typeface="Calibri"/>
              </a:rPr>
              <a:t>Д. </a:t>
            </a:r>
            <a:r>
              <a:rPr sz="1600" spc="-5" dirty="0">
                <a:latin typeface="Calibri"/>
                <a:cs typeface="Calibri"/>
              </a:rPr>
              <a:t>В.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u="sng" spc="-20" dirty="0">
                <a:solidFill>
                  <a:srgbClr val="0000FF"/>
                </a:solidFill>
                <a:latin typeface="Calibri"/>
                <a:cs typeface="Calibri"/>
                <a:hlinkClick r:id="rId6"/>
              </a:rPr>
              <a:t>Технологии </a:t>
            </a:r>
            <a:r>
              <a:rPr sz="1600" u="sng" spc="-5" dirty="0">
                <a:solidFill>
                  <a:srgbClr val="0000FF"/>
                </a:solidFill>
                <a:latin typeface="Calibri"/>
                <a:cs typeface="Calibri"/>
                <a:hlinkClick r:id="rId6"/>
              </a:rPr>
              <a:t>бизнес-инжиниринга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  <a:hlinkClick r:id="rId6"/>
              </a:rPr>
              <a:t> </a:t>
            </a:r>
            <a:r>
              <a:rPr sz="1600" dirty="0">
                <a:latin typeface="Calibri"/>
                <a:cs typeface="Calibri"/>
              </a:rPr>
              <a:t>: </a:t>
            </a:r>
            <a:r>
              <a:rPr sz="1600" spc="-5" dirty="0">
                <a:latin typeface="Calibri"/>
                <a:cs typeface="Calibri"/>
              </a:rPr>
              <a:t>учеб. пособие </a:t>
            </a:r>
            <a:r>
              <a:rPr sz="1600" dirty="0">
                <a:latin typeface="Calibri"/>
                <a:cs typeface="Calibri"/>
              </a:rPr>
              <a:t>/ </a:t>
            </a:r>
            <a:r>
              <a:rPr sz="1600" spc="-5" dirty="0">
                <a:latin typeface="Calibri"/>
                <a:cs typeface="Calibri"/>
              </a:rPr>
              <a:t>Д. В. </a:t>
            </a:r>
            <a:r>
              <a:rPr sz="1600" spc="-20" dirty="0">
                <a:latin typeface="Calibri"/>
                <a:cs typeface="Calibri"/>
              </a:rPr>
              <a:t>Кудрявцев, </a:t>
            </a:r>
            <a:r>
              <a:rPr sz="1600" spc="-5" dirty="0">
                <a:latin typeface="Calibri"/>
                <a:cs typeface="Calibri"/>
              </a:rPr>
              <a:t>М.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Ю.</a:t>
            </a:r>
            <a:endParaRPr sz="1600">
              <a:latin typeface="Calibri"/>
              <a:cs typeface="Calibri"/>
            </a:endParaRPr>
          </a:p>
          <a:p>
            <a:pPr marL="527685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Арзуманян, Л. </a:t>
            </a:r>
            <a:r>
              <a:rPr sz="1600" spc="-10" dirty="0">
                <a:latin typeface="Calibri"/>
                <a:cs typeface="Calibri"/>
              </a:rPr>
              <a:t>Ю. </a:t>
            </a:r>
            <a:r>
              <a:rPr sz="1600" spc="-20" dirty="0">
                <a:latin typeface="Calibri"/>
                <a:cs typeface="Calibri"/>
              </a:rPr>
              <a:t>Григорьев. </a:t>
            </a:r>
            <a:r>
              <a:rPr sz="1600" spc="0" dirty="0">
                <a:latin typeface="Calibri"/>
                <a:cs typeface="Calibri"/>
              </a:rPr>
              <a:t>— СПб. </a:t>
            </a:r>
            <a:r>
              <a:rPr sz="1600" dirty="0">
                <a:latin typeface="Calibri"/>
                <a:cs typeface="Calibri"/>
              </a:rPr>
              <a:t>: </a:t>
            </a:r>
            <a:r>
              <a:rPr sz="1600" spc="-5" dirty="0">
                <a:latin typeface="Calibri"/>
                <a:cs typeface="Calibri"/>
              </a:rPr>
              <a:t>Изд-во </a:t>
            </a:r>
            <a:r>
              <a:rPr sz="1600" spc="-10" dirty="0">
                <a:latin typeface="Calibri"/>
                <a:cs typeface="Calibri"/>
              </a:rPr>
              <a:t>Политехн. </a:t>
            </a:r>
            <a:r>
              <a:rPr sz="1600" dirty="0">
                <a:latin typeface="Calibri"/>
                <a:cs typeface="Calibri"/>
              </a:rPr>
              <a:t>ун-та, 2014. </a:t>
            </a:r>
            <a:r>
              <a:rPr sz="1600" spc="0" dirty="0">
                <a:latin typeface="Calibri"/>
                <a:cs typeface="Calibri"/>
              </a:rPr>
              <a:t>— 427</a:t>
            </a:r>
            <a:r>
              <a:rPr sz="1600" spc="-2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с.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89263" cy="49244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Источники: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3193</Words>
  <Application>Microsoft Office PowerPoint</Application>
  <PresentationFormat>Экран (4:3)</PresentationFormat>
  <Paragraphs>772</Paragraphs>
  <Slides>63</Slides>
  <Notes>34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63</vt:i4>
      </vt:variant>
    </vt:vector>
  </HeadingPairs>
  <TitlesOfParts>
    <vt:vector size="75" baseType="lpstr">
      <vt:lpstr>Arial</vt:lpstr>
      <vt:lpstr>Arial Narrow</vt:lpstr>
      <vt:lpstr>Calibri</vt:lpstr>
      <vt:lpstr>Impact</vt:lpstr>
      <vt:lpstr>Symbol</vt:lpstr>
      <vt:lpstr>Tahoma</vt:lpstr>
      <vt:lpstr>Times New Roman</vt:lpstr>
      <vt:lpstr>verdana</vt:lpstr>
      <vt:lpstr>Wingdings</vt:lpstr>
      <vt:lpstr>Office Theme</vt:lpstr>
      <vt:lpstr>Точечный рисунок</vt:lpstr>
      <vt:lpstr>VISIO</vt:lpstr>
      <vt:lpstr>Презентация PowerPoint</vt:lpstr>
      <vt:lpstr>Эволюция архитектур</vt:lpstr>
      <vt:lpstr>Существующие методологии, позволяющие  работать с бизнес-архитектурой</vt:lpstr>
      <vt:lpstr>Критерии для сравнения архитектурных  фраймворков</vt:lpstr>
      <vt:lpstr>Сравниваемые методологии</vt:lpstr>
      <vt:lpstr>Охват</vt:lpstr>
      <vt:lpstr>Сравнение существующих методологий работы с  бизнес-архитектурой</vt:lpstr>
      <vt:lpstr>Презентация PowerPoint</vt:lpstr>
      <vt:lpstr>Выводы</vt:lpstr>
      <vt:lpstr>Свод знаний по бизнес-архитектуре (BIZBOK)</vt:lpstr>
      <vt:lpstr>Содержание свода знаний по бизнес-  архитектуре</vt:lpstr>
      <vt:lpstr>BIZBOK: Аспекты бизнеса, представленные в  бизнес-архитектуре</vt:lpstr>
      <vt:lpstr>BIZBOK: Аспекты бизнеса, представленные в  бизнес-архитектуре</vt:lpstr>
      <vt:lpstr>Представление бизнес-архитектуры с помощью  бизнес-чертежей (blueprints)</vt:lpstr>
      <vt:lpstr>Основные потребители стандарта</vt:lpstr>
      <vt:lpstr>Методы и технологии IBM</vt:lpstr>
      <vt:lpstr>Составляющие бизнес-компонента (IBM)</vt:lpstr>
      <vt:lpstr>IBM Component business model (CBM)</vt:lpstr>
      <vt:lpstr>Презентация PowerPoint</vt:lpstr>
      <vt:lpstr>Actionable Business Architecture IBM</vt:lpstr>
      <vt:lpstr>Методология IBM</vt:lpstr>
      <vt:lpstr>Отечественные подходы</vt:lpstr>
      <vt:lpstr>Презентация PowerPoint</vt:lpstr>
      <vt:lpstr>Верхнеуровневые  конструкции  (цепочки/конфигураци  и создания ценности)</vt:lpstr>
      <vt:lpstr>Декомпозиция деятельности в функциональном  и процессном направлениях</vt:lpstr>
      <vt:lpstr>Два взгляда на деятельность</vt:lpstr>
      <vt:lpstr>Методология ОРГ-Мастер: основные модели</vt:lpstr>
      <vt:lpstr>Программно-методический  комплекс     ОРГ-МАСТЕР®. Система моделирования деятельности организации и формирования корпоративных регламентов </vt:lpstr>
      <vt:lpstr>Особенности инжиниринговой деятельности</vt:lpstr>
      <vt:lpstr>Технология и инструменты бизнес-инжиниринга</vt:lpstr>
      <vt:lpstr>Взаимосвязанность и контроль преобразований</vt:lpstr>
      <vt:lpstr>Презентация PowerPoint</vt:lpstr>
      <vt:lpstr>Парадигмы информатизации бизнеса и смена объектов моделирования </vt:lpstr>
      <vt:lpstr>Некоторые задачи решаемые с помощью моделирования деятельности компании</vt:lpstr>
      <vt:lpstr>Для каждого класса задач свой инструмент...</vt:lpstr>
      <vt:lpstr>Возможности orgware ОРГ-МАСТЕР®. Что позволяет делать продукт?</vt:lpstr>
      <vt:lpstr>Методическая составляющая в ОРГ-МАСТЕР®</vt:lpstr>
      <vt:lpstr>Управление сложностью комплексной модели предприятия</vt:lpstr>
      <vt:lpstr>Построение модели компании в системах на основе базы организационных знаний – это подход ОРГ-МАСТЕР®</vt:lpstr>
      <vt:lpstr>Внешнее представление: Разные потребители &gt; Разные потребности &gt; Разная информация &gt; Разные аспекты модели!</vt:lpstr>
      <vt:lpstr>Внутренняя структура модели – предметные области для описания бизнес-системы</vt:lpstr>
      <vt:lpstr>Внутренняя структура бизнес-модели:  два основных инструмента построения</vt:lpstr>
      <vt:lpstr>Классификаторы – что это?</vt:lpstr>
      <vt:lpstr>Классификаторы (программная реализация)</vt:lpstr>
      <vt:lpstr>Проекции – что это?</vt:lpstr>
      <vt:lpstr>Проекции (программная реализация)</vt:lpstr>
      <vt:lpstr>Внутренняя структура бизнес-модели: связь понятий верхнего и нижнего уровней</vt:lpstr>
      <vt:lpstr>Внутренняя структура бизнес-модели (программная реализация)</vt:lpstr>
      <vt:lpstr>Бизнес-процесс тоже описывается системой  классификаторов и проекций!</vt:lpstr>
      <vt:lpstr>Окно описания процессов (псевдографика)</vt:lpstr>
      <vt:lpstr>ВСПОМОГАТЕЛЬНЫЕ инструменты ввода информации</vt:lpstr>
      <vt:lpstr>Значение единого внутреннего «языка» модели</vt:lpstr>
      <vt:lpstr>Вывод информации: Разные потребители&gt; Разные потребности &gt; Разная информация из модели</vt:lpstr>
      <vt:lpstr>Потребители – цель получения – форматы представления</vt:lpstr>
      <vt:lpstr>Множество взглядов на организацию или «каждому – свое»</vt:lpstr>
      <vt:lpstr>Средства вывода: генератор табличных и текстовых отчетов в ОРГ-МАСТЕР®</vt:lpstr>
      <vt:lpstr>Средства вывода: мастер диаграмм в ОРГ-МАСТЕР®</vt:lpstr>
      <vt:lpstr>Средства вывода: ОРГ-МАСТЕР®Графикс как дополнительное средство графического представления модели</vt:lpstr>
      <vt:lpstr>Технология ОРГ-МАСТЕР®: от концепта к детальным описаниям</vt:lpstr>
      <vt:lpstr>Дополнительные преимущества ОРГ-МАСТЕР®</vt:lpstr>
      <vt:lpstr>Развитие инструментов управления архитектурой предприятия</vt:lpstr>
      <vt:lpstr>Инструменты моделирования и анализа бизнес-  архитектуры</vt:lpstr>
      <vt:lpstr>Источники: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МЕТОДОЛОГИЧЕСКАЯ БАЗА БИЗНЕС-ИНЖИНИРИНГА</dc:title>
  <dc:creator>Елена Р. Хорошева</dc:creator>
  <cp:lastModifiedBy>khorosheva</cp:lastModifiedBy>
  <cp:revision>17</cp:revision>
  <dcterms:created xsi:type="dcterms:W3CDTF">2017-09-21T13:59:06Z</dcterms:created>
  <dcterms:modified xsi:type="dcterms:W3CDTF">2018-09-17T07:37:08Z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2015-04-21T00:00:00Z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2017-09-21T00:00:00Z</vt:filetime>
  </property>
</Properties>
</file>