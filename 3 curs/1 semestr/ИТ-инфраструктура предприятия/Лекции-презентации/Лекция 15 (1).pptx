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84"/>
  </p:notesMasterIdLst>
  <p:sldIdLst>
    <p:sldId id="256" r:id="rId2"/>
    <p:sldId id="469" r:id="rId3"/>
    <p:sldId id="470" r:id="rId4"/>
    <p:sldId id="471" r:id="rId5"/>
    <p:sldId id="472" r:id="rId6"/>
    <p:sldId id="478" r:id="rId7"/>
    <p:sldId id="479" r:id="rId8"/>
    <p:sldId id="480" r:id="rId9"/>
    <p:sldId id="481" r:id="rId10"/>
    <p:sldId id="483" r:id="rId11"/>
    <p:sldId id="484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43" r:id="rId68"/>
    <p:sldId id="344" r:id="rId69"/>
    <p:sldId id="345" r:id="rId70"/>
    <p:sldId id="346" r:id="rId71"/>
    <p:sldId id="347" r:id="rId72"/>
    <p:sldId id="348" r:id="rId73"/>
    <p:sldId id="349" r:id="rId74"/>
    <p:sldId id="351" r:id="rId75"/>
    <p:sldId id="352" r:id="rId76"/>
    <p:sldId id="353" r:id="rId77"/>
    <p:sldId id="354" r:id="rId78"/>
    <p:sldId id="355" r:id="rId79"/>
    <p:sldId id="356" r:id="rId80"/>
    <p:sldId id="357" r:id="rId81"/>
    <p:sldId id="358" r:id="rId82"/>
    <p:sldId id="359" r:id="rId83"/>
    <p:sldId id="360" r:id="rId84"/>
    <p:sldId id="361" r:id="rId85"/>
    <p:sldId id="362" r:id="rId86"/>
    <p:sldId id="363" r:id="rId87"/>
    <p:sldId id="364" r:id="rId88"/>
    <p:sldId id="365" r:id="rId89"/>
    <p:sldId id="366" r:id="rId90"/>
    <p:sldId id="367" r:id="rId91"/>
    <p:sldId id="369" r:id="rId92"/>
    <p:sldId id="370" r:id="rId93"/>
    <p:sldId id="371" r:id="rId94"/>
    <p:sldId id="372" r:id="rId95"/>
    <p:sldId id="373" r:id="rId96"/>
    <p:sldId id="374" r:id="rId97"/>
    <p:sldId id="375" r:id="rId98"/>
    <p:sldId id="376" r:id="rId99"/>
    <p:sldId id="377" r:id="rId100"/>
    <p:sldId id="378" r:id="rId101"/>
    <p:sldId id="379" r:id="rId102"/>
    <p:sldId id="380" r:id="rId103"/>
    <p:sldId id="381" r:id="rId104"/>
    <p:sldId id="382" r:id="rId105"/>
    <p:sldId id="383" r:id="rId106"/>
    <p:sldId id="384" r:id="rId107"/>
    <p:sldId id="385" r:id="rId108"/>
    <p:sldId id="386" r:id="rId109"/>
    <p:sldId id="387" r:id="rId110"/>
    <p:sldId id="389" r:id="rId111"/>
    <p:sldId id="390" r:id="rId112"/>
    <p:sldId id="391" r:id="rId113"/>
    <p:sldId id="392" r:id="rId114"/>
    <p:sldId id="393" r:id="rId115"/>
    <p:sldId id="394" r:id="rId116"/>
    <p:sldId id="395" r:id="rId117"/>
    <p:sldId id="396" r:id="rId118"/>
    <p:sldId id="397" r:id="rId119"/>
    <p:sldId id="398" r:id="rId120"/>
    <p:sldId id="399" r:id="rId121"/>
    <p:sldId id="400" r:id="rId122"/>
    <p:sldId id="401" r:id="rId123"/>
    <p:sldId id="402" r:id="rId124"/>
    <p:sldId id="403" r:id="rId125"/>
    <p:sldId id="404" r:id="rId126"/>
    <p:sldId id="405" r:id="rId127"/>
    <p:sldId id="406" r:id="rId128"/>
    <p:sldId id="407" r:id="rId129"/>
    <p:sldId id="408" r:id="rId130"/>
    <p:sldId id="409" r:id="rId131"/>
    <p:sldId id="410" r:id="rId132"/>
    <p:sldId id="411" r:id="rId133"/>
    <p:sldId id="412" r:id="rId134"/>
    <p:sldId id="413" r:id="rId135"/>
    <p:sldId id="414" r:id="rId136"/>
    <p:sldId id="415" r:id="rId137"/>
    <p:sldId id="416" r:id="rId138"/>
    <p:sldId id="417" r:id="rId139"/>
    <p:sldId id="418" r:id="rId140"/>
    <p:sldId id="419" r:id="rId141"/>
    <p:sldId id="420" r:id="rId142"/>
    <p:sldId id="421" r:id="rId143"/>
    <p:sldId id="422" r:id="rId144"/>
    <p:sldId id="423" r:id="rId145"/>
    <p:sldId id="424" r:id="rId146"/>
    <p:sldId id="425" r:id="rId147"/>
    <p:sldId id="426" r:id="rId148"/>
    <p:sldId id="427" r:id="rId149"/>
    <p:sldId id="428" r:id="rId150"/>
    <p:sldId id="429" r:id="rId151"/>
    <p:sldId id="430" r:id="rId152"/>
    <p:sldId id="431" r:id="rId153"/>
    <p:sldId id="432" r:id="rId154"/>
    <p:sldId id="433" r:id="rId155"/>
    <p:sldId id="434" r:id="rId156"/>
    <p:sldId id="435" r:id="rId157"/>
    <p:sldId id="436" r:id="rId158"/>
    <p:sldId id="437" r:id="rId159"/>
    <p:sldId id="440" r:id="rId160"/>
    <p:sldId id="441" r:id="rId161"/>
    <p:sldId id="442" r:id="rId162"/>
    <p:sldId id="445" r:id="rId163"/>
    <p:sldId id="446" r:id="rId164"/>
    <p:sldId id="447" r:id="rId165"/>
    <p:sldId id="448" r:id="rId166"/>
    <p:sldId id="449" r:id="rId167"/>
    <p:sldId id="450" r:id="rId168"/>
    <p:sldId id="451" r:id="rId169"/>
    <p:sldId id="452" r:id="rId170"/>
    <p:sldId id="453" r:id="rId171"/>
    <p:sldId id="454" r:id="rId172"/>
    <p:sldId id="455" r:id="rId173"/>
    <p:sldId id="456" r:id="rId174"/>
    <p:sldId id="457" r:id="rId175"/>
    <p:sldId id="458" r:id="rId176"/>
    <p:sldId id="459" r:id="rId177"/>
    <p:sldId id="460" r:id="rId178"/>
    <p:sldId id="461" r:id="rId179"/>
    <p:sldId id="462" r:id="rId180"/>
    <p:sldId id="463" r:id="rId181"/>
    <p:sldId id="464" r:id="rId182"/>
    <p:sldId id="465" r:id="rId183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B8C024-A0CC-E645-8A4A-FD0E821DC251}" type="doc">
      <dgm:prSet loTypeId="urn:microsoft.com/office/officeart/2005/8/layout/process2" loCatId="" qsTypeId="urn:microsoft.com/office/officeart/2005/8/quickstyle/simple4" qsCatId="simple" csTypeId="urn:microsoft.com/office/officeart/2005/8/colors/accent1_2" csCatId="accent1" phldr="1"/>
      <dgm:spPr/>
    </dgm:pt>
    <dgm:pt modelId="{FC812468-28F6-8A41-9E94-F2A26E449D7C}">
      <dgm:prSet phldrT="[Текст]" custT="1"/>
      <dgm:spPr>
        <a:solidFill>
          <a:srgbClr val="002060"/>
        </a:solidFill>
      </dgm:spPr>
      <dgm:t>
        <a:bodyPr/>
        <a:lstStyle/>
        <a:p>
          <a:r>
            <a:rPr lang="ru-RU" sz="1600" dirty="0" smtClean="0">
              <a:latin typeface="Times New Roman" charset="0"/>
              <a:ea typeface="Times New Roman" charset="0"/>
              <a:cs typeface="Times New Roman" charset="0"/>
            </a:rPr>
            <a:t>Роботизация</a:t>
          </a:r>
          <a:endParaRPr lang="ru-RU" sz="1600" dirty="0">
            <a:latin typeface="Times New Roman" charset="0"/>
            <a:ea typeface="Times New Roman" charset="0"/>
            <a:cs typeface="Times New Roman" charset="0"/>
          </a:endParaRPr>
        </a:p>
      </dgm:t>
    </dgm:pt>
    <dgm:pt modelId="{539E2DED-00EF-1C43-80AC-CD7ABA10FD36}" type="parTrans" cxnId="{CC77DDF0-87EB-D243-8489-B4C25C2CDE36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D5D02E77-8821-834A-B62F-56BC8751D808}" type="sibTrans" cxnId="{CC77DDF0-87EB-D243-8489-B4C25C2CDE36}">
      <dgm:prSet custT="1"/>
      <dgm:spPr/>
      <dgm:t>
        <a:bodyPr/>
        <a:lstStyle/>
        <a:p>
          <a:endParaRPr lang="ru-RU" sz="1200">
            <a:latin typeface="Times New Roman" charset="0"/>
            <a:ea typeface="Times New Roman" charset="0"/>
            <a:cs typeface="Times New Roman" charset="0"/>
          </a:endParaRPr>
        </a:p>
      </dgm:t>
    </dgm:pt>
    <dgm:pt modelId="{934F97C1-3150-CC4E-943D-E87640BB63C3}">
      <dgm:prSet phldrT="[Текст]" custT="1"/>
      <dgm:spPr>
        <a:solidFill>
          <a:srgbClr val="002060"/>
        </a:solidFill>
      </dgm:spPr>
      <dgm:t>
        <a:bodyPr/>
        <a:lstStyle/>
        <a:p>
          <a:r>
            <a:rPr lang="ru-RU" sz="1600" dirty="0" smtClean="0">
              <a:latin typeface="Times New Roman" charset="0"/>
              <a:ea typeface="Times New Roman" charset="0"/>
              <a:cs typeface="Times New Roman" charset="0"/>
            </a:rPr>
            <a:t>Интернет вещей</a:t>
          </a:r>
          <a:endParaRPr lang="ru-RU" sz="1600" dirty="0">
            <a:latin typeface="Times New Roman" charset="0"/>
            <a:ea typeface="Times New Roman" charset="0"/>
            <a:cs typeface="Times New Roman" charset="0"/>
          </a:endParaRPr>
        </a:p>
      </dgm:t>
    </dgm:pt>
    <dgm:pt modelId="{08C96B94-016F-B945-B2BC-AE02CD958989}" type="parTrans" cxnId="{9A90DA45-57C6-AF41-9AFB-283C9B97BF19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4A31FA40-FEFA-BD42-B322-5677A7BF89C4}" type="sibTrans" cxnId="{9A90DA45-57C6-AF41-9AFB-283C9B97BF19}">
      <dgm:prSet custT="1"/>
      <dgm:spPr/>
      <dgm:t>
        <a:bodyPr/>
        <a:lstStyle/>
        <a:p>
          <a:endParaRPr lang="ru-RU" sz="1200">
            <a:latin typeface="Times New Roman" charset="0"/>
            <a:ea typeface="Times New Roman" charset="0"/>
            <a:cs typeface="Times New Roman" charset="0"/>
          </a:endParaRPr>
        </a:p>
      </dgm:t>
    </dgm:pt>
    <dgm:pt modelId="{FDB17E99-45AB-5B4D-88D7-113285D128E0}">
      <dgm:prSet custT="1"/>
      <dgm:spPr>
        <a:solidFill>
          <a:srgbClr val="002060"/>
        </a:solidFill>
      </dgm:spPr>
      <dgm:t>
        <a:bodyPr/>
        <a:lstStyle/>
        <a:p>
          <a:r>
            <a:rPr lang="en-GB" sz="1600" dirty="0" smtClean="0">
              <a:latin typeface="Times New Roman" charset="0"/>
              <a:ea typeface="Times New Roman" charset="0"/>
              <a:cs typeface="Times New Roman" charset="0"/>
            </a:rPr>
            <a:t>ERP-</a:t>
          </a:r>
          <a:r>
            <a:rPr lang="en-GB" sz="1600" baseline="0" dirty="0" smtClean="0">
              <a:latin typeface="Times New Roman" charset="0"/>
              <a:ea typeface="Times New Roman" charset="0"/>
              <a:cs typeface="Times New Roman" charset="0"/>
            </a:rPr>
            <a:t> </a:t>
          </a:r>
          <a:r>
            <a:rPr lang="ru-RU" sz="1600" baseline="0" dirty="0" smtClean="0">
              <a:latin typeface="Times New Roman" charset="0"/>
              <a:ea typeface="Times New Roman" charset="0"/>
              <a:cs typeface="Times New Roman" charset="0"/>
            </a:rPr>
            <a:t>и </a:t>
          </a:r>
          <a:r>
            <a:rPr lang="en-GB" sz="1600" baseline="0" dirty="0" smtClean="0">
              <a:latin typeface="Times New Roman" charset="0"/>
              <a:ea typeface="Times New Roman" charset="0"/>
              <a:cs typeface="Times New Roman" charset="0"/>
            </a:rPr>
            <a:t>CRM-</a:t>
          </a:r>
          <a:r>
            <a:rPr lang="ru-RU" sz="1600" baseline="0" dirty="0" smtClean="0">
              <a:latin typeface="Times New Roman" charset="0"/>
              <a:ea typeface="Times New Roman" charset="0"/>
              <a:cs typeface="Times New Roman" charset="0"/>
            </a:rPr>
            <a:t>системы</a:t>
          </a:r>
          <a:endParaRPr lang="ru-RU" sz="1600" dirty="0">
            <a:latin typeface="Times New Roman" charset="0"/>
            <a:ea typeface="Times New Roman" charset="0"/>
            <a:cs typeface="Times New Roman" charset="0"/>
          </a:endParaRPr>
        </a:p>
      </dgm:t>
    </dgm:pt>
    <dgm:pt modelId="{3CFB36A1-05B0-0648-8687-1ED9DDEC627E}" type="parTrans" cxnId="{417C062C-B066-C849-9D97-CB46BEEFA502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AE521509-1DA1-FC4F-88B7-476CEADD22FE}" type="sibTrans" cxnId="{417C062C-B066-C849-9D97-CB46BEEFA502}">
      <dgm:prSet custT="1"/>
      <dgm:spPr/>
      <dgm:t>
        <a:bodyPr/>
        <a:lstStyle/>
        <a:p>
          <a:endParaRPr lang="ru-RU" sz="1200">
            <a:latin typeface="Times New Roman" charset="0"/>
            <a:ea typeface="Times New Roman" charset="0"/>
            <a:cs typeface="Times New Roman" charset="0"/>
          </a:endParaRPr>
        </a:p>
      </dgm:t>
    </dgm:pt>
    <dgm:pt modelId="{5D3E0879-0713-4B42-9F13-8504DF00C018}">
      <dgm:prSet custT="1"/>
      <dgm:spPr>
        <a:solidFill>
          <a:srgbClr val="002060"/>
        </a:solidFill>
      </dgm:spPr>
      <dgm:t>
        <a:bodyPr/>
        <a:lstStyle/>
        <a:p>
          <a:r>
            <a:rPr lang="ru-RU" sz="1600" dirty="0" err="1" smtClean="0">
              <a:latin typeface="Times New Roman" charset="0"/>
              <a:ea typeface="Times New Roman" charset="0"/>
              <a:cs typeface="Times New Roman" charset="0"/>
            </a:rPr>
            <a:t>Нейро</a:t>
          </a:r>
          <a:r>
            <a:rPr lang="ru-RU" sz="1600" dirty="0" smtClean="0">
              <a:latin typeface="Times New Roman" charset="0"/>
              <a:ea typeface="Times New Roman" charset="0"/>
              <a:cs typeface="Times New Roman" charset="0"/>
            </a:rPr>
            <a:t>- и квантовые технологии</a:t>
          </a:r>
          <a:endParaRPr lang="ru-RU" sz="1600" dirty="0">
            <a:latin typeface="Times New Roman" charset="0"/>
            <a:ea typeface="Times New Roman" charset="0"/>
            <a:cs typeface="Times New Roman" charset="0"/>
          </a:endParaRPr>
        </a:p>
      </dgm:t>
    </dgm:pt>
    <dgm:pt modelId="{01630FF8-9AB8-F540-A410-BE1F2BF18C45}" type="parTrans" cxnId="{805E0BE0-BF11-B64D-8AF5-C89C0EC1DD4D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C377D89C-686D-814B-8723-83D81D92B3DC}" type="sibTrans" cxnId="{805E0BE0-BF11-B64D-8AF5-C89C0EC1DD4D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55062654-6876-5740-B394-06AD6D96B9C9}">
      <dgm:prSet custT="1"/>
      <dgm:spPr>
        <a:solidFill>
          <a:srgbClr val="002060"/>
        </a:solidFill>
      </dgm:spPr>
      <dgm:t>
        <a:bodyPr/>
        <a:lstStyle/>
        <a:p>
          <a:r>
            <a:rPr lang="ru-RU" sz="1600" dirty="0" smtClean="0">
              <a:latin typeface="Times New Roman" charset="0"/>
              <a:ea typeface="Times New Roman" charset="0"/>
              <a:cs typeface="Times New Roman" charset="0"/>
            </a:rPr>
            <a:t>Искусственный интеллект</a:t>
          </a:r>
          <a:endParaRPr lang="ru-RU" sz="1600" dirty="0">
            <a:latin typeface="Times New Roman" charset="0"/>
            <a:ea typeface="Times New Roman" charset="0"/>
            <a:cs typeface="Times New Roman" charset="0"/>
          </a:endParaRPr>
        </a:p>
      </dgm:t>
    </dgm:pt>
    <dgm:pt modelId="{39486340-21B5-8341-A91C-BBFD8C9281D4}" type="parTrans" cxnId="{045DF9AC-36DF-6F43-B411-B66E95CE38B8}">
      <dgm:prSet/>
      <dgm:spPr/>
      <dgm:t>
        <a:bodyPr/>
        <a:lstStyle/>
        <a:p>
          <a:endParaRPr lang="ru-RU" sz="1600">
            <a:latin typeface="Times New Roman" charset="0"/>
            <a:ea typeface="Times New Roman" charset="0"/>
            <a:cs typeface="Times New Roman" charset="0"/>
          </a:endParaRPr>
        </a:p>
      </dgm:t>
    </dgm:pt>
    <dgm:pt modelId="{1B365ABC-0D0F-3E4E-A1E1-DACBB0CD85E3}" type="sibTrans" cxnId="{045DF9AC-36DF-6F43-B411-B66E95CE38B8}">
      <dgm:prSet custT="1"/>
      <dgm:spPr/>
      <dgm:t>
        <a:bodyPr/>
        <a:lstStyle/>
        <a:p>
          <a:endParaRPr lang="ru-RU" sz="1200">
            <a:latin typeface="Times New Roman" charset="0"/>
            <a:ea typeface="Times New Roman" charset="0"/>
            <a:cs typeface="Times New Roman" charset="0"/>
          </a:endParaRPr>
        </a:p>
      </dgm:t>
    </dgm:pt>
    <dgm:pt modelId="{B3196E60-4AEB-0F48-80F5-436CD16F2545}" type="pres">
      <dgm:prSet presAssocID="{3BB8C024-A0CC-E645-8A4A-FD0E821DC251}" presName="linearFlow" presStyleCnt="0">
        <dgm:presLayoutVars>
          <dgm:resizeHandles val="exact"/>
        </dgm:presLayoutVars>
      </dgm:prSet>
      <dgm:spPr/>
    </dgm:pt>
    <dgm:pt modelId="{9270DD82-682F-1B4B-971A-CA44137D1710}" type="pres">
      <dgm:prSet presAssocID="{FC812468-28F6-8A41-9E94-F2A26E449D7C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3F45AB-23DE-5F40-B56C-5A8909541C92}" type="pres">
      <dgm:prSet presAssocID="{D5D02E77-8821-834A-B62F-56BC8751D808}" presName="sibTrans" presStyleLbl="sibTrans2D1" presStyleIdx="0" presStyleCnt="4"/>
      <dgm:spPr/>
      <dgm:t>
        <a:bodyPr/>
        <a:lstStyle/>
        <a:p>
          <a:endParaRPr lang="ru-RU"/>
        </a:p>
      </dgm:t>
    </dgm:pt>
    <dgm:pt modelId="{7A7B83A5-7146-8040-BED5-BBD828C045C4}" type="pres">
      <dgm:prSet presAssocID="{D5D02E77-8821-834A-B62F-56BC8751D808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F6DFC9B7-A694-CE4C-94BA-29585FE62E98}" type="pres">
      <dgm:prSet presAssocID="{55062654-6876-5740-B394-06AD6D96B9C9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3A7A85-E937-0F42-9BD4-8E4A90CF4182}" type="pres">
      <dgm:prSet presAssocID="{1B365ABC-0D0F-3E4E-A1E1-DACBB0CD85E3}" presName="sibTrans" presStyleLbl="sibTrans2D1" presStyleIdx="1" presStyleCnt="4"/>
      <dgm:spPr/>
      <dgm:t>
        <a:bodyPr/>
        <a:lstStyle/>
        <a:p>
          <a:endParaRPr lang="ru-RU"/>
        </a:p>
      </dgm:t>
    </dgm:pt>
    <dgm:pt modelId="{F841F00C-2B48-DD44-9236-C7C023C0A02E}" type="pres">
      <dgm:prSet presAssocID="{1B365ABC-0D0F-3E4E-A1E1-DACBB0CD85E3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D12CA339-440F-204F-812B-A1E5159C84C5}" type="pres">
      <dgm:prSet presAssocID="{934F97C1-3150-CC4E-943D-E87640BB63C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51EAB4-3AF6-D940-9F3A-17C67CE021C6}" type="pres">
      <dgm:prSet presAssocID="{4A31FA40-FEFA-BD42-B322-5677A7BF89C4}" presName="sibTrans" presStyleLbl="sibTrans2D1" presStyleIdx="2" presStyleCnt="4"/>
      <dgm:spPr/>
      <dgm:t>
        <a:bodyPr/>
        <a:lstStyle/>
        <a:p>
          <a:endParaRPr lang="ru-RU"/>
        </a:p>
      </dgm:t>
    </dgm:pt>
    <dgm:pt modelId="{2AE1D46F-AB32-C54B-B43D-BC6BF947A05B}" type="pres">
      <dgm:prSet presAssocID="{4A31FA40-FEFA-BD42-B322-5677A7BF89C4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F9B9EC31-0A37-8A46-AB85-C53AD6EA0214}" type="pres">
      <dgm:prSet presAssocID="{FDB17E99-45AB-5B4D-88D7-113285D128E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A069E7-ECFC-D74E-A9D1-6549391C1945}" type="pres">
      <dgm:prSet presAssocID="{AE521509-1DA1-FC4F-88B7-476CEADD22FE}" presName="sibTrans" presStyleLbl="sibTrans2D1" presStyleIdx="3" presStyleCnt="4"/>
      <dgm:spPr/>
      <dgm:t>
        <a:bodyPr/>
        <a:lstStyle/>
        <a:p>
          <a:endParaRPr lang="ru-RU"/>
        </a:p>
      </dgm:t>
    </dgm:pt>
    <dgm:pt modelId="{4DEE37D5-1781-CF49-94A6-7A87086FEB02}" type="pres">
      <dgm:prSet presAssocID="{AE521509-1DA1-FC4F-88B7-476CEADD22FE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8EB317A0-C3AE-9245-B06F-3F2030C31DD8}" type="pres">
      <dgm:prSet presAssocID="{5D3E0879-0713-4B42-9F13-8504DF00C01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45BCF56-5D24-4EB3-8C74-454E5DD6B216}" type="presOf" srcId="{AE521509-1DA1-FC4F-88B7-476CEADD22FE}" destId="{58A069E7-ECFC-D74E-A9D1-6549391C1945}" srcOrd="0" destOrd="0" presId="urn:microsoft.com/office/officeart/2005/8/layout/process2"/>
    <dgm:cxn modelId="{417C062C-B066-C849-9D97-CB46BEEFA502}" srcId="{3BB8C024-A0CC-E645-8A4A-FD0E821DC251}" destId="{FDB17E99-45AB-5B4D-88D7-113285D128E0}" srcOrd="3" destOrd="0" parTransId="{3CFB36A1-05B0-0648-8687-1ED9DDEC627E}" sibTransId="{AE521509-1DA1-FC4F-88B7-476CEADD22FE}"/>
    <dgm:cxn modelId="{B50C5218-B6A6-4AD0-9B3D-7713E35A45E6}" type="presOf" srcId="{1B365ABC-0D0F-3E4E-A1E1-DACBB0CD85E3}" destId="{8B3A7A85-E937-0F42-9BD4-8E4A90CF4182}" srcOrd="0" destOrd="0" presId="urn:microsoft.com/office/officeart/2005/8/layout/process2"/>
    <dgm:cxn modelId="{9A90DA45-57C6-AF41-9AFB-283C9B97BF19}" srcId="{3BB8C024-A0CC-E645-8A4A-FD0E821DC251}" destId="{934F97C1-3150-CC4E-943D-E87640BB63C3}" srcOrd="2" destOrd="0" parTransId="{08C96B94-016F-B945-B2BC-AE02CD958989}" sibTransId="{4A31FA40-FEFA-BD42-B322-5677A7BF89C4}"/>
    <dgm:cxn modelId="{AA4C9042-1B52-4493-A203-D46BF2631D71}" type="presOf" srcId="{D5D02E77-8821-834A-B62F-56BC8751D808}" destId="{E43F45AB-23DE-5F40-B56C-5A8909541C92}" srcOrd="0" destOrd="0" presId="urn:microsoft.com/office/officeart/2005/8/layout/process2"/>
    <dgm:cxn modelId="{09C9275A-5126-4F29-8EB1-AF29EE3108BD}" type="presOf" srcId="{FC812468-28F6-8A41-9E94-F2A26E449D7C}" destId="{9270DD82-682F-1B4B-971A-CA44137D1710}" srcOrd="0" destOrd="0" presId="urn:microsoft.com/office/officeart/2005/8/layout/process2"/>
    <dgm:cxn modelId="{045DF9AC-36DF-6F43-B411-B66E95CE38B8}" srcId="{3BB8C024-A0CC-E645-8A4A-FD0E821DC251}" destId="{55062654-6876-5740-B394-06AD6D96B9C9}" srcOrd="1" destOrd="0" parTransId="{39486340-21B5-8341-A91C-BBFD8C9281D4}" sibTransId="{1B365ABC-0D0F-3E4E-A1E1-DACBB0CD85E3}"/>
    <dgm:cxn modelId="{5D39F44B-C39E-4DF3-8714-AD7570496C1C}" type="presOf" srcId="{D5D02E77-8821-834A-B62F-56BC8751D808}" destId="{7A7B83A5-7146-8040-BED5-BBD828C045C4}" srcOrd="1" destOrd="0" presId="urn:microsoft.com/office/officeart/2005/8/layout/process2"/>
    <dgm:cxn modelId="{CC77DDF0-87EB-D243-8489-B4C25C2CDE36}" srcId="{3BB8C024-A0CC-E645-8A4A-FD0E821DC251}" destId="{FC812468-28F6-8A41-9E94-F2A26E449D7C}" srcOrd="0" destOrd="0" parTransId="{539E2DED-00EF-1C43-80AC-CD7ABA10FD36}" sibTransId="{D5D02E77-8821-834A-B62F-56BC8751D808}"/>
    <dgm:cxn modelId="{0CC23DC3-373B-4181-8535-AA63882D239F}" type="presOf" srcId="{FDB17E99-45AB-5B4D-88D7-113285D128E0}" destId="{F9B9EC31-0A37-8A46-AB85-C53AD6EA0214}" srcOrd="0" destOrd="0" presId="urn:microsoft.com/office/officeart/2005/8/layout/process2"/>
    <dgm:cxn modelId="{805E0BE0-BF11-B64D-8AF5-C89C0EC1DD4D}" srcId="{3BB8C024-A0CC-E645-8A4A-FD0E821DC251}" destId="{5D3E0879-0713-4B42-9F13-8504DF00C018}" srcOrd="4" destOrd="0" parTransId="{01630FF8-9AB8-F540-A410-BE1F2BF18C45}" sibTransId="{C377D89C-686D-814B-8723-83D81D92B3DC}"/>
    <dgm:cxn modelId="{29067A10-FA23-476D-9F6B-ACC75193325B}" type="presOf" srcId="{5D3E0879-0713-4B42-9F13-8504DF00C018}" destId="{8EB317A0-C3AE-9245-B06F-3F2030C31DD8}" srcOrd="0" destOrd="0" presId="urn:microsoft.com/office/officeart/2005/8/layout/process2"/>
    <dgm:cxn modelId="{8F2DB28F-0061-42F7-98BA-409E5D1F3680}" type="presOf" srcId="{55062654-6876-5740-B394-06AD6D96B9C9}" destId="{F6DFC9B7-A694-CE4C-94BA-29585FE62E98}" srcOrd="0" destOrd="0" presId="urn:microsoft.com/office/officeart/2005/8/layout/process2"/>
    <dgm:cxn modelId="{8887958E-CF1C-4AF9-93CF-64C748E4CFFD}" type="presOf" srcId="{AE521509-1DA1-FC4F-88B7-476CEADD22FE}" destId="{4DEE37D5-1781-CF49-94A6-7A87086FEB02}" srcOrd="1" destOrd="0" presId="urn:microsoft.com/office/officeart/2005/8/layout/process2"/>
    <dgm:cxn modelId="{D352C53E-A2DC-4C5F-9AD4-938F1B0BEC5D}" type="presOf" srcId="{4A31FA40-FEFA-BD42-B322-5677A7BF89C4}" destId="{FA51EAB4-3AF6-D940-9F3A-17C67CE021C6}" srcOrd="0" destOrd="0" presId="urn:microsoft.com/office/officeart/2005/8/layout/process2"/>
    <dgm:cxn modelId="{BE0EA63D-4799-4379-AFFA-1E07F85FD033}" type="presOf" srcId="{1B365ABC-0D0F-3E4E-A1E1-DACBB0CD85E3}" destId="{F841F00C-2B48-DD44-9236-C7C023C0A02E}" srcOrd="1" destOrd="0" presId="urn:microsoft.com/office/officeart/2005/8/layout/process2"/>
    <dgm:cxn modelId="{4E3C154A-16A8-4DA0-AF09-80831198D31A}" type="presOf" srcId="{3BB8C024-A0CC-E645-8A4A-FD0E821DC251}" destId="{B3196E60-4AEB-0F48-80F5-436CD16F2545}" srcOrd="0" destOrd="0" presId="urn:microsoft.com/office/officeart/2005/8/layout/process2"/>
    <dgm:cxn modelId="{0E2690F1-C7CB-44D9-A95A-DDB9EB64A10F}" type="presOf" srcId="{4A31FA40-FEFA-BD42-B322-5677A7BF89C4}" destId="{2AE1D46F-AB32-C54B-B43D-BC6BF947A05B}" srcOrd="1" destOrd="0" presId="urn:microsoft.com/office/officeart/2005/8/layout/process2"/>
    <dgm:cxn modelId="{7D1F0D24-7EB2-4CA9-8836-9B5F3F270ED5}" type="presOf" srcId="{934F97C1-3150-CC4E-943D-E87640BB63C3}" destId="{D12CA339-440F-204F-812B-A1E5159C84C5}" srcOrd="0" destOrd="0" presId="urn:microsoft.com/office/officeart/2005/8/layout/process2"/>
    <dgm:cxn modelId="{23FD0A33-47B0-4213-B4A1-2BD88CEF9F38}" type="presParOf" srcId="{B3196E60-4AEB-0F48-80F5-436CD16F2545}" destId="{9270DD82-682F-1B4B-971A-CA44137D1710}" srcOrd="0" destOrd="0" presId="urn:microsoft.com/office/officeart/2005/8/layout/process2"/>
    <dgm:cxn modelId="{320C5B82-C283-49DE-B0ED-B5D161A4D4A5}" type="presParOf" srcId="{B3196E60-4AEB-0F48-80F5-436CD16F2545}" destId="{E43F45AB-23DE-5F40-B56C-5A8909541C92}" srcOrd="1" destOrd="0" presId="urn:microsoft.com/office/officeart/2005/8/layout/process2"/>
    <dgm:cxn modelId="{F041F689-87DE-4517-B019-84AD4D29D1FC}" type="presParOf" srcId="{E43F45AB-23DE-5F40-B56C-5A8909541C92}" destId="{7A7B83A5-7146-8040-BED5-BBD828C045C4}" srcOrd="0" destOrd="0" presId="urn:microsoft.com/office/officeart/2005/8/layout/process2"/>
    <dgm:cxn modelId="{7F85BF09-DDD7-491C-8AFB-AD6814043255}" type="presParOf" srcId="{B3196E60-4AEB-0F48-80F5-436CD16F2545}" destId="{F6DFC9B7-A694-CE4C-94BA-29585FE62E98}" srcOrd="2" destOrd="0" presId="urn:microsoft.com/office/officeart/2005/8/layout/process2"/>
    <dgm:cxn modelId="{525F09CB-4D4F-4454-8281-ACE06A04EECF}" type="presParOf" srcId="{B3196E60-4AEB-0F48-80F5-436CD16F2545}" destId="{8B3A7A85-E937-0F42-9BD4-8E4A90CF4182}" srcOrd="3" destOrd="0" presId="urn:microsoft.com/office/officeart/2005/8/layout/process2"/>
    <dgm:cxn modelId="{0D416221-6D1B-4457-BDEC-D36D14570046}" type="presParOf" srcId="{8B3A7A85-E937-0F42-9BD4-8E4A90CF4182}" destId="{F841F00C-2B48-DD44-9236-C7C023C0A02E}" srcOrd="0" destOrd="0" presId="urn:microsoft.com/office/officeart/2005/8/layout/process2"/>
    <dgm:cxn modelId="{BC8202FF-718C-4AF3-8E29-9E13660DB024}" type="presParOf" srcId="{B3196E60-4AEB-0F48-80F5-436CD16F2545}" destId="{D12CA339-440F-204F-812B-A1E5159C84C5}" srcOrd="4" destOrd="0" presId="urn:microsoft.com/office/officeart/2005/8/layout/process2"/>
    <dgm:cxn modelId="{4BA5B5FE-7181-4437-ADE6-39ABD25F6D76}" type="presParOf" srcId="{B3196E60-4AEB-0F48-80F5-436CD16F2545}" destId="{FA51EAB4-3AF6-D940-9F3A-17C67CE021C6}" srcOrd="5" destOrd="0" presId="urn:microsoft.com/office/officeart/2005/8/layout/process2"/>
    <dgm:cxn modelId="{BBB39A36-FB8E-462F-BCA4-EE2909FA968E}" type="presParOf" srcId="{FA51EAB4-3AF6-D940-9F3A-17C67CE021C6}" destId="{2AE1D46F-AB32-C54B-B43D-BC6BF947A05B}" srcOrd="0" destOrd="0" presId="urn:microsoft.com/office/officeart/2005/8/layout/process2"/>
    <dgm:cxn modelId="{16231210-BE3F-49F5-8D4B-87DBE3A5F69B}" type="presParOf" srcId="{B3196E60-4AEB-0F48-80F5-436CD16F2545}" destId="{F9B9EC31-0A37-8A46-AB85-C53AD6EA0214}" srcOrd="6" destOrd="0" presId="urn:microsoft.com/office/officeart/2005/8/layout/process2"/>
    <dgm:cxn modelId="{4769342A-03E3-4B70-92DA-63830D99D7A8}" type="presParOf" srcId="{B3196E60-4AEB-0F48-80F5-436CD16F2545}" destId="{58A069E7-ECFC-D74E-A9D1-6549391C1945}" srcOrd="7" destOrd="0" presId="urn:microsoft.com/office/officeart/2005/8/layout/process2"/>
    <dgm:cxn modelId="{D3022335-0B7D-4486-81C7-FFF498B4BC21}" type="presParOf" srcId="{58A069E7-ECFC-D74E-A9D1-6549391C1945}" destId="{4DEE37D5-1781-CF49-94A6-7A87086FEB02}" srcOrd="0" destOrd="0" presId="urn:microsoft.com/office/officeart/2005/8/layout/process2"/>
    <dgm:cxn modelId="{2FEF5172-04CC-4E23-8D50-1821CE678477}" type="presParOf" srcId="{B3196E60-4AEB-0F48-80F5-436CD16F2545}" destId="{8EB317A0-C3AE-9245-B06F-3F2030C31DD8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0DD82-682F-1B4B-971A-CA44137D1710}">
      <dsp:nvSpPr>
        <dsp:cNvPr id="0" name=""/>
        <dsp:cNvSpPr/>
      </dsp:nvSpPr>
      <dsp:spPr>
        <a:xfrm>
          <a:off x="349295" y="2365"/>
          <a:ext cx="2212002" cy="553000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charset="0"/>
              <a:ea typeface="Times New Roman" charset="0"/>
              <a:cs typeface="Times New Roman" charset="0"/>
            </a:rPr>
            <a:t>Роботизация</a:t>
          </a:r>
          <a:endParaRPr lang="ru-RU" sz="1600" kern="1200" dirty="0"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365492" y="18562"/>
        <a:ext cx="2179608" cy="520606"/>
      </dsp:txXfrm>
    </dsp:sp>
    <dsp:sp modelId="{E43F45AB-23DE-5F40-B56C-5A8909541C92}">
      <dsp:nvSpPr>
        <dsp:cNvPr id="0" name=""/>
        <dsp:cNvSpPr/>
      </dsp:nvSpPr>
      <dsp:spPr>
        <a:xfrm rot="5400000">
          <a:off x="1351609" y="569190"/>
          <a:ext cx="207375" cy="24885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>
            <a:latin typeface="Times New Roman" charset="0"/>
            <a:ea typeface="Times New Roman" charset="0"/>
            <a:cs typeface="Times New Roman" charset="0"/>
          </a:endParaRPr>
        </a:p>
      </dsp:txBody>
      <dsp:txXfrm rot="-5400000">
        <a:off x="1380642" y="589927"/>
        <a:ext cx="149310" cy="145163"/>
      </dsp:txXfrm>
    </dsp:sp>
    <dsp:sp modelId="{F6DFC9B7-A694-CE4C-94BA-29585FE62E98}">
      <dsp:nvSpPr>
        <dsp:cNvPr id="0" name=""/>
        <dsp:cNvSpPr/>
      </dsp:nvSpPr>
      <dsp:spPr>
        <a:xfrm>
          <a:off x="349295" y="831866"/>
          <a:ext cx="2212002" cy="553000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charset="0"/>
              <a:ea typeface="Times New Roman" charset="0"/>
              <a:cs typeface="Times New Roman" charset="0"/>
            </a:rPr>
            <a:t>Искусственный интеллект</a:t>
          </a:r>
          <a:endParaRPr lang="ru-RU" sz="1600" kern="1200" dirty="0"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365492" y="848063"/>
        <a:ext cx="2179608" cy="520606"/>
      </dsp:txXfrm>
    </dsp:sp>
    <dsp:sp modelId="{8B3A7A85-E937-0F42-9BD4-8E4A90CF4182}">
      <dsp:nvSpPr>
        <dsp:cNvPr id="0" name=""/>
        <dsp:cNvSpPr/>
      </dsp:nvSpPr>
      <dsp:spPr>
        <a:xfrm rot="5400000">
          <a:off x="1351609" y="1398691"/>
          <a:ext cx="207375" cy="24885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>
            <a:latin typeface="Times New Roman" charset="0"/>
            <a:ea typeface="Times New Roman" charset="0"/>
            <a:cs typeface="Times New Roman" charset="0"/>
          </a:endParaRPr>
        </a:p>
      </dsp:txBody>
      <dsp:txXfrm rot="-5400000">
        <a:off x="1380642" y="1419428"/>
        <a:ext cx="149310" cy="145163"/>
      </dsp:txXfrm>
    </dsp:sp>
    <dsp:sp modelId="{D12CA339-440F-204F-812B-A1E5159C84C5}">
      <dsp:nvSpPr>
        <dsp:cNvPr id="0" name=""/>
        <dsp:cNvSpPr/>
      </dsp:nvSpPr>
      <dsp:spPr>
        <a:xfrm>
          <a:off x="349295" y="1661367"/>
          <a:ext cx="2212002" cy="553000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charset="0"/>
              <a:ea typeface="Times New Roman" charset="0"/>
              <a:cs typeface="Times New Roman" charset="0"/>
            </a:rPr>
            <a:t>Интернет вещей</a:t>
          </a:r>
          <a:endParaRPr lang="ru-RU" sz="1600" kern="1200" dirty="0"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365492" y="1677564"/>
        <a:ext cx="2179608" cy="520606"/>
      </dsp:txXfrm>
    </dsp:sp>
    <dsp:sp modelId="{FA51EAB4-3AF6-D940-9F3A-17C67CE021C6}">
      <dsp:nvSpPr>
        <dsp:cNvPr id="0" name=""/>
        <dsp:cNvSpPr/>
      </dsp:nvSpPr>
      <dsp:spPr>
        <a:xfrm rot="5400000">
          <a:off x="1351609" y="2228192"/>
          <a:ext cx="207375" cy="24885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>
            <a:latin typeface="Times New Roman" charset="0"/>
            <a:ea typeface="Times New Roman" charset="0"/>
            <a:cs typeface="Times New Roman" charset="0"/>
          </a:endParaRPr>
        </a:p>
      </dsp:txBody>
      <dsp:txXfrm rot="-5400000">
        <a:off x="1380642" y="2248929"/>
        <a:ext cx="149310" cy="145163"/>
      </dsp:txXfrm>
    </dsp:sp>
    <dsp:sp modelId="{F9B9EC31-0A37-8A46-AB85-C53AD6EA0214}">
      <dsp:nvSpPr>
        <dsp:cNvPr id="0" name=""/>
        <dsp:cNvSpPr/>
      </dsp:nvSpPr>
      <dsp:spPr>
        <a:xfrm>
          <a:off x="349295" y="2490868"/>
          <a:ext cx="2212002" cy="553000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>
              <a:latin typeface="Times New Roman" charset="0"/>
              <a:ea typeface="Times New Roman" charset="0"/>
              <a:cs typeface="Times New Roman" charset="0"/>
            </a:rPr>
            <a:t>ERP-</a:t>
          </a:r>
          <a:r>
            <a:rPr lang="en-GB" sz="1600" kern="1200" baseline="0" dirty="0" smtClean="0">
              <a:latin typeface="Times New Roman" charset="0"/>
              <a:ea typeface="Times New Roman" charset="0"/>
              <a:cs typeface="Times New Roman" charset="0"/>
            </a:rPr>
            <a:t> </a:t>
          </a:r>
          <a:r>
            <a:rPr lang="ru-RU" sz="1600" kern="1200" baseline="0" dirty="0" smtClean="0">
              <a:latin typeface="Times New Roman" charset="0"/>
              <a:ea typeface="Times New Roman" charset="0"/>
              <a:cs typeface="Times New Roman" charset="0"/>
            </a:rPr>
            <a:t>и </a:t>
          </a:r>
          <a:r>
            <a:rPr lang="en-GB" sz="1600" kern="1200" baseline="0" dirty="0" smtClean="0">
              <a:latin typeface="Times New Roman" charset="0"/>
              <a:ea typeface="Times New Roman" charset="0"/>
              <a:cs typeface="Times New Roman" charset="0"/>
            </a:rPr>
            <a:t>CRM-</a:t>
          </a:r>
          <a:r>
            <a:rPr lang="ru-RU" sz="1600" kern="1200" baseline="0" dirty="0" smtClean="0">
              <a:latin typeface="Times New Roman" charset="0"/>
              <a:ea typeface="Times New Roman" charset="0"/>
              <a:cs typeface="Times New Roman" charset="0"/>
            </a:rPr>
            <a:t>системы</a:t>
          </a:r>
          <a:endParaRPr lang="ru-RU" sz="1600" kern="1200" dirty="0"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365492" y="2507065"/>
        <a:ext cx="2179608" cy="520606"/>
      </dsp:txXfrm>
    </dsp:sp>
    <dsp:sp modelId="{58A069E7-ECFC-D74E-A9D1-6549391C1945}">
      <dsp:nvSpPr>
        <dsp:cNvPr id="0" name=""/>
        <dsp:cNvSpPr/>
      </dsp:nvSpPr>
      <dsp:spPr>
        <a:xfrm rot="5400000">
          <a:off x="1351609" y="3057693"/>
          <a:ext cx="207375" cy="24885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>
            <a:latin typeface="Times New Roman" charset="0"/>
            <a:ea typeface="Times New Roman" charset="0"/>
            <a:cs typeface="Times New Roman" charset="0"/>
          </a:endParaRPr>
        </a:p>
      </dsp:txBody>
      <dsp:txXfrm rot="-5400000">
        <a:off x="1380642" y="3078430"/>
        <a:ext cx="149310" cy="145163"/>
      </dsp:txXfrm>
    </dsp:sp>
    <dsp:sp modelId="{8EB317A0-C3AE-9245-B06F-3F2030C31DD8}">
      <dsp:nvSpPr>
        <dsp:cNvPr id="0" name=""/>
        <dsp:cNvSpPr/>
      </dsp:nvSpPr>
      <dsp:spPr>
        <a:xfrm>
          <a:off x="349295" y="3320369"/>
          <a:ext cx="2212002" cy="553000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Times New Roman" charset="0"/>
              <a:ea typeface="Times New Roman" charset="0"/>
              <a:cs typeface="Times New Roman" charset="0"/>
            </a:rPr>
            <a:t>Нейро</a:t>
          </a:r>
          <a:r>
            <a:rPr lang="ru-RU" sz="1600" kern="1200" dirty="0" smtClean="0">
              <a:latin typeface="Times New Roman" charset="0"/>
              <a:ea typeface="Times New Roman" charset="0"/>
              <a:cs typeface="Times New Roman" charset="0"/>
            </a:rPr>
            <a:t>- и квантовые технологии</a:t>
          </a:r>
          <a:endParaRPr lang="ru-RU" sz="1600" kern="1200" dirty="0"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365492" y="3336566"/>
        <a:ext cx="2179608" cy="520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B6474-7C6C-4C55-B2C7-3A463043A071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2962E-4F88-4F39-B3AA-ADDC45111D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81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13A5B8-76B2-4DDB-889A-D1DFC26F1B5D}" type="slidenum">
              <a:rPr lang="ru-RU" altLang="ru-RU" smtClean="0">
                <a:latin typeface="Times New Roman" panose="02020603050405020304" pitchFamily="18" charset="0"/>
              </a:rPr>
              <a:pPr/>
              <a:t>10</a:t>
            </a:fld>
            <a:endParaRPr lang="ru-RU" altLang="ru-RU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6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90135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231009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269238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303308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312949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246453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388821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101283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131180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33983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1220060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381782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184542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220" y="1704682"/>
            <a:ext cx="4536440" cy="420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32817" y="1433874"/>
            <a:ext cx="4718684" cy="390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04822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lang="ru-RU" spc="-5" smtClean="0"/>
              <a:t>‹#›</a:t>
            </a:fld>
            <a:endParaRPr lang="ru-RU" spc="-5" dirty="0"/>
          </a:p>
        </p:txBody>
      </p:sp>
    </p:spTree>
    <p:extLst>
      <p:ext uri="{BB962C8B-B14F-4D97-AF65-F5344CB8AC3E}">
        <p14:creationId xmlns:p14="http://schemas.microsoft.com/office/powerpoint/2010/main" val="94243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2013.nscf.ru/TesisAll/Plenar/13_1520_GalyshkinAI_P13.pdf" TargetMode="Externa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jpg"/><Relationship Id="rId4" Type="http://schemas.openxmlformats.org/officeDocument/2006/relationships/image" Target="../media/image118.jp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1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4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1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1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g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1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1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13.xml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1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1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1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hyperlink" Target="mailto:name@domain.com" TargetMode="Externa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1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1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1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13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" y="-33529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49" y="0"/>
                </a:moveTo>
                <a:lnTo>
                  <a:pt x="0" y="0"/>
                </a:lnTo>
                <a:lnTo>
                  <a:pt x="0" y="6858000"/>
                </a:lnTo>
                <a:lnTo>
                  <a:pt x="12191949" y="6858000"/>
                </a:lnTo>
                <a:lnTo>
                  <a:pt x="12191949" y="0"/>
                </a:lnTo>
                <a:close/>
              </a:path>
            </a:pathLst>
          </a:custGeom>
          <a:solidFill>
            <a:srgbClr val="256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7432" y="0"/>
            <a:ext cx="12192000" cy="6858000"/>
            <a:chOff x="5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5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509263"/>
              <a:ext cx="6068579" cy="63487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861" y="4074324"/>
              <a:ext cx="10379710" cy="84455"/>
            </a:xfrm>
            <a:custGeom>
              <a:avLst/>
              <a:gdLst/>
              <a:ahLst/>
              <a:cxnLst/>
              <a:rect l="l" t="t" r="r" b="b"/>
              <a:pathLst>
                <a:path w="10379710" h="84454">
                  <a:moveTo>
                    <a:pt x="10379138" y="0"/>
                  </a:moveTo>
                  <a:lnTo>
                    <a:pt x="0" y="0"/>
                  </a:lnTo>
                  <a:lnTo>
                    <a:pt x="0" y="84023"/>
                  </a:lnTo>
                  <a:lnTo>
                    <a:pt x="10379138" y="84023"/>
                  </a:lnTo>
                  <a:lnTo>
                    <a:pt x="10379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8861" y="4074324"/>
              <a:ext cx="10379710" cy="84455"/>
            </a:xfrm>
            <a:custGeom>
              <a:avLst/>
              <a:gdLst/>
              <a:ahLst/>
              <a:cxnLst/>
              <a:rect l="l" t="t" r="r" b="b"/>
              <a:pathLst>
                <a:path w="10379710" h="84454">
                  <a:moveTo>
                    <a:pt x="0" y="0"/>
                  </a:moveTo>
                  <a:lnTo>
                    <a:pt x="10379138" y="0"/>
                  </a:lnTo>
                  <a:lnTo>
                    <a:pt x="10379138" y="84023"/>
                  </a:lnTo>
                  <a:lnTo>
                    <a:pt x="0" y="8402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4120" y="1286965"/>
            <a:ext cx="9714227" cy="1551598"/>
          </a:xfrm>
          <a:prstGeom prst="rect">
            <a:avLst/>
          </a:prstGeom>
        </p:spPr>
        <p:txBody>
          <a:bodyPr vert="horz" wrap="square" lIns="0" tIns="219856" rIns="0" bIns="0" rtlCol="0">
            <a:spAutoFit/>
          </a:bodyPr>
          <a:lstStyle/>
          <a:p>
            <a:pPr>
              <a:defRPr/>
            </a:pPr>
            <a:r>
              <a:rPr lang="ru-RU" sz="3200" smtClean="0">
                <a:solidFill>
                  <a:schemeClr val="bg1"/>
                </a:solidFill>
              </a:rPr>
              <a:t>Цифровые технологии</a:t>
            </a:r>
            <a:r>
              <a:rPr lang="ru-RU" sz="3200" dirty="0">
                <a:solidFill>
                  <a:schemeClr val="bg1"/>
                </a:solidFill>
              </a:rPr>
              <a:t/>
            </a:r>
            <a:br>
              <a:rPr lang="ru-RU" sz="3200" dirty="0">
                <a:solidFill>
                  <a:schemeClr val="bg1"/>
                </a:solidFill>
              </a:rPr>
            </a:br>
            <a:r>
              <a:rPr lang="ru-RU" sz="3200" b="1" dirty="0">
                <a:solidFill>
                  <a:schemeClr val="bg1"/>
                </a:solidFill>
              </a:rPr>
              <a:t/>
            </a:r>
            <a:br>
              <a:rPr lang="ru-RU" sz="3200" b="1" dirty="0">
                <a:solidFill>
                  <a:schemeClr val="bg1"/>
                </a:solidFill>
              </a:rPr>
            </a:b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0" name="object 9"/>
          <p:cNvSpPr txBox="1">
            <a:spLocks/>
          </p:cNvSpPr>
          <p:nvPr/>
        </p:nvSpPr>
        <p:spPr>
          <a:xfrm>
            <a:off x="621602" y="4352808"/>
            <a:ext cx="9714227" cy="2160995"/>
          </a:xfrm>
          <a:prstGeom prst="rect">
            <a:avLst/>
          </a:prstGeom>
        </p:spPr>
        <p:txBody>
          <a:bodyPr vert="horz" wrap="square" lIns="0" tIns="21985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400" dirty="0" smtClean="0">
                <a:solidFill>
                  <a:schemeClr val="bg1"/>
                </a:solidFill>
              </a:rPr>
              <a:t/>
            </a:r>
            <a:br>
              <a:rPr lang="ru-RU" sz="1400" dirty="0" smtClean="0">
                <a:solidFill>
                  <a:schemeClr val="bg1"/>
                </a:solidFill>
              </a:rPr>
            </a:br>
            <a:r>
              <a:rPr lang="ru-RU" sz="1400" dirty="0" smtClean="0">
                <a:solidFill>
                  <a:schemeClr val="bg1"/>
                </a:solidFill>
              </a:rPr>
              <a:t/>
            </a:r>
            <a:br>
              <a:rPr lang="ru-RU" sz="1400" dirty="0" smtClean="0">
                <a:solidFill>
                  <a:schemeClr val="bg1"/>
                </a:solidFill>
              </a:rPr>
            </a:br>
            <a:r>
              <a:rPr lang="ru-RU" altLang="ru-RU" sz="1400" b="1" dirty="0" smtClean="0">
                <a:solidFill>
                  <a:schemeClr val="bg1"/>
                </a:solidFill>
              </a:rPr>
              <a:t>library.vlsu.ru - </a:t>
            </a:r>
            <a:r>
              <a:rPr lang="ru-RU" sz="1400" b="1" dirty="0" smtClean="0">
                <a:solidFill>
                  <a:schemeClr val="bg1"/>
                </a:solidFill>
              </a:rPr>
              <a:t>Цифровая экономика РФ: </a:t>
            </a:r>
            <a:r>
              <a:rPr lang="en-US" sz="1400" b="1" dirty="0" smtClean="0">
                <a:solidFill>
                  <a:schemeClr val="bg1"/>
                </a:solidFill>
              </a:rPr>
              <a:t>https://digital.gov.ru/ru/activity/directions/858/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ru-RU" sz="1400" b="1" dirty="0" smtClean="0">
                <a:solidFill>
                  <a:schemeClr val="bg1"/>
                </a:solidFill>
              </a:rPr>
              <a:t>Цифровая экономика  2024: </a:t>
            </a:r>
            <a:r>
              <a:rPr lang="en-US" sz="1400" b="1" dirty="0" smtClean="0">
                <a:solidFill>
                  <a:schemeClr val="bg1"/>
                </a:solidFill>
              </a:rPr>
              <a:t>https://digital.ac.gov.ru/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ru-RU" sz="1400" b="1" dirty="0" smtClean="0">
                <a:solidFill>
                  <a:schemeClr val="bg1"/>
                </a:solidFill>
              </a:rPr>
              <a:t>Национальная программа «Цифровая экономика Российской Федерации» </a:t>
            </a:r>
            <a:r>
              <a:rPr lang="en-US" sz="1400" b="1" dirty="0" smtClean="0">
                <a:solidFill>
                  <a:schemeClr val="bg1"/>
                </a:solidFill>
              </a:rPr>
              <a:t>http://government.ru/rugovclassifier/614/events/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ru-RU" sz="1400" b="1" dirty="0" smtClean="0">
                <a:solidFill>
                  <a:schemeClr val="bg1"/>
                </a:solidFill>
              </a:rPr>
              <a:t>Национальный проект: </a:t>
            </a:r>
            <a:r>
              <a:rPr lang="en-US" sz="1400" b="1" dirty="0" smtClean="0">
                <a:solidFill>
                  <a:schemeClr val="bg1"/>
                </a:solidFill>
              </a:rPr>
              <a:t>https://xn--80aapampemcchfmo7a3c9ehj.xn--p1ai/projects/tsifrovaya-ekonomika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ru-RU" sz="1400" b="1" dirty="0" smtClean="0">
                <a:solidFill>
                  <a:schemeClr val="bg1"/>
                </a:solidFill>
              </a:rPr>
              <a:t> Доктрина информационной безопасности РФ </a:t>
            </a:r>
            <a:r>
              <a:rPr lang="en-US" sz="1400" b="1" dirty="0" smtClean="0">
                <a:solidFill>
                  <a:schemeClr val="bg1"/>
                </a:solidFill>
              </a:rPr>
              <a:t>http://www.scrf.gov.ru/security/information/document5/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ru-RU" sz="1400" b="1" dirty="0" smtClean="0">
                <a:solidFill>
                  <a:schemeClr val="bg1"/>
                </a:solidFill>
              </a:rPr>
              <a:t>Стратегия и «дорожная карта» развития ИТ-отрасли: </a:t>
            </a:r>
            <a:r>
              <a:rPr lang="en-US" sz="1400" b="1" dirty="0" smtClean="0">
                <a:solidFill>
                  <a:schemeClr val="bg1"/>
                </a:solidFill>
              </a:rPr>
              <a:t>https://digital.gov.ru/ru/activity/directions/479/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r>
              <a:rPr lang="en-US" sz="1400" b="1" dirty="0" smtClean="0">
                <a:solidFill>
                  <a:schemeClr val="bg1"/>
                </a:solidFill>
              </a:rPr>
              <a:t>https://priority2030.ru/</a:t>
            </a:r>
            <a:r>
              <a:rPr lang="ru-RU" sz="1400" b="1" dirty="0" smtClean="0">
                <a:solidFill>
                  <a:schemeClr val="bg1"/>
                </a:solidFill>
              </a:rPr>
              <a:t/>
            </a:r>
            <a:br>
              <a:rPr lang="ru-RU" sz="1400" b="1" dirty="0" smtClean="0">
                <a:solidFill>
                  <a:schemeClr val="bg1"/>
                </a:solidFill>
              </a:rPr>
            </a:br>
            <a:endParaRPr lang="ru-RU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 txBox="1">
            <a:spLocks/>
          </p:cNvSpPr>
          <p:nvPr/>
        </p:nvSpPr>
        <p:spPr bwMode="auto">
          <a:xfrm>
            <a:off x="1719264" y="977901"/>
            <a:ext cx="8739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572" tIns="35786" rIns="71572" bIns="35786" anchor="b"/>
          <a:lstStyle>
            <a:lvl1pPr defTabSz="75565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556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5565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556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5565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55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55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55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55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413"/>
              </a:lnSpc>
              <a:spcBef>
                <a:spcPct val="0"/>
              </a:spcBef>
              <a:buClrTx/>
              <a:buSzTx/>
              <a:buNone/>
            </a:pPr>
            <a:endParaRPr lang="ru-RU" altLang="ru-RU" sz="16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10512426" y="857250"/>
            <a:ext cx="155575" cy="1670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572" tIns="35786" rIns="71572" bIns="35786" anchor="ctr"/>
          <a:lstStyle/>
          <a:p>
            <a:pPr algn="ctr" defTabSz="715727">
              <a:defRPr/>
            </a:pPr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0512426" y="4330700"/>
            <a:ext cx="155575" cy="1670050"/>
          </a:xfrm>
          <a:prstGeom prst="rect">
            <a:avLst/>
          </a:prstGeom>
          <a:solidFill>
            <a:srgbClr val="D1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572" tIns="35786" rIns="71572" bIns="35786" anchor="ctr"/>
          <a:lstStyle/>
          <a:p>
            <a:pPr algn="ctr" defTabSz="715727">
              <a:defRPr/>
            </a:pPr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0512426" y="2593975"/>
            <a:ext cx="155575" cy="1670050"/>
          </a:xfrm>
          <a:prstGeom prst="rect">
            <a:avLst/>
          </a:prstGeom>
          <a:solidFill>
            <a:srgbClr val="5288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572" tIns="35786" rIns="71572" bIns="35786" anchor="ctr"/>
          <a:lstStyle/>
          <a:p>
            <a:pPr algn="ctr" defTabSz="715727">
              <a:defRPr/>
            </a:pPr>
            <a:endParaRPr lang="ru-RU"/>
          </a:p>
        </p:txBody>
      </p:sp>
      <p:sp>
        <p:nvSpPr>
          <p:cNvPr id="11271" name="Номер слайда 20"/>
          <p:cNvSpPr>
            <a:spLocks noGrp="1"/>
          </p:cNvSpPr>
          <p:nvPr>
            <p:ph type="sldNum" sz="quarter" idx="11"/>
          </p:nvPr>
        </p:nvSpPr>
        <p:spPr>
          <a:xfrm>
            <a:off x="8077200" y="79597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C87F617-4AD6-40C0-AE58-ADF29B5A8961}" type="slidenum">
              <a:rPr lang="ru-RU" altLang="ru-RU" sz="800">
                <a:solidFill>
                  <a:srgbClr val="898989"/>
                </a:solidFill>
                <a:latin typeface="Calibri" panose="020F050202020403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ru-RU" altLang="ru-RU" sz="8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lum bright="-13000" contrast="26000"/>
          </a:blip>
          <a:srcRect b="39978"/>
          <a:stretch>
            <a:fillRect/>
          </a:stretch>
        </p:blipFill>
        <p:spPr bwMode="auto">
          <a:xfrm>
            <a:off x="1271464" y="1474839"/>
            <a:ext cx="4109644" cy="1745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Прямоугольник 40"/>
          <p:cNvSpPr/>
          <p:nvPr/>
        </p:nvSpPr>
        <p:spPr>
          <a:xfrm>
            <a:off x="2008188" y="3560763"/>
            <a:ext cx="7504112" cy="18651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ru-RU" sz="16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Направления развития цифровой экономики:</a:t>
            </a:r>
          </a:p>
          <a:p>
            <a:pPr marL="641350" indent="-28575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1600" kern="0" dirty="0"/>
              <a:t>Нормативное регулирование</a:t>
            </a:r>
          </a:p>
          <a:p>
            <a:pPr marL="641350" indent="-28575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1600" kern="0" dirty="0"/>
              <a:t>Кадры и образование</a:t>
            </a:r>
          </a:p>
          <a:p>
            <a:pPr marL="641350" indent="-28575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1600" kern="0" dirty="0"/>
              <a:t>Формирование исследовательских компетенций и технологических заделов</a:t>
            </a:r>
          </a:p>
          <a:p>
            <a:pPr marL="641350" indent="-28575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1600" kern="0" dirty="0"/>
              <a:t>Информационная инфраструктура</a:t>
            </a:r>
          </a:p>
          <a:p>
            <a:pPr marL="641350" indent="-28575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1600" kern="0" dirty="0"/>
              <a:t>Информационная безопасность</a:t>
            </a:r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5159375" y="1825626"/>
            <a:ext cx="4953000" cy="995363"/>
          </a:xfrm>
          <a:prstGeom prst="roundRect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defTabSz="715727">
              <a:defRPr/>
            </a:pPr>
            <a:r>
              <a:rPr lang="ru-RU" sz="1200" dirty="0"/>
              <a:t>Программа </a:t>
            </a:r>
            <a:r>
              <a:rPr lang="ru-RU" sz="1200" b="1" dirty="0">
                <a:solidFill>
                  <a:schemeClr val="accent1">
                    <a:lumMod val="50000"/>
                  </a:schemeClr>
                </a:solidFill>
              </a:rPr>
              <a:t>«Цифровая экономика Российской Федерации» </a:t>
            </a:r>
            <a:r>
              <a:rPr lang="ru-RU" sz="1200" dirty="0"/>
              <a:t>утверждена распоряжением Правительства Российской Федерации от 28 июля 2017 г. № 1632-р</a:t>
            </a:r>
          </a:p>
        </p:txBody>
      </p:sp>
      <p:sp>
        <p:nvSpPr>
          <p:cNvPr id="11276" name="Прямоугольная выноска 2"/>
          <p:cNvSpPr>
            <a:spLocks noChangeArrowheads="1"/>
          </p:cNvSpPr>
          <p:nvPr/>
        </p:nvSpPr>
        <p:spPr bwMode="auto">
          <a:xfrm>
            <a:off x="2201862" y="326018"/>
            <a:ext cx="7910513" cy="311150"/>
          </a:xfrm>
          <a:prstGeom prst="wedgeRectCallout">
            <a:avLst>
              <a:gd name="adj1" fmla="val 11014"/>
              <a:gd name="adj2" fmla="val 75000"/>
            </a:avLst>
          </a:prstGeom>
          <a:solidFill>
            <a:schemeClr val="bg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572" tIns="35786" rIns="71572" bIns="35786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413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14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cs typeface="Tahoma" panose="020B0604030504040204" pitchFamily="34" charset="0"/>
              </a:rPr>
              <a:t>ЦИФРОВАЯ ЭКОНОМИКА РОССИЙСКОЙ ФЕДЕРАЦИИ</a:t>
            </a:r>
          </a:p>
        </p:txBody>
      </p:sp>
      <p:pic>
        <p:nvPicPr>
          <p:cNvPr id="1127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1" r="47685" b="92152"/>
          <a:stretch>
            <a:fillRect/>
          </a:stretch>
        </p:blipFill>
        <p:spPr bwMode="auto">
          <a:xfrm>
            <a:off x="3260725" y="1482725"/>
            <a:ext cx="1603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8" name="Номер слайда 29"/>
          <p:cNvSpPr txBox="1">
            <a:spLocks/>
          </p:cNvSpPr>
          <p:nvPr/>
        </p:nvSpPr>
        <p:spPr bwMode="auto">
          <a:xfrm>
            <a:off x="7981950" y="5624514"/>
            <a:ext cx="2057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572" tIns="35786" rIns="71572" bIns="35786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6E637AF-93AC-4B44-A244-ACE624B6323E}" type="slidenum">
              <a:rPr lang="ru-RU" altLang="ru-RU" sz="800">
                <a:solidFill>
                  <a:srgbClr val="898989"/>
                </a:solidFill>
                <a:latin typeface="Calibri" panose="020F0502020204030204" pitchFamily="34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ru-RU" altLang="ru-RU" sz="8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0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9200" y="762000"/>
            <a:ext cx="3921125" cy="5546513"/>
          </a:xfr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1000968"/>
            <a:ext cx="3581400" cy="5068576"/>
          </a:xfr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06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b="1" dirty="0" smtClean="0">
                <a:solidFill>
                  <a:srgbClr val="008080"/>
                </a:solidFill>
              </a:rPr>
              <a:t>Целями Программы являются: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создание экосистемы цифровой экономики Российской Федерации, в которой данные в цифровой форме являются ключевым фактором производства во всех сферах социально-экономической деятельности и в которой обеспечено эффективное взаимодействие, включая трансграничное, бизнеса, научно-образовательного сообщества, государства и граждан;</a:t>
            </a:r>
          </a:p>
          <a:p>
            <a:pPr>
              <a:defRPr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создание необходимых и достаточных условий институционального и инфраструктурного характера, устранение имеющихся препятствий и ограничений для создания и (или) развития высокотехнологических бизнесов и недопущение появления новых препятствий и ограничений как в традиционных отраслях экономики, так и в новых отраслях и на высокотехнологичных рынках;</a:t>
            </a:r>
          </a:p>
          <a:p>
            <a:pPr>
              <a:defRPr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повышение конкурентоспособности на глобальном рынке как отдельных отраслей экономики Российской Федерации, так и экономики в целом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4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>
                <a:solidFill>
                  <a:srgbClr val="008080"/>
                </a:solidFill>
              </a:rPr>
              <a:t>Цифровая экономика представлена 3 уровнями, которые в своем тесном взаимодействии влияют на жизнь граждан и общества в целом:</a:t>
            </a:r>
          </a:p>
        </p:txBody>
      </p:sp>
      <p:sp>
        <p:nvSpPr>
          <p:cNvPr id="14339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2000" dirty="0">
                <a:solidFill>
                  <a:schemeClr val="accent5">
                    <a:lumMod val="50000"/>
                  </a:schemeClr>
                </a:solidFill>
              </a:rPr>
              <a:t>рынки и отрасли экономики (сферы деятельности), где осуществляется взаимодействие конкретных субъектов (поставщиков и потребителей товаров, работ и услуг);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2000" dirty="0">
                <a:solidFill>
                  <a:schemeClr val="accent5">
                    <a:lumMod val="50000"/>
                  </a:schemeClr>
                </a:solidFill>
              </a:rPr>
              <a:t>платформы и технологии, где формируются компетенции для развития рынков и отраслей экономики (сфер деятельности);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2000" dirty="0">
                <a:solidFill>
                  <a:schemeClr val="accent5">
                    <a:lumMod val="50000"/>
                  </a:schemeClr>
                </a:solidFill>
              </a:rPr>
              <a:t>среда, которая создает условия для развития платформ и технологий и эффективного взаимодействия субъектов рынков и отраслей экономики (сфер деятельности) и охватывает нормативное регулирование, информационную инфраструктуру, кадры и информационную безопасность.</a:t>
            </a:r>
          </a:p>
          <a:p>
            <a:endParaRPr lang="ru-RU" alt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21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8200"/>
            <a:ext cx="4348163" cy="48509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914400"/>
            <a:ext cx="4653636" cy="45323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043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97481"/>
            <a:ext cx="8534400" cy="6032167"/>
          </a:xfrm>
        </p:spPr>
      </p:pic>
    </p:spTree>
    <p:extLst>
      <p:ext uri="{BB962C8B-B14F-4D97-AF65-F5344CB8AC3E}">
        <p14:creationId xmlns:p14="http://schemas.microsoft.com/office/powerpoint/2010/main" val="229806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0150" y="857250"/>
            <a:ext cx="7251700" cy="5126038"/>
          </a:xfrm>
        </p:spPr>
      </p:pic>
    </p:spTree>
    <p:extLst>
      <p:ext uri="{BB962C8B-B14F-4D97-AF65-F5344CB8AC3E}">
        <p14:creationId xmlns:p14="http://schemas.microsoft.com/office/powerpoint/2010/main" val="228832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358903"/>
            <a:ext cx="8763000" cy="6195655"/>
          </a:xfrm>
        </p:spPr>
      </p:pic>
    </p:spTree>
    <p:extLst>
      <p:ext uri="{BB962C8B-B14F-4D97-AF65-F5344CB8AC3E}">
        <p14:creationId xmlns:p14="http://schemas.microsoft.com/office/powerpoint/2010/main" val="68634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baranovsv\Desktop\work elements\22x4_2018_new_2-01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855663"/>
            <a:ext cx="685641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667000" y="1538288"/>
            <a:ext cx="6858000" cy="4462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2" name="Заголовок 1"/>
          <p:cNvSpPr>
            <a:spLocks noGrp="1"/>
          </p:cNvSpPr>
          <p:nvPr>
            <p:ph type="title"/>
          </p:nvPr>
        </p:nvSpPr>
        <p:spPr>
          <a:xfrm>
            <a:off x="3125789" y="944563"/>
            <a:ext cx="5940425" cy="539750"/>
          </a:xfrm>
        </p:spPr>
        <p:txBody>
          <a:bodyPr>
            <a:normAutofit fontScale="90000"/>
          </a:bodyPr>
          <a:lstStyle/>
          <a:p>
            <a:r>
              <a:rPr lang="ru-RU" alt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цифровой экономики в стратегических документах России </a:t>
            </a:r>
          </a:p>
        </p:txBody>
      </p:sp>
      <p:sp>
        <p:nvSpPr>
          <p:cNvPr id="17413" name="Объект 8"/>
          <p:cNvSpPr>
            <a:spLocks noGrp="1"/>
          </p:cNvSpPr>
          <p:nvPr>
            <p:ph idx="1"/>
          </p:nvPr>
        </p:nvSpPr>
        <p:spPr>
          <a:xfrm>
            <a:off x="4583113" y="1814514"/>
            <a:ext cx="4806950" cy="4404283"/>
          </a:xfrm>
        </p:spPr>
        <p:txBody>
          <a:bodyPr>
            <a:spAutoFit/>
          </a:bodyPr>
          <a:lstStyle/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долгосрочного социально-экономического развития РФ на период до 2020 г.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социально-экономического развития/научно-технологического развития до 2030 года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научно-технологического развития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развития отрасли информационных технологий РФ на 2014-2020 годы и на перспективу до 2025 года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Государственная программа «Информационное общество»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План мероприятий («дорожная карта») «Развитие отрасли информационных технологий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региональной информатизации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План мероприятий по созданию единой федеральной межведомственной системы учета обучающихся по основным образовательным программам и дополнительным образовательным программам» 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«Дорожные карты» Национальной технологической инициативы – «Хелснет», «Нейронет», «Аэронет», «Аэронет» и «Маринет»</a:t>
            </a:r>
          </a:p>
          <a:p>
            <a:pPr>
              <a:buFont typeface="Tahoma" panose="020B0604030504040204" pitchFamily="34" charset="0"/>
              <a:buAutoNum type="arabicPeriod"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План мероприятий по развитию электронного взаимодействия на финансовом рынке</a:t>
            </a:r>
          </a:p>
        </p:txBody>
      </p:sp>
      <p:graphicFrame>
        <p:nvGraphicFramePr>
          <p:cNvPr id="6" name="Схема 5"/>
          <p:cNvGraphicFramePr/>
          <p:nvPr/>
        </p:nvGraphicFramePr>
        <p:xfrm>
          <a:off x="2099556" y="1831904"/>
          <a:ext cx="2910594" cy="3875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646106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/>
          <p:cNvSpPr>
            <a:spLocks noGrp="1"/>
          </p:cNvSpPr>
          <p:nvPr>
            <p:ph type="title"/>
          </p:nvPr>
        </p:nvSpPr>
        <p:spPr>
          <a:xfrm>
            <a:off x="1447800" y="685800"/>
            <a:ext cx="9753600" cy="528637"/>
          </a:xfrm>
        </p:spPr>
        <p:txBody>
          <a:bodyPr>
            <a:normAutofit fontScale="90000"/>
          </a:bodyPr>
          <a:lstStyle/>
          <a:p>
            <a:r>
              <a:rPr lang="en-US" altLang="ru-RU" b="1" dirty="0" smtClean="0">
                <a:solidFill>
                  <a:srgbClr val="008080"/>
                </a:solidFill>
              </a:rPr>
              <a:t>Gartner Hype Cycle – </a:t>
            </a:r>
            <a:r>
              <a:rPr lang="ru-RU" altLang="ru-RU" b="1" dirty="0" smtClean="0">
                <a:solidFill>
                  <a:srgbClr val="008080"/>
                </a:solidFill>
              </a:rPr>
              <a:t>Цикл зрелости технологий</a:t>
            </a:r>
            <a:r>
              <a:rPr lang="en-US" altLang="ru-RU" b="1" dirty="0" smtClean="0">
                <a:solidFill>
                  <a:srgbClr val="008080"/>
                </a:solidFill>
              </a:rPr>
              <a:t> (</a:t>
            </a:r>
            <a:r>
              <a:rPr lang="ru-RU" altLang="ru-RU" b="1" dirty="0" smtClean="0">
                <a:solidFill>
                  <a:srgbClr val="008080"/>
                </a:solidFill>
              </a:rPr>
              <a:t>ежегодно)</a:t>
            </a:r>
          </a:p>
        </p:txBody>
      </p:sp>
      <p:sp>
        <p:nvSpPr>
          <p:cNvPr id="15363" name="Текст 3"/>
          <p:cNvSpPr>
            <a:spLocks noGrp="1"/>
          </p:cNvSpPr>
          <p:nvPr>
            <p:ph type="body" sz="half" idx="2"/>
          </p:nvPr>
        </p:nvSpPr>
        <p:spPr>
          <a:xfrm>
            <a:off x="1447800" y="1524000"/>
            <a:ext cx="4491038" cy="3879850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1200" b="1" dirty="0"/>
              <a:t>1. Технологический триггер</a:t>
            </a:r>
            <a:r>
              <a:rPr lang="ru-RU" altLang="ru-RU" sz="1200" dirty="0"/>
              <a:t>. Заря появления перспективной технологии. Готового продукта пока нет – интерес к теме подогревается дальновидными инвесторами, «гиками» и профильными медиа. Следящие за повесткой дня компании заказывают исследования перспективности технологии.</a:t>
            </a:r>
          </a:p>
          <a:p>
            <a:r>
              <a:rPr lang="ru-RU" altLang="ru-RU" sz="1200" b="1" dirty="0"/>
              <a:t>2. Пик чрезмерных ожиданий</a:t>
            </a:r>
            <a:r>
              <a:rPr lang="ru-RU" altLang="ru-RU" sz="1200" dirty="0"/>
              <a:t>. Технология на слуху. Тема активно разрабатывается в лабораториях и мастерских. Сообщество «разогрето, ожидания высоки, но часто неконкретны. Появляются первые успехи и провалы компаний.</a:t>
            </a:r>
          </a:p>
          <a:p>
            <a:r>
              <a:rPr lang="ru-RU" altLang="ru-RU" sz="1200" b="1" dirty="0"/>
              <a:t>3. Яма разочарований</a:t>
            </a:r>
            <a:r>
              <a:rPr lang="ru-RU" altLang="ru-RU" sz="1200" dirty="0"/>
              <a:t>. Неудач на поприще технологии становится больше, новых попыток реализоваться в ней – меньше. Инвесторы уже достаточно хорошо разбираются в этой области. Вкладывают деньги не в «новое, революционное», а в </a:t>
            </a:r>
            <a:r>
              <a:rPr lang="ru-RU" altLang="ru-RU" sz="1200" dirty="0" err="1"/>
              <a:t>стартапы</a:t>
            </a:r>
            <a:r>
              <a:rPr lang="ru-RU" altLang="ru-RU" sz="1200" dirty="0"/>
              <a:t>, которые отличаются от конкурентов и предлагают то, за что уже платят (готовы платить).</a:t>
            </a:r>
          </a:p>
          <a:p>
            <a:r>
              <a:rPr lang="ru-RU" altLang="ru-RU" sz="1200" b="1" dirty="0"/>
              <a:t>4.  Склон просветления.</a:t>
            </a:r>
            <a:r>
              <a:rPr lang="ru-RU" altLang="ru-RU" sz="1200" dirty="0"/>
              <a:t> Количество идей и проектов эволюционирует в качество. Всё больше компаний-производителей и конечных потребителей обращают внимание на технологию. Рынок растёт и образовывается. Как всегда, отдельные консерваторы пока осторожничают.</a:t>
            </a:r>
          </a:p>
          <a:p>
            <a:r>
              <a:rPr lang="ru-RU" altLang="ru-RU" sz="1200" b="1" dirty="0"/>
              <a:t>5. Плато продуктивности.</a:t>
            </a:r>
            <a:r>
              <a:rPr lang="ru-RU" altLang="ru-RU" sz="1200" dirty="0"/>
              <a:t> Технология массово распространяется, и даже самые скептически настроенные люди и компании не остаются в стороне. (Если остаются, а технология принципиально важна для развития и скорости / качества работы, то вынуждены уйти с рынка).</a:t>
            </a:r>
          </a:p>
          <a:p>
            <a:endParaRPr lang="ru-RU" altLang="ru-RU" sz="1200" dirty="0"/>
          </a:p>
        </p:txBody>
      </p:sp>
      <p:pic>
        <p:nvPicPr>
          <p:cNvPr id="15364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64" y="2571750"/>
            <a:ext cx="340042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710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61240"/>
            <a:ext cx="87401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ИСКУССТВЕННЫЙ</a:t>
            </a:r>
            <a:r>
              <a:rPr sz="2200" b="1" spc="2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2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ИНТЕЛЛЕКТ</a:t>
            </a:r>
            <a:r>
              <a:rPr sz="2200" b="1" spc="1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200" b="1" spc="-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(ARTIFICIAL</a:t>
            </a:r>
            <a:r>
              <a:rPr sz="22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200" b="1" spc="-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INTELLIGENCE,</a:t>
            </a:r>
            <a:r>
              <a:rPr sz="2200" b="1" spc="-4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200" b="1" spc="-5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AI)</a:t>
            </a:r>
            <a:endParaRPr sz="2200" b="1" dirty="0">
              <a:solidFill>
                <a:srgbClr val="008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12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55178"/>
            <a:ext cx="1090676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концепция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машин,</a:t>
            </a:r>
            <a:r>
              <a:rPr sz="24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выполняющих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задачи,</a:t>
            </a:r>
            <a:r>
              <a:rPr sz="24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когда-то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требовали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000" y="1111210"/>
            <a:ext cx="3847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человеческого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интеллекта.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1493733"/>
            <a:ext cx="10917555" cy="131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67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472565" algn="l"/>
                <a:tab pos="3296285" algn="l"/>
                <a:tab pos="4727575" algn="l"/>
                <a:tab pos="5288280" algn="l"/>
                <a:tab pos="6943725" algn="l"/>
                <a:tab pos="8460105" algn="l"/>
                <a:tab pos="9275445" algn="l"/>
                <a:tab pos="963358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Многие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используют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термины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AI,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машинное	обучение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(ML)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глубокое</a:t>
            </a:r>
            <a:endParaRPr sz="2400">
              <a:latin typeface="Arial"/>
              <a:cs typeface="Arial"/>
            </a:endParaRPr>
          </a:p>
          <a:p>
            <a:pPr marL="240665" marR="16510">
              <a:lnSpc>
                <a:spcPct val="70000"/>
              </a:lnSpc>
              <a:spcBef>
                <a:spcPts val="310"/>
              </a:spcBef>
              <a:tabLst>
                <a:tab pos="1863725" algn="l"/>
                <a:tab pos="2752725" algn="l"/>
                <a:tab pos="5715000" algn="l"/>
                <a:tab pos="6347460" algn="l"/>
                <a:tab pos="7551420" algn="l"/>
                <a:tab pos="8563610" algn="l"/>
                <a:tab pos="947801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ие	(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DL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)	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яе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ду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ев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е 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различия.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ts val="3265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681355" algn="l"/>
                <a:tab pos="1892935" algn="l"/>
                <a:tab pos="3669665" algn="l"/>
                <a:tab pos="4361815" algn="l"/>
                <a:tab pos="5641975" algn="l"/>
                <a:tab pos="7873365" algn="l"/>
                <a:tab pos="8333105" algn="l"/>
                <a:tab pos="9631680" algn="l"/>
                <a:tab pos="10195560" algn="l"/>
                <a:tab pos="1051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I	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ты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	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ю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ис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	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ML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	и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DL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000" y="2645877"/>
            <a:ext cx="37071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являются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подсегментами.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400" y="3028401"/>
            <a:ext cx="1040066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Искусственный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можно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разделить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две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отдельные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области.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600" y="3366729"/>
            <a:ext cx="10450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6666"/>
              </a:buClr>
              <a:buSzPct val="170000"/>
              <a:buChar char="•"/>
              <a:tabLst>
                <a:tab pos="241300" algn="l"/>
                <a:tab pos="835025" algn="l"/>
                <a:tab pos="2432050" algn="l"/>
                <a:tab pos="2924175" algn="l"/>
                <a:tab pos="8436610" algn="l"/>
                <a:tab pos="8996045" algn="l"/>
              </a:tabLst>
            </a:pP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Под	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прикладным	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ИИ	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понимается</a:t>
            </a:r>
            <a:r>
              <a:rPr sz="2000" spc="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приложение,</a:t>
            </a:r>
            <a:r>
              <a:rPr sz="2000" spc="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оптимизированное	для	выполнения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2946" y="3580007"/>
            <a:ext cx="10223500" cy="54419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25"/>
              </a:spcBef>
              <a:tabLst>
                <a:tab pos="859790" algn="l"/>
                <a:tab pos="2318385" algn="l"/>
                <a:tab pos="3343910" algn="l"/>
                <a:tab pos="4713605" algn="l"/>
                <a:tab pos="5288280" algn="l"/>
                <a:tab pos="7010400" algn="l"/>
                <a:tab pos="8098790" algn="l"/>
                <a:tab pos="8670290" algn="l"/>
              </a:tabLst>
            </a:pP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дн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ой	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кр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ой	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ме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дл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же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ф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ил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ьма	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ил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	о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пт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 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маршрута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вождения.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4600" y="4069293"/>
            <a:ext cx="10448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70000"/>
              <a:buChar char="•"/>
              <a:tabLst>
                <a:tab pos="241300" algn="l"/>
              </a:tabLst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Общий</a:t>
            </a:r>
            <a:r>
              <a:rPr sz="20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ИИ</a:t>
            </a:r>
            <a:r>
              <a:rPr sz="20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включает</a:t>
            </a:r>
            <a:r>
              <a:rPr sz="20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себя</a:t>
            </a:r>
            <a:r>
              <a:rPr sz="20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0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широкие</a:t>
            </a:r>
            <a:r>
              <a:rPr sz="20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возможности</a:t>
            </a:r>
            <a:r>
              <a:rPr sz="20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применения</a:t>
            </a:r>
            <a:r>
              <a:rPr sz="20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ИИ,</a:t>
            </a:r>
            <a:r>
              <a:rPr sz="20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такие</a:t>
            </a:r>
            <a:r>
              <a:rPr sz="20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2437" y="4282571"/>
            <a:ext cx="10222865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  <a:tabLst>
                <a:tab pos="1493520" algn="l"/>
                <a:tab pos="2990215" algn="l"/>
                <a:tab pos="4432300" algn="l"/>
                <a:tab pos="5552440" algn="l"/>
                <a:tab pos="5824855" algn="l"/>
                <a:tab pos="7437120" algn="l"/>
                <a:tab pos="8438515" algn="l"/>
                <a:tab pos="9840595" algn="l"/>
              </a:tabLst>
            </a:pP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ом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ер,	о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ча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щ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й	р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зл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ым	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м	и	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3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ь	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ь	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ем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000" spc="3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ак 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человек.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400" y="4819101"/>
            <a:ext cx="1090739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965960" algn="l"/>
                <a:tab pos="3499485" algn="l"/>
                <a:tab pos="4011295" algn="l"/>
                <a:tab pos="4672965" algn="l"/>
                <a:tab pos="6027420" algn="l"/>
                <a:tab pos="7542530" algn="l"/>
                <a:tab pos="8709660" algn="l"/>
                <a:tab pos="9435465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Машинное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обучение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—	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это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процесс	создания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машин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6000" y="5075133"/>
            <a:ext cx="1067943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  <a:tabLst>
                <a:tab pos="1324610" algn="l"/>
                <a:tab pos="2254250" algn="l"/>
                <a:tab pos="3680460" algn="l"/>
                <a:tab pos="4787265" algn="l"/>
                <a:tab pos="5067300" algn="l"/>
                <a:tab pos="6412865" algn="l"/>
                <a:tab pos="8075930" algn="l"/>
                <a:tab pos="8357870" algn="l"/>
                <a:tab pos="905129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которые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могут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получать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доступ	к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данным,	применять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ним	алгоритмы,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70000"/>
              </a:lnSpc>
              <a:spcBef>
                <a:spcPts val="430"/>
              </a:spcBef>
              <a:tabLst>
                <a:tab pos="1429385" algn="l"/>
                <a:tab pos="2625725" algn="l"/>
                <a:tab pos="4645025" algn="l"/>
                <a:tab pos="4953000" algn="l"/>
                <a:tab pos="5908675" algn="l"/>
                <a:tab pos="7563484" algn="l"/>
                <a:tab pos="9413875" algn="l"/>
                <a:tab pos="1053274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ю	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ф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цию	и	з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ые	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к 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другим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сценариям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новым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наборам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7400" y="182779"/>
            <a:ext cx="10904855" cy="14770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БОЛЬШИЕ</a:t>
            </a:r>
            <a:r>
              <a:rPr sz="2400" b="1" spc="-8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ДАННЫЕ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ts val="3665"/>
              </a:lnSpc>
              <a:spcBef>
                <a:spcPts val="73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топливо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ИИ.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ts val="3665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то,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</a:t>
            </a:r>
            <a:r>
              <a:rPr sz="24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обучает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ИИ,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становится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все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мощным,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то,</a:t>
            </a:r>
            <a:r>
              <a:rPr sz="24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13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000" y="1493733"/>
            <a:ext cx="10678160" cy="243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  <a:tabLst>
                <a:tab pos="870585" algn="l"/>
                <a:tab pos="1196340" algn="l"/>
                <a:tab pos="2700655" algn="l"/>
                <a:tab pos="3615054" algn="l"/>
                <a:tab pos="5672455" algn="l"/>
                <a:tab pos="7045325" algn="l"/>
                <a:tab pos="7733030" algn="l"/>
                <a:tab pos="8754110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чему	в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конечном	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итоге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применяются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	ИИ,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чтобы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генерировать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  <a:tabLst>
                <a:tab pos="1571625" algn="l"/>
                <a:tab pos="3421379" algn="l"/>
                <a:tab pos="4208145" algn="l"/>
                <a:tab pos="5500370" algn="l"/>
                <a:tab pos="6694805" algn="l"/>
                <a:tab pos="906208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реальное	понимание.	Чем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больше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систем	искусственного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интеллекта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400" spc="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использовать</a:t>
            </a:r>
            <a:r>
              <a:rPr sz="2400" spc="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данные,</a:t>
            </a:r>
            <a:r>
              <a:rPr sz="24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тем</a:t>
            </a:r>
            <a:r>
              <a:rPr sz="24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больше</a:t>
            </a:r>
            <a:r>
              <a:rPr sz="2400" spc="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400" spc="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</a:t>
            </a:r>
            <a:r>
              <a:rPr sz="24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разрушительный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потенциал.</a:t>
            </a:r>
            <a:r>
              <a:rPr sz="24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Хотя</a:t>
            </a:r>
            <a:r>
              <a:rPr sz="24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ИИ</a:t>
            </a:r>
            <a:r>
              <a:rPr sz="24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400" spc="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концепция</a:t>
            </a:r>
            <a:r>
              <a:rPr sz="24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существует</a:t>
            </a:r>
            <a:r>
              <a:rPr sz="24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уже</a:t>
            </a:r>
            <a:r>
              <a:rPr sz="24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50</a:t>
            </a:r>
            <a:r>
              <a:rPr sz="24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лет,</a:t>
            </a:r>
            <a:r>
              <a:rPr sz="2400" spc="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нехватка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  <a:tabLst>
                <a:tab pos="3037205" algn="l"/>
                <a:tab pos="4361815" algn="l"/>
                <a:tab pos="5151120" algn="l"/>
                <a:tab pos="6678295" algn="l"/>
                <a:tab pos="7737475" algn="l"/>
                <a:tab pos="8734425" algn="l"/>
                <a:tab pos="10494645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ст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	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ля	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ьше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й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сти	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э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	и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вычислительных</a:t>
            </a:r>
            <a:r>
              <a:rPr sz="2400" spc="2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ограничений</a:t>
            </a:r>
            <a:r>
              <a:rPr sz="2400" spc="2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задерживала</a:t>
            </a:r>
            <a:r>
              <a:rPr sz="24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рост</a:t>
            </a:r>
            <a:r>
              <a:rPr sz="2400" spc="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ИИ.</a:t>
            </a:r>
            <a:r>
              <a:rPr sz="24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2400" spc="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хорошая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технология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распознавания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речи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требует</a:t>
            </a:r>
            <a:r>
              <a:rPr sz="24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около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150000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часов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(т.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е.</a:t>
            </a:r>
            <a:r>
              <a:rPr sz="24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10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лет)</a:t>
            </a:r>
            <a:endParaRPr sz="2400">
              <a:latin typeface="Arial"/>
              <a:cs typeface="Arial"/>
            </a:endParaRPr>
          </a:p>
          <a:p>
            <a:pPr marL="12700" marR="6350">
              <a:lnSpc>
                <a:spcPct val="70000"/>
              </a:lnSpc>
              <a:spcBef>
                <a:spcPts val="430"/>
              </a:spcBef>
              <a:tabLst>
                <a:tab pos="2267585" algn="l"/>
                <a:tab pos="4345305" algn="l"/>
                <a:tab pos="6772909" algn="l"/>
                <a:tab pos="7759065" algn="l"/>
                <a:tab pos="9211310" algn="l"/>
                <a:tab pos="10325100" algn="l"/>
              </a:tabLst>
            </a:pP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ди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.	П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расп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	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15 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миллионов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изображений.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832" y="4296253"/>
            <a:ext cx="10907395" cy="85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67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530350" algn="l"/>
                <a:tab pos="2197735" algn="l"/>
                <a:tab pos="3971925" algn="l"/>
                <a:tab pos="5511165" algn="l"/>
                <a:tab pos="6576059" algn="l"/>
                <a:tab pos="8194675" algn="l"/>
                <a:tab pos="9298305" algn="l"/>
              </a:tabLst>
            </a:pP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Только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до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недавнего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времени	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было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доступно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такое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количество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1895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изображений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аудиоданных.</a:t>
            </a:r>
            <a:r>
              <a:rPr sz="24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Фактически,</a:t>
            </a:r>
            <a:r>
              <a:rPr sz="24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2015</a:t>
            </a:r>
            <a:r>
              <a:rPr sz="24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года</a:t>
            </a:r>
            <a:r>
              <a:rPr sz="24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генерируется</a:t>
            </a:r>
            <a:r>
              <a:rPr sz="24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90</a:t>
            </a:r>
            <a:r>
              <a:rPr sz="2400" spc="2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%</a:t>
            </a:r>
            <a:endParaRPr sz="2400" dirty="0">
              <a:latin typeface="Arial"/>
              <a:cs typeface="Arial"/>
            </a:endParaRPr>
          </a:p>
          <a:p>
            <a:pPr marL="240665">
              <a:lnSpc>
                <a:spcPts val="2014"/>
              </a:lnSpc>
              <a:tabLst>
                <a:tab pos="1659889" algn="l"/>
                <a:tab pos="2967355" algn="l"/>
                <a:tab pos="3337560" algn="l"/>
                <a:tab pos="4020185" algn="l"/>
                <a:tab pos="4561205" algn="l"/>
                <a:tab pos="5326380" algn="l"/>
                <a:tab pos="6918959" algn="l"/>
                <a:tab pos="8660765" algn="l"/>
                <a:tab pos="9017635" algn="l"/>
                <a:tab pos="943991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мировых	данных.	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381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/>
              <a:t>О</a:t>
            </a:r>
            <a:r>
              <a:rPr sz="2400" dirty="0"/>
              <a:t>П</a:t>
            </a:r>
            <a:r>
              <a:rPr sz="2400" spc="-5" dirty="0"/>
              <a:t>РЕДЕЛЕН</a:t>
            </a:r>
            <a:r>
              <a:rPr sz="2400" dirty="0"/>
              <a:t>ИЯ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65846"/>
            <a:ext cx="10907395" cy="82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45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2905125" algn="l"/>
                <a:tab pos="4001770" algn="l"/>
                <a:tab pos="5157470" algn="l"/>
                <a:tab pos="6026150" algn="l"/>
                <a:tab pos="7111365" algn="l"/>
                <a:tab pos="8278495" algn="l"/>
                <a:tab pos="950849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лл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D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ata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ining,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бы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ый</a:t>
            </a:r>
            <a:endParaRPr sz="2200">
              <a:latin typeface="Arial"/>
              <a:cs typeface="Arial"/>
            </a:endParaRPr>
          </a:p>
          <a:p>
            <a:pPr marL="241300" marR="5080" indent="-635">
              <a:lnSpc>
                <a:spcPct val="70000"/>
              </a:lnSpc>
              <a:spcBef>
                <a:spcPts val="285"/>
              </a:spcBef>
              <a:tabLst>
                <a:tab pos="1321435" algn="l"/>
                <a:tab pos="2400935" algn="l"/>
                <a:tab pos="2554605" algn="l"/>
                <a:tab pos="3002280" algn="l"/>
                <a:tab pos="3892550" algn="l"/>
                <a:tab pos="5139690" algn="l"/>
                <a:tab pos="6027420" algn="l"/>
                <a:tab pos="6588125" algn="l"/>
                <a:tab pos="7967345" algn="l"/>
                <a:tab pos="8583930" algn="l"/>
                <a:tab pos="9154795" algn="l"/>
                <a:tab pos="9230995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)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—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об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  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об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721" y="1570327"/>
            <a:ext cx="53600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07590" algn="l"/>
                <a:tab pos="4110354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тр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3162" y="1570327"/>
            <a:ext cx="5128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1000" algn="l"/>
                <a:tab pos="1970405" algn="l"/>
                <a:tab pos="4134485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00" y="1805154"/>
            <a:ext cx="10906760" cy="9836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635">
              <a:lnSpc>
                <a:spcPct val="70000"/>
              </a:lnSpc>
              <a:spcBef>
                <a:spcPts val="885"/>
              </a:spcBef>
              <a:tabLst>
                <a:tab pos="2244725" algn="l"/>
                <a:tab pos="2973070" algn="l"/>
                <a:tab pos="4427220" algn="l"/>
                <a:tab pos="5833745" algn="l"/>
                <a:tab pos="6235065" algn="l"/>
                <a:tab pos="7879715" algn="l"/>
                <a:tab pos="9107805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ео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иня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реше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аз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ич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ферах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ой 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деятельности.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Термин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введён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Григорием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Пятецким-Шапиро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1989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 err="1">
                <a:solidFill>
                  <a:srgbClr val="3E3E3E"/>
                </a:solidFill>
                <a:latin typeface="Arial"/>
                <a:cs typeface="Arial"/>
              </a:rPr>
              <a:t>году</a:t>
            </a:r>
            <a:r>
              <a:rPr sz="2200" spc="-70" dirty="0" smtClean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241300" indent="-228600">
              <a:lnSpc>
                <a:spcPts val="306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790700" algn="l"/>
                <a:tab pos="3165475" algn="l"/>
                <a:tab pos="4474845" algn="l"/>
                <a:tab pos="5709285" algn="l"/>
                <a:tab pos="6349365" algn="l"/>
                <a:tab pos="6786245" algn="l"/>
                <a:tab pos="7670165" algn="l"/>
                <a:tab pos="890905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Машинное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обучение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(machine	learning,	ML)	—	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класс	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методов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искусственного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211" y="2635340"/>
            <a:ext cx="10680065" cy="1299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ts val="2245"/>
              </a:lnSpc>
              <a:spcBef>
                <a:spcPts val="95"/>
              </a:spcBef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интеллекта,</a:t>
            </a:r>
            <a:r>
              <a:rPr sz="2200" spc="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характерной</a:t>
            </a:r>
            <a:r>
              <a:rPr sz="22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чертой</a:t>
            </a:r>
            <a:r>
              <a:rPr sz="22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которых</a:t>
            </a:r>
            <a:r>
              <a:rPr sz="2200" spc="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является</a:t>
            </a:r>
            <a:r>
              <a:rPr sz="22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2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прямое</a:t>
            </a:r>
            <a:r>
              <a:rPr sz="22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2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задачи,</a:t>
            </a:r>
            <a:r>
              <a:rPr sz="2200" spc="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endParaRPr sz="2200">
              <a:latin typeface="Arial"/>
              <a:cs typeface="Arial"/>
            </a:endParaRPr>
          </a:p>
          <a:p>
            <a:pPr marL="13335">
              <a:lnSpc>
                <a:spcPts val="1850"/>
              </a:lnSpc>
              <a:tabLst>
                <a:tab pos="1419860" algn="l"/>
                <a:tab pos="1760220" algn="l"/>
                <a:tab pos="3161030" algn="l"/>
                <a:tab pos="4930140" algn="l"/>
                <a:tab pos="6275705" algn="l"/>
                <a:tab pos="7875905" algn="l"/>
                <a:tab pos="9151620" algn="l"/>
                <a:tab pos="10161905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реше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с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зад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ля</a:t>
            </a:r>
            <a:endParaRPr sz="2200">
              <a:latin typeface="Arial"/>
              <a:cs typeface="Arial"/>
            </a:endParaRPr>
          </a:p>
          <a:p>
            <a:pPr marL="13970">
              <a:lnSpc>
                <a:spcPts val="1850"/>
              </a:lnSpc>
              <a:tabLst>
                <a:tab pos="1647189" algn="l"/>
                <a:tab pos="2477770" algn="l"/>
                <a:tab pos="3692525" algn="l"/>
                <a:tab pos="5615940" algn="l"/>
                <a:tab pos="6926580" algn="l"/>
                <a:tab pos="918591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построения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таких	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методов	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используются	средства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математической	статистики,</a:t>
            </a:r>
            <a:endParaRPr sz="2200">
              <a:latin typeface="Arial"/>
              <a:cs typeface="Arial"/>
            </a:endParaRPr>
          </a:p>
          <a:p>
            <a:pPr marL="12700" marR="7620" indent="635">
              <a:lnSpc>
                <a:spcPct val="70000"/>
              </a:lnSpc>
              <a:spcBef>
                <a:spcPts val="395"/>
              </a:spcBef>
              <a:tabLst>
                <a:tab pos="1683385" algn="l"/>
                <a:tab pos="3103880" algn="l"/>
                <a:tab pos="4446270" algn="l"/>
                <a:tab pos="6477635" algn="l"/>
                <a:tab pos="7641590" algn="l"/>
                <a:tab pos="975868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еор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  графов,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различные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техники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работы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данными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цифровой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форме.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00" y="3935181"/>
            <a:ext cx="10905490" cy="1534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450"/>
              </a:lnSpc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812289" algn="l"/>
                <a:tab pos="3190240" algn="l"/>
                <a:tab pos="4049395" algn="l"/>
                <a:tab pos="5081270" algn="l"/>
                <a:tab pos="5756275" algn="l"/>
                <a:tab pos="7816215" algn="l"/>
                <a:tab pos="10736580" algn="l"/>
              </a:tabLst>
            </a:pP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Б</a:t>
            </a:r>
            <a:r>
              <a:rPr sz="2200" spc="-50" dirty="0">
                <a:solidFill>
                  <a:srgbClr val="2E75B6"/>
                </a:solidFill>
                <a:latin typeface="Arial"/>
                <a:cs typeface="Arial"/>
              </a:rPr>
              <a:t>о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л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ь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ш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да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нн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ые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(big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10" dirty="0">
                <a:solidFill>
                  <a:srgbClr val="2E75B6"/>
                </a:solidFill>
                <a:latin typeface="Arial"/>
                <a:cs typeface="Arial"/>
              </a:rPr>
              <a:t>d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ata)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—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об</a:t>
            </a:r>
            <a:r>
              <a:rPr sz="2200" spc="-30" dirty="0">
                <a:solidFill>
                  <a:srgbClr val="2E75B6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з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-40" dirty="0">
                <a:solidFill>
                  <a:srgbClr val="2E75B6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с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т</a:t>
            </a:r>
            <a:r>
              <a:rPr sz="2200" spc="-30" dirty="0">
                <a:solidFill>
                  <a:srgbClr val="2E75B6"/>
                </a:solidFill>
                <a:latin typeface="Arial"/>
                <a:cs typeface="Arial"/>
              </a:rPr>
              <a:t>р</a:t>
            </a:r>
            <a:r>
              <a:rPr sz="2200" spc="-15" dirty="0">
                <a:solidFill>
                  <a:srgbClr val="2E75B6"/>
                </a:solidFill>
                <a:latin typeface="Arial"/>
                <a:cs typeface="Arial"/>
              </a:rPr>
              <a:t>у</a:t>
            </a:r>
            <a:r>
              <a:rPr sz="2200" spc="30" dirty="0">
                <a:solidFill>
                  <a:srgbClr val="2E75B6"/>
                </a:solidFill>
                <a:latin typeface="Arial"/>
                <a:cs typeface="Arial"/>
              </a:rPr>
              <a:t>к</a:t>
            </a:r>
            <a:r>
              <a:rPr sz="2200" spc="20" dirty="0">
                <a:solidFill>
                  <a:srgbClr val="2E75B6"/>
                </a:solidFill>
                <a:latin typeface="Arial"/>
                <a:cs typeface="Arial"/>
              </a:rPr>
              <a:t>т</a:t>
            </a:r>
            <a:r>
              <a:rPr sz="2200" spc="-25" dirty="0">
                <a:solidFill>
                  <a:srgbClr val="2E75B6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р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ро</a:t>
            </a:r>
            <a:r>
              <a:rPr sz="2200" spc="-35" dirty="0">
                <a:solidFill>
                  <a:srgbClr val="2E75B6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10" dirty="0">
                <a:solidFill>
                  <a:srgbClr val="2E75B6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endParaRPr sz="2200">
              <a:latin typeface="Arial"/>
              <a:cs typeface="Arial"/>
            </a:endParaRPr>
          </a:p>
          <a:p>
            <a:pPr marL="240665">
              <a:lnSpc>
                <a:spcPts val="1739"/>
              </a:lnSpc>
            </a:pP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неструктурированных</a:t>
            </a:r>
            <a:r>
              <a:rPr sz="2200" spc="11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данных</a:t>
            </a:r>
            <a:r>
              <a:rPr sz="2200" spc="10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огромных</a:t>
            </a:r>
            <a:r>
              <a:rPr sz="2200" spc="105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2E75B6"/>
                </a:solidFill>
                <a:latin typeface="Arial"/>
                <a:cs typeface="Arial"/>
              </a:rPr>
              <a:t>объёмов</a:t>
            </a:r>
            <a:r>
              <a:rPr sz="2200" spc="11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10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E75B6"/>
                </a:solidFill>
                <a:latin typeface="Arial"/>
                <a:cs typeface="Arial"/>
              </a:rPr>
              <a:t>значительного</a:t>
            </a:r>
            <a:r>
              <a:rPr sz="2200" spc="12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многообразия,</a:t>
            </a:r>
            <a:endParaRPr sz="2200">
              <a:latin typeface="Arial"/>
              <a:cs typeface="Arial"/>
            </a:endParaRPr>
          </a:p>
          <a:p>
            <a:pPr marL="240029">
              <a:lnSpc>
                <a:spcPts val="1850"/>
              </a:lnSpc>
            </a:pP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эффективно</a:t>
            </a:r>
            <a:r>
              <a:rPr sz="2200" spc="210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обрабатываемых</a:t>
            </a:r>
            <a:r>
              <a:rPr sz="2200" spc="215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горизонтально</a:t>
            </a:r>
            <a:r>
              <a:rPr sz="2200" spc="229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масштабируемыми</a:t>
            </a:r>
            <a:r>
              <a:rPr sz="2200" spc="215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программными</a:t>
            </a:r>
            <a:endParaRPr sz="2200">
              <a:latin typeface="Arial"/>
              <a:cs typeface="Arial"/>
            </a:endParaRPr>
          </a:p>
          <a:p>
            <a:pPr marL="240029">
              <a:lnSpc>
                <a:spcPts val="1850"/>
              </a:lnSpc>
              <a:tabLst>
                <a:tab pos="2586990" algn="l"/>
                <a:tab pos="4790440" algn="l"/>
                <a:tab pos="5212715" algn="l"/>
                <a:tab pos="6235700" algn="l"/>
                <a:tab pos="7362825" algn="l"/>
                <a:tab pos="8350250" algn="l"/>
                <a:tab pos="8778875" algn="l"/>
              </a:tabLst>
            </a:pP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инструментами,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появившимися	в	конце	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2000-х	</a:t>
            </a:r>
            <a:r>
              <a:rPr sz="2200" spc="-20" dirty="0">
                <a:solidFill>
                  <a:srgbClr val="2E75B6"/>
                </a:solidFill>
                <a:latin typeface="Arial"/>
                <a:cs typeface="Arial"/>
              </a:rPr>
              <a:t>годов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и	</a:t>
            </a:r>
            <a:r>
              <a:rPr sz="2200" spc="-20" dirty="0">
                <a:solidFill>
                  <a:srgbClr val="2E75B6"/>
                </a:solidFill>
                <a:latin typeface="Arial"/>
                <a:cs typeface="Arial"/>
              </a:rPr>
              <a:t>альтернативных</a:t>
            </a:r>
            <a:endParaRPr sz="2200">
              <a:latin typeface="Arial"/>
              <a:cs typeface="Arial"/>
            </a:endParaRPr>
          </a:p>
          <a:p>
            <a:pPr marL="238760" marR="6985">
              <a:lnSpc>
                <a:spcPct val="70000"/>
              </a:lnSpc>
              <a:spcBef>
                <a:spcPts val="395"/>
              </a:spcBef>
              <a:tabLst>
                <a:tab pos="2406650" algn="l"/>
                <a:tab pos="3898900" algn="l"/>
                <a:tab pos="5658485" algn="l"/>
                <a:tab pos="6833870" algn="l"/>
                <a:tab pos="8039100" algn="l"/>
                <a:tab pos="8430895" algn="l"/>
                <a:tab pos="10010775" algn="l"/>
              </a:tabLst>
            </a:pP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трад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ц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ым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с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с</a:t>
            </a:r>
            <a:r>
              <a:rPr sz="2200" spc="-30" dirty="0">
                <a:solidFill>
                  <a:srgbClr val="2E75B6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м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ам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15" dirty="0">
                <a:solidFill>
                  <a:srgbClr val="2E75B6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р</a:t>
            </a:r>
            <a:r>
              <a:rPr sz="2200" spc="10" dirty="0">
                <a:solidFill>
                  <a:srgbClr val="2E75B6"/>
                </a:solidFill>
                <a:latin typeface="Arial"/>
                <a:cs typeface="Arial"/>
              </a:rPr>
              <a:t>а</a:t>
            </a:r>
            <a:r>
              <a:rPr sz="2200" spc="-60" dirty="0">
                <a:solidFill>
                  <a:srgbClr val="2E75B6"/>
                </a:solidFill>
                <a:latin typeface="Arial"/>
                <a:cs typeface="Arial"/>
              </a:rPr>
              <a:t>в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л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я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5" dirty="0">
                <a:solidFill>
                  <a:srgbClr val="2E75B6"/>
                </a:solidFill>
                <a:latin typeface="Arial"/>
                <a:cs typeface="Arial"/>
              </a:rPr>
              <a:t>б</a:t>
            </a:r>
            <a:r>
              <a:rPr sz="2200" spc="-30" dirty="0">
                <a:solidFill>
                  <a:srgbClr val="2E75B6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з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ми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да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нн</a:t>
            </a:r>
            <a:r>
              <a:rPr sz="2200" spc="10" dirty="0">
                <a:solidFill>
                  <a:srgbClr val="2E75B6"/>
                </a:solidFill>
                <a:latin typeface="Arial"/>
                <a:cs typeface="Arial"/>
              </a:rPr>
              <a:t>ы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реше</a:t>
            </a:r>
            <a:r>
              <a:rPr sz="2200" spc="5" dirty="0">
                <a:solidFill>
                  <a:srgbClr val="2E75B6"/>
                </a:solidFill>
                <a:latin typeface="Arial"/>
                <a:cs typeface="Arial"/>
              </a:rPr>
              <a:t>н</a:t>
            </a:r>
            <a:r>
              <a:rPr sz="2200" spc="-10" dirty="0">
                <a:solidFill>
                  <a:srgbClr val="2E75B6"/>
                </a:solidFill>
                <a:latin typeface="Arial"/>
                <a:cs typeface="Arial"/>
              </a:rPr>
              <a:t>ия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м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	</a:t>
            </a:r>
            <a:r>
              <a:rPr sz="2200" spc="15" dirty="0">
                <a:solidFill>
                  <a:srgbClr val="2E75B6"/>
                </a:solidFill>
                <a:latin typeface="Arial"/>
                <a:cs typeface="Arial"/>
              </a:rPr>
              <a:t>к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ла</a:t>
            </a:r>
            <a:r>
              <a:rPr sz="2200" dirty="0">
                <a:solidFill>
                  <a:srgbClr val="2E75B6"/>
                </a:solidFill>
                <a:latin typeface="Arial"/>
                <a:cs typeface="Arial"/>
              </a:rPr>
              <a:t>сс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а  Business</a:t>
            </a:r>
            <a:r>
              <a:rPr sz="2200" spc="-15" dirty="0">
                <a:solidFill>
                  <a:srgbClr val="2E75B6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E75B6"/>
                </a:solidFill>
                <a:latin typeface="Arial"/>
                <a:cs typeface="Arial"/>
              </a:rPr>
              <a:t>Intelligence.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61240"/>
            <a:ext cx="86029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" dirty="0"/>
              <a:t>ТРАДИЦИОННАЯ</a:t>
            </a:r>
            <a:r>
              <a:rPr sz="2200" spc="25" dirty="0"/>
              <a:t> </a:t>
            </a:r>
            <a:r>
              <a:rPr sz="2200" spc="-25" dirty="0"/>
              <a:t>БАЗА</a:t>
            </a:r>
            <a:r>
              <a:rPr sz="2200" spc="-5" dirty="0"/>
              <a:t> </a:t>
            </a:r>
            <a:r>
              <a:rPr sz="2200" spc="-10" dirty="0"/>
              <a:t>ДАННЫХ</a:t>
            </a:r>
            <a:r>
              <a:rPr sz="2200" dirty="0"/>
              <a:t> </a:t>
            </a:r>
            <a:r>
              <a:rPr sz="2200" spc="-5" dirty="0"/>
              <a:t>И </a:t>
            </a:r>
            <a:r>
              <a:rPr sz="2200" spc="-25" dirty="0"/>
              <a:t>БАЗА</a:t>
            </a:r>
            <a:r>
              <a:rPr sz="2200" spc="-5" dirty="0"/>
              <a:t> </a:t>
            </a:r>
            <a:r>
              <a:rPr sz="2200" spc="-15" dirty="0"/>
              <a:t>БОЛЬШИХ</a:t>
            </a:r>
            <a:r>
              <a:rPr sz="2200" spc="15" dirty="0"/>
              <a:t> </a:t>
            </a:r>
            <a:r>
              <a:rPr sz="2200" spc="-10" dirty="0"/>
              <a:t>ДАННЫХ</a:t>
            </a:r>
            <a:endParaRPr sz="220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607" y="924560"/>
            <a:ext cx="10978777" cy="5256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15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768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8080"/>
                </a:solidFill>
              </a:rPr>
              <a:t>БИЗНЕС-АНАЛИТИКА</a:t>
            </a:r>
            <a:r>
              <a:rPr sz="2400" b="1" spc="30" dirty="0">
                <a:solidFill>
                  <a:srgbClr val="008080"/>
                </a:solidFill>
              </a:rPr>
              <a:t> </a:t>
            </a:r>
            <a:r>
              <a:rPr sz="2400" b="1" dirty="0">
                <a:solidFill>
                  <a:srgbClr val="008080"/>
                </a:solidFill>
              </a:rPr>
              <a:t>И</a:t>
            </a:r>
            <a:r>
              <a:rPr sz="2400" b="1" spc="-20" dirty="0">
                <a:solidFill>
                  <a:srgbClr val="008080"/>
                </a:solidFill>
              </a:rPr>
              <a:t> </a:t>
            </a:r>
            <a:r>
              <a:rPr sz="2400" b="1" spc="-10" dirty="0">
                <a:solidFill>
                  <a:srgbClr val="008080"/>
                </a:solidFill>
              </a:rPr>
              <a:t>БОЛЬШИЕ</a:t>
            </a:r>
            <a:r>
              <a:rPr sz="2400" b="1" spc="-35" dirty="0">
                <a:solidFill>
                  <a:srgbClr val="008080"/>
                </a:solidFill>
              </a:rPr>
              <a:t> </a:t>
            </a:r>
            <a:r>
              <a:rPr sz="2400" b="1" spc="-10" dirty="0">
                <a:solidFill>
                  <a:srgbClr val="008080"/>
                </a:solidFill>
              </a:rPr>
              <a:t>ДАННЫЕ</a:t>
            </a:r>
            <a:endParaRPr sz="2400" b="1" dirty="0">
              <a:solidFill>
                <a:srgbClr val="00808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16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916138"/>
            <a:ext cx="10906760" cy="3882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175" indent="-245110">
              <a:lnSpc>
                <a:spcPts val="3429"/>
              </a:lnSpc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  <a:tab pos="2993390" algn="l"/>
                <a:tab pos="4772025" algn="l"/>
                <a:tab pos="7453630" algn="l"/>
                <a:tab pos="9531350" algn="l"/>
              </a:tabLst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зн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ес-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я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о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ана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endParaRPr sz="2800" dirty="0">
              <a:latin typeface="Arial"/>
              <a:cs typeface="Arial"/>
            </a:endParaRPr>
          </a:p>
          <a:p>
            <a:pPr marL="240029" marR="5715" indent="635" algn="just">
              <a:lnSpc>
                <a:spcPts val="3030"/>
              </a:lnSpc>
              <a:spcBef>
                <a:spcPts val="65"/>
              </a:spcBef>
            </a:pPr>
            <a:r>
              <a:rPr sz="2800" spc="-45" dirty="0">
                <a:solidFill>
                  <a:srgbClr val="3E3E3E"/>
                </a:solidFill>
                <a:latin typeface="Arial"/>
                <a:cs typeface="Arial"/>
              </a:rPr>
              <a:t>результатов,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достигнутых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бизнесом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определенный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период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времени,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между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тем 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как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скорость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обработки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больших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данных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сделать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анализ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предсказательным,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способным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предлагать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бизнесу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рекомендации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 err="1">
                <a:solidFill>
                  <a:srgbClr val="3E3E3E"/>
                </a:solidFill>
                <a:latin typeface="Arial"/>
                <a:cs typeface="Arial"/>
              </a:rPr>
              <a:t>будущее</a:t>
            </a:r>
            <a:r>
              <a:rPr sz="2800" spc="-25" dirty="0" smtClean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lang="ru-RU" sz="2800" spc="-25" dirty="0" smtClean="0">
              <a:solidFill>
                <a:srgbClr val="3E3E3E"/>
              </a:solidFill>
              <a:latin typeface="Arial"/>
              <a:cs typeface="Arial"/>
            </a:endParaRPr>
          </a:p>
          <a:p>
            <a:pPr marL="240029" marR="5715" indent="635" algn="just">
              <a:lnSpc>
                <a:spcPts val="3030"/>
              </a:lnSpc>
              <a:spcBef>
                <a:spcPts val="65"/>
              </a:spcBef>
            </a:pPr>
            <a:endParaRPr sz="2800" dirty="0">
              <a:latin typeface="Arial"/>
              <a:cs typeface="Arial"/>
            </a:endParaRPr>
          </a:p>
          <a:p>
            <a:pPr marL="241300" marR="5080" indent="-229235">
              <a:lnSpc>
                <a:spcPct val="83100"/>
              </a:lnSpc>
              <a:spcBef>
                <a:spcPts val="50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  <a:tab pos="1696720" algn="l"/>
                <a:tab pos="2322830" algn="l"/>
                <a:tab pos="2821305" algn="l"/>
                <a:tab pos="3949065" algn="l"/>
                <a:tab pos="4238625" algn="l"/>
                <a:tab pos="4610100" algn="l"/>
                <a:tab pos="5358765" algn="l"/>
                <a:tab pos="6547484" algn="l"/>
                <a:tab pos="6908165" algn="l"/>
                <a:tab pos="7282180" algn="l"/>
                <a:tab pos="8408670" algn="l"/>
                <a:tab pos="9636125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кже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ь 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ше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ип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сра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внен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нс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ру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би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ес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endParaRPr sz="2800" dirty="0">
              <a:latin typeface="Arial"/>
              <a:cs typeface="Arial"/>
            </a:endParaRPr>
          </a:p>
          <a:p>
            <a:pPr marL="240665" marR="6350" algn="just">
              <a:lnSpc>
                <a:spcPts val="3030"/>
              </a:lnSpc>
              <a:spcBef>
                <a:spcPts val="40"/>
              </a:spcBef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аналитики,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что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дает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возможность фокусироваться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только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структурированных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хранилищах.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53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ОТЛИЧИЕ</a:t>
            </a:r>
            <a:r>
              <a:rPr sz="2400" spc="-35" dirty="0"/>
              <a:t> </a:t>
            </a:r>
            <a:r>
              <a:rPr sz="2400" spc="-10" dirty="0"/>
              <a:t>БОЛЬШИХ</a:t>
            </a:r>
            <a:r>
              <a:rPr sz="2400" spc="-20" dirty="0"/>
              <a:t> </a:t>
            </a:r>
            <a:r>
              <a:rPr sz="2400" spc="-10" dirty="0"/>
              <a:t>ДАННЫХ</a:t>
            </a:r>
            <a:r>
              <a:rPr sz="2400" spc="30" dirty="0"/>
              <a:t> </a:t>
            </a:r>
            <a:r>
              <a:rPr sz="2400" dirty="0"/>
              <a:t>ОТ</a:t>
            </a:r>
            <a:r>
              <a:rPr sz="2400" spc="-30" dirty="0"/>
              <a:t> </a:t>
            </a:r>
            <a:r>
              <a:rPr sz="2400" spc="-5" dirty="0"/>
              <a:t>БИЗНЕС-АНАЛИТИКИ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17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73465"/>
            <a:ext cx="10763250" cy="489037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40665" marR="628015" indent="-228600">
              <a:lnSpc>
                <a:spcPct val="73800"/>
              </a:lnSpc>
              <a:spcBef>
                <a:spcPts val="15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</a:tabLst>
            </a:pP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Мэтт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Слокум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O'Reilly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Radar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считает,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что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хотя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большие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бизнес-аналитика</a:t>
            </a:r>
            <a:r>
              <a:rPr sz="28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имеют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одинаковую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цель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(поиск</a:t>
            </a:r>
            <a:endParaRPr sz="2800" dirty="0">
              <a:latin typeface="Arial"/>
              <a:cs typeface="Arial"/>
            </a:endParaRPr>
          </a:p>
          <a:p>
            <a:pPr marL="241300">
              <a:lnSpc>
                <a:spcPts val="2350"/>
              </a:lnSpc>
            </a:pP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ответов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вопрос),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они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отличаются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друг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друга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трем</a:t>
            </a:r>
            <a:endParaRPr sz="2800" dirty="0">
              <a:latin typeface="Arial"/>
              <a:cs typeface="Arial"/>
            </a:endParaRPr>
          </a:p>
          <a:p>
            <a:pPr marL="241300">
              <a:lnSpc>
                <a:spcPts val="2165"/>
              </a:lnSpc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аспектам.</a:t>
            </a:r>
            <a:endParaRPr sz="2800" dirty="0">
              <a:latin typeface="Arial"/>
              <a:cs typeface="Arial"/>
            </a:endParaRPr>
          </a:p>
          <a:p>
            <a:pPr marL="697865" marR="184785" lvl="1" indent="-228600">
              <a:lnSpc>
                <a:spcPct val="71800"/>
              </a:lnSpc>
              <a:spcBef>
                <a:spcPts val="515"/>
              </a:spcBef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предназначены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обработки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значительных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объемов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информации,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чем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бизнес-аналитика,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это,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конечно,</a:t>
            </a:r>
            <a:endParaRPr sz="2400" dirty="0">
              <a:latin typeface="Arial"/>
              <a:cs typeface="Arial"/>
            </a:endParaRPr>
          </a:p>
          <a:p>
            <a:pPr marL="697865">
              <a:lnSpc>
                <a:spcPts val="1445"/>
              </a:lnSpc>
            </a:pP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соответствует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традиционному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определению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больших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 err="1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400" spc="-10" dirty="0" smtClean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lang="ru-RU" sz="2400" spc="-10" dirty="0" smtClean="0">
              <a:solidFill>
                <a:srgbClr val="3E3E3E"/>
              </a:solidFill>
              <a:latin typeface="Arial"/>
              <a:cs typeface="Arial"/>
            </a:endParaRPr>
          </a:p>
          <a:p>
            <a:pPr marL="697865">
              <a:lnSpc>
                <a:spcPts val="1445"/>
              </a:lnSpc>
            </a:pPr>
            <a:endParaRPr sz="2400" dirty="0">
              <a:latin typeface="Arial"/>
              <a:cs typeface="Arial"/>
            </a:endParaRPr>
          </a:p>
          <a:p>
            <a:pPr marL="697865" marR="513080" lvl="1" indent="-228600">
              <a:lnSpc>
                <a:spcPct val="75700"/>
              </a:lnSpc>
              <a:spcBef>
                <a:spcPts val="320"/>
              </a:spcBef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данные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предназначены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обработки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быстро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получаемых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меняющихся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сведений,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означает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глубокое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исследование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интерактивность.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В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некоторых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случаях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результаты</a:t>
            </a:r>
            <a:endParaRPr sz="2400" dirty="0">
              <a:latin typeface="Arial"/>
              <a:cs typeface="Arial"/>
            </a:endParaRPr>
          </a:p>
          <a:p>
            <a:pPr marL="697865">
              <a:lnSpc>
                <a:spcPts val="1445"/>
              </a:lnSpc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формируются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быстрее,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загружается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 err="1">
                <a:solidFill>
                  <a:srgbClr val="3E3E3E"/>
                </a:solidFill>
                <a:latin typeface="Arial"/>
                <a:cs typeface="Arial"/>
              </a:rPr>
              <a:t>веб-страница</a:t>
            </a:r>
            <a:r>
              <a:rPr sz="2400" spc="-10" dirty="0" smtClean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lang="ru-RU" sz="2400" spc="-10" dirty="0" smtClean="0">
              <a:solidFill>
                <a:srgbClr val="3E3E3E"/>
              </a:solidFill>
              <a:latin typeface="Arial"/>
              <a:cs typeface="Arial"/>
            </a:endParaRPr>
          </a:p>
          <a:p>
            <a:pPr marL="697865">
              <a:lnSpc>
                <a:spcPts val="1445"/>
              </a:lnSpc>
            </a:pPr>
            <a:endParaRPr sz="2400" dirty="0">
              <a:latin typeface="Arial"/>
              <a:cs typeface="Arial"/>
            </a:endParaRPr>
          </a:p>
          <a:p>
            <a:pPr marL="697865" marR="5080" lvl="1" indent="-228600">
              <a:lnSpc>
                <a:spcPct val="77800"/>
              </a:lnSpc>
              <a:spcBef>
                <a:spcPts val="215"/>
              </a:spcBef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Большие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данные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предназначены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обработки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неструктурированных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данных,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способы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использования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которых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мы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только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начинаем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изучать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после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того,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смогли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наладить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сбор 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хранение,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нам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требуются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алгоритмы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возможность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диалога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облегчения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поиска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тенденций,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содержащихся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внутри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этих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массивов.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3515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/>
              <a:t>РАЗНИЦА</a:t>
            </a:r>
            <a:r>
              <a:rPr sz="2400" spc="-55" dirty="0"/>
              <a:t> </a:t>
            </a:r>
            <a:r>
              <a:rPr sz="2400" spc="-20" dirty="0"/>
              <a:t>ПОДХОДОВ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18</a:t>
            </a:fld>
            <a:endParaRPr sz="16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8800" y="931862"/>
          <a:ext cx="11372850" cy="5287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610"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400" b="1" spc="-10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Традиционная</a:t>
                      </a:r>
                      <a:r>
                        <a:rPr sz="2400" b="1" spc="-5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аналитика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400" b="1" spc="-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Big</a:t>
                      </a:r>
                      <a:r>
                        <a:rPr sz="2400" b="1" spc="-3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2400" b="1" spc="-2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1B1B1B"/>
                          </a:solidFill>
                          <a:latin typeface="Arial"/>
                          <a:cs typeface="Arial"/>
                        </a:rPr>
                        <a:t>аналитика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370">
                <a:tc>
                  <a:txBody>
                    <a:bodyPr/>
                    <a:lstStyle/>
                    <a:p>
                      <a:pPr marL="120014" marR="23241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Постепенный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анализ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небольших 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пакетов </a:t>
                      </a:r>
                      <a:r>
                        <a:rPr sz="2400" spc="-53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данных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20014" marR="150749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Обработка</a:t>
                      </a:r>
                      <a:r>
                        <a:rPr sz="2400" spc="-4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сразу</a:t>
                      </a:r>
                      <a:r>
                        <a:rPr sz="2400" spc="-4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всего</a:t>
                      </a:r>
                      <a:r>
                        <a:rPr sz="2400" spc="-4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массива </a:t>
                      </a:r>
                      <a:r>
                        <a:rPr sz="2400" spc="-52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доступных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данных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369">
                <a:tc>
                  <a:txBody>
                    <a:bodyPr/>
                    <a:lstStyle/>
                    <a:p>
                      <a:pPr marL="120014" marR="63944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Редакция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сортировка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данных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перед </a:t>
                      </a:r>
                      <a:r>
                        <a:rPr sz="2400" spc="-53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обработкой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20014" marR="38862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Данные</a:t>
                      </a:r>
                      <a:r>
                        <a:rPr sz="2400" spc="2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обрабатываются</a:t>
                      </a:r>
                      <a:r>
                        <a:rPr sz="2400" spc="-2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в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их</a:t>
                      </a:r>
                      <a:r>
                        <a:rPr sz="2400" spc="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исходном </a:t>
                      </a:r>
                      <a:r>
                        <a:rPr sz="2400" spc="-52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виде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1319">
                <a:tc>
                  <a:txBody>
                    <a:bodyPr/>
                    <a:lstStyle/>
                    <a:p>
                      <a:pPr marL="120014" marR="966469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Старт</a:t>
                      </a:r>
                      <a:r>
                        <a:rPr sz="2400" spc="-4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-2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гипотезы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ее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тестирования </a:t>
                      </a:r>
                      <a:r>
                        <a:rPr sz="2400" spc="-53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относительно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данных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20014" marR="54038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Поиск 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корреляций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 всем данным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до </a:t>
                      </a:r>
                      <a:r>
                        <a:rPr sz="2400" spc="-53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получения искомой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информации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4730">
                <a:tc>
                  <a:txBody>
                    <a:bodyPr/>
                    <a:lstStyle/>
                    <a:p>
                      <a:pPr marL="120014" marR="56007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Данные собираются,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обрабатываются, </a:t>
                      </a:r>
                      <a:r>
                        <a:rPr sz="2400" spc="-53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хранятся</a:t>
                      </a:r>
                      <a:r>
                        <a:rPr sz="2400" spc="-3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2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лишь</a:t>
                      </a:r>
                      <a:r>
                        <a:rPr sz="2400" spc="-2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затем</a:t>
                      </a:r>
                      <a:r>
                        <a:rPr sz="2400" spc="-2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анализируются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20014" marR="14478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Анализ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и 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обработка больших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данных </a:t>
                      </a:r>
                      <a:r>
                        <a:rPr sz="240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в </a:t>
                      </a:r>
                      <a:r>
                        <a:rPr sz="2400" spc="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реальном времени,</a:t>
                      </a:r>
                      <a:r>
                        <a:rPr sz="2400" spc="-10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</a:t>
                      </a:r>
                      <a:r>
                        <a:rPr sz="2400" spc="-1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мере</a:t>
                      </a:r>
                      <a:r>
                        <a:rPr sz="2400" spc="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B1B1B"/>
                          </a:solidFill>
                          <a:latin typeface="Calibri"/>
                          <a:cs typeface="Calibri"/>
                        </a:rPr>
                        <a:t>поступления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1B1B1B"/>
                      </a:solidFill>
                      <a:prstDash val="solid"/>
                    </a:lnL>
                    <a:lnR w="6350">
                      <a:solidFill>
                        <a:srgbClr val="1B1B1B"/>
                      </a:solidFill>
                      <a:prstDash val="solid"/>
                    </a:lnR>
                    <a:lnT w="6350">
                      <a:solidFill>
                        <a:srgbClr val="1B1B1B"/>
                      </a:solidFill>
                      <a:prstDash val="solid"/>
                    </a:lnT>
                    <a:lnB w="6350">
                      <a:solidFill>
                        <a:srgbClr val="1B1B1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26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РАБОТА</a:t>
            </a:r>
            <a:r>
              <a:rPr sz="2400" spc="-10" dirty="0"/>
              <a:t> </a:t>
            </a:r>
            <a:r>
              <a:rPr sz="2400" dirty="0"/>
              <a:t>С</a:t>
            </a:r>
            <a:r>
              <a:rPr sz="2400" spc="-20" dirty="0"/>
              <a:t> </a:t>
            </a:r>
            <a:r>
              <a:rPr sz="2400" spc="-10" dirty="0"/>
              <a:t>БОЛЬШИМИ</a:t>
            </a:r>
            <a:r>
              <a:rPr sz="2400" spc="-35" dirty="0"/>
              <a:t> </a:t>
            </a:r>
            <a:r>
              <a:rPr sz="2400" spc="-10" dirty="0"/>
              <a:t>ДАННЫМИ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19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79561"/>
            <a:ext cx="521843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  <a:tab pos="1574165" algn="l"/>
                <a:tab pos="1981200" algn="l"/>
                <a:tab pos="3815079" algn="l"/>
              </a:tabLst>
            </a:pP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а	с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ль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	да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ым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2336" y="879561"/>
            <a:ext cx="54717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300" algn="l"/>
                <a:tab pos="1972310" algn="l"/>
                <a:tab pos="2580640" algn="l"/>
                <a:tab pos="4210050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не	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ох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а	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а	о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ыч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ый	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про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1196710"/>
            <a:ext cx="10909300" cy="47967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2570" marR="6350" indent="-1270" algn="just">
              <a:lnSpc>
                <a:spcPts val="2500"/>
              </a:lnSpc>
              <a:spcBef>
                <a:spcPts val="705"/>
              </a:spcBef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бизнес-аналитики,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где</a:t>
            </a:r>
            <a:r>
              <a:rPr sz="2600" spc="6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простое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сложение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известных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значений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приносит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3E3E3E"/>
                </a:solidFill>
                <a:latin typeface="Arial"/>
                <a:cs typeface="Arial"/>
              </a:rPr>
              <a:t>результат: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итог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сложения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600" spc="7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об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оплаченных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счетах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становится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объемом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продаж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год.</a:t>
            </a:r>
            <a:endParaRPr sz="2600">
              <a:latin typeface="Arial"/>
              <a:cs typeface="Arial"/>
            </a:endParaRPr>
          </a:p>
          <a:p>
            <a:pPr marL="240029" marR="5080" indent="-227965" algn="just">
              <a:lnSpc>
                <a:spcPct val="78400"/>
              </a:lnSpc>
              <a:spcBef>
                <a:spcPts val="90"/>
              </a:spcBef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При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работе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большими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данными </a:t>
            </a:r>
            <a:r>
              <a:rPr sz="2600" spc="-55" dirty="0">
                <a:solidFill>
                  <a:srgbClr val="3E3E3E"/>
                </a:solidFill>
                <a:latin typeface="Arial"/>
                <a:cs typeface="Arial"/>
              </a:rPr>
              <a:t>результат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получается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процессе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очистки</a:t>
            </a:r>
            <a:r>
              <a:rPr sz="2600" spc="6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путём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последовательного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 моделирования:</a:t>
            </a:r>
            <a:r>
              <a:rPr sz="2600" spc="6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сначала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выдвигается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гипотеза,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строится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статистическая,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визуальная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или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семантическая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модель,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основании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проверяется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верность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выдвинутой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гипотезы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затем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выдвигается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следующая.</a:t>
            </a:r>
            <a:endParaRPr sz="2600">
              <a:latin typeface="Arial"/>
              <a:cs typeface="Arial"/>
            </a:endParaRPr>
          </a:p>
          <a:p>
            <a:pPr marL="240665" marR="5080" indent="-228600" algn="just">
              <a:lnSpc>
                <a:spcPct val="76800"/>
              </a:lnSpc>
              <a:spcBef>
                <a:spcPts val="155"/>
              </a:spcBef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</a:tabLst>
            </a:pP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Этот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процесс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требует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 от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исследователя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либо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интерпретации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визуальных значений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или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составления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интерактивных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запросов 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6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основе</a:t>
            </a:r>
            <a:r>
              <a:rPr sz="2600" spc="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знаний,</a:t>
            </a:r>
            <a:r>
              <a:rPr sz="2600" spc="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либо</a:t>
            </a:r>
            <a:r>
              <a:rPr sz="2600" spc="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разработки</a:t>
            </a:r>
            <a:r>
              <a:rPr sz="2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адаптивных</a:t>
            </a:r>
            <a:r>
              <a:rPr sz="2600" spc="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алгоритмов</a:t>
            </a:r>
            <a:endParaRPr sz="2600">
              <a:latin typeface="Arial"/>
              <a:cs typeface="Arial"/>
            </a:endParaRPr>
          </a:p>
          <a:p>
            <a:pPr marL="241935" marR="5715" indent="-635" algn="just">
              <a:lnSpc>
                <a:spcPct val="80000"/>
              </a:lnSpc>
            </a:pP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`машинного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обучения`,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способных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получить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искомый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75" dirty="0">
                <a:solidFill>
                  <a:srgbClr val="3E3E3E"/>
                </a:solidFill>
                <a:latin typeface="Arial"/>
                <a:cs typeface="Arial"/>
              </a:rPr>
              <a:t>результат. 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Причём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время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жизни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такого</a:t>
            </a:r>
            <a:r>
              <a:rPr sz="2600" spc="6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алгоритма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довольно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коротким.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125278"/>
            <a:ext cx="408051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3505" marR="896619">
              <a:lnSpc>
                <a:spcPts val="2590"/>
              </a:lnSpc>
              <a:spcBef>
                <a:spcPts val="425"/>
              </a:spcBef>
            </a:pPr>
            <a:r>
              <a:rPr sz="2400" dirty="0"/>
              <a:t>К </a:t>
            </a:r>
            <a:r>
              <a:rPr sz="2400" spc="-15" dirty="0"/>
              <a:t>ИСТОЧНИКАМ </a:t>
            </a:r>
            <a:r>
              <a:rPr sz="2400" spc="-10" dirty="0"/>
              <a:t> БОЛЬШИХ</a:t>
            </a:r>
            <a:r>
              <a:rPr sz="2400" spc="-80" dirty="0"/>
              <a:t> </a:t>
            </a:r>
            <a:r>
              <a:rPr sz="2400" spc="-10" dirty="0"/>
              <a:t>ДАННЫХ</a:t>
            </a:r>
            <a:endParaRPr sz="2400"/>
          </a:p>
          <a:p>
            <a:pPr marL="12700">
              <a:lnSpc>
                <a:spcPts val="2555"/>
              </a:lnSpc>
              <a:tabLst>
                <a:tab pos="4067175" algn="l"/>
              </a:tabLst>
            </a:pPr>
            <a:r>
              <a:rPr sz="2400" b="0" u="heavy" spc="120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006666"/>
                  </a:solidFill>
                </a:uFill>
              </a:rPr>
              <a:t>ОТНОСЯТ: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146" y="1250496"/>
            <a:ext cx="3897629" cy="757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5"/>
              </a:spcBef>
              <a:tabLst>
                <a:tab pos="1377950" algn="l"/>
                <a:tab pos="1891664" algn="l"/>
                <a:tab pos="3153410" algn="l"/>
              </a:tabLst>
            </a:pPr>
            <a:r>
              <a:rPr sz="2000" dirty="0">
                <a:latin typeface="Arial"/>
                <a:cs typeface="Arial"/>
              </a:rPr>
              <a:t>И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ер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	—	</a:t>
            </a:r>
            <a:r>
              <a:rPr sz="2000" spc="30" dirty="0">
                <a:latin typeface="Arial"/>
                <a:cs typeface="Arial"/>
              </a:rPr>
              <a:t>с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35" dirty="0">
                <a:latin typeface="Arial"/>
                <a:cs typeface="Arial"/>
              </a:rPr>
              <a:t>ц</a:t>
            </a:r>
            <a:r>
              <a:rPr sz="2000" spc="5" dirty="0">
                <a:latin typeface="Arial"/>
                <a:cs typeface="Arial"/>
              </a:rPr>
              <a:t>с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spc="-10" dirty="0">
                <a:latin typeface="Arial"/>
                <a:cs typeface="Arial"/>
              </a:rPr>
              <a:t>т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	</a:t>
            </a:r>
            <a:r>
              <a:rPr sz="2000" spc="-9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15" dirty="0">
                <a:latin typeface="Arial"/>
                <a:cs typeface="Arial"/>
              </a:rPr>
              <a:t>г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70000"/>
              </a:lnSpc>
              <a:spcBef>
                <a:spcPts val="355"/>
              </a:spcBef>
            </a:pPr>
            <a:r>
              <a:rPr sz="2000" spc="-5" dirty="0">
                <a:latin typeface="Arial"/>
                <a:cs typeface="Arial"/>
              </a:rPr>
              <a:t>СМИ,</a:t>
            </a:r>
            <a:r>
              <a:rPr sz="2000" spc="3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форумы,</a:t>
            </a:r>
            <a:r>
              <a:rPr sz="2000" spc="3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сайты,</a:t>
            </a:r>
            <a:r>
              <a:rPr sz="2000" spc="30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интернет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вещей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(IoT).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9574" y="2016820"/>
            <a:ext cx="1613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46200" algn="l"/>
              </a:tabLst>
            </a:pP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	—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4539" y="2230098"/>
            <a:ext cx="1009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"/>
                <a:cs typeface="Arial"/>
              </a:rPr>
              <a:t>д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spc="1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2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ая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8565" y="2443375"/>
            <a:ext cx="9620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архивы,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9970" y="2443375"/>
            <a:ext cx="603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25" dirty="0">
                <a:latin typeface="Arial"/>
                <a:cs typeface="Arial"/>
              </a:rPr>
              <a:t>а</a:t>
            </a:r>
            <a:r>
              <a:rPr sz="2000" spc="-1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ы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382" y="2016820"/>
            <a:ext cx="1921510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Корпоративные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680"/>
              </a:lnSpc>
            </a:pPr>
            <a:r>
              <a:rPr sz="2000" spc="-5" dirty="0">
                <a:latin typeface="Arial"/>
                <a:cs typeface="Arial"/>
              </a:rPr>
              <a:t>транзакционная</a:t>
            </a:r>
            <a:endParaRPr sz="2000">
              <a:latin typeface="Arial"/>
              <a:cs typeface="Arial"/>
            </a:endParaRPr>
          </a:p>
          <a:p>
            <a:pPr marL="12700" marR="314325">
              <a:lnSpc>
                <a:spcPct val="70000"/>
              </a:lnSpc>
              <a:spcBef>
                <a:spcPts val="355"/>
              </a:spcBef>
            </a:pPr>
            <a:r>
              <a:rPr sz="2000" spc="-5" dirty="0">
                <a:latin typeface="Arial"/>
                <a:cs typeface="Arial"/>
              </a:rPr>
              <a:t>ин</a:t>
            </a:r>
            <a:r>
              <a:rPr sz="2000" spc="-10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орм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ц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spc="-10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,  </a:t>
            </a:r>
            <a:r>
              <a:rPr sz="2000" spc="-5" dirty="0">
                <a:latin typeface="Arial"/>
                <a:cs typeface="Arial"/>
              </a:rPr>
              <a:t>данных.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128" y="2997948"/>
            <a:ext cx="30448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3725" algn="l"/>
              </a:tabLst>
            </a:pPr>
            <a:r>
              <a:rPr sz="2000" dirty="0">
                <a:latin typeface="Arial"/>
                <a:cs typeface="Arial"/>
              </a:rPr>
              <a:t>Показания	</a:t>
            </a:r>
            <a:r>
              <a:rPr sz="2000" spc="-10" dirty="0">
                <a:latin typeface="Arial"/>
                <a:cs typeface="Arial"/>
              </a:rPr>
              <a:t>устройств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2432" y="2997948"/>
            <a:ext cx="28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—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873" y="3211226"/>
            <a:ext cx="3896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8745" algn="l"/>
                <a:tab pos="2823845" algn="l"/>
                <a:tab pos="3206750" algn="l"/>
              </a:tabLst>
            </a:pPr>
            <a:r>
              <a:rPr sz="2000" spc="-5" dirty="0">
                <a:latin typeface="Arial"/>
                <a:cs typeface="Arial"/>
              </a:rPr>
              <a:t>д</a:t>
            </a:r>
            <a:r>
              <a:rPr sz="2000" spc="-50" dirty="0">
                <a:latin typeface="Arial"/>
                <a:cs typeface="Arial"/>
              </a:rPr>
              <a:t>а</a:t>
            </a:r>
            <a:r>
              <a:rPr sz="2000" spc="-1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ч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в,	</a:t>
            </a:r>
            <a:r>
              <a:rPr sz="2000" spc="-2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р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бо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ов,	а	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к</a:t>
            </a:r>
            <a:r>
              <a:rPr sz="2000" spc="-10" dirty="0">
                <a:latin typeface="Arial"/>
                <a:cs typeface="Arial"/>
              </a:rPr>
              <a:t>ж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873" y="3424503"/>
            <a:ext cx="23272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метеорологические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6681" y="3424503"/>
            <a:ext cx="9880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нны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619" y="3637781"/>
            <a:ext cx="33039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данные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сотовой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связи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т.д.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5110" y="3977549"/>
            <a:ext cx="3896360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  <a:tabLst>
                <a:tab pos="2990215" algn="l"/>
              </a:tabLst>
            </a:pPr>
            <a:r>
              <a:rPr sz="2000" dirty="0">
                <a:latin typeface="Arial"/>
                <a:cs typeface="Arial"/>
              </a:rPr>
              <a:t>Э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5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к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	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 компании,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региона,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государства.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855" y="4530595"/>
            <a:ext cx="38995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0"/>
              </a:spcBef>
              <a:tabLst>
                <a:tab pos="655320" algn="l"/>
                <a:tab pos="1385570" algn="l"/>
                <a:tab pos="2368550" algn="l"/>
                <a:tab pos="3496310" algn="l"/>
              </a:tabLst>
            </a:pPr>
            <a:r>
              <a:rPr sz="2000" dirty="0">
                <a:latin typeface="Arial"/>
                <a:cs typeface="Arial"/>
              </a:rPr>
              <a:t>При	</a:t>
            </a:r>
            <a:r>
              <a:rPr sz="2000" spc="-25" dirty="0">
                <a:latin typeface="Arial"/>
                <a:cs typeface="Arial"/>
              </a:rPr>
              <a:t>этом	</a:t>
            </a:r>
            <a:r>
              <a:rPr sz="2000" spc="-15" dirty="0">
                <a:latin typeface="Arial"/>
                <a:cs typeface="Arial"/>
              </a:rPr>
              <a:t>нельзя	</a:t>
            </a:r>
            <a:r>
              <a:rPr sz="2000" spc="-10" dirty="0">
                <a:latin typeface="Arial"/>
                <a:cs typeface="Arial"/>
              </a:rPr>
              <a:t>сказать,	</a:t>
            </a:r>
            <a:r>
              <a:rPr sz="2000" spc="-25" dirty="0">
                <a:latin typeface="Arial"/>
                <a:cs typeface="Arial"/>
              </a:rPr>
              <a:t>что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70000"/>
              </a:lnSpc>
              <a:spcBef>
                <a:spcPts val="360"/>
              </a:spcBef>
              <a:tabLst>
                <a:tab pos="680085" algn="l"/>
                <a:tab pos="1042669" algn="l"/>
                <a:tab pos="1448435" algn="l"/>
                <a:tab pos="2096135" algn="l"/>
                <a:tab pos="2851785" algn="l"/>
                <a:tab pos="3098800" algn="l"/>
                <a:tab pos="3385185" algn="l"/>
              </a:tabLst>
            </a:pPr>
            <a:r>
              <a:rPr sz="2000" dirty="0">
                <a:latin typeface="Arial"/>
                <a:cs typeface="Arial"/>
              </a:rPr>
              <a:t>е</a:t>
            </a:r>
            <a:r>
              <a:rPr sz="2000" spc="5" dirty="0">
                <a:latin typeface="Arial"/>
                <a:cs typeface="Arial"/>
              </a:rPr>
              <a:t>с</a:t>
            </a:r>
            <a:r>
              <a:rPr sz="2000" spc="-1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	</a:t>
            </a:r>
            <a:r>
              <a:rPr sz="2000" spc="-50" dirty="0">
                <a:latin typeface="Arial"/>
                <a:cs typeface="Arial"/>
              </a:rPr>
              <a:t>о</a:t>
            </a:r>
            <a:r>
              <a:rPr sz="2000" spc="-80" dirty="0">
                <a:latin typeface="Arial"/>
                <a:cs typeface="Arial"/>
              </a:rPr>
              <a:t>т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ые	в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ы	</a:t>
            </a:r>
            <a:r>
              <a:rPr sz="2000" spc="-10" dirty="0">
                <a:latin typeface="Arial"/>
                <a:cs typeface="Arial"/>
              </a:rPr>
              <a:t>б</a:t>
            </a:r>
            <a:r>
              <a:rPr sz="2000" spc="-50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-15" dirty="0">
                <a:latin typeface="Arial"/>
                <a:cs typeface="Arial"/>
              </a:rPr>
              <a:t>ш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  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нны</a:t>
            </a:r>
            <a:r>
              <a:rPr sz="2000" dirty="0">
                <a:latin typeface="Arial"/>
                <a:cs typeface="Arial"/>
              </a:rPr>
              <a:t>х	—	</a:t>
            </a:r>
            <a:r>
              <a:rPr sz="2000" spc="5" dirty="0">
                <a:latin typeface="Arial"/>
                <a:cs typeface="Arial"/>
              </a:rPr>
              <a:t>с</a:t>
            </a:r>
            <a:r>
              <a:rPr sz="2000" spc="-10" dirty="0">
                <a:latin typeface="Arial"/>
                <a:cs typeface="Arial"/>
              </a:rPr>
              <a:t>ут</a:t>
            </a:r>
            <a:r>
              <a:rPr sz="2000" dirty="0">
                <a:latin typeface="Arial"/>
                <a:cs typeface="Arial"/>
              </a:rPr>
              <a:t>ь	</a:t>
            </a:r>
            <a:r>
              <a:rPr sz="2000" spc="-5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-50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	в	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ом,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5110" y="5170428"/>
            <a:ext cx="38976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8665" algn="l"/>
                <a:tab pos="1379220" algn="l"/>
                <a:tab pos="3116580" algn="l"/>
              </a:tabLst>
            </a:pPr>
            <a:r>
              <a:rPr sz="2000" dirty="0">
                <a:latin typeface="Arial"/>
                <a:cs typeface="Arial"/>
              </a:rPr>
              <a:t>ч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	он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б</a:t>
            </a:r>
            <a:r>
              <a:rPr sz="2000" spc="-5" dirty="0">
                <a:latin typeface="Arial"/>
                <a:cs typeface="Arial"/>
              </a:rPr>
              <a:t>ъ</a:t>
            </a:r>
            <a:r>
              <a:rPr sz="2000" spc="-50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диня</a:t>
            </a:r>
            <a:r>
              <a:rPr sz="2000" spc="-70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	</a:t>
            </a:r>
            <a:r>
              <a:rPr sz="2000" spc="5" dirty="0">
                <a:latin typeface="Arial"/>
                <a:cs typeface="Arial"/>
              </a:rPr>
              <a:t>с</a:t>
            </a:r>
            <a:r>
              <a:rPr sz="2000" dirty="0">
                <a:latin typeface="Arial"/>
                <a:cs typeface="Arial"/>
              </a:rPr>
              <a:t>ам</a:t>
            </a:r>
            <a:r>
              <a:rPr sz="2000" spc="-15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4855" y="5383706"/>
            <a:ext cx="389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1790" algn="l"/>
                <a:tab pos="2531110" algn="l"/>
                <a:tab pos="3742690" algn="l"/>
              </a:tabLst>
            </a:pPr>
            <a:r>
              <a:rPr sz="2000" dirty="0">
                <a:latin typeface="Arial"/>
                <a:cs typeface="Arial"/>
              </a:rPr>
              <a:t>р</a:t>
            </a:r>
            <a:r>
              <a:rPr sz="2000" spc="-2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зл</a:t>
            </a:r>
            <a:r>
              <a:rPr sz="2000" spc="-5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ч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ые	</a:t>
            </a:r>
            <a:r>
              <a:rPr sz="2000" spc="-10" dirty="0">
                <a:latin typeface="Arial"/>
                <a:cs typeface="Arial"/>
              </a:rPr>
              <a:t>т</a:t>
            </a:r>
            <a:r>
              <a:rPr sz="2000" spc="-5" dirty="0">
                <a:latin typeface="Arial"/>
                <a:cs typeface="Arial"/>
              </a:rPr>
              <a:t>ип</a:t>
            </a:r>
            <a:r>
              <a:rPr sz="2000" dirty="0">
                <a:latin typeface="Arial"/>
                <a:cs typeface="Arial"/>
              </a:rPr>
              <a:t>ы	</a:t>
            </a:r>
            <a:r>
              <a:rPr sz="2000" spc="-5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нны</a:t>
            </a:r>
            <a:r>
              <a:rPr sz="2000" dirty="0">
                <a:latin typeface="Arial"/>
                <a:cs typeface="Arial"/>
              </a:rPr>
              <a:t>х	и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4346" y="5596984"/>
            <a:ext cx="3898265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  <a:tabLst>
                <a:tab pos="1325880" algn="l"/>
                <a:tab pos="1713230" algn="l"/>
                <a:tab pos="2251075" algn="l"/>
                <a:tab pos="3179445" algn="l"/>
              </a:tabLst>
            </a:pPr>
            <a:r>
              <a:rPr sz="2000" spc="-5" dirty="0">
                <a:latin typeface="Arial"/>
                <a:cs typeface="Arial"/>
              </a:rPr>
              <a:t>и</a:t>
            </a:r>
            <a:r>
              <a:rPr sz="2000" spc="-10" dirty="0">
                <a:latin typeface="Arial"/>
                <a:cs typeface="Arial"/>
              </a:rPr>
              <a:t>з</a:t>
            </a:r>
            <a:r>
              <a:rPr sz="2000" spc="-50" dirty="0">
                <a:latin typeface="Arial"/>
                <a:cs typeface="Arial"/>
              </a:rPr>
              <a:t>в</a:t>
            </a:r>
            <a:r>
              <a:rPr sz="2000" spc="-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5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7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	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	</a:t>
            </a:r>
            <a:r>
              <a:rPr sz="2000" spc="-5" dirty="0">
                <a:latin typeface="Arial"/>
                <a:cs typeface="Arial"/>
              </a:rPr>
              <a:t>ни</a:t>
            </a:r>
            <a:r>
              <a:rPr sz="2000" dirty="0">
                <a:latin typeface="Arial"/>
                <a:cs typeface="Arial"/>
              </a:rPr>
              <a:t>х	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в</a:t>
            </a:r>
            <a:r>
              <a:rPr sz="2000" spc="-10" dirty="0">
                <a:latin typeface="Arial"/>
                <a:cs typeface="Arial"/>
              </a:rPr>
              <a:t>у</a:t>
            </a:r>
            <a:r>
              <a:rPr sz="2000" spc="-20" dirty="0">
                <a:latin typeface="Arial"/>
                <a:cs typeface="Arial"/>
              </a:rPr>
              <a:t>ю</a:t>
            </a:r>
            <a:r>
              <a:rPr sz="2000" dirty="0">
                <a:latin typeface="Arial"/>
                <a:cs typeface="Arial"/>
              </a:rPr>
              <a:t>,	р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ее  </a:t>
            </a:r>
            <a:r>
              <a:rPr sz="2000" spc="-5" dirty="0">
                <a:latin typeface="Arial"/>
                <a:cs typeface="Arial"/>
              </a:rPr>
              <a:t>недоступную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информацию.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9776" y="1686459"/>
            <a:ext cx="7283561" cy="428020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20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24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БОЛЬШИЕ</a:t>
            </a:r>
            <a:r>
              <a:rPr sz="2400" spc="-25" dirty="0"/>
              <a:t> </a:t>
            </a:r>
            <a:r>
              <a:rPr sz="2400" spc="-10" dirty="0"/>
              <a:t>ДАННЫЕ</a:t>
            </a:r>
            <a:r>
              <a:rPr sz="2400" spc="10" dirty="0"/>
              <a:t> </a:t>
            </a:r>
            <a:r>
              <a:rPr sz="2400" dirty="0"/>
              <a:t>≠</a:t>
            </a:r>
            <a:r>
              <a:rPr sz="2400" spc="-15" dirty="0"/>
              <a:t> </a:t>
            </a:r>
            <a:r>
              <a:rPr sz="2400" spc="-25" dirty="0"/>
              <a:t>НАУКА</a:t>
            </a:r>
            <a:r>
              <a:rPr sz="2400" spc="5" dirty="0"/>
              <a:t> </a:t>
            </a:r>
            <a:r>
              <a:rPr sz="2400" dirty="0"/>
              <a:t>О</a:t>
            </a:r>
            <a:r>
              <a:rPr sz="2400" spc="-20" dirty="0"/>
              <a:t> </a:t>
            </a:r>
            <a:r>
              <a:rPr sz="2400" spc="-10" dirty="0"/>
              <a:t>ДАННЫХ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21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73466"/>
            <a:ext cx="3997960" cy="695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Большие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(Big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Data)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это: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ETL\ELT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400" y="1554693"/>
            <a:ext cx="10273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Технологии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хранения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больших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объемов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структурированных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не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структурированных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1767970"/>
            <a:ext cx="6151880" cy="4099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Технологии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обработки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таких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Управление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качеством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Технологии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предоставления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потребителю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0"/>
              </a:spcBef>
            </a:pP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Наука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(Data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Science)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это: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видео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текстов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000" spc="-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речи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Построение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рекомендательных</a:t>
            </a:r>
            <a:r>
              <a:rPr sz="2000" spc="-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моделей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Сегментация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Кластеризация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т.д.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484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008080"/>
                </a:solidFill>
              </a:rPr>
              <a:t>МЕТОДИКИ</a:t>
            </a:r>
            <a:r>
              <a:rPr sz="2400" spc="-25" dirty="0">
                <a:solidFill>
                  <a:srgbClr val="008080"/>
                </a:solidFill>
              </a:rPr>
              <a:t> </a:t>
            </a:r>
            <a:r>
              <a:rPr sz="2400" spc="-5" dirty="0">
                <a:solidFill>
                  <a:srgbClr val="008080"/>
                </a:solidFill>
              </a:rPr>
              <a:t>АНАЛИЗА</a:t>
            </a:r>
            <a:r>
              <a:rPr sz="2400" spc="20" dirty="0">
                <a:solidFill>
                  <a:srgbClr val="008080"/>
                </a:solidFill>
              </a:rPr>
              <a:t> </a:t>
            </a:r>
            <a:r>
              <a:rPr sz="2400" spc="-10" dirty="0">
                <a:solidFill>
                  <a:srgbClr val="008080"/>
                </a:solidFill>
              </a:rPr>
              <a:t>БОЛЬШИХ</a:t>
            </a:r>
            <a:r>
              <a:rPr sz="2400" spc="-30" dirty="0">
                <a:solidFill>
                  <a:srgbClr val="008080"/>
                </a:solidFill>
              </a:rPr>
              <a:t> </a:t>
            </a:r>
            <a:r>
              <a:rPr sz="2400" spc="-10" dirty="0">
                <a:solidFill>
                  <a:srgbClr val="008080"/>
                </a:solidFill>
              </a:rPr>
              <a:t>ДАННЫХ</a:t>
            </a:r>
            <a:endParaRPr sz="2400" dirty="0">
              <a:solidFill>
                <a:srgbClr val="008080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22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46034"/>
            <a:ext cx="1090549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  <a:tab pos="2232660" algn="l"/>
                <a:tab pos="4067810" algn="l"/>
                <a:tab pos="6591300" algn="l"/>
                <a:tab pos="8002270" algn="l"/>
                <a:tab pos="9431655" algn="l"/>
              </a:tabLst>
            </a:pP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Существует	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множество	разнообразных	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методик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анализа	массивов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670" y="1123498"/>
            <a:ext cx="1068006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8110" algn="l"/>
                <a:tab pos="1703705" algn="l"/>
                <a:tab pos="2917190" algn="l"/>
                <a:tab pos="4300855" algn="l"/>
                <a:tab pos="5368925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данных,	в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основе	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которых	лежит	инструментарий,</a:t>
            </a:r>
            <a:r>
              <a:rPr sz="26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заимствованный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008" y="1400962"/>
            <a:ext cx="97707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статистики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информатики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(например,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машинное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обучение).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00" y="1804629"/>
            <a:ext cx="10909935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Список</a:t>
            </a:r>
            <a:r>
              <a:rPr sz="2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600" spc="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претендует</a:t>
            </a:r>
            <a:r>
              <a:rPr sz="2600" spc="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600" spc="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полноту,</a:t>
            </a:r>
            <a:r>
              <a:rPr sz="2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однако</a:t>
            </a:r>
            <a:r>
              <a:rPr sz="2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spc="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нем</a:t>
            </a:r>
            <a:r>
              <a:rPr sz="2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отражены</a:t>
            </a:r>
            <a:r>
              <a:rPr sz="2600" spc="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наиболее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323" y="2082093"/>
            <a:ext cx="75806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востребованные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различных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отраслях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подходы.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00" y="2485857"/>
            <a:ext cx="1090549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  <a:tab pos="1156970" algn="l"/>
                <a:tab pos="2185035" algn="l"/>
                <a:tab pos="3707129" algn="l"/>
                <a:tab pos="5565140" algn="l"/>
                <a:tab pos="6377305" algn="l"/>
                <a:tab pos="8992235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При	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этом	следует	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понимать,	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что	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исследователи	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продолжают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008" y="2763321"/>
            <a:ext cx="10680700" cy="6997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 indent="-635">
              <a:lnSpc>
                <a:spcPct val="70000"/>
              </a:lnSpc>
              <a:spcBef>
                <a:spcPts val="1040"/>
              </a:spcBef>
              <a:tabLst>
                <a:tab pos="1618615" algn="l"/>
                <a:tab pos="2404745" algn="l"/>
                <a:tab pos="4277995" algn="l"/>
                <a:tab pos="5450205" algn="l"/>
                <a:tab pos="6922770" algn="l"/>
                <a:tab pos="7331075" algn="l"/>
              </a:tabLst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ь	над	</a:t>
            </a:r>
            <a:r>
              <a:rPr sz="26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8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да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ем	но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вы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spc="-8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к	и	</a:t>
            </a:r>
            <a:r>
              <a:rPr sz="26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ен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ем 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существующих.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400" y="3445977"/>
            <a:ext cx="1090803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  <a:tab pos="1411605" algn="l"/>
                <a:tab pos="2328545" algn="l"/>
                <a:tab pos="4157345" algn="l"/>
                <a:tab pos="4690745" algn="l"/>
                <a:tab pos="7277100" algn="l"/>
                <a:tab pos="8006715" algn="l"/>
                <a:tab pos="9450070" algn="l"/>
                <a:tab pos="10527665" algn="l"/>
              </a:tabLst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	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,	не</a:t>
            </a:r>
            <a:r>
              <a:rPr sz="2600" spc="2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з	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пер</a:t>
            </a:r>
            <a:r>
              <a:rPr sz="26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сл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енных	н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к	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се	не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670" y="3723441"/>
            <a:ext cx="10678160" cy="6997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  <a:tabLst>
                <a:tab pos="449580" algn="l"/>
                <a:tab pos="1974850" algn="l"/>
                <a:tab pos="4663440" algn="l"/>
                <a:tab pos="5500370" algn="l"/>
                <a:tab pos="7150734" algn="l"/>
                <a:tab pos="7784465" algn="l"/>
                <a:tab pos="9204960" algn="l"/>
              </a:tabLst>
            </a:pP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обязательно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применимы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исключительно</a:t>
            </a:r>
            <a:r>
              <a:rPr sz="2600" spc="6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к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большим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данным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 могут </a:t>
            </a:r>
            <a:r>
              <a:rPr sz="2600" spc="-7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	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сп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сп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ля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ньш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	о</a:t>
            </a:r>
            <a:r>
              <a:rPr sz="2600" spc="-9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ъем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у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spc="1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670" y="4278369"/>
            <a:ext cx="84632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(например,</a:t>
            </a:r>
            <a:r>
              <a:rPr sz="26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A/B-тестирование,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регрессионный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анализ).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7400" y="4681941"/>
            <a:ext cx="10907395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325"/>
              </a:lnSpc>
              <a:buClr>
                <a:srgbClr val="006666"/>
              </a:buClr>
              <a:buSzPct val="146153"/>
              <a:buFont typeface="Wingdings"/>
              <a:buChar char=""/>
              <a:tabLst>
                <a:tab pos="241300" algn="l"/>
                <a:tab pos="2308860" algn="l"/>
                <a:tab pos="3078480" algn="l"/>
                <a:tab pos="4192270" algn="l"/>
                <a:tab pos="5963285" algn="l"/>
                <a:tab pos="6334125" algn="l"/>
                <a:tab pos="9790430" algn="l"/>
              </a:tabLst>
            </a:pP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но,	ч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лее	о</a:t>
            </a:r>
            <a:r>
              <a:rPr sz="2600" spc="-10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ъе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ный	и	д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рс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ф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иц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ый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асс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000" y="4959405"/>
            <a:ext cx="10677525" cy="6997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  <a:tabLst>
                <a:tab pos="2255520" algn="l"/>
                <a:tab pos="3744595" algn="l"/>
                <a:tab pos="4493895" algn="l"/>
                <a:tab pos="5612765" algn="l"/>
                <a:tab pos="6904990" algn="l"/>
                <a:tab pos="7281545" algn="l"/>
                <a:tab pos="9500870" algn="l"/>
              </a:tabLst>
            </a:pP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я	ан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600" spc="-26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лее	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чные	и	р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ле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ан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ные	дан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ые 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удается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получить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выходе.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23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84134"/>
            <a:ext cx="1051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A/B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testing.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Методика,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которой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контрольная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выборка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поочередно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сравнивается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другими.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Тем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000" y="1076158"/>
            <a:ext cx="10086340" cy="87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самым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удается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выявить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оптимальную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комбинацию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показателей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достижения,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510"/>
              </a:lnSpc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наилучшей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ответной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реакции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потребителей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маркетинговое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предложение.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Большие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endParaRPr sz="1800">
              <a:latin typeface="Arial"/>
              <a:cs typeface="Arial"/>
            </a:endParaRPr>
          </a:p>
          <a:p>
            <a:pPr marL="12700" marR="102870">
              <a:lnSpc>
                <a:spcPct val="70000"/>
              </a:lnSpc>
              <a:spcBef>
                <a:spcPts val="320"/>
              </a:spcBef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позволяют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провести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огромное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количество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итераций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таким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образом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получить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статистически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достоверный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результат.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1970745"/>
            <a:ext cx="1072959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7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Association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rule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learning.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Набор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для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выявления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взаимосвязей,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т.е.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ассоциативных правил,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переменными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величинами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больших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массивах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mining.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00" y="2481285"/>
            <a:ext cx="974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Classification.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предсказать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поведение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потребителей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000" y="2673309"/>
            <a:ext cx="10387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определенном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сегменте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рынка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(принятие решений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покупке,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отток,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объем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потребления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проч.).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000" y="2865333"/>
            <a:ext cx="296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mining.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400" y="3185373"/>
            <a:ext cx="1039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Cluster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analysis.</a:t>
            </a:r>
            <a:r>
              <a:rPr sz="18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Статистический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метод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классификации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объектов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группам</a:t>
            </a:r>
            <a:r>
              <a:rPr sz="18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счет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выявления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400" y="3377397"/>
            <a:ext cx="8438515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наперед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известных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общих признаков.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mining.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Crowdsourcing.</a:t>
            </a:r>
            <a:r>
              <a:rPr sz="1800" spc="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Методика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сбора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большого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количества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источников.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7400" y="4014429"/>
            <a:ext cx="1048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fusion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and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integration.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который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анализировать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комментарии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229" y="4206453"/>
            <a:ext cx="10039350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пользователей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социальных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сетей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сопоставлять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результатами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продаж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режиме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реального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времени.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7400" y="4718517"/>
            <a:ext cx="9925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mining.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определить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наиболее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восприимчивые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для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000" y="4910541"/>
            <a:ext cx="996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продвигаемого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продукта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услуги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категории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потребителей,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выявить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особенности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наиболее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400" y="5102565"/>
            <a:ext cx="10614025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успешных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работников,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предсказать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поведенческую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модель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потребителей.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Ensemble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learning.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методе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задействуется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предикативных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моделей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счет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чего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6000" y="5613105"/>
            <a:ext cx="4748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повышается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качество сделанных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прогнозов.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7400" y="884133"/>
            <a:ext cx="11428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Genetic</a:t>
            </a:r>
            <a:r>
              <a:rPr sz="1800" spc="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algorithms.</a:t>
            </a:r>
            <a:r>
              <a:rPr sz="1800" spc="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этой</a:t>
            </a:r>
            <a:r>
              <a:rPr sz="1800" spc="3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методике</a:t>
            </a:r>
            <a:r>
              <a:rPr sz="1800" spc="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возможные</a:t>
            </a:r>
            <a:r>
              <a:rPr sz="1800" spc="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решения</a:t>
            </a:r>
            <a:r>
              <a:rPr sz="1800" spc="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представляют</a:t>
            </a:r>
            <a:r>
              <a:rPr sz="1800" spc="3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виде</a:t>
            </a:r>
            <a:r>
              <a:rPr sz="1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`хромосом`,</a:t>
            </a:r>
            <a:r>
              <a:rPr sz="1800" spc="4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2847" y="6461825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000" y="1076157"/>
            <a:ext cx="1120203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indent="-635">
              <a:lnSpc>
                <a:spcPct val="70000"/>
              </a:lnSpc>
              <a:spcBef>
                <a:spcPts val="745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могут</a:t>
            </a:r>
            <a:r>
              <a:rPr sz="1800" spc="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комбинироваться</a:t>
            </a:r>
            <a:r>
              <a:rPr sz="1800" spc="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мутировать.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1800" spc="3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3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процессе</a:t>
            </a:r>
            <a:r>
              <a:rPr sz="1800" spc="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естественной</a:t>
            </a:r>
            <a:r>
              <a:rPr sz="1800" spc="3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эволюции,</a:t>
            </a:r>
            <a:r>
              <a:rPr sz="1800" spc="3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выживает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наиболее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приспособленная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особь.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400" y="1586697"/>
            <a:ext cx="1143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337945" algn="l"/>
                <a:tab pos="2447925" algn="l"/>
                <a:tab pos="4112260" algn="l"/>
                <a:tab pos="4467225" algn="l"/>
                <a:tab pos="6137275" algn="l"/>
                <a:tab pos="7757795" algn="l"/>
                <a:tab pos="8223884" algn="l"/>
                <a:tab pos="8868410" algn="l"/>
                <a:tab pos="1043559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h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l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ea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ng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ние	в	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форм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ти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е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ки	за	ним	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акре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ь	н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229" y="1778721"/>
            <a:ext cx="1120203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indent="-635">
              <a:lnSpc>
                <a:spcPct val="70000"/>
              </a:lnSpc>
              <a:spcBef>
                <a:spcPts val="745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`искусственный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интеллект`),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которое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преследует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цель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создания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алгоритмов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самообучения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основе </a:t>
            </a:r>
            <a:r>
              <a:rPr sz="1800" spc="-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анализа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эмпирических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00" y="2289260"/>
            <a:ext cx="1143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111250" algn="l"/>
                <a:tab pos="2186940" algn="l"/>
                <a:tab pos="3427095" algn="l"/>
                <a:tab pos="4222750" algn="l"/>
                <a:tab pos="5033645" algn="l"/>
                <a:tab pos="6929755" algn="l"/>
                <a:tab pos="7296784" algn="l"/>
                <a:tab pos="8866505" algn="l"/>
                <a:tab pos="9128125" algn="l"/>
                <a:tab pos="10558145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Na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u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l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an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g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u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P).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р	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ст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х	из	ин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форм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тики	и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ингвис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315" y="2481284"/>
            <a:ext cx="5006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распознавания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естественного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языка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человека.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00" y="2801325"/>
            <a:ext cx="1143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Network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analysis.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</a:t>
            </a:r>
            <a:r>
              <a:rPr sz="1800" spc="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анализа</a:t>
            </a:r>
            <a:r>
              <a:rPr sz="1800" spc="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связей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узлами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сетях.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Применительно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социальным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000" y="2993349"/>
            <a:ext cx="1120203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  <a:tabLst>
                <a:tab pos="831215" algn="l"/>
                <a:tab pos="2106295" algn="l"/>
                <a:tab pos="3896995" algn="l"/>
                <a:tab pos="5450205" algn="l"/>
                <a:tab pos="6330950" algn="l"/>
                <a:tab pos="7830184" algn="l"/>
                <a:tab pos="9825355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изи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ть	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зи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у	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6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ны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и,	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 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сообществами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т.п.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400" y="3503889"/>
            <a:ext cx="1143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Optimization.</a:t>
            </a:r>
            <a:r>
              <a:rPr sz="1800" spc="3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3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численных</a:t>
            </a:r>
            <a:r>
              <a:rPr sz="1800" spc="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методов</a:t>
            </a:r>
            <a:r>
              <a:rPr sz="1800" spc="3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800" spc="3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редизайна</a:t>
            </a:r>
            <a:r>
              <a:rPr sz="1800" spc="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сложных</a:t>
            </a:r>
            <a:r>
              <a:rPr sz="1800" spc="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1800" spc="3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3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процессов</a:t>
            </a:r>
            <a:r>
              <a:rPr sz="1800" spc="3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улучшения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000" y="3695913"/>
            <a:ext cx="1119949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indent="-635">
              <a:lnSpc>
                <a:spcPct val="70000"/>
              </a:lnSpc>
              <a:spcBef>
                <a:spcPts val="745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одного</a:t>
            </a:r>
            <a:r>
              <a:rPr sz="1800" spc="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нескольких</a:t>
            </a:r>
            <a:r>
              <a:rPr sz="1800" spc="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показателей.</a:t>
            </a:r>
            <a:r>
              <a:rPr sz="18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Помогает</a:t>
            </a:r>
            <a:r>
              <a:rPr sz="18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принятии</a:t>
            </a:r>
            <a:r>
              <a:rPr sz="1800" spc="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стратегических</a:t>
            </a:r>
            <a:r>
              <a:rPr sz="1800" spc="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решений,</a:t>
            </a:r>
            <a:r>
              <a:rPr sz="1800" spc="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1800" spc="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состава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выводимой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рынок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продуктовой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линейки,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проведении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инвестиционного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анализа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проч.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400" y="4206453"/>
            <a:ext cx="1143063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665" marR="5080" indent="-228600">
              <a:lnSpc>
                <a:spcPct val="70000"/>
              </a:lnSpc>
              <a:spcBef>
                <a:spcPts val="7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127760" algn="l"/>
                <a:tab pos="2458085" algn="l"/>
                <a:tab pos="3286125" algn="l"/>
                <a:tab pos="4297680" algn="l"/>
                <a:tab pos="4559935" algn="l"/>
                <a:tab pos="6006465" algn="l"/>
                <a:tab pos="7672070" algn="l"/>
                <a:tab pos="8214359" algn="l"/>
                <a:tab pos="982218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tt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rn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r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g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on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р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	с	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э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бу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ния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ния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й 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потребителей.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7400" y="4718517"/>
            <a:ext cx="1142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390015" algn="l"/>
                <a:tab pos="2528570" algn="l"/>
                <a:tab pos="3352800" algn="l"/>
                <a:tab pos="4424680" algn="l"/>
                <a:tab pos="5442585" algn="l"/>
                <a:tab pos="6715125" algn="l"/>
                <a:tab pos="7682865" algn="l"/>
                <a:tab pos="9598660" algn="l"/>
                <a:tab pos="10530205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Predictive	modeling.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которые	позволяют	создать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математическую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модель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наперед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458" y="4910541"/>
            <a:ext cx="11201400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3335" marR="5080" indent="-1270">
              <a:lnSpc>
                <a:spcPct val="70000"/>
              </a:lnSpc>
              <a:spcBef>
                <a:spcPts val="745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заданного</a:t>
            </a:r>
            <a:r>
              <a:rPr sz="1800" spc="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вероятного</a:t>
            </a:r>
            <a:r>
              <a:rPr sz="1800" spc="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сценария</a:t>
            </a:r>
            <a:r>
              <a:rPr sz="1800" spc="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развития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событий.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1800" spc="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анализ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базы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CRM-системы</a:t>
            </a:r>
            <a:r>
              <a:rPr sz="1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предмет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возможных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условий,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подтолкнут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абоненты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сменить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провайдера.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400" y="5421081"/>
            <a:ext cx="1143127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835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649095" algn="l"/>
                <a:tab pos="2513330" algn="l"/>
                <a:tab pos="4319270" algn="l"/>
                <a:tab pos="5392420" algn="l"/>
                <a:tab pos="5971540" algn="l"/>
                <a:tab pos="7326630" algn="l"/>
                <a:tab pos="9240520" algn="l"/>
                <a:tab pos="101092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Regression.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	статистических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методов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выявления	закономерности	между	изменением</a:t>
            </a:r>
            <a:endParaRPr sz="1800">
              <a:latin typeface="Arial"/>
              <a:cs typeface="Arial"/>
            </a:endParaRPr>
          </a:p>
          <a:p>
            <a:pPr marL="241300" marR="5715">
              <a:lnSpc>
                <a:spcPct val="70000"/>
              </a:lnSpc>
              <a:spcBef>
                <a:spcPts val="325"/>
              </a:spcBef>
              <a:tabLst>
                <a:tab pos="1622425" algn="l"/>
                <a:tab pos="3162935" algn="l"/>
                <a:tab pos="3536315" algn="l"/>
                <a:tab pos="4417060" algn="l"/>
                <a:tab pos="5050790" algn="l"/>
                <a:tab pos="6654165" algn="l"/>
                <a:tab pos="8540750" algn="l"/>
                <a:tab pos="9407525" algn="l"/>
                <a:tab pos="1102614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виси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й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ере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й	и	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й	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н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и.	Ч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 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прогнозирования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предсказаний.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mining.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3796" y="772265"/>
            <a:ext cx="11677015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835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Sentiment</a:t>
            </a:r>
            <a:r>
              <a:rPr sz="18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analysis.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основе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</a:t>
            </a:r>
            <a:r>
              <a:rPr sz="18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оценки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настроений</a:t>
            </a:r>
            <a:r>
              <a:rPr sz="18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потребителей</a:t>
            </a:r>
            <a:r>
              <a:rPr sz="18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лежат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технологии</a:t>
            </a:r>
            <a:r>
              <a:rPr sz="18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распознавания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ts val="1510"/>
              </a:lnSpc>
              <a:tabLst>
                <a:tab pos="1972945" algn="l"/>
                <a:tab pos="2804795" algn="l"/>
                <a:tab pos="4054475" algn="l"/>
                <a:tab pos="4694555" algn="l"/>
                <a:tab pos="6024880" algn="l"/>
                <a:tab pos="7377430" algn="l"/>
                <a:tab pos="7814309" algn="l"/>
                <a:tab pos="8796020" algn="l"/>
                <a:tab pos="10953750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естественного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языка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человека.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Они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позволяют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вычленить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из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общего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информационного	потока</a:t>
            </a:r>
            <a:endParaRPr sz="1800">
              <a:latin typeface="Arial"/>
              <a:cs typeface="Arial"/>
            </a:endParaRPr>
          </a:p>
          <a:p>
            <a:pPr marL="241935" marR="7620">
              <a:lnSpc>
                <a:spcPct val="70000"/>
              </a:lnSpc>
              <a:spcBef>
                <a:spcPts val="320"/>
              </a:spcBef>
              <a:tabLst>
                <a:tab pos="1646555" algn="l"/>
                <a:tab pos="2931795" algn="l"/>
                <a:tab pos="3198495" algn="l"/>
                <a:tab pos="4956810" algn="l"/>
                <a:tab pos="6276340" algn="l"/>
                <a:tab pos="7610475" algn="l"/>
                <a:tab pos="9592945" algn="l"/>
                <a:tab pos="10991850" algn="l"/>
              </a:tabLst>
            </a:pP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щ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	с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ные	с	ин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ере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щ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им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м	(н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би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им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).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ее  оценить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полярность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суждения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(позитивное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или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негативное),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степень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эмоциональности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проч.</a:t>
            </a:r>
            <a:endParaRPr sz="1800">
              <a:latin typeface="Arial"/>
              <a:cs typeface="Arial"/>
            </a:endParaRPr>
          </a:p>
          <a:p>
            <a:pPr marL="240665" marR="5080" indent="-228600">
              <a:lnSpc>
                <a:spcPct val="70000"/>
              </a:lnSpc>
              <a:spcBef>
                <a:spcPts val="10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094105" algn="l"/>
                <a:tab pos="2480945" algn="l"/>
                <a:tab pos="4508500" algn="l"/>
                <a:tab pos="4959350" algn="l"/>
                <a:tab pos="6635750" algn="l"/>
                <a:tab pos="7492365" algn="l"/>
                <a:tab pos="8635365" algn="l"/>
                <a:tab pos="9727565" algn="l"/>
                <a:tab pos="11163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gn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ng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ова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ый	из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ники	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р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ый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4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	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ь 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распознавания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сигнала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фоне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шума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его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дальнейшего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анализа.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796" y="2177393"/>
            <a:ext cx="11675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Spatial</a:t>
            </a:r>
            <a:r>
              <a:rPr sz="1800" spc="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analysis.</a:t>
            </a:r>
            <a:r>
              <a:rPr sz="1800" spc="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отчасти</a:t>
            </a:r>
            <a:r>
              <a:rPr sz="18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заимствованных</a:t>
            </a:r>
            <a:r>
              <a:rPr sz="18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1800" spc="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статистики</a:t>
            </a:r>
            <a:r>
              <a:rPr sz="1800" spc="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методик</a:t>
            </a:r>
            <a:r>
              <a:rPr sz="1800" spc="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анализа</a:t>
            </a:r>
            <a:r>
              <a:rPr sz="1800" spc="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пространственных</a:t>
            </a:r>
            <a:r>
              <a:rPr sz="18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396" y="2369417"/>
            <a:ext cx="1144460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indent="635">
              <a:lnSpc>
                <a:spcPct val="70000"/>
              </a:lnSpc>
              <a:spcBef>
                <a:spcPts val="745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1800" spc="2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топологии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местности,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географических</a:t>
            </a:r>
            <a:r>
              <a:rPr sz="1800" spc="2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координат,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геометрии</a:t>
            </a:r>
            <a:r>
              <a:rPr sz="1800" spc="2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объектов.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Источником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больших</a:t>
            </a:r>
            <a:r>
              <a:rPr sz="1800" spc="2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2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случае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часто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выступают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геоинформационные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(ГИС).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796" y="2881481"/>
            <a:ext cx="11675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370330" algn="l"/>
                <a:tab pos="2155190" algn="l"/>
                <a:tab pos="2432050" algn="l"/>
                <a:tab pos="3270250" algn="l"/>
                <a:tab pos="4749800" algn="l"/>
                <a:tab pos="5027295" algn="l"/>
                <a:tab pos="6772275" algn="l"/>
                <a:tab pos="7779384" algn="l"/>
                <a:tab pos="8825230" algn="l"/>
                <a:tab pos="10158730" algn="l"/>
                <a:tab pos="11534775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St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st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cs.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4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а	о	сб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оре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ии	и	ин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нны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	в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у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	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482" y="3073505"/>
            <a:ext cx="1144714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  <a:tabLst>
                <a:tab pos="1419225" algn="l"/>
                <a:tab pos="3229610" algn="l"/>
                <a:tab pos="5057140" algn="l"/>
                <a:tab pos="5998845" algn="l"/>
                <a:tab pos="6732905" algn="l"/>
                <a:tab pos="8299450" algn="l"/>
                <a:tab pos="8836025" algn="l"/>
                <a:tab pos="10134600" algn="l"/>
                <a:tab pos="1130681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ние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э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тис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кие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ы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ме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ся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жд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ний	о 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взаимосвязях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теми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иными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событиями.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796" y="3584045"/>
            <a:ext cx="11674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Supervised</a:t>
            </a:r>
            <a:r>
              <a:rPr sz="1800" spc="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learning.</a:t>
            </a:r>
            <a:r>
              <a:rPr sz="1800" spc="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Набор</a:t>
            </a:r>
            <a:r>
              <a:rPr sz="1800" spc="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основанных</a:t>
            </a:r>
            <a:r>
              <a:rPr sz="1800" spc="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800" spc="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технологиях</a:t>
            </a:r>
            <a:r>
              <a:rPr sz="1800" spc="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машинного</a:t>
            </a:r>
            <a:r>
              <a:rPr sz="1800" spc="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обучения</a:t>
            </a:r>
            <a:r>
              <a:rPr sz="1800" spc="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</a:t>
            </a:r>
            <a:r>
              <a:rPr sz="1800" spc="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1800" spc="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позволяют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939" y="3776069"/>
            <a:ext cx="812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выявить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функциональные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взаимосвязи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анализируемых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массивах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796" y="4094585"/>
            <a:ext cx="11672570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665" marR="5080" indent="-228600">
              <a:lnSpc>
                <a:spcPct val="70000"/>
              </a:lnSpc>
              <a:spcBef>
                <a:spcPts val="7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557655" algn="l"/>
                <a:tab pos="3455035" algn="l"/>
                <a:tab pos="4772025" algn="l"/>
                <a:tab pos="5890260" algn="l"/>
                <a:tab pos="6819900" algn="l"/>
                <a:tab pos="7595870" algn="l"/>
                <a:tab pos="9196070" algn="l"/>
                <a:tab pos="977519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u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la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ti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on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ние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ния	с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ных	сис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м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	ис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4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ся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гн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зи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рова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, 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предсказания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проработки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различных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сценариев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планировании.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3796" y="4606649"/>
            <a:ext cx="1167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875030" algn="l"/>
                <a:tab pos="1617345" algn="l"/>
                <a:tab pos="2638425" algn="l"/>
                <a:tab pos="3449320" algn="l"/>
                <a:tab pos="5343525" algn="l"/>
                <a:tab pos="5711190" algn="l"/>
                <a:tab pos="6986905" algn="l"/>
                <a:tab pos="7247255" algn="l"/>
                <a:tab pos="8453120" algn="l"/>
                <a:tab pos="9681210" algn="l"/>
                <a:tab pos="10778490" algn="l"/>
              </a:tabLst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Time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series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analysis.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Набор	заимствованных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статистики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цифровой	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обработки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сигналов	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методов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853" y="4798673"/>
            <a:ext cx="11446510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  <a:tabLst>
                <a:tab pos="1076325" algn="l"/>
                <a:tab pos="2946400" algn="l"/>
                <a:tab pos="3251200" algn="l"/>
                <a:tab pos="4445635" algn="l"/>
                <a:tab pos="5549265" algn="l"/>
                <a:tab pos="8058784" algn="l"/>
                <a:tab pos="9105900" algn="l"/>
                <a:tab pos="9854565" algn="l"/>
                <a:tab pos="10276205" algn="l"/>
              </a:tabLst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иза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щ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4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я	с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м	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й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	из	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х 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применений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отслеживание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рынка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ценных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бумаг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заболеваемости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пациентов.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796" y="5309213"/>
            <a:ext cx="11673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824355" algn="l"/>
                <a:tab pos="2884805" algn="l"/>
                <a:tab pos="3747135" algn="l"/>
                <a:tab pos="5207000" algn="l"/>
                <a:tab pos="5646420" algn="l"/>
                <a:tab pos="7133590" algn="l"/>
                <a:tab pos="8500745" algn="l"/>
                <a:tab pos="9676765" algn="l"/>
                <a:tab pos="10786110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Unsupervised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learning.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Набор	основанных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технологиях	машинного	обучения	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методик,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710" y="5501237"/>
            <a:ext cx="1143825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3335" marR="5080" indent="-1270">
              <a:lnSpc>
                <a:spcPct val="70000"/>
              </a:lnSpc>
              <a:spcBef>
                <a:spcPts val="745"/>
              </a:spcBef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позволяют</a:t>
            </a:r>
            <a:r>
              <a:rPr sz="1800" spc="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выявить</a:t>
            </a:r>
            <a:r>
              <a:rPr sz="1800" spc="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скрытые</a:t>
            </a:r>
            <a:r>
              <a:rPr sz="1800" spc="3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функциональные</a:t>
            </a:r>
            <a:r>
              <a:rPr sz="1800" spc="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взаимосвязи</a:t>
            </a:r>
            <a:r>
              <a:rPr sz="1800" spc="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анализируемых</a:t>
            </a:r>
            <a:r>
              <a:rPr sz="1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массивах</a:t>
            </a:r>
            <a:r>
              <a:rPr sz="1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r>
              <a:rPr sz="1800" spc="3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Имеет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общие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черты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Cluster</a:t>
            </a:r>
            <a:r>
              <a:rPr sz="18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Analysis.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796" y="6011777"/>
            <a:ext cx="11677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  <a:tab pos="1962785" algn="l"/>
                <a:tab pos="2962910" algn="l"/>
                <a:tab pos="4575175" algn="l"/>
                <a:tab pos="6343015" algn="l"/>
                <a:tab pos="7776845" algn="l"/>
                <a:tab pos="8814435" algn="l"/>
                <a:tab pos="9907270" algn="l"/>
                <a:tab pos="10865485" algn="l"/>
                <a:tab pos="11152505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5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ци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.	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1800" spc="-7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ы	г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раф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ния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1800" spc="-6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15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	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иза	б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ьш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их	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ны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х	в	ви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847" y="6203801"/>
            <a:ext cx="11529060" cy="49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>
              <a:lnSpc>
                <a:spcPts val="1835"/>
              </a:lnSpc>
              <a:spcBef>
                <a:spcPts val="100"/>
              </a:spcBef>
              <a:tabLst>
                <a:tab pos="1280160" algn="l"/>
                <a:tab pos="1836420" algn="l"/>
                <a:tab pos="3701415" algn="l"/>
                <a:tab pos="5271135" algn="l"/>
                <a:tab pos="5830570" algn="l"/>
                <a:tab pos="7179309" algn="l"/>
                <a:tab pos="8939530" algn="l"/>
                <a:tab pos="10323195" algn="l"/>
              </a:tabLst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диаграм</a:t>
            </a:r>
            <a:r>
              <a:rPr sz="1800" u="heavy" spc="-5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м	</a:t>
            </a:r>
            <a:r>
              <a:rPr sz="1800" u="heavy" spc="-10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или	</a:t>
            </a:r>
            <a:r>
              <a:rPr sz="1800" u="heavy" spc="-5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анимированных	</a:t>
            </a:r>
            <a:r>
              <a:rPr sz="1800" u="heavy" spc="-10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изображений	</a:t>
            </a:r>
            <a:r>
              <a:rPr sz="1800" u="heavy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для	</a:t>
            </a:r>
            <a:r>
              <a:rPr sz="1800" u="heavy" spc="-10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упрощения	</a:t>
            </a:r>
            <a:r>
              <a:rPr sz="1800" u="heavy" spc="-15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интерпретации	облегчения	</a:t>
            </a:r>
            <a:r>
              <a:rPr sz="1800" u="heavy" spc="-5" dirty="0">
                <a:solidFill>
                  <a:srgbClr val="3E3E3E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понимани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1835"/>
              </a:lnSpc>
            </a:pPr>
            <a:r>
              <a:rPr sz="2400" b="1" spc="-202" baseline="-5208" dirty="0">
                <a:solidFill>
                  <a:srgbClr val="006666"/>
                </a:solidFill>
                <a:latin typeface="Arial"/>
                <a:cs typeface="Arial"/>
              </a:rPr>
              <a:t>1</a:t>
            </a:r>
            <a:r>
              <a:rPr sz="1800" spc="-13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b="1" spc="-202" baseline="-5208" dirty="0">
                <a:solidFill>
                  <a:srgbClr val="006666"/>
                </a:solidFill>
                <a:latin typeface="Arial"/>
                <a:cs typeface="Arial"/>
              </a:rPr>
              <a:t>8</a:t>
            </a:r>
            <a:r>
              <a:rPr sz="1800" spc="-135" dirty="0">
                <a:solidFill>
                  <a:srgbClr val="3E3E3E"/>
                </a:solidFill>
                <a:latin typeface="Arial"/>
                <a:cs typeface="Arial"/>
              </a:rPr>
              <a:t>олученных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результатов.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19" y="457200"/>
            <a:ext cx="4847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08080"/>
                </a:solidFill>
              </a:rPr>
              <a:t>ХРАНЕНИЕ</a:t>
            </a:r>
            <a:r>
              <a:rPr sz="2400" b="1" dirty="0">
                <a:solidFill>
                  <a:srgbClr val="008080"/>
                </a:solidFill>
              </a:rPr>
              <a:t> </a:t>
            </a:r>
            <a:r>
              <a:rPr sz="2400" b="1" spc="-10" dirty="0">
                <a:solidFill>
                  <a:srgbClr val="008080"/>
                </a:solidFill>
              </a:rPr>
              <a:t>БОЛЬШИХ</a:t>
            </a:r>
            <a:r>
              <a:rPr sz="2400" b="1" spc="-40" dirty="0">
                <a:solidFill>
                  <a:srgbClr val="008080"/>
                </a:solidFill>
              </a:rPr>
              <a:t> </a:t>
            </a:r>
            <a:r>
              <a:rPr sz="2400" b="1" spc="-10" dirty="0">
                <a:solidFill>
                  <a:srgbClr val="008080"/>
                </a:solidFill>
              </a:rPr>
              <a:t>ДАННЫХ</a:t>
            </a:r>
            <a:endParaRPr sz="2400" b="1" dirty="0">
              <a:solidFill>
                <a:srgbClr val="00808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26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319" y="1219200"/>
            <a:ext cx="10245725" cy="34226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spc="-5" dirty="0">
                <a:latin typeface="Arial"/>
                <a:cs typeface="Arial"/>
              </a:rPr>
              <a:t>Архитектура </a:t>
            </a:r>
            <a:r>
              <a:rPr sz="2400" spc="-10" dirty="0">
                <a:latin typeface="Arial"/>
                <a:cs typeface="Arial"/>
              </a:rPr>
              <a:t>большинства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СУБД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почти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идентична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System R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(70-е </a:t>
            </a:r>
            <a:r>
              <a:rPr sz="2400" spc="-20" dirty="0">
                <a:latin typeface="Arial"/>
                <a:cs typeface="Arial"/>
              </a:rPr>
              <a:t>годы):</a:t>
            </a:r>
            <a:endParaRPr sz="2400" dirty="0">
              <a:latin typeface="Arial"/>
              <a:cs typeface="Arial"/>
            </a:endParaRPr>
          </a:p>
          <a:p>
            <a:pPr marL="403860" indent="-29464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43750"/>
              <a:buFont typeface="Wingdings"/>
              <a:buChar char=""/>
              <a:tabLst>
                <a:tab pos="403860" algn="l"/>
                <a:tab pos="404495" algn="l"/>
              </a:tabLst>
            </a:pP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Упор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дисковое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хранение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индексацию</a:t>
            </a:r>
            <a:endParaRPr sz="2400" dirty="0">
              <a:latin typeface="Arial"/>
              <a:cs typeface="Arial"/>
            </a:endParaRPr>
          </a:p>
          <a:p>
            <a:pPr marL="403860" indent="-294640">
              <a:lnSpc>
                <a:spcPct val="100000"/>
              </a:lnSpc>
              <a:spcBef>
                <a:spcPts val="2014"/>
              </a:spcBef>
              <a:buClr>
                <a:srgbClr val="006666"/>
              </a:buClr>
              <a:buSzPct val="43750"/>
              <a:buFont typeface="Wingdings"/>
              <a:buChar char=""/>
              <a:tabLst>
                <a:tab pos="403860" algn="l"/>
                <a:tab pos="404495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Многопоточность,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чтобы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скрыть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задержки</a:t>
            </a:r>
            <a:endParaRPr sz="2400" dirty="0">
              <a:latin typeface="Arial"/>
              <a:cs typeface="Arial"/>
            </a:endParaRPr>
          </a:p>
          <a:p>
            <a:pPr marL="403860" indent="-294640">
              <a:lnSpc>
                <a:spcPct val="100000"/>
              </a:lnSpc>
              <a:spcBef>
                <a:spcPts val="2005"/>
              </a:spcBef>
              <a:buClr>
                <a:srgbClr val="006666"/>
              </a:buClr>
              <a:buSzPct val="43750"/>
              <a:buFont typeface="Wingdings"/>
              <a:buChar char=""/>
              <a:tabLst>
                <a:tab pos="403860" algn="l"/>
                <a:tab pos="40449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Блокировки</a:t>
            </a:r>
            <a:endParaRPr sz="2400" dirty="0">
              <a:latin typeface="Arial"/>
              <a:cs typeface="Arial"/>
            </a:endParaRPr>
          </a:p>
          <a:p>
            <a:pPr marL="403860" indent="-294640">
              <a:lnSpc>
                <a:spcPct val="100000"/>
              </a:lnSpc>
              <a:spcBef>
                <a:spcPts val="2014"/>
              </a:spcBef>
              <a:buClr>
                <a:srgbClr val="006666"/>
              </a:buClr>
              <a:buSzPct val="43750"/>
              <a:buFont typeface="Wingdings"/>
              <a:buChar char=""/>
              <a:tabLst>
                <a:tab pos="403860" algn="l"/>
                <a:tab pos="404495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Журнализация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транзакций</a:t>
            </a:r>
            <a:endParaRPr sz="2400" dirty="0">
              <a:latin typeface="Arial"/>
              <a:cs typeface="Arial"/>
            </a:endParaRPr>
          </a:p>
          <a:p>
            <a:pPr marL="403860" indent="-294640">
              <a:lnSpc>
                <a:spcPct val="100000"/>
              </a:lnSpc>
              <a:spcBef>
                <a:spcPts val="2014"/>
              </a:spcBef>
              <a:buClr>
                <a:srgbClr val="006666"/>
              </a:buClr>
              <a:buSzPct val="43750"/>
              <a:buFont typeface="Wingdings"/>
              <a:buChar char=""/>
              <a:tabLst>
                <a:tab pos="403860" algn="l"/>
                <a:tab pos="404495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Немасштабируемы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5962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ПРОБЛЕМЫ</a:t>
            </a:r>
            <a:r>
              <a:rPr sz="2400" b="1" spc="-2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ПРИ</a:t>
            </a: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006666"/>
                </a:solidFill>
                <a:latin typeface="Arial"/>
                <a:cs typeface="Arial"/>
              </a:rPr>
              <a:t>СТАНДАРТНЫХ</a:t>
            </a:r>
            <a:r>
              <a:rPr sz="2400" b="1" spc="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СУБД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27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812012"/>
            <a:ext cx="4881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Вертикальное </a:t>
            </a:r>
            <a:r>
              <a:rPr sz="2400" spc="-10" dirty="0">
                <a:latin typeface="Arial"/>
                <a:cs typeface="Arial"/>
              </a:rPr>
              <a:t>масштабирование?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602" y="1203558"/>
            <a:ext cx="511556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-10" dirty="0">
                <a:latin typeface="Arial"/>
                <a:cs typeface="Arial"/>
              </a:rPr>
              <a:t>Бесконечно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мощного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сервера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нет!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02" y="1506834"/>
            <a:ext cx="4773930" cy="937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0" indent="-229235">
              <a:lnSpc>
                <a:spcPts val="402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5" dirty="0">
                <a:latin typeface="Arial"/>
                <a:cs typeface="Arial"/>
              </a:rPr>
              <a:t>Вертикальный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рост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конечен.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Оптимизация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запросов?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02" y="2381610"/>
            <a:ext cx="2963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Создание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индексов?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4602" y="2774802"/>
            <a:ext cx="419417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Дополнительные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операции.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3202" y="3103986"/>
            <a:ext cx="3767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Деградация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под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нагрузкой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402" y="3559662"/>
            <a:ext cx="225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Кэш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чтение?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4602" y="3952854"/>
            <a:ext cx="51562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Отказ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строгой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консистентности.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02" y="4192122"/>
            <a:ext cx="483616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0">
              <a:lnSpc>
                <a:spcPct val="124600"/>
              </a:lnSpc>
              <a:spcBef>
                <a:spcPts val="100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Усложнение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клиентского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ПО.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Очередь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операций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402" y="5066898"/>
            <a:ext cx="463804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5"/>
              </a:lnSpc>
              <a:spcBef>
                <a:spcPts val="10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вставки/обновления?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326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Размер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очереди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ограничен.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3979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Персистентность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очереди.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9602" y="811890"/>
            <a:ext cx="36087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Денормализация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схемы?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39602" y="1203558"/>
            <a:ext cx="347217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Избыточность</a:t>
            </a: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9602" y="1596750"/>
            <a:ext cx="169291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80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Аномалии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9602" y="1989942"/>
            <a:ext cx="5160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Горизонтальное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масштабирование?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8202" y="2710794"/>
            <a:ext cx="187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Отказ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join.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9602" y="2297342"/>
            <a:ext cx="4293870" cy="124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975"/>
              </a:lnSpc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Отказ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нормализации.</a:t>
            </a:r>
            <a:endParaRPr sz="24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25"/>
              </a:spcBef>
              <a:buClr>
                <a:srgbClr val="006666"/>
              </a:buClr>
              <a:buSzPct val="168750"/>
              <a:buChar char="•"/>
              <a:tabLst>
                <a:tab pos="241300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Усложнение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клиентского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77860"/>
            <a:ext cx="9916795" cy="3510279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ПРОМЕЖУТОЧНЫЕ</a:t>
            </a:r>
            <a:r>
              <a:rPr sz="2400" b="1" spc="-10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ИТОГИ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Отказ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строгой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консистентности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Уход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нормализации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внедрение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избыточности</a:t>
            </a:r>
            <a:endParaRPr sz="2400">
              <a:latin typeface="Arial"/>
              <a:cs typeface="Arial"/>
            </a:endParaRPr>
          </a:p>
          <a:p>
            <a:pPr marL="355600" marR="557530" indent="-342900">
              <a:lnSpc>
                <a:spcPts val="2590"/>
              </a:lnSpc>
              <a:spcBef>
                <a:spcPts val="103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Потеря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выразительности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SQL и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моделирование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части функций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программно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Усложнение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клиентского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Сложность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поддержания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работоспособности</a:t>
            </a:r>
            <a:r>
              <a:rPr sz="24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отказоустойчивости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28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110364"/>
            <a:ext cx="1015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/>
              <a:t>NO</a:t>
            </a:r>
            <a:r>
              <a:rPr sz="2200" spc="-5" dirty="0"/>
              <a:t>S</a:t>
            </a:r>
            <a:r>
              <a:rPr sz="2200" spc="-10" dirty="0"/>
              <a:t>QL</a:t>
            </a:r>
            <a:endParaRPr sz="2200"/>
          </a:p>
        </p:txBody>
      </p:sp>
      <p:sp>
        <p:nvSpPr>
          <p:cNvPr id="5" name="object 5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29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1012557"/>
            <a:ext cx="1056894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NoSQL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бездумный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отказ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реляционной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модели!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“NoSQL”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-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название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реляционной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СУБД,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использующей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SQL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(1998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г.)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Бум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NoSQL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обусловлен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ростом Интернет-индустрии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400" y="3292461"/>
            <a:ext cx="7731125" cy="315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Мантра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NoSQL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задачи,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не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наоборот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Неограниченное</a:t>
            </a:r>
            <a:r>
              <a:rPr sz="24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горизонтальное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масштабирование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Свободная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схема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отсутствие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Консистентность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жертву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производительности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Простота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развертывания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администрирования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Большинство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императивные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614" y="940603"/>
            <a:ext cx="5551776" cy="53717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400" y="247279"/>
            <a:ext cx="213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NOSQL</a:t>
            </a:r>
            <a:r>
              <a:rPr sz="2400" spc="-95" dirty="0"/>
              <a:t> </a:t>
            </a:r>
            <a:r>
              <a:rPr sz="2400" dirty="0"/>
              <a:t>И</a:t>
            </a:r>
            <a:r>
              <a:rPr sz="2400" spc="-40" dirty="0"/>
              <a:t> </a:t>
            </a:r>
            <a:r>
              <a:rPr sz="2400" spc="-10" dirty="0"/>
              <a:t>CAP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30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689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8080"/>
                </a:solidFill>
              </a:rPr>
              <a:t>МАШИННОЕ</a:t>
            </a:r>
            <a:r>
              <a:rPr sz="2400" b="1" spc="-75" dirty="0">
                <a:solidFill>
                  <a:srgbClr val="008080"/>
                </a:solidFill>
              </a:rPr>
              <a:t> </a:t>
            </a:r>
            <a:r>
              <a:rPr sz="2400" b="1" spc="-10" dirty="0">
                <a:solidFill>
                  <a:srgbClr val="008080"/>
                </a:solidFill>
              </a:rPr>
              <a:t>ОБУЧЕНИЕ</a:t>
            </a:r>
            <a:endParaRPr sz="2400" b="1" dirty="0">
              <a:solidFill>
                <a:srgbClr val="00808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31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8568" y="901318"/>
            <a:ext cx="10827385" cy="45351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05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Arthur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Samuel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(1959),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Machine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learning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endParaRPr sz="2400" dirty="0">
              <a:latin typeface="Arial"/>
              <a:cs typeface="Arial"/>
            </a:endParaRPr>
          </a:p>
          <a:p>
            <a:pPr marL="12700" marR="5080" algn="just">
              <a:lnSpc>
                <a:spcPts val="2590"/>
              </a:lnSpc>
              <a:spcBef>
                <a:spcPts val="1040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“Поле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исследования, которое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дает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возможность компьютеру обучаться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будучи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явно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запрограммированным”.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Tom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Mitchell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(1998):</a:t>
            </a:r>
            <a:endParaRPr sz="2400" dirty="0">
              <a:latin typeface="Arial"/>
              <a:cs typeface="Arial"/>
            </a:endParaRPr>
          </a:p>
          <a:p>
            <a:pPr marL="12700" marR="6350" algn="just">
              <a:lnSpc>
                <a:spcPts val="2590"/>
              </a:lnSpc>
              <a:spcBef>
                <a:spcPts val="1035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“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Компьютерная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программа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перенимает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опыт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E в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отношении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 и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некоторого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показателя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измерения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P,</a:t>
            </a:r>
            <a:r>
              <a:rPr sz="24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если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производительность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80" dirty="0">
                <a:solidFill>
                  <a:srgbClr val="3E3E3E"/>
                </a:solidFill>
                <a:latin typeface="Arial"/>
                <a:cs typeface="Arial"/>
              </a:rPr>
              <a:t>Т, </a:t>
            </a:r>
            <a:r>
              <a:rPr sz="2400" spc="-2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измеренная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P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улучшается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опытом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E”.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0" dirty="0">
              <a:latin typeface="Arial"/>
              <a:cs typeface="Arial"/>
            </a:endParaRPr>
          </a:p>
          <a:p>
            <a:pPr marL="12700" marR="6985" algn="just">
              <a:lnSpc>
                <a:spcPts val="2590"/>
              </a:lnSpc>
              <a:spcBef>
                <a:spcPts val="5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Область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искусственного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интеллекта,</a:t>
            </a:r>
            <a:r>
              <a:rPr sz="2400" spc="6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использующая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самообучающиеся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алгоритмы,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имитирующие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мозга.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79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/>
              <a:t>ЗАЧЕМ </a:t>
            </a:r>
            <a:r>
              <a:rPr sz="2400" spc="-10" dirty="0"/>
              <a:t>НУЖНО ОБУЧЕНИЕ?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32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1012571"/>
            <a:ext cx="10577195" cy="29571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Машинное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настройка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работы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программы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данных-примерах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предшествующем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опыте.</a:t>
            </a:r>
            <a:endParaRPr sz="2400">
              <a:latin typeface="Arial"/>
              <a:cs typeface="Arial"/>
            </a:endParaRPr>
          </a:p>
          <a:p>
            <a:pPr marL="12700" marR="1626870">
              <a:lnSpc>
                <a:spcPts val="3590"/>
              </a:lnSpc>
              <a:spcBef>
                <a:spcPts val="20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требуется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того,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чтобы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отсортировать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массив.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требуется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когда:</a:t>
            </a:r>
            <a:endParaRPr sz="240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30"/>
              </a:spcBef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Опыт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отсутствует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трудно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формулируется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(распознавание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речи)</a:t>
            </a:r>
            <a:endParaRPr sz="2000">
              <a:latin typeface="Arial"/>
              <a:cs typeface="Arial"/>
            </a:endParaRPr>
          </a:p>
          <a:p>
            <a:pPr marL="698500" marR="612140" indent="-228600">
              <a:lnSpc>
                <a:spcPts val="2160"/>
              </a:lnSpc>
              <a:spcBef>
                <a:spcPts val="535"/>
              </a:spcBef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меняется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3E3E3E"/>
                </a:solidFill>
                <a:latin typeface="Arial"/>
                <a:cs typeface="Arial"/>
              </a:rPr>
              <a:t>со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временем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должно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легко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адаптироваться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к </a:t>
            </a:r>
            <a:r>
              <a:rPr sz="2000" spc="-5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частным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случаем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(биометрия,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маршрутизация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сетях)</a:t>
            </a:r>
            <a:endParaRPr sz="200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29"/>
              </a:spcBef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Точная,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строго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вычислимая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слишком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сложна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построения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(шахматы)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9780270" cy="240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ОБУЧЕНИЕ</a:t>
            </a:r>
            <a:r>
              <a:rPr sz="2400" b="1" spc="-6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45" dirty="0">
                <a:solidFill>
                  <a:srgbClr val="006666"/>
                </a:solidFill>
                <a:latin typeface="Arial"/>
                <a:cs typeface="Arial"/>
              </a:rPr>
              <a:t>ПОДРАЗУМЕВАЕТ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Построение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общей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модели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основе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конкретных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примеров;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00" dirty="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Нужно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построить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модель,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которая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является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3E3E3E"/>
                </a:solidFill>
                <a:latin typeface="Arial"/>
                <a:cs typeface="Arial"/>
              </a:rPr>
              <a:t>хорошим</a:t>
            </a:r>
            <a:r>
              <a:rPr sz="2400" i="1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i="1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E3E3E"/>
                </a:solidFill>
                <a:latin typeface="Arial"/>
                <a:cs typeface="Arial"/>
              </a:rPr>
              <a:t>практичным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приближением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33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15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8080"/>
                </a:solidFill>
              </a:rPr>
              <a:t>ПРИМЕНЕНИЕ</a:t>
            </a:r>
            <a:r>
              <a:rPr sz="2400" spc="-20" dirty="0">
                <a:solidFill>
                  <a:srgbClr val="008080"/>
                </a:solidFill>
              </a:rPr>
              <a:t> </a:t>
            </a:r>
            <a:r>
              <a:rPr sz="2400" spc="-10" dirty="0">
                <a:solidFill>
                  <a:srgbClr val="008080"/>
                </a:solidFill>
              </a:rPr>
              <a:t>МАШИННОГО</a:t>
            </a:r>
            <a:r>
              <a:rPr sz="2400" spc="-15" dirty="0">
                <a:solidFill>
                  <a:srgbClr val="008080"/>
                </a:solidFill>
              </a:rPr>
              <a:t> </a:t>
            </a:r>
            <a:r>
              <a:rPr sz="2400" spc="-10" dirty="0">
                <a:solidFill>
                  <a:srgbClr val="008080"/>
                </a:solidFill>
              </a:rPr>
              <a:t>ОБУЧЕНИЯ</a:t>
            </a:r>
            <a:endParaRPr sz="2400" dirty="0">
              <a:solidFill>
                <a:srgbClr val="00808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7691" y="4370430"/>
            <a:ext cx="1892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2606" y="4370430"/>
            <a:ext cx="1900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потребителей,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063" y="5329026"/>
            <a:ext cx="15259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2485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аши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788" y="753978"/>
            <a:ext cx="9312910" cy="517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Медицина: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диагностика;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0070C0"/>
                </a:solidFill>
                <a:latin typeface="Arial"/>
                <a:cs typeface="Arial"/>
              </a:rPr>
              <a:t>Финансы:</a:t>
            </a: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0070C0"/>
                </a:solidFill>
                <a:latin typeface="Arial"/>
                <a:cs typeface="Arial"/>
              </a:rPr>
              <a:t>скоринг,</a:t>
            </a:r>
            <a:r>
              <a:rPr sz="22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Arial"/>
                <a:cs typeface="Arial"/>
              </a:rPr>
              <a:t>обнаружение</a:t>
            </a:r>
            <a:r>
              <a:rPr sz="2200" spc="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0070C0"/>
                </a:solidFill>
                <a:latin typeface="Arial"/>
                <a:cs typeface="Arial"/>
              </a:rPr>
              <a:t>подделок;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Сети: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поисковые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(Обработка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запросов)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Маркетинг:</a:t>
            </a:r>
            <a:r>
              <a:rPr sz="2200" spc="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прогнозы</a:t>
            </a:r>
            <a:r>
              <a:rPr sz="2200" spc="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0070C0"/>
                </a:solidFill>
                <a:latin typeface="Arial"/>
                <a:cs typeface="Arial"/>
              </a:rPr>
              <a:t>продаж,</a:t>
            </a:r>
            <a:r>
              <a:rPr sz="2200" spc="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связь</a:t>
            </a:r>
            <a:r>
              <a:rPr sz="2200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Arial"/>
                <a:cs typeface="Arial"/>
              </a:rPr>
              <a:t>с</a:t>
            </a:r>
            <a:r>
              <a:rPr sz="22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0070C0"/>
                </a:solidFill>
                <a:latin typeface="Arial"/>
                <a:cs typeface="Arial"/>
              </a:rPr>
              <a:t>потребителем;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Производство:</a:t>
            </a:r>
            <a:r>
              <a:rPr sz="22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дефектоскопия,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оптимизация;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Телекоммуникации:</a:t>
            </a:r>
            <a:r>
              <a:rPr sz="2200" spc="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Arial"/>
                <a:cs typeface="Arial"/>
              </a:rPr>
              <a:t>оптимизация</a:t>
            </a:r>
            <a:r>
              <a:rPr sz="2200" spc="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Arial"/>
                <a:cs typeface="Arial"/>
              </a:rPr>
              <a:t>качества</a:t>
            </a:r>
            <a:r>
              <a:rPr sz="2200" spc="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Arial"/>
                <a:cs typeface="Arial"/>
              </a:rPr>
              <a:t>сервиса;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9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фотографий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рукописного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текста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Машинное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зрение.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Фильтры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почтового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спама</a:t>
            </a:r>
            <a:endParaRPr sz="2200" dirty="0">
              <a:latin typeface="Arial"/>
              <a:cs typeface="Arial"/>
            </a:endParaRPr>
          </a:p>
          <a:p>
            <a:pPr marL="354965" marR="2288540" indent="-342900">
              <a:lnSpc>
                <a:spcPct val="70000"/>
              </a:lnSpc>
              <a:spcBef>
                <a:spcPts val="99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  <a:tab pos="3031490" algn="l"/>
                <a:tab pos="4140835" algn="l"/>
                <a:tab pos="4773295" algn="l"/>
                <a:tab pos="593725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лл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ее 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вычислительная</a:t>
            </a:r>
            <a:r>
              <a:rPr sz="22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биология,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машиностроение,…)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Автономное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управление</a:t>
            </a:r>
            <a:r>
              <a:rPr sz="22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машинами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(автомобили,</a:t>
            </a:r>
            <a:r>
              <a:rPr sz="22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вертолеты,…)</a:t>
            </a:r>
            <a:endParaRPr sz="2200" dirty="0">
              <a:latin typeface="Arial"/>
              <a:cs typeface="Arial"/>
            </a:endParaRPr>
          </a:p>
          <a:p>
            <a:pPr marL="354965" marR="5080" indent="-342900">
              <a:lnSpc>
                <a:spcPct val="70000"/>
              </a:lnSpc>
              <a:spcBef>
                <a:spcPts val="101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  <a:tab pos="1987550" algn="l"/>
                <a:tab pos="4552315" algn="l"/>
                <a:tab pos="6790690" algn="l"/>
                <a:tab pos="72390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Выда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ив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ьн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ре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п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тра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 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предпочтения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91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ТИПЫ</a:t>
            </a:r>
            <a:r>
              <a:rPr sz="2400" spc="-55" dirty="0"/>
              <a:t> </a:t>
            </a:r>
            <a:r>
              <a:rPr sz="2400" spc="-10" dirty="0"/>
              <a:t>МАШИННОГО ОБУЧЕНИЯ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35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652" y="1057071"/>
            <a:ext cx="6497320" cy="447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 с</a:t>
            </a:r>
            <a:r>
              <a:rPr sz="2400" b="1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3E3E3E"/>
                </a:solidFill>
                <a:latin typeface="Arial"/>
                <a:cs typeface="Arial"/>
              </a:rPr>
              <a:t>учителем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965"/>
              </a:lnSpc>
            </a:pPr>
            <a:r>
              <a:rPr sz="4050" spc="-12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Помеченные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810"/>
              </a:lnSpc>
            </a:pPr>
            <a:r>
              <a:rPr sz="4050" spc="-8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Непосредственная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обратная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связь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3835"/>
              </a:lnSpc>
            </a:pPr>
            <a:r>
              <a:rPr sz="4050" spc="-8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Прогнозирование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исхода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20"/>
              </a:lnSpc>
              <a:spcBef>
                <a:spcPts val="90"/>
              </a:spcBef>
            </a:pP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Обучение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без</a:t>
            </a:r>
            <a:r>
              <a:rPr sz="2400" b="1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учителя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965"/>
              </a:lnSpc>
            </a:pPr>
            <a:r>
              <a:rPr sz="4050" spc="-115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и/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су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ст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800"/>
              </a:lnSpc>
            </a:pPr>
            <a:r>
              <a:rPr sz="4050" spc="-114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Отсутствует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обратная связь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3835"/>
              </a:lnSpc>
            </a:pPr>
            <a:r>
              <a:rPr sz="4050" spc="-115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иск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ст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кт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020"/>
              </a:lnSpc>
              <a:spcBef>
                <a:spcPts val="90"/>
              </a:spcBef>
            </a:pP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2400" b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b="1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3E3E3E"/>
                </a:solidFill>
                <a:latin typeface="Arial"/>
                <a:cs typeface="Arial"/>
              </a:rPr>
              <a:t>подкреплением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975"/>
              </a:lnSpc>
            </a:pPr>
            <a:r>
              <a:rPr sz="4050" spc="-15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Процесс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принятия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решений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800"/>
              </a:lnSpc>
            </a:pPr>
            <a:r>
              <a:rPr sz="4050" spc="-115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агра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жд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ий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3829"/>
              </a:lnSpc>
            </a:pPr>
            <a:r>
              <a:rPr sz="4050" spc="-135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Изучение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последовательности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действий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660" y="1119111"/>
            <a:ext cx="4055110" cy="0"/>
          </a:xfrm>
          <a:custGeom>
            <a:avLst/>
            <a:gdLst/>
            <a:ahLst/>
            <a:cxnLst/>
            <a:rect l="l" t="t" r="r" b="b"/>
            <a:pathLst>
              <a:path w="4055110">
                <a:moveTo>
                  <a:pt x="0" y="0"/>
                </a:moveTo>
                <a:lnTo>
                  <a:pt x="4054741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399" y="454461"/>
            <a:ext cx="3792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ОБУЧЕНИЕ</a:t>
            </a:r>
            <a:r>
              <a:rPr sz="2400" spc="-55" dirty="0"/>
              <a:t> </a:t>
            </a:r>
            <a:r>
              <a:rPr sz="2400" dirty="0"/>
              <a:t>С</a:t>
            </a:r>
            <a:r>
              <a:rPr sz="2400" spc="-45" dirty="0"/>
              <a:t> </a:t>
            </a:r>
            <a:r>
              <a:rPr sz="2400" spc="-5" dirty="0"/>
              <a:t>УЧИТЕЛЕМ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367400" y="1293168"/>
            <a:ext cx="3244850" cy="2757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sz="2800" spc="-30" dirty="0">
                <a:latin typeface="Arial"/>
                <a:cs typeface="Arial"/>
              </a:rPr>
              <a:t>Цель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–</a:t>
            </a:r>
            <a:endParaRPr sz="2800">
              <a:latin typeface="Arial"/>
              <a:cs typeface="Arial"/>
            </a:endParaRPr>
          </a:p>
          <a:p>
            <a:pPr marL="12700" marR="601345">
              <a:lnSpc>
                <a:spcPts val="3030"/>
              </a:lnSpc>
              <a:spcBef>
                <a:spcPts val="209"/>
              </a:spcBef>
            </a:pPr>
            <a:r>
              <a:rPr sz="2800" spc="-15" dirty="0">
                <a:latin typeface="Arial"/>
                <a:cs typeface="Arial"/>
              </a:rPr>
              <a:t>обучить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модель </a:t>
            </a:r>
            <a:r>
              <a:rPr sz="2800" spc="-76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на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помеченных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805"/>
              </a:lnSpc>
            </a:pPr>
            <a:r>
              <a:rPr sz="2800" spc="-15" dirty="0">
                <a:latin typeface="Arial"/>
                <a:cs typeface="Arial"/>
              </a:rPr>
              <a:t>обучающих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данных</a:t>
            </a:r>
            <a:endParaRPr sz="2800">
              <a:latin typeface="Arial"/>
              <a:cs typeface="Arial"/>
            </a:endParaRPr>
          </a:p>
          <a:p>
            <a:pPr marL="12700" marR="778510">
              <a:lnSpc>
                <a:spcPts val="3030"/>
              </a:lnSpc>
              <a:spcBef>
                <a:spcPts val="204"/>
              </a:spcBef>
            </a:pPr>
            <a:r>
              <a:rPr sz="2800" spc="-5" dirty="0">
                <a:latin typeface="Arial"/>
                <a:cs typeface="Arial"/>
              </a:rPr>
              <a:t>для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получения </a:t>
            </a:r>
            <a:r>
              <a:rPr sz="2800" spc="-7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прогнозов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975"/>
              </a:lnSpc>
            </a:pPr>
            <a:r>
              <a:rPr sz="2800" spc="-5" dirty="0">
                <a:latin typeface="Arial"/>
                <a:cs typeface="Arial"/>
              </a:rPr>
              <a:t>на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новых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данных.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063" y="814540"/>
            <a:ext cx="6264955" cy="55266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36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ОБУЧЕНИЕ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 С</a:t>
            </a:r>
            <a:r>
              <a:rPr sz="2200" b="1" spc="-3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УЧИТЕЛЕМ.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u="heavy" spc="1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2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КАТЕГОРИИ</a:t>
            </a:r>
            <a:r>
              <a:rPr sz="2200" b="1" u="heavy" spc="-2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ЗАДАЧ	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37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67" y="1317167"/>
            <a:ext cx="5549265" cy="2800985"/>
          </a:xfrm>
          <a:prstGeom prst="rect">
            <a:avLst/>
          </a:prstGeom>
          <a:solidFill>
            <a:srgbClr val="E3F0F1"/>
          </a:solidFill>
          <a:ln w="9525">
            <a:solidFill>
              <a:srgbClr val="8497B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3200" b="1" spc="-30" dirty="0">
                <a:latin typeface="Calibri"/>
                <a:cs typeface="Calibri"/>
              </a:rPr>
              <a:t>Р</a:t>
            </a:r>
            <a:r>
              <a:rPr sz="3200" b="1" spc="-5" dirty="0">
                <a:latin typeface="Calibri"/>
                <a:cs typeface="Calibri"/>
              </a:rPr>
              <a:t>е</a:t>
            </a:r>
            <a:r>
              <a:rPr sz="3200" b="1" dirty="0">
                <a:latin typeface="Calibri"/>
                <a:cs typeface="Calibri"/>
              </a:rPr>
              <a:t>г</a:t>
            </a:r>
            <a:r>
              <a:rPr sz="3200" b="1" spc="-5" dirty="0">
                <a:latin typeface="Calibri"/>
                <a:cs typeface="Calibri"/>
              </a:rPr>
              <a:t>ре</a:t>
            </a:r>
            <a:r>
              <a:rPr sz="3200" b="1" spc="-25" dirty="0">
                <a:latin typeface="Calibri"/>
                <a:cs typeface="Calibri"/>
              </a:rPr>
              <a:t>с</a:t>
            </a:r>
            <a:r>
              <a:rPr sz="3200" b="1" dirty="0">
                <a:latin typeface="Calibri"/>
                <a:cs typeface="Calibri"/>
              </a:rPr>
              <a:t>сия</a:t>
            </a:r>
            <a:r>
              <a:rPr sz="3200" b="1" spc="-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  <a:p>
            <a:pPr marL="91440" marR="53149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Calibri"/>
                <a:cs typeface="Calibri"/>
              </a:rPr>
              <a:t>пытаемся </a:t>
            </a:r>
            <a:r>
              <a:rPr sz="2400" spc="-10" dirty="0">
                <a:latin typeface="Calibri"/>
                <a:cs typeface="Calibri"/>
              </a:rPr>
              <a:t>предсказать </a:t>
            </a:r>
            <a:r>
              <a:rPr sz="2400" spc="-35" dirty="0">
                <a:latin typeface="Calibri"/>
                <a:cs typeface="Calibri"/>
              </a:rPr>
              <a:t>результат, 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являющийся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непрерывной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функцией.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434340" marR="1153160" indent="-342900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10" dirty="0">
                <a:latin typeface="Calibri"/>
                <a:cs typeface="Calibri"/>
              </a:rPr>
              <a:t>Предсказать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цену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жилье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по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результатам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прошлых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сделок.</a:t>
            </a:r>
            <a:endParaRPr sz="2400">
              <a:latin typeface="Calibri"/>
              <a:cs typeface="Calibri"/>
            </a:endParaRPr>
          </a:p>
          <a:p>
            <a:pPr marL="434340" indent="-342900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5" dirty="0">
                <a:latin typeface="Calibri"/>
                <a:cs typeface="Calibri"/>
              </a:rPr>
              <a:t>По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фотографии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предсказать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возраст.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8009" y="1317167"/>
            <a:ext cx="5621655" cy="3170555"/>
          </a:xfrm>
          <a:prstGeom prst="rect">
            <a:avLst/>
          </a:prstGeom>
          <a:solidFill>
            <a:srgbClr val="E3F0F1"/>
          </a:solidFill>
          <a:ln w="9525">
            <a:solidFill>
              <a:srgbClr val="8497B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60"/>
              </a:spcBef>
            </a:pPr>
            <a:r>
              <a:rPr sz="3200" b="1" spc="-5" dirty="0">
                <a:latin typeface="Calibri"/>
                <a:cs typeface="Calibri"/>
              </a:rPr>
              <a:t>К</a:t>
            </a:r>
            <a:r>
              <a:rPr sz="3200" b="1" spc="-10" dirty="0">
                <a:latin typeface="Calibri"/>
                <a:cs typeface="Calibri"/>
              </a:rPr>
              <a:t>л</a:t>
            </a:r>
            <a:r>
              <a:rPr sz="3200" b="1" dirty="0">
                <a:latin typeface="Calibri"/>
                <a:cs typeface="Calibri"/>
              </a:rPr>
              <a:t>а</a:t>
            </a:r>
            <a:r>
              <a:rPr sz="3200" b="1" spc="-25" dirty="0">
                <a:latin typeface="Calibri"/>
                <a:cs typeface="Calibri"/>
              </a:rPr>
              <a:t>с</a:t>
            </a:r>
            <a:r>
              <a:rPr sz="3200" b="1" dirty="0">
                <a:latin typeface="Calibri"/>
                <a:cs typeface="Calibri"/>
              </a:rPr>
              <a:t>си</a:t>
            </a:r>
            <a:r>
              <a:rPr sz="3200" b="1" spc="-5" dirty="0">
                <a:latin typeface="Calibri"/>
                <a:cs typeface="Calibri"/>
              </a:rPr>
              <a:t>ф</a:t>
            </a:r>
            <a:r>
              <a:rPr sz="3200" b="1" dirty="0">
                <a:latin typeface="Calibri"/>
                <a:cs typeface="Calibri"/>
              </a:rPr>
              <a:t>и</a:t>
            </a:r>
            <a:r>
              <a:rPr sz="3200" b="1" spc="-40" dirty="0">
                <a:latin typeface="Calibri"/>
                <a:cs typeface="Calibri"/>
              </a:rPr>
              <a:t>к</a:t>
            </a:r>
            <a:r>
              <a:rPr sz="3200" b="1" dirty="0">
                <a:latin typeface="Calibri"/>
                <a:cs typeface="Calibri"/>
              </a:rPr>
              <a:t>ация</a:t>
            </a:r>
            <a:r>
              <a:rPr sz="3200" b="1" spc="-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  <a:p>
            <a:pPr marL="90805" marR="484505">
              <a:lnSpc>
                <a:spcPct val="100000"/>
              </a:lnSpc>
              <a:spcBef>
                <a:spcPts val="45"/>
              </a:spcBef>
              <a:tabLst>
                <a:tab pos="5034915" algn="l"/>
              </a:tabLst>
            </a:pPr>
            <a:r>
              <a:rPr sz="2400" spc="-5" dirty="0">
                <a:latin typeface="Calibri"/>
                <a:cs typeface="Calibri"/>
              </a:rPr>
              <a:t>пы</a:t>
            </a:r>
            <a:r>
              <a:rPr sz="2400" spc="-10" dirty="0">
                <a:latin typeface="Calibri"/>
                <a:cs typeface="Calibri"/>
              </a:rPr>
              <a:t>т</a:t>
            </a:r>
            <a:r>
              <a:rPr sz="2400" dirty="0">
                <a:latin typeface="Calibri"/>
                <a:cs typeface="Calibri"/>
              </a:rPr>
              <a:t>а</a:t>
            </a:r>
            <a:r>
              <a:rPr sz="2400" spc="-10" dirty="0">
                <a:latin typeface="Calibri"/>
                <a:cs typeface="Calibri"/>
              </a:rPr>
              <a:t>е</a:t>
            </a:r>
            <a:r>
              <a:rPr sz="2400" spc="-5" dirty="0">
                <a:latin typeface="Calibri"/>
                <a:cs typeface="Calibri"/>
              </a:rPr>
              <a:t>м</a:t>
            </a:r>
            <a:r>
              <a:rPr sz="2400" spc="5" dirty="0">
                <a:latin typeface="Calibri"/>
                <a:cs typeface="Calibri"/>
              </a:rPr>
              <a:t>с</a:t>
            </a:r>
            <a:r>
              <a:rPr sz="2400" dirty="0">
                <a:latin typeface="Calibri"/>
                <a:cs typeface="Calibri"/>
              </a:rPr>
              <a:t>я</a:t>
            </a:r>
            <a:r>
              <a:rPr sz="2400" spc="-5" dirty="0">
                <a:latin typeface="Calibri"/>
                <a:cs typeface="Calibri"/>
              </a:rPr>
              <a:t> пр</a:t>
            </a:r>
            <a:r>
              <a:rPr sz="2400" spc="-35" dirty="0">
                <a:latin typeface="Calibri"/>
                <a:cs typeface="Calibri"/>
              </a:rPr>
              <a:t>е</a:t>
            </a:r>
            <a:r>
              <a:rPr sz="2400" spc="-20" dirty="0">
                <a:latin typeface="Calibri"/>
                <a:cs typeface="Calibri"/>
              </a:rPr>
              <a:t>д</a:t>
            </a:r>
            <a:r>
              <a:rPr sz="2400" spc="5" dirty="0">
                <a:latin typeface="Calibri"/>
                <a:cs typeface="Calibri"/>
              </a:rPr>
              <a:t>с</a:t>
            </a:r>
            <a:r>
              <a:rPr sz="2400" spc="-35" dirty="0">
                <a:latin typeface="Calibri"/>
                <a:cs typeface="Calibri"/>
              </a:rPr>
              <a:t>к</a:t>
            </a:r>
            <a:r>
              <a:rPr sz="2400" dirty="0">
                <a:latin typeface="Calibri"/>
                <a:cs typeface="Calibri"/>
              </a:rPr>
              <a:t>аз</a:t>
            </a:r>
            <a:r>
              <a:rPr sz="2400" spc="-10" dirty="0">
                <a:latin typeface="Calibri"/>
                <a:cs typeface="Calibri"/>
              </a:rPr>
              <a:t>ат</a:t>
            </a:r>
            <a:r>
              <a:rPr sz="2400" dirty="0">
                <a:latin typeface="Calibri"/>
                <a:cs typeface="Calibri"/>
              </a:rPr>
              <a:t>ь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кла</a:t>
            </a:r>
            <a:r>
              <a:rPr sz="2400" spc="-10" dirty="0">
                <a:latin typeface="Calibri"/>
                <a:cs typeface="Calibri"/>
              </a:rPr>
              <a:t>с</a:t>
            </a:r>
            <a:r>
              <a:rPr sz="2400" dirty="0">
                <a:latin typeface="Calibri"/>
                <a:cs typeface="Calibri"/>
              </a:rPr>
              <a:t>с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</a:t>
            </a:r>
            <a:r>
              <a:rPr sz="2400" spc="5" dirty="0">
                <a:latin typeface="Calibri"/>
                <a:cs typeface="Calibri"/>
              </a:rPr>
              <a:t>б</a:t>
            </a:r>
            <a:r>
              <a:rPr sz="2400" spc="-5" dirty="0">
                <a:latin typeface="Calibri"/>
                <a:cs typeface="Calibri"/>
              </a:rPr>
              <a:t>р</a:t>
            </a:r>
            <a:r>
              <a:rPr sz="2400" dirty="0">
                <a:latin typeface="Calibri"/>
                <a:cs typeface="Calibri"/>
              </a:rPr>
              <a:t>аз</a:t>
            </a:r>
            <a:r>
              <a:rPr sz="2400" spc="-5" dirty="0">
                <a:latin typeface="Calibri"/>
                <a:cs typeface="Calibri"/>
              </a:rPr>
              <a:t>ц</a:t>
            </a:r>
            <a:r>
              <a:rPr sz="2400" dirty="0">
                <a:latin typeface="Calibri"/>
                <a:cs typeface="Calibri"/>
              </a:rPr>
              <a:t>а	-  </a:t>
            </a:r>
            <a:r>
              <a:rPr sz="2400" spc="-10" dirty="0">
                <a:latin typeface="Calibri"/>
                <a:cs typeface="Calibri"/>
              </a:rPr>
              <a:t>категориальная</a:t>
            </a:r>
            <a:r>
              <a:rPr sz="2400" spc="-15" dirty="0">
                <a:latin typeface="Calibri"/>
                <a:cs typeface="Calibri"/>
              </a:rPr>
              <a:t> метка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(дискретный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выход).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5" dirty="0">
                <a:latin typeface="Calibri"/>
                <a:cs typeface="Calibri"/>
              </a:rPr>
              <a:t>Распознавание</a:t>
            </a:r>
            <a:r>
              <a:rPr sz="2400" spc="-10" dirty="0">
                <a:latin typeface="Calibri"/>
                <a:cs typeface="Calibri"/>
              </a:rPr>
              <a:t> рукописных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символов.</a:t>
            </a:r>
            <a:endParaRPr sz="2400">
              <a:latin typeface="Calibri"/>
              <a:cs typeface="Calibri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15" dirty="0">
                <a:latin typeface="Calibri"/>
                <a:cs typeface="Calibri"/>
              </a:rPr>
              <a:t>Спам-фильтр.</a:t>
            </a:r>
            <a:endParaRPr sz="2400">
              <a:latin typeface="Calibri"/>
              <a:cs typeface="Calibri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15" dirty="0">
                <a:latin typeface="Calibri"/>
                <a:cs typeface="Calibri"/>
              </a:rPr>
              <a:t>Определение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типа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опухоли.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7071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ЛИНЕЙНАЯ</a:t>
            </a:r>
            <a:r>
              <a:rPr sz="2400" spc="-25" dirty="0"/>
              <a:t> </a:t>
            </a:r>
            <a:r>
              <a:rPr sz="2400" spc="-5" dirty="0"/>
              <a:t>РЕГРЕССИЯ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145433" y="1628927"/>
            <a:ext cx="3895090" cy="4265295"/>
            <a:chOff x="4145433" y="1628927"/>
            <a:chExt cx="3895090" cy="4265295"/>
          </a:xfrm>
        </p:grpSpPr>
        <p:sp>
          <p:nvSpPr>
            <p:cNvPr id="4" name="object 4"/>
            <p:cNvSpPr/>
            <p:nvPr/>
          </p:nvSpPr>
          <p:spPr>
            <a:xfrm>
              <a:off x="4367808" y="1635277"/>
              <a:ext cx="3456940" cy="792480"/>
            </a:xfrm>
            <a:custGeom>
              <a:avLst/>
              <a:gdLst/>
              <a:ahLst/>
              <a:cxnLst/>
              <a:rect l="l" t="t" r="r" b="b"/>
              <a:pathLst>
                <a:path w="3456940" h="792480">
                  <a:moveTo>
                    <a:pt x="3324364" y="0"/>
                  </a:moveTo>
                  <a:lnTo>
                    <a:pt x="132016" y="0"/>
                  </a:lnTo>
                  <a:lnTo>
                    <a:pt x="90289" y="6730"/>
                  </a:lnTo>
                  <a:lnTo>
                    <a:pt x="54049" y="25471"/>
                  </a:lnTo>
                  <a:lnTo>
                    <a:pt x="25471" y="54049"/>
                  </a:lnTo>
                  <a:lnTo>
                    <a:pt x="6730" y="90289"/>
                  </a:lnTo>
                  <a:lnTo>
                    <a:pt x="0" y="132016"/>
                  </a:lnTo>
                  <a:lnTo>
                    <a:pt x="0" y="660069"/>
                  </a:lnTo>
                  <a:lnTo>
                    <a:pt x="6730" y="701797"/>
                  </a:lnTo>
                  <a:lnTo>
                    <a:pt x="25471" y="738037"/>
                  </a:lnTo>
                  <a:lnTo>
                    <a:pt x="54049" y="766614"/>
                  </a:lnTo>
                  <a:lnTo>
                    <a:pt x="90289" y="785356"/>
                  </a:lnTo>
                  <a:lnTo>
                    <a:pt x="132016" y="792086"/>
                  </a:lnTo>
                  <a:lnTo>
                    <a:pt x="3324364" y="792086"/>
                  </a:lnTo>
                  <a:lnTo>
                    <a:pt x="3366092" y="785356"/>
                  </a:lnTo>
                  <a:lnTo>
                    <a:pt x="3402331" y="766614"/>
                  </a:lnTo>
                  <a:lnTo>
                    <a:pt x="3430909" y="738037"/>
                  </a:lnTo>
                  <a:lnTo>
                    <a:pt x="3449650" y="701797"/>
                  </a:lnTo>
                  <a:lnTo>
                    <a:pt x="3456381" y="660069"/>
                  </a:lnTo>
                  <a:lnTo>
                    <a:pt x="3456381" y="132016"/>
                  </a:lnTo>
                  <a:lnTo>
                    <a:pt x="3449650" y="90289"/>
                  </a:lnTo>
                  <a:lnTo>
                    <a:pt x="3430909" y="54049"/>
                  </a:lnTo>
                  <a:lnTo>
                    <a:pt x="3402331" y="25471"/>
                  </a:lnTo>
                  <a:lnTo>
                    <a:pt x="3366092" y="6730"/>
                  </a:lnTo>
                  <a:lnTo>
                    <a:pt x="3324364" y="0"/>
                  </a:lnTo>
                  <a:close/>
                </a:path>
              </a:pathLst>
            </a:custGeom>
            <a:solidFill>
              <a:srgbClr val="D6D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67808" y="1635277"/>
              <a:ext cx="3456940" cy="792480"/>
            </a:xfrm>
            <a:custGeom>
              <a:avLst/>
              <a:gdLst/>
              <a:ahLst/>
              <a:cxnLst/>
              <a:rect l="l" t="t" r="r" b="b"/>
              <a:pathLst>
                <a:path w="3456940" h="792480">
                  <a:moveTo>
                    <a:pt x="0" y="132016"/>
                  </a:moveTo>
                  <a:lnTo>
                    <a:pt x="6730" y="90289"/>
                  </a:lnTo>
                  <a:lnTo>
                    <a:pt x="25471" y="54049"/>
                  </a:lnTo>
                  <a:lnTo>
                    <a:pt x="54049" y="25471"/>
                  </a:lnTo>
                  <a:lnTo>
                    <a:pt x="90289" y="6730"/>
                  </a:lnTo>
                  <a:lnTo>
                    <a:pt x="132016" y="0"/>
                  </a:lnTo>
                  <a:lnTo>
                    <a:pt x="3324364" y="0"/>
                  </a:lnTo>
                  <a:lnTo>
                    <a:pt x="3366092" y="6730"/>
                  </a:lnTo>
                  <a:lnTo>
                    <a:pt x="3402331" y="25471"/>
                  </a:lnTo>
                  <a:lnTo>
                    <a:pt x="3430909" y="54049"/>
                  </a:lnTo>
                  <a:lnTo>
                    <a:pt x="3449650" y="90289"/>
                  </a:lnTo>
                  <a:lnTo>
                    <a:pt x="3456381" y="132016"/>
                  </a:lnTo>
                  <a:lnTo>
                    <a:pt x="3456381" y="660069"/>
                  </a:lnTo>
                  <a:lnTo>
                    <a:pt x="3449650" y="701797"/>
                  </a:lnTo>
                  <a:lnTo>
                    <a:pt x="3430909" y="738037"/>
                  </a:lnTo>
                  <a:lnTo>
                    <a:pt x="3402331" y="766614"/>
                  </a:lnTo>
                  <a:lnTo>
                    <a:pt x="3366092" y="785356"/>
                  </a:lnTo>
                  <a:lnTo>
                    <a:pt x="3324364" y="792086"/>
                  </a:lnTo>
                  <a:lnTo>
                    <a:pt x="132016" y="792086"/>
                  </a:lnTo>
                  <a:lnTo>
                    <a:pt x="90289" y="785356"/>
                  </a:lnTo>
                  <a:lnTo>
                    <a:pt x="54049" y="766614"/>
                  </a:lnTo>
                  <a:lnTo>
                    <a:pt x="25471" y="738037"/>
                  </a:lnTo>
                  <a:lnTo>
                    <a:pt x="6730" y="701797"/>
                  </a:lnTo>
                  <a:lnTo>
                    <a:pt x="0" y="660069"/>
                  </a:lnTo>
                  <a:lnTo>
                    <a:pt x="0" y="13201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1783" y="4447556"/>
              <a:ext cx="3882390" cy="1440180"/>
            </a:xfrm>
            <a:custGeom>
              <a:avLst/>
              <a:gdLst/>
              <a:ahLst/>
              <a:cxnLst/>
              <a:rect l="l" t="t" r="r" b="b"/>
              <a:pathLst>
                <a:path w="3882390" h="1440179">
                  <a:moveTo>
                    <a:pt x="3642321" y="0"/>
                  </a:moveTo>
                  <a:lnTo>
                    <a:pt x="240029" y="0"/>
                  </a:lnTo>
                  <a:lnTo>
                    <a:pt x="191656" y="4876"/>
                  </a:lnTo>
                  <a:lnTo>
                    <a:pt x="146600" y="18863"/>
                  </a:lnTo>
                  <a:lnTo>
                    <a:pt x="105827" y="40993"/>
                  </a:lnTo>
                  <a:lnTo>
                    <a:pt x="70304" y="70304"/>
                  </a:lnTo>
                  <a:lnTo>
                    <a:pt x="40993" y="105827"/>
                  </a:lnTo>
                  <a:lnTo>
                    <a:pt x="18863" y="146600"/>
                  </a:lnTo>
                  <a:lnTo>
                    <a:pt x="4876" y="191656"/>
                  </a:lnTo>
                  <a:lnTo>
                    <a:pt x="0" y="240030"/>
                  </a:lnTo>
                  <a:lnTo>
                    <a:pt x="0" y="1200124"/>
                  </a:lnTo>
                  <a:lnTo>
                    <a:pt x="4876" y="1248498"/>
                  </a:lnTo>
                  <a:lnTo>
                    <a:pt x="18863" y="1293554"/>
                  </a:lnTo>
                  <a:lnTo>
                    <a:pt x="40993" y="1334326"/>
                  </a:lnTo>
                  <a:lnTo>
                    <a:pt x="70304" y="1369850"/>
                  </a:lnTo>
                  <a:lnTo>
                    <a:pt x="105827" y="1399160"/>
                  </a:lnTo>
                  <a:lnTo>
                    <a:pt x="146600" y="1421291"/>
                  </a:lnTo>
                  <a:lnTo>
                    <a:pt x="191656" y="1435277"/>
                  </a:lnTo>
                  <a:lnTo>
                    <a:pt x="240029" y="1440154"/>
                  </a:lnTo>
                  <a:lnTo>
                    <a:pt x="3642321" y="1440154"/>
                  </a:lnTo>
                  <a:lnTo>
                    <a:pt x="3690695" y="1435277"/>
                  </a:lnTo>
                  <a:lnTo>
                    <a:pt x="3735751" y="1421291"/>
                  </a:lnTo>
                  <a:lnTo>
                    <a:pt x="3776523" y="1399160"/>
                  </a:lnTo>
                  <a:lnTo>
                    <a:pt x="3812047" y="1369850"/>
                  </a:lnTo>
                  <a:lnTo>
                    <a:pt x="3841357" y="1334326"/>
                  </a:lnTo>
                  <a:lnTo>
                    <a:pt x="3863488" y="1293554"/>
                  </a:lnTo>
                  <a:lnTo>
                    <a:pt x="3877475" y="1248498"/>
                  </a:lnTo>
                  <a:lnTo>
                    <a:pt x="3882351" y="1200124"/>
                  </a:lnTo>
                  <a:lnTo>
                    <a:pt x="3882351" y="240030"/>
                  </a:lnTo>
                  <a:lnTo>
                    <a:pt x="3877475" y="191656"/>
                  </a:lnTo>
                  <a:lnTo>
                    <a:pt x="3863488" y="146600"/>
                  </a:lnTo>
                  <a:lnTo>
                    <a:pt x="3841357" y="105827"/>
                  </a:lnTo>
                  <a:lnTo>
                    <a:pt x="3812047" y="70304"/>
                  </a:lnTo>
                  <a:lnTo>
                    <a:pt x="3776523" y="40993"/>
                  </a:lnTo>
                  <a:lnTo>
                    <a:pt x="3735751" y="18863"/>
                  </a:lnTo>
                  <a:lnTo>
                    <a:pt x="3690695" y="4876"/>
                  </a:lnTo>
                  <a:lnTo>
                    <a:pt x="3642321" y="0"/>
                  </a:lnTo>
                  <a:close/>
                </a:path>
              </a:pathLst>
            </a:custGeom>
            <a:solidFill>
              <a:srgbClr val="D6D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51783" y="4447556"/>
              <a:ext cx="3882390" cy="1440180"/>
            </a:xfrm>
            <a:custGeom>
              <a:avLst/>
              <a:gdLst/>
              <a:ahLst/>
              <a:cxnLst/>
              <a:rect l="l" t="t" r="r" b="b"/>
              <a:pathLst>
                <a:path w="3882390" h="1440179">
                  <a:moveTo>
                    <a:pt x="0" y="240030"/>
                  </a:moveTo>
                  <a:lnTo>
                    <a:pt x="4876" y="191656"/>
                  </a:lnTo>
                  <a:lnTo>
                    <a:pt x="18863" y="146600"/>
                  </a:lnTo>
                  <a:lnTo>
                    <a:pt x="40993" y="105827"/>
                  </a:lnTo>
                  <a:lnTo>
                    <a:pt x="70304" y="70304"/>
                  </a:lnTo>
                  <a:lnTo>
                    <a:pt x="105827" y="40993"/>
                  </a:lnTo>
                  <a:lnTo>
                    <a:pt x="146600" y="18863"/>
                  </a:lnTo>
                  <a:lnTo>
                    <a:pt x="191656" y="4876"/>
                  </a:lnTo>
                  <a:lnTo>
                    <a:pt x="240029" y="0"/>
                  </a:lnTo>
                  <a:lnTo>
                    <a:pt x="3642321" y="0"/>
                  </a:lnTo>
                  <a:lnTo>
                    <a:pt x="3690695" y="4876"/>
                  </a:lnTo>
                  <a:lnTo>
                    <a:pt x="3735751" y="18863"/>
                  </a:lnTo>
                  <a:lnTo>
                    <a:pt x="3776523" y="40993"/>
                  </a:lnTo>
                  <a:lnTo>
                    <a:pt x="3812047" y="70304"/>
                  </a:lnTo>
                  <a:lnTo>
                    <a:pt x="3841357" y="105827"/>
                  </a:lnTo>
                  <a:lnTo>
                    <a:pt x="3863488" y="146600"/>
                  </a:lnTo>
                  <a:lnTo>
                    <a:pt x="3877475" y="191656"/>
                  </a:lnTo>
                  <a:lnTo>
                    <a:pt x="3882351" y="240030"/>
                  </a:lnTo>
                  <a:lnTo>
                    <a:pt x="3882351" y="1200124"/>
                  </a:lnTo>
                  <a:lnTo>
                    <a:pt x="3877475" y="1248498"/>
                  </a:lnTo>
                  <a:lnTo>
                    <a:pt x="3863488" y="1293554"/>
                  </a:lnTo>
                  <a:lnTo>
                    <a:pt x="3841357" y="1334326"/>
                  </a:lnTo>
                  <a:lnTo>
                    <a:pt x="3812047" y="1369850"/>
                  </a:lnTo>
                  <a:lnTo>
                    <a:pt x="3776523" y="1399160"/>
                  </a:lnTo>
                  <a:lnTo>
                    <a:pt x="3735751" y="1421291"/>
                  </a:lnTo>
                  <a:lnTo>
                    <a:pt x="3690695" y="1435277"/>
                  </a:lnTo>
                  <a:lnTo>
                    <a:pt x="3642321" y="1440154"/>
                  </a:lnTo>
                  <a:lnTo>
                    <a:pt x="240029" y="1440154"/>
                  </a:lnTo>
                  <a:lnTo>
                    <a:pt x="191656" y="1435277"/>
                  </a:lnTo>
                  <a:lnTo>
                    <a:pt x="146600" y="1421291"/>
                  </a:lnTo>
                  <a:lnTo>
                    <a:pt x="105827" y="1399160"/>
                  </a:lnTo>
                  <a:lnTo>
                    <a:pt x="70304" y="1369850"/>
                  </a:lnTo>
                  <a:lnTo>
                    <a:pt x="40993" y="1334326"/>
                  </a:lnTo>
                  <a:lnTo>
                    <a:pt x="18863" y="1293554"/>
                  </a:lnTo>
                  <a:lnTo>
                    <a:pt x="4876" y="1248498"/>
                  </a:lnTo>
                  <a:lnTo>
                    <a:pt x="0" y="1200124"/>
                  </a:lnTo>
                  <a:lnTo>
                    <a:pt x="0" y="240030"/>
                  </a:lnTo>
                  <a:close/>
                </a:path>
              </a:pathLst>
            </a:custGeom>
            <a:ln w="12699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23362" y="4491995"/>
            <a:ext cx="27419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44546A"/>
                </a:solidFill>
                <a:latin typeface="Calibri"/>
                <a:cs typeface="Calibri"/>
              </a:rPr>
              <a:t>h </a:t>
            </a:r>
            <a:r>
              <a:rPr sz="2800" b="1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46A"/>
                </a:solidFill>
                <a:latin typeface="Calibri"/>
                <a:cs typeface="Calibri"/>
              </a:rPr>
              <a:t>(</a:t>
            </a:r>
            <a:r>
              <a:rPr sz="2800" spc="-10" dirty="0">
                <a:solidFill>
                  <a:srgbClr val="44546A"/>
                </a:solidFill>
                <a:latin typeface="Calibri"/>
                <a:cs typeface="Calibri"/>
              </a:rPr>
              <a:t>пр</a:t>
            </a:r>
            <a:r>
              <a:rPr sz="2800" spc="-5" dirty="0">
                <a:solidFill>
                  <a:srgbClr val="44546A"/>
                </a:solidFill>
                <a:latin typeface="Calibri"/>
                <a:cs typeface="Calibri"/>
              </a:rPr>
              <a:t>о</a:t>
            </a:r>
            <a:r>
              <a:rPr sz="2800" dirty="0">
                <a:solidFill>
                  <a:srgbClr val="44546A"/>
                </a:solidFill>
                <a:latin typeface="Calibri"/>
                <a:cs typeface="Calibri"/>
              </a:rPr>
              <a:t>г</a:t>
            </a:r>
            <a:r>
              <a:rPr sz="2800" spc="-5" dirty="0">
                <a:solidFill>
                  <a:srgbClr val="44546A"/>
                </a:solidFill>
                <a:latin typeface="Calibri"/>
                <a:cs typeface="Calibri"/>
              </a:rPr>
              <a:t>но</a:t>
            </a:r>
            <a:r>
              <a:rPr sz="2800" dirty="0">
                <a:solidFill>
                  <a:srgbClr val="44546A"/>
                </a:solidFill>
                <a:latin typeface="Calibri"/>
                <a:cs typeface="Calibri"/>
              </a:rPr>
              <a:t>з</a:t>
            </a:r>
            <a:r>
              <a:rPr sz="2800" spc="-5" dirty="0">
                <a:solidFill>
                  <a:srgbClr val="44546A"/>
                </a:solidFill>
                <a:latin typeface="Calibri"/>
                <a:cs typeface="Calibri"/>
              </a:rPr>
              <a:t>и</a:t>
            </a:r>
            <a:r>
              <a:rPr sz="2800" spc="-35" dirty="0">
                <a:solidFill>
                  <a:srgbClr val="44546A"/>
                </a:solidFill>
                <a:latin typeface="Calibri"/>
                <a:cs typeface="Calibri"/>
              </a:rPr>
              <a:t>р</a:t>
            </a:r>
            <a:r>
              <a:rPr sz="2800" spc="-10" dirty="0">
                <a:solidFill>
                  <a:srgbClr val="44546A"/>
                </a:solidFill>
                <a:latin typeface="Calibri"/>
                <a:cs typeface="Calibri"/>
              </a:rPr>
              <a:t>ую</a:t>
            </a:r>
            <a:r>
              <a:rPr sz="2800" dirty="0">
                <a:solidFill>
                  <a:srgbClr val="44546A"/>
                </a:solidFill>
                <a:latin typeface="Calibri"/>
                <a:cs typeface="Calibri"/>
              </a:rPr>
              <a:t>щая  </a:t>
            </a:r>
            <a:r>
              <a:rPr sz="2800" spc="-25" dirty="0">
                <a:solidFill>
                  <a:srgbClr val="44546A"/>
                </a:solidFill>
                <a:latin typeface="Calibri"/>
                <a:cs typeface="Calibri"/>
              </a:rPr>
              <a:t>модель)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7321" y="2918594"/>
            <a:ext cx="5917565" cy="949325"/>
            <a:chOff x="3137321" y="2918594"/>
            <a:chExt cx="5917565" cy="949325"/>
          </a:xfrm>
        </p:grpSpPr>
        <p:sp>
          <p:nvSpPr>
            <p:cNvPr id="10" name="object 10"/>
            <p:cNvSpPr/>
            <p:nvPr/>
          </p:nvSpPr>
          <p:spPr>
            <a:xfrm>
              <a:off x="3143671" y="2924944"/>
              <a:ext cx="5904865" cy="936625"/>
            </a:xfrm>
            <a:custGeom>
              <a:avLst/>
              <a:gdLst/>
              <a:ahLst/>
              <a:cxnLst/>
              <a:rect l="l" t="t" r="r" b="b"/>
              <a:pathLst>
                <a:path w="5904865" h="936625">
                  <a:moveTo>
                    <a:pt x="5748629" y="0"/>
                  </a:moveTo>
                  <a:lnTo>
                    <a:pt x="156019" y="0"/>
                  </a:lnTo>
                  <a:lnTo>
                    <a:pt x="106704" y="7953"/>
                  </a:lnTo>
                  <a:lnTo>
                    <a:pt x="63875" y="30102"/>
                  </a:lnTo>
                  <a:lnTo>
                    <a:pt x="30102" y="63875"/>
                  </a:lnTo>
                  <a:lnTo>
                    <a:pt x="7953" y="106704"/>
                  </a:lnTo>
                  <a:lnTo>
                    <a:pt x="0" y="156019"/>
                  </a:lnTo>
                  <a:lnTo>
                    <a:pt x="0" y="780084"/>
                  </a:lnTo>
                  <a:lnTo>
                    <a:pt x="7953" y="829399"/>
                  </a:lnTo>
                  <a:lnTo>
                    <a:pt x="30102" y="872228"/>
                  </a:lnTo>
                  <a:lnTo>
                    <a:pt x="63875" y="906002"/>
                  </a:lnTo>
                  <a:lnTo>
                    <a:pt x="106704" y="928150"/>
                  </a:lnTo>
                  <a:lnTo>
                    <a:pt x="156019" y="936104"/>
                  </a:lnTo>
                  <a:lnTo>
                    <a:pt x="5748629" y="936104"/>
                  </a:lnTo>
                  <a:lnTo>
                    <a:pt x="5797946" y="928150"/>
                  </a:lnTo>
                  <a:lnTo>
                    <a:pt x="5840778" y="906002"/>
                  </a:lnTo>
                  <a:lnTo>
                    <a:pt x="5874555" y="872228"/>
                  </a:lnTo>
                  <a:lnTo>
                    <a:pt x="5896706" y="829399"/>
                  </a:lnTo>
                  <a:lnTo>
                    <a:pt x="5904661" y="780084"/>
                  </a:lnTo>
                  <a:lnTo>
                    <a:pt x="5904661" y="156019"/>
                  </a:lnTo>
                  <a:lnTo>
                    <a:pt x="5896706" y="106704"/>
                  </a:lnTo>
                  <a:lnTo>
                    <a:pt x="5874555" y="63875"/>
                  </a:lnTo>
                  <a:lnTo>
                    <a:pt x="5840778" y="30102"/>
                  </a:lnTo>
                  <a:lnTo>
                    <a:pt x="5797946" y="7953"/>
                  </a:lnTo>
                  <a:lnTo>
                    <a:pt x="5748629" y="0"/>
                  </a:lnTo>
                  <a:close/>
                </a:path>
              </a:pathLst>
            </a:custGeom>
            <a:solidFill>
              <a:srgbClr val="D6D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43671" y="2924944"/>
              <a:ext cx="5904865" cy="936625"/>
            </a:xfrm>
            <a:custGeom>
              <a:avLst/>
              <a:gdLst/>
              <a:ahLst/>
              <a:cxnLst/>
              <a:rect l="l" t="t" r="r" b="b"/>
              <a:pathLst>
                <a:path w="5904865" h="936625">
                  <a:moveTo>
                    <a:pt x="0" y="156019"/>
                  </a:moveTo>
                  <a:lnTo>
                    <a:pt x="7953" y="106704"/>
                  </a:lnTo>
                  <a:lnTo>
                    <a:pt x="30102" y="63875"/>
                  </a:lnTo>
                  <a:lnTo>
                    <a:pt x="63875" y="30102"/>
                  </a:lnTo>
                  <a:lnTo>
                    <a:pt x="106704" y="7953"/>
                  </a:lnTo>
                  <a:lnTo>
                    <a:pt x="156019" y="0"/>
                  </a:lnTo>
                  <a:lnTo>
                    <a:pt x="5748629" y="0"/>
                  </a:lnTo>
                  <a:lnTo>
                    <a:pt x="5797946" y="7953"/>
                  </a:lnTo>
                  <a:lnTo>
                    <a:pt x="5840778" y="30102"/>
                  </a:lnTo>
                  <a:lnTo>
                    <a:pt x="5874555" y="63875"/>
                  </a:lnTo>
                  <a:lnTo>
                    <a:pt x="5896706" y="106704"/>
                  </a:lnTo>
                  <a:lnTo>
                    <a:pt x="5904661" y="156019"/>
                  </a:lnTo>
                  <a:lnTo>
                    <a:pt x="5904661" y="780084"/>
                  </a:lnTo>
                  <a:lnTo>
                    <a:pt x="5896706" y="829399"/>
                  </a:lnTo>
                  <a:lnTo>
                    <a:pt x="5874555" y="872228"/>
                  </a:lnTo>
                  <a:lnTo>
                    <a:pt x="5840778" y="906002"/>
                  </a:lnTo>
                  <a:lnTo>
                    <a:pt x="5797946" y="928150"/>
                  </a:lnTo>
                  <a:lnTo>
                    <a:pt x="5748629" y="936104"/>
                  </a:lnTo>
                  <a:lnTo>
                    <a:pt x="156019" y="936104"/>
                  </a:lnTo>
                  <a:lnTo>
                    <a:pt x="106704" y="928150"/>
                  </a:lnTo>
                  <a:lnTo>
                    <a:pt x="63875" y="906002"/>
                  </a:lnTo>
                  <a:lnTo>
                    <a:pt x="30102" y="872228"/>
                  </a:lnTo>
                  <a:lnTo>
                    <a:pt x="7953" y="829399"/>
                  </a:lnTo>
                  <a:lnTo>
                    <a:pt x="0" y="780084"/>
                  </a:lnTo>
                  <a:lnTo>
                    <a:pt x="0" y="15601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96906" y="1782400"/>
            <a:ext cx="4797425" cy="181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44546A"/>
                </a:solidFill>
                <a:latin typeface="Calibri"/>
                <a:cs typeface="Calibri"/>
              </a:rPr>
              <a:t>Обучающие </a:t>
            </a:r>
            <a:r>
              <a:rPr sz="2800" spc="-5" dirty="0">
                <a:solidFill>
                  <a:srgbClr val="44546A"/>
                </a:solidFill>
                <a:latin typeface="Calibri"/>
                <a:cs typeface="Calibri"/>
              </a:rPr>
              <a:t>данные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spc="-10" dirty="0">
                <a:solidFill>
                  <a:srgbClr val="44546A"/>
                </a:solidFill>
                <a:latin typeface="Calibri"/>
                <a:cs typeface="Calibri"/>
              </a:rPr>
              <a:t>Алгоритм</a:t>
            </a:r>
            <a:r>
              <a:rPr sz="2800" spc="-3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4546A"/>
                </a:solidFill>
                <a:latin typeface="Calibri"/>
                <a:cs typeface="Calibri"/>
              </a:rPr>
              <a:t>машинного</a:t>
            </a:r>
            <a:r>
              <a:rPr sz="2800" spc="-4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546A"/>
                </a:solidFill>
                <a:latin typeface="Calibri"/>
                <a:cs typeface="Calibri"/>
              </a:rPr>
              <a:t>обучения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97161" y="2414666"/>
            <a:ext cx="4456430" cy="3469004"/>
            <a:chOff x="1697161" y="2414666"/>
            <a:chExt cx="4456430" cy="3469004"/>
          </a:xfrm>
        </p:grpSpPr>
        <p:sp>
          <p:nvSpPr>
            <p:cNvPr id="14" name="object 14"/>
            <p:cNvSpPr/>
            <p:nvPr/>
          </p:nvSpPr>
          <p:spPr>
            <a:xfrm>
              <a:off x="6096000" y="2427366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h="472439">
                  <a:moveTo>
                    <a:pt x="0" y="0"/>
                  </a:moveTo>
                  <a:lnTo>
                    <a:pt x="0" y="472427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1555" y="2823601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3091" y="3861048"/>
              <a:ext cx="3175" cy="551180"/>
            </a:xfrm>
            <a:custGeom>
              <a:avLst/>
              <a:gdLst/>
              <a:ahLst/>
              <a:cxnLst/>
              <a:rect l="l" t="t" r="r" b="b"/>
              <a:pathLst>
                <a:path w="3175" h="551179">
                  <a:moveTo>
                    <a:pt x="2908" y="0"/>
                  </a:moveTo>
                  <a:lnTo>
                    <a:pt x="0" y="550913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9040" y="4335536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0"/>
                  </a:moveTo>
                  <a:lnTo>
                    <a:pt x="44056" y="76428"/>
                  </a:lnTo>
                  <a:lnTo>
                    <a:pt x="88900" y="469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03511" y="4293097"/>
              <a:ext cx="1944370" cy="1584325"/>
            </a:xfrm>
            <a:custGeom>
              <a:avLst/>
              <a:gdLst/>
              <a:ahLst/>
              <a:cxnLst/>
              <a:rect l="l" t="t" r="r" b="b"/>
              <a:pathLst>
                <a:path w="1944370" h="1584325">
                  <a:moveTo>
                    <a:pt x="972108" y="0"/>
                  </a:moveTo>
                  <a:lnTo>
                    <a:pt x="918772" y="1172"/>
                  </a:lnTo>
                  <a:lnTo>
                    <a:pt x="866187" y="4647"/>
                  </a:lnTo>
                  <a:lnTo>
                    <a:pt x="814427" y="10366"/>
                  </a:lnTo>
                  <a:lnTo>
                    <a:pt x="763568" y="18268"/>
                  </a:lnTo>
                  <a:lnTo>
                    <a:pt x="713684" y="28293"/>
                  </a:lnTo>
                  <a:lnTo>
                    <a:pt x="664847" y="40380"/>
                  </a:lnTo>
                  <a:lnTo>
                    <a:pt x="617133" y="54468"/>
                  </a:lnTo>
                  <a:lnTo>
                    <a:pt x="570616" y="70498"/>
                  </a:lnTo>
                  <a:lnTo>
                    <a:pt x="525369" y="88409"/>
                  </a:lnTo>
                  <a:lnTo>
                    <a:pt x="481467" y="108141"/>
                  </a:lnTo>
                  <a:lnTo>
                    <a:pt x="438984" y="129633"/>
                  </a:lnTo>
                  <a:lnTo>
                    <a:pt x="397994" y="152824"/>
                  </a:lnTo>
                  <a:lnTo>
                    <a:pt x="358571" y="177655"/>
                  </a:lnTo>
                  <a:lnTo>
                    <a:pt x="320790" y="204065"/>
                  </a:lnTo>
                  <a:lnTo>
                    <a:pt x="284724" y="231994"/>
                  </a:lnTo>
                  <a:lnTo>
                    <a:pt x="250448" y="261380"/>
                  </a:lnTo>
                  <a:lnTo>
                    <a:pt x="218035" y="292165"/>
                  </a:lnTo>
                  <a:lnTo>
                    <a:pt x="187560" y="324287"/>
                  </a:lnTo>
                  <a:lnTo>
                    <a:pt x="159098" y="357686"/>
                  </a:lnTo>
                  <a:lnTo>
                    <a:pt x="132721" y="392302"/>
                  </a:lnTo>
                  <a:lnTo>
                    <a:pt x="108505" y="428073"/>
                  </a:lnTo>
                  <a:lnTo>
                    <a:pt x="86523" y="464941"/>
                  </a:lnTo>
                  <a:lnTo>
                    <a:pt x="66849" y="502844"/>
                  </a:lnTo>
                  <a:lnTo>
                    <a:pt x="49558" y="541723"/>
                  </a:lnTo>
                  <a:lnTo>
                    <a:pt x="34724" y="581515"/>
                  </a:lnTo>
                  <a:lnTo>
                    <a:pt x="22421" y="622163"/>
                  </a:lnTo>
                  <a:lnTo>
                    <a:pt x="12723" y="663604"/>
                  </a:lnTo>
                  <a:lnTo>
                    <a:pt x="5704" y="705778"/>
                  </a:lnTo>
                  <a:lnTo>
                    <a:pt x="1438" y="748626"/>
                  </a:lnTo>
                  <a:lnTo>
                    <a:pt x="0" y="792086"/>
                  </a:lnTo>
                  <a:lnTo>
                    <a:pt x="1438" y="835546"/>
                  </a:lnTo>
                  <a:lnTo>
                    <a:pt x="5704" y="878394"/>
                  </a:lnTo>
                  <a:lnTo>
                    <a:pt x="12723" y="920568"/>
                  </a:lnTo>
                  <a:lnTo>
                    <a:pt x="22421" y="962009"/>
                  </a:lnTo>
                  <a:lnTo>
                    <a:pt x="34724" y="1002656"/>
                  </a:lnTo>
                  <a:lnTo>
                    <a:pt x="49558" y="1042449"/>
                  </a:lnTo>
                  <a:lnTo>
                    <a:pt x="66849" y="1081327"/>
                  </a:lnTo>
                  <a:lnTo>
                    <a:pt x="86523" y="1119230"/>
                  </a:lnTo>
                  <a:lnTo>
                    <a:pt x="108505" y="1156098"/>
                  </a:lnTo>
                  <a:lnTo>
                    <a:pt x="132721" y="1191870"/>
                  </a:lnTo>
                  <a:lnTo>
                    <a:pt x="159098" y="1226486"/>
                  </a:lnTo>
                  <a:lnTo>
                    <a:pt x="187560" y="1259885"/>
                  </a:lnTo>
                  <a:lnTo>
                    <a:pt x="218035" y="1292007"/>
                  </a:lnTo>
                  <a:lnTo>
                    <a:pt x="250448" y="1322791"/>
                  </a:lnTo>
                  <a:lnTo>
                    <a:pt x="284724" y="1352178"/>
                  </a:lnTo>
                  <a:lnTo>
                    <a:pt x="320790" y="1380107"/>
                  </a:lnTo>
                  <a:lnTo>
                    <a:pt x="358571" y="1406516"/>
                  </a:lnTo>
                  <a:lnTo>
                    <a:pt x="397994" y="1431347"/>
                  </a:lnTo>
                  <a:lnTo>
                    <a:pt x="438984" y="1454539"/>
                  </a:lnTo>
                  <a:lnTo>
                    <a:pt x="481467" y="1476031"/>
                  </a:lnTo>
                  <a:lnTo>
                    <a:pt x="525369" y="1495762"/>
                  </a:lnTo>
                  <a:lnTo>
                    <a:pt x="570616" y="1513673"/>
                  </a:lnTo>
                  <a:lnTo>
                    <a:pt x="617133" y="1529703"/>
                  </a:lnTo>
                  <a:lnTo>
                    <a:pt x="664847" y="1543792"/>
                  </a:lnTo>
                  <a:lnTo>
                    <a:pt x="713684" y="1555878"/>
                  </a:lnTo>
                  <a:lnTo>
                    <a:pt x="763568" y="1565903"/>
                  </a:lnTo>
                  <a:lnTo>
                    <a:pt x="814427" y="1573805"/>
                  </a:lnTo>
                  <a:lnTo>
                    <a:pt x="866187" y="1579524"/>
                  </a:lnTo>
                  <a:lnTo>
                    <a:pt x="918772" y="1583000"/>
                  </a:lnTo>
                  <a:lnTo>
                    <a:pt x="972108" y="1584172"/>
                  </a:lnTo>
                  <a:lnTo>
                    <a:pt x="1025445" y="1583000"/>
                  </a:lnTo>
                  <a:lnTo>
                    <a:pt x="1078030" y="1579524"/>
                  </a:lnTo>
                  <a:lnTo>
                    <a:pt x="1129789" y="1573805"/>
                  </a:lnTo>
                  <a:lnTo>
                    <a:pt x="1180648" y="1565903"/>
                  </a:lnTo>
                  <a:lnTo>
                    <a:pt x="1230533" y="1555878"/>
                  </a:lnTo>
                  <a:lnTo>
                    <a:pt x="1279369" y="1543792"/>
                  </a:lnTo>
                  <a:lnTo>
                    <a:pt x="1327084" y="1529703"/>
                  </a:lnTo>
                  <a:lnTo>
                    <a:pt x="1373601" y="1513673"/>
                  </a:lnTo>
                  <a:lnTo>
                    <a:pt x="1418848" y="1495762"/>
                  </a:lnTo>
                  <a:lnTo>
                    <a:pt x="1462750" y="1476031"/>
                  </a:lnTo>
                  <a:lnTo>
                    <a:pt x="1505233" y="1454539"/>
                  </a:lnTo>
                  <a:lnTo>
                    <a:pt x="1546223" y="1431347"/>
                  </a:lnTo>
                  <a:lnTo>
                    <a:pt x="1585645" y="1406516"/>
                  </a:lnTo>
                  <a:lnTo>
                    <a:pt x="1623427" y="1380107"/>
                  </a:lnTo>
                  <a:lnTo>
                    <a:pt x="1659493" y="1352178"/>
                  </a:lnTo>
                  <a:lnTo>
                    <a:pt x="1693769" y="1322791"/>
                  </a:lnTo>
                  <a:lnTo>
                    <a:pt x="1726181" y="1292007"/>
                  </a:lnTo>
                  <a:lnTo>
                    <a:pt x="1756656" y="1259885"/>
                  </a:lnTo>
                  <a:lnTo>
                    <a:pt x="1785119" y="1226486"/>
                  </a:lnTo>
                  <a:lnTo>
                    <a:pt x="1811496" y="1191870"/>
                  </a:lnTo>
                  <a:lnTo>
                    <a:pt x="1835712" y="1156098"/>
                  </a:lnTo>
                  <a:lnTo>
                    <a:pt x="1857694" y="1119230"/>
                  </a:lnTo>
                  <a:lnTo>
                    <a:pt x="1877367" y="1081327"/>
                  </a:lnTo>
                  <a:lnTo>
                    <a:pt x="1894658" y="1042449"/>
                  </a:lnTo>
                  <a:lnTo>
                    <a:pt x="1909492" y="1002656"/>
                  </a:lnTo>
                  <a:lnTo>
                    <a:pt x="1921796" y="962009"/>
                  </a:lnTo>
                  <a:lnTo>
                    <a:pt x="1931494" y="920568"/>
                  </a:lnTo>
                  <a:lnTo>
                    <a:pt x="1938513" y="878394"/>
                  </a:lnTo>
                  <a:lnTo>
                    <a:pt x="1942779" y="835546"/>
                  </a:lnTo>
                  <a:lnTo>
                    <a:pt x="1944217" y="792086"/>
                  </a:lnTo>
                  <a:lnTo>
                    <a:pt x="1942779" y="748626"/>
                  </a:lnTo>
                  <a:lnTo>
                    <a:pt x="1938513" y="705778"/>
                  </a:lnTo>
                  <a:lnTo>
                    <a:pt x="1931494" y="663604"/>
                  </a:lnTo>
                  <a:lnTo>
                    <a:pt x="1921796" y="622163"/>
                  </a:lnTo>
                  <a:lnTo>
                    <a:pt x="1909492" y="581515"/>
                  </a:lnTo>
                  <a:lnTo>
                    <a:pt x="1894658" y="541723"/>
                  </a:lnTo>
                  <a:lnTo>
                    <a:pt x="1877367" y="502844"/>
                  </a:lnTo>
                  <a:lnTo>
                    <a:pt x="1857694" y="464941"/>
                  </a:lnTo>
                  <a:lnTo>
                    <a:pt x="1835712" y="428073"/>
                  </a:lnTo>
                  <a:lnTo>
                    <a:pt x="1811496" y="392302"/>
                  </a:lnTo>
                  <a:lnTo>
                    <a:pt x="1785119" y="357686"/>
                  </a:lnTo>
                  <a:lnTo>
                    <a:pt x="1756656" y="324287"/>
                  </a:lnTo>
                  <a:lnTo>
                    <a:pt x="1726181" y="292165"/>
                  </a:lnTo>
                  <a:lnTo>
                    <a:pt x="1693769" y="261380"/>
                  </a:lnTo>
                  <a:lnTo>
                    <a:pt x="1659493" y="231994"/>
                  </a:lnTo>
                  <a:lnTo>
                    <a:pt x="1623427" y="204065"/>
                  </a:lnTo>
                  <a:lnTo>
                    <a:pt x="1585645" y="177655"/>
                  </a:lnTo>
                  <a:lnTo>
                    <a:pt x="1546223" y="152824"/>
                  </a:lnTo>
                  <a:lnTo>
                    <a:pt x="1505233" y="129633"/>
                  </a:lnTo>
                  <a:lnTo>
                    <a:pt x="1462750" y="108141"/>
                  </a:lnTo>
                  <a:lnTo>
                    <a:pt x="1418848" y="88409"/>
                  </a:lnTo>
                  <a:lnTo>
                    <a:pt x="1373601" y="70498"/>
                  </a:lnTo>
                  <a:lnTo>
                    <a:pt x="1327084" y="54468"/>
                  </a:lnTo>
                  <a:lnTo>
                    <a:pt x="1279369" y="40380"/>
                  </a:lnTo>
                  <a:lnTo>
                    <a:pt x="1230533" y="28293"/>
                  </a:lnTo>
                  <a:lnTo>
                    <a:pt x="1180648" y="18268"/>
                  </a:lnTo>
                  <a:lnTo>
                    <a:pt x="1129789" y="10366"/>
                  </a:lnTo>
                  <a:lnTo>
                    <a:pt x="1078030" y="4647"/>
                  </a:lnTo>
                  <a:lnTo>
                    <a:pt x="1025445" y="1172"/>
                  </a:lnTo>
                  <a:lnTo>
                    <a:pt x="97210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03511" y="4293097"/>
              <a:ext cx="1944370" cy="1584325"/>
            </a:xfrm>
            <a:custGeom>
              <a:avLst/>
              <a:gdLst/>
              <a:ahLst/>
              <a:cxnLst/>
              <a:rect l="l" t="t" r="r" b="b"/>
              <a:pathLst>
                <a:path w="1944370" h="1584325">
                  <a:moveTo>
                    <a:pt x="0" y="792086"/>
                  </a:moveTo>
                  <a:lnTo>
                    <a:pt x="1438" y="748626"/>
                  </a:lnTo>
                  <a:lnTo>
                    <a:pt x="5704" y="705778"/>
                  </a:lnTo>
                  <a:lnTo>
                    <a:pt x="12723" y="663604"/>
                  </a:lnTo>
                  <a:lnTo>
                    <a:pt x="22421" y="622163"/>
                  </a:lnTo>
                  <a:lnTo>
                    <a:pt x="34724" y="581515"/>
                  </a:lnTo>
                  <a:lnTo>
                    <a:pt x="49558" y="541723"/>
                  </a:lnTo>
                  <a:lnTo>
                    <a:pt x="66849" y="502844"/>
                  </a:lnTo>
                  <a:lnTo>
                    <a:pt x="86523" y="464941"/>
                  </a:lnTo>
                  <a:lnTo>
                    <a:pt x="108505" y="428073"/>
                  </a:lnTo>
                  <a:lnTo>
                    <a:pt x="132721" y="392302"/>
                  </a:lnTo>
                  <a:lnTo>
                    <a:pt x="159098" y="357686"/>
                  </a:lnTo>
                  <a:lnTo>
                    <a:pt x="187560" y="324287"/>
                  </a:lnTo>
                  <a:lnTo>
                    <a:pt x="218035" y="292165"/>
                  </a:lnTo>
                  <a:lnTo>
                    <a:pt x="250448" y="261380"/>
                  </a:lnTo>
                  <a:lnTo>
                    <a:pt x="284724" y="231994"/>
                  </a:lnTo>
                  <a:lnTo>
                    <a:pt x="320790" y="204065"/>
                  </a:lnTo>
                  <a:lnTo>
                    <a:pt x="358571" y="177655"/>
                  </a:lnTo>
                  <a:lnTo>
                    <a:pt x="397994" y="152824"/>
                  </a:lnTo>
                  <a:lnTo>
                    <a:pt x="438984" y="129633"/>
                  </a:lnTo>
                  <a:lnTo>
                    <a:pt x="481467" y="108141"/>
                  </a:lnTo>
                  <a:lnTo>
                    <a:pt x="525369" y="88409"/>
                  </a:lnTo>
                  <a:lnTo>
                    <a:pt x="570616" y="70498"/>
                  </a:lnTo>
                  <a:lnTo>
                    <a:pt x="617133" y="54468"/>
                  </a:lnTo>
                  <a:lnTo>
                    <a:pt x="664847" y="40380"/>
                  </a:lnTo>
                  <a:lnTo>
                    <a:pt x="713684" y="28293"/>
                  </a:lnTo>
                  <a:lnTo>
                    <a:pt x="763568" y="18268"/>
                  </a:lnTo>
                  <a:lnTo>
                    <a:pt x="814427" y="10366"/>
                  </a:lnTo>
                  <a:lnTo>
                    <a:pt x="866187" y="4647"/>
                  </a:lnTo>
                  <a:lnTo>
                    <a:pt x="918772" y="1172"/>
                  </a:lnTo>
                  <a:lnTo>
                    <a:pt x="972108" y="0"/>
                  </a:lnTo>
                  <a:lnTo>
                    <a:pt x="1025445" y="1172"/>
                  </a:lnTo>
                  <a:lnTo>
                    <a:pt x="1078030" y="4647"/>
                  </a:lnTo>
                  <a:lnTo>
                    <a:pt x="1129789" y="10366"/>
                  </a:lnTo>
                  <a:lnTo>
                    <a:pt x="1180648" y="18268"/>
                  </a:lnTo>
                  <a:lnTo>
                    <a:pt x="1230533" y="28293"/>
                  </a:lnTo>
                  <a:lnTo>
                    <a:pt x="1279369" y="40380"/>
                  </a:lnTo>
                  <a:lnTo>
                    <a:pt x="1327084" y="54468"/>
                  </a:lnTo>
                  <a:lnTo>
                    <a:pt x="1373601" y="70498"/>
                  </a:lnTo>
                  <a:lnTo>
                    <a:pt x="1418848" y="88409"/>
                  </a:lnTo>
                  <a:lnTo>
                    <a:pt x="1462750" y="108141"/>
                  </a:lnTo>
                  <a:lnTo>
                    <a:pt x="1505233" y="129633"/>
                  </a:lnTo>
                  <a:lnTo>
                    <a:pt x="1546223" y="152824"/>
                  </a:lnTo>
                  <a:lnTo>
                    <a:pt x="1585645" y="177655"/>
                  </a:lnTo>
                  <a:lnTo>
                    <a:pt x="1623427" y="204065"/>
                  </a:lnTo>
                  <a:lnTo>
                    <a:pt x="1659493" y="231994"/>
                  </a:lnTo>
                  <a:lnTo>
                    <a:pt x="1693769" y="261380"/>
                  </a:lnTo>
                  <a:lnTo>
                    <a:pt x="1726181" y="292165"/>
                  </a:lnTo>
                  <a:lnTo>
                    <a:pt x="1756656" y="324287"/>
                  </a:lnTo>
                  <a:lnTo>
                    <a:pt x="1785119" y="357686"/>
                  </a:lnTo>
                  <a:lnTo>
                    <a:pt x="1811496" y="392302"/>
                  </a:lnTo>
                  <a:lnTo>
                    <a:pt x="1835712" y="428073"/>
                  </a:lnTo>
                  <a:lnTo>
                    <a:pt x="1857694" y="464941"/>
                  </a:lnTo>
                  <a:lnTo>
                    <a:pt x="1877367" y="502844"/>
                  </a:lnTo>
                  <a:lnTo>
                    <a:pt x="1894658" y="541723"/>
                  </a:lnTo>
                  <a:lnTo>
                    <a:pt x="1909492" y="581515"/>
                  </a:lnTo>
                  <a:lnTo>
                    <a:pt x="1921796" y="622163"/>
                  </a:lnTo>
                  <a:lnTo>
                    <a:pt x="1931494" y="663604"/>
                  </a:lnTo>
                  <a:lnTo>
                    <a:pt x="1938513" y="705778"/>
                  </a:lnTo>
                  <a:lnTo>
                    <a:pt x="1942779" y="748626"/>
                  </a:lnTo>
                  <a:lnTo>
                    <a:pt x="1944217" y="792086"/>
                  </a:lnTo>
                  <a:lnTo>
                    <a:pt x="1942779" y="835546"/>
                  </a:lnTo>
                  <a:lnTo>
                    <a:pt x="1938513" y="878394"/>
                  </a:lnTo>
                  <a:lnTo>
                    <a:pt x="1931494" y="920568"/>
                  </a:lnTo>
                  <a:lnTo>
                    <a:pt x="1921796" y="962009"/>
                  </a:lnTo>
                  <a:lnTo>
                    <a:pt x="1909492" y="1002656"/>
                  </a:lnTo>
                  <a:lnTo>
                    <a:pt x="1894658" y="1042449"/>
                  </a:lnTo>
                  <a:lnTo>
                    <a:pt x="1877367" y="1081327"/>
                  </a:lnTo>
                  <a:lnTo>
                    <a:pt x="1857694" y="1119230"/>
                  </a:lnTo>
                  <a:lnTo>
                    <a:pt x="1835712" y="1156098"/>
                  </a:lnTo>
                  <a:lnTo>
                    <a:pt x="1811496" y="1191870"/>
                  </a:lnTo>
                  <a:lnTo>
                    <a:pt x="1785119" y="1226486"/>
                  </a:lnTo>
                  <a:lnTo>
                    <a:pt x="1756656" y="1259885"/>
                  </a:lnTo>
                  <a:lnTo>
                    <a:pt x="1726181" y="1292007"/>
                  </a:lnTo>
                  <a:lnTo>
                    <a:pt x="1693769" y="1322791"/>
                  </a:lnTo>
                  <a:lnTo>
                    <a:pt x="1659493" y="1352178"/>
                  </a:lnTo>
                  <a:lnTo>
                    <a:pt x="1623427" y="1380107"/>
                  </a:lnTo>
                  <a:lnTo>
                    <a:pt x="1585645" y="1406516"/>
                  </a:lnTo>
                  <a:lnTo>
                    <a:pt x="1546223" y="1431347"/>
                  </a:lnTo>
                  <a:lnTo>
                    <a:pt x="1505233" y="1454539"/>
                  </a:lnTo>
                  <a:lnTo>
                    <a:pt x="1462750" y="1476031"/>
                  </a:lnTo>
                  <a:lnTo>
                    <a:pt x="1418848" y="1495762"/>
                  </a:lnTo>
                  <a:lnTo>
                    <a:pt x="1373601" y="1513673"/>
                  </a:lnTo>
                  <a:lnTo>
                    <a:pt x="1327084" y="1529703"/>
                  </a:lnTo>
                  <a:lnTo>
                    <a:pt x="1279369" y="1543792"/>
                  </a:lnTo>
                  <a:lnTo>
                    <a:pt x="1230533" y="1555878"/>
                  </a:lnTo>
                  <a:lnTo>
                    <a:pt x="1180648" y="1565903"/>
                  </a:lnTo>
                  <a:lnTo>
                    <a:pt x="1129789" y="1573805"/>
                  </a:lnTo>
                  <a:lnTo>
                    <a:pt x="1078030" y="1579524"/>
                  </a:lnTo>
                  <a:lnTo>
                    <a:pt x="1025445" y="1583000"/>
                  </a:lnTo>
                  <a:lnTo>
                    <a:pt x="972108" y="1584172"/>
                  </a:lnTo>
                  <a:lnTo>
                    <a:pt x="918772" y="1583000"/>
                  </a:lnTo>
                  <a:lnTo>
                    <a:pt x="866187" y="1579524"/>
                  </a:lnTo>
                  <a:lnTo>
                    <a:pt x="814427" y="1573805"/>
                  </a:lnTo>
                  <a:lnTo>
                    <a:pt x="763568" y="1565903"/>
                  </a:lnTo>
                  <a:lnTo>
                    <a:pt x="713684" y="1555878"/>
                  </a:lnTo>
                  <a:lnTo>
                    <a:pt x="664847" y="1543792"/>
                  </a:lnTo>
                  <a:lnTo>
                    <a:pt x="617133" y="1529703"/>
                  </a:lnTo>
                  <a:lnTo>
                    <a:pt x="570616" y="1513673"/>
                  </a:lnTo>
                  <a:lnTo>
                    <a:pt x="525369" y="1495762"/>
                  </a:lnTo>
                  <a:lnTo>
                    <a:pt x="481467" y="1476031"/>
                  </a:lnTo>
                  <a:lnTo>
                    <a:pt x="438984" y="1454539"/>
                  </a:lnTo>
                  <a:lnTo>
                    <a:pt x="397994" y="1431347"/>
                  </a:lnTo>
                  <a:lnTo>
                    <a:pt x="358571" y="1406516"/>
                  </a:lnTo>
                  <a:lnTo>
                    <a:pt x="320790" y="1380107"/>
                  </a:lnTo>
                  <a:lnTo>
                    <a:pt x="284724" y="1352178"/>
                  </a:lnTo>
                  <a:lnTo>
                    <a:pt x="250448" y="1322791"/>
                  </a:lnTo>
                  <a:lnTo>
                    <a:pt x="218035" y="1292007"/>
                  </a:lnTo>
                  <a:lnTo>
                    <a:pt x="187560" y="1259885"/>
                  </a:lnTo>
                  <a:lnTo>
                    <a:pt x="159098" y="1226486"/>
                  </a:lnTo>
                  <a:lnTo>
                    <a:pt x="132721" y="1191870"/>
                  </a:lnTo>
                  <a:lnTo>
                    <a:pt x="108505" y="1156098"/>
                  </a:lnTo>
                  <a:lnTo>
                    <a:pt x="86523" y="1119230"/>
                  </a:lnTo>
                  <a:lnTo>
                    <a:pt x="66849" y="1081327"/>
                  </a:lnTo>
                  <a:lnTo>
                    <a:pt x="49558" y="1042449"/>
                  </a:lnTo>
                  <a:lnTo>
                    <a:pt x="34724" y="1002656"/>
                  </a:lnTo>
                  <a:lnTo>
                    <a:pt x="22421" y="962009"/>
                  </a:lnTo>
                  <a:lnTo>
                    <a:pt x="12723" y="920568"/>
                  </a:lnTo>
                  <a:lnTo>
                    <a:pt x="5704" y="878394"/>
                  </a:lnTo>
                  <a:lnTo>
                    <a:pt x="1438" y="835546"/>
                  </a:lnTo>
                  <a:lnTo>
                    <a:pt x="0" y="792086"/>
                  </a:lnTo>
                  <a:close/>
                </a:path>
              </a:pathLst>
            </a:custGeom>
            <a:ln w="12699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16406" y="4504032"/>
            <a:ext cx="11163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4546A"/>
                </a:solidFill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2400" spc="-5" dirty="0">
                <a:solidFill>
                  <a:srgbClr val="44546A"/>
                </a:solidFill>
                <a:latin typeface="Calibri"/>
                <a:cs typeface="Calibri"/>
              </a:rPr>
              <a:t>(новые </a:t>
            </a:r>
            <a:r>
              <a:rPr sz="2400" dirty="0">
                <a:solidFill>
                  <a:srgbClr val="44546A"/>
                </a:solidFill>
                <a:latin typeface="Calibri"/>
                <a:cs typeface="Calibri"/>
              </a:rPr>
              <a:t> данн</a:t>
            </a:r>
            <a:r>
              <a:rPr sz="2400" spc="-5" dirty="0">
                <a:solidFill>
                  <a:srgbClr val="44546A"/>
                </a:solidFill>
                <a:latin typeface="Calibri"/>
                <a:cs typeface="Calibri"/>
              </a:rPr>
              <a:t>ы</a:t>
            </a:r>
            <a:r>
              <a:rPr sz="2400" spc="5" dirty="0">
                <a:solidFill>
                  <a:srgbClr val="44546A"/>
                </a:solidFill>
                <a:latin typeface="Calibri"/>
                <a:cs typeface="Calibri"/>
              </a:rPr>
              <a:t>е</a:t>
            </a:r>
            <a:r>
              <a:rPr sz="2400" dirty="0">
                <a:solidFill>
                  <a:srgbClr val="44546A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93904" y="4369199"/>
            <a:ext cx="2101215" cy="1597025"/>
            <a:chOff x="8393904" y="4369199"/>
            <a:chExt cx="2101215" cy="1597025"/>
          </a:xfrm>
        </p:grpSpPr>
        <p:sp>
          <p:nvSpPr>
            <p:cNvPr id="22" name="object 22"/>
            <p:cNvSpPr/>
            <p:nvPr/>
          </p:nvSpPr>
          <p:spPr>
            <a:xfrm>
              <a:off x="8400254" y="4375549"/>
              <a:ext cx="2088514" cy="1584325"/>
            </a:xfrm>
            <a:custGeom>
              <a:avLst/>
              <a:gdLst/>
              <a:ahLst/>
              <a:cxnLst/>
              <a:rect l="l" t="t" r="r" b="b"/>
              <a:pathLst>
                <a:path w="2088515" h="1584325">
                  <a:moveTo>
                    <a:pt x="1044117" y="0"/>
                  </a:moveTo>
                  <a:lnTo>
                    <a:pt x="990387" y="1030"/>
                  </a:lnTo>
                  <a:lnTo>
                    <a:pt x="937361" y="4089"/>
                  </a:lnTo>
                  <a:lnTo>
                    <a:pt x="885107" y="9126"/>
                  </a:lnTo>
                  <a:lnTo>
                    <a:pt x="833689" y="16092"/>
                  </a:lnTo>
                  <a:lnTo>
                    <a:pt x="783174" y="24936"/>
                  </a:lnTo>
                  <a:lnTo>
                    <a:pt x="733626" y="35610"/>
                  </a:lnTo>
                  <a:lnTo>
                    <a:pt x="685112" y="48062"/>
                  </a:lnTo>
                  <a:lnTo>
                    <a:pt x="637697" y="62245"/>
                  </a:lnTo>
                  <a:lnTo>
                    <a:pt x="591447" y="78107"/>
                  </a:lnTo>
                  <a:lnTo>
                    <a:pt x="546426" y="95599"/>
                  </a:lnTo>
                  <a:lnTo>
                    <a:pt x="502702" y="114671"/>
                  </a:lnTo>
                  <a:lnTo>
                    <a:pt x="460339" y="135274"/>
                  </a:lnTo>
                  <a:lnTo>
                    <a:pt x="419402" y="157357"/>
                  </a:lnTo>
                  <a:lnTo>
                    <a:pt x="379959" y="180871"/>
                  </a:lnTo>
                  <a:lnTo>
                    <a:pt x="342074" y="205767"/>
                  </a:lnTo>
                  <a:lnTo>
                    <a:pt x="305812" y="231994"/>
                  </a:lnTo>
                  <a:lnTo>
                    <a:pt x="271240" y="259502"/>
                  </a:lnTo>
                  <a:lnTo>
                    <a:pt x="238423" y="288242"/>
                  </a:lnTo>
                  <a:lnTo>
                    <a:pt x="207427" y="318165"/>
                  </a:lnTo>
                  <a:lnTo>
                    <a:pt x="178317" y="349220"/>
                  </a:lnTo>
                  <a:lnTo>
                    <a:pt x="151159" y="381357"/>
                  </a:lnTo>
                  <a:lnTo>
                    <a:pt x="126018" y="414527"/>
                  </a:lnTo>
                  <a:lnTo>
                    <a:pt x="102960" y="448681"/>
                  </a:lnTo>
                  <a:lnTo>
                    <a:pt x="82051" y="483767"/>
                  </a:lnTo>
                  <a:lnTo>
                    <a:pt x="63356" y="519737"/>
                  </a:lnTo>
                  <a:lnTo>
                    <a:pt x="46940" y="556541"/>
                  </a:lnTo>
                  <a:lnTo>
                    <a:pt x="32871" y="594129"/>
                  </a:lnTo>
                  <a:lnTo>
                    <a:pt x="21212" y="632451"/>
                  </a:lnTo>
                  <a:lnTo>
                    <a:pt x="12030" y="671457"/>
                  </a:lnTo>
                  <a:lnTo>
                    <a:pt x="5390" y="711098"/>
                  </a:lnTo>
                  <a:lnTo>
                    <a:pt x="1358" y="751325"/>
                  </a:lnTo>
                  <a:lnTo>
                    <a:pt x="0" y="792086"/>
                  </a:lnTo>
                  <a:lnTo>
                    <a:pt x="1358" y="832847"/>
                  </a:lnTo>
                  <a:lnTo>
                    <a:pt x="5390" y="873073"/>
                  </a:lnTo>
                  <a:lnTo>
                    <a:pt x="12030" y="912714"/>
                  </a:lnTo>
                  <a:lnTo>
                    <a:pt x="21212" y="951721"/>
                  </a:lnTo>
                  <a:lnTo>
                    <a:pt x="32871" y="990043"/>
                  </a:lnTo>
                  <a:lnTo>
                    <a:pt x="46940" y="1027631"/>
                  </a:lnTo>
                  <a:lnTo>
                    <a:pt x="63356" y="1064434"/>
                  </a:lnTo>
                  <a:lnTo>
                    <a:pt x="82051" y="1100404"/>
                  </a:lnTo>
                  <a:lnTo>
                    <a:pt x="102960" y="1135491"/>
                  </a:lnTo>
                  <a:lnTo>
                    <a:pt x="126018" y="1169644"/>
                  </a:lnTo>
                  <a:lnTo>
                    <a:pt x="151159" y="1202814"/>
                  </a:lnTo>
                  <a:lnTo>
                    <a:pt x="178317" y="1234952"/>
                  </a:lnTo>
                  <a:lnTo>
                    <a:pt x="207427" y="1266007"/>
                  </a:lnTo>
                  <a:lnTo>
                    <a:pt x="238423" y="1295929"/>
                  </a:lnTo>
                  <a:lnTo>
                    <a:pt x="271240" y="1324670"/>
                  </a:lnTo>
                  <a:lnTo>
                    <a:pt x="305812" y="1352178"/>
                  </a:lnTo>
                  <a:lnTo>
                    <a:pt x="342074" y="1378405"/>
                  </a:lnTo>
                  <a:lnTo>
                    <a:pt x="379959" y="1403300"/>
                  </a:lnTo>
                  <a:lnTo>
                    <a:pt x="419402" y="1426815"/>
                  </a:lnTo>
                  <a:lnTo>
                    <a:pt x="460339" y="1448898"/>
                  </a:lnTo>
                  <a:lnTo>
                    <a:pt x="502702" y="1469501"/>
                  </a:lnTo>
                  <a:lnTo>
                    <a:pt x="546426" y="1488573"/>
                  </a:lnTo>
                  <a:lnTo>
                    <a:pt x="591447" y="1506065"/>
                  </a:lnTo>
                  <a:lnTo>
                    <a:pt x="637697" y="1521927"/>
                  </a:lnTo>
                  <a:lnTo>
                    <a:pt x="685112" y="1536109"/>
                  </a:lnTo>
                  <a:lnTo>
                    <a:pt x="733626" y="1548562"/>
                  </a:lnTo>
                  <a:lnTo>
                    <a:pt x="783174" y="1559236"/>
                  </a:lnTo>
                  <a:lnTo>
                    <a:pt x="833689" y="1568080"/>
                  </a:lnTo>
                  <a:lnTo>
                    <a:pt x="885107" y="1575046"/>
                  </a:lnTo>
                  <a:lnTo>
                    <a:pt x="937361" y="1580083"/>
                  </a:lnTo>
                  <a:lnTo>
                    <a:pt x="990387" y="1583141"/>
                  </a:lnTo>
                  <a:lnTo>
                    <a:pt x="1044117" y="1584172"/>
                  </a:lnTo>
                  <a:lnTo>
                    <a:pt x="1097847" y="1583141"/>
                  </a:lnTo>
                  <a:lnTo>
                    <a:pt x="1150871" y="1580083"/>
                  </a:lnTo>
                  <a:lnTo>
                    <a:pt x="1203125" y="1575046"/>
                  </a:lnTo>
                  <a:lnTo>
                    <a:pt x="1254541" y="1568080"/>
                  </a:lnTo>
                  <a:lnTo>
                    <a:pt x="1305056" y="1559236"/>
                  </a:lnTo>
                  <a:lnTo>
                    <a:pt x="1354603" y="1548562"/>
                  </a:lnTo>
                  <a:lnTo>
                    <a:pt x="1403117" y="1536109"/>
                  </a:lnTo>
                  <a:lnTo>
                    <a:pt x="1450532" y="1521927"/>
                  </a:lnTo>
                  <a:lnTo>
                    <a:pt x="1496783" y="1506065"/>
                  </a:lnTo>
                  <a:lnTo>
                    <a:pt x="1541803" y="1488573"/>
                  </a:lnTo>
                  <a:lnTo>
                    <a:pt x="1585527" y="1469501"/>
                  </a:lnTo>
                  <a:lnTo>
                    <a:pt x="1627890" y="1448898"/>
                  </a:lnTo>
                  <a:lnTo>
                    <a:pt x="1668827" y="1426815"/>
                  </a:lnTo>
                  <a:lnTo>
                    <a:pt x="1708270" y="1403300"/>
                  </a:lnTo>
                  <a:lnTo>
                    <a:pt x="1746156" y="1378405"/>
                  </a:lnTo>
                  <a:lnTo>
                    <a:pt x="1782418" y="1352178"/>
                  </a:lnTo>
                  <a:lnTo>
                    <a:pt x="1816990" y="1324670"/>
                  </a:lnTo>
                  <a:lnTo>
                    <a:pt x="1849807" y="1295929"/>
                  </a:lnTo>
                  <a:lnTo>
                    <a:pt x="1880804" y="1266007"/>
                  </a:lnTo>
                  <a:lnTo>
                    <a:pt x="1909914" y="1234952"/>
                  </a:lnTo>
                  <a:lnTo>
                    <a:pt x="1937073" y="1202814"/>
                  </a:lnTo>
                  <a:lnTo>
                    <a:pt x="1962214" y="1169644"/>
                  </a:lnTo>
                  <a:lnTo>
                    <a:pt x="1985273" y="1135491"/>
                  </a:lnTo>
                  <a:lnTo>
                    <a:pt x="2006182" y="1100404"/>
                  </a:lnTo>
                  <a:lnTo>
                    <a:pt x="2024878" y="1064434"/>
                  </a:lnTo>
                  <a:lnTo>
                    <a:pt x="2041293" y="1027631"/>
                  </a:lnTo>
                  <a:lnTo>
                    <a:pt x="2055363" y="990043"/>
                  </a:lnTo>
                  <a:lnTo>
                    <a:pt x="2067022" y="951721"/>
                  </a:lnTo>
                  <a:lnTo>
                    <a:pt x="2076204" y="912714"/>
                  </a:lnTo>
                  <a:lnTo>
                    <a:pt x="2082844" y="873073"/>
                  </a:lnTo>
                  <a:lnTo>
                    <a:pt x="2086876" y="832847"/>
                  </a:lnTo>
                  <a:lnTo>
                    <a:pt x="2088235" y="792086"/>
                  </a:lnTo>
                  <a:lnTo>
                    <a:pt x="2086876" y="751325"/>
                  </a:lnTo>
                  <a:lnTo>
                    <a:pt x="2082844" y="711098"/>
                  </a:lnTo>
                  <a:lnTo>
                    <a:pt x="2076204" y="671457"/>
                  </a:lnTo>
                  <a:lnTo>
                    <a:pt x="2067022" y="632451"/>
                  </a:lnTo>
                  <a:lnTo>
                    <a:pt x="2055363" y="594129"/>
                  </a:lnTo>
                  <a:lnTo>
                    <a:pt x="2041293" y="556541"/>
                  </a:lnTo>
                  <a:lnTo>
                    <a:pt x="2024878" y="519737"/>
                  </a:lnTo>
                  <a:lnTo>
                    <a:pt x="2006182" y="483767"/>
                  </a:lnTo>
                  <a:lnTo>
                    <a:pt x="1985273" y="448681"/>
                  </a:lnTo>
                  <a:lnTo>
                    <a:pt x="1962214" y="414527"/>
                  </a:lnTo>
                  <a:lnTo>
                    <a:pt x="1937073" y="381357"/>
                  </a:lnTo>
                  <a:lnTo>
                    <a:pt x="1909914" y="349220"/>
                  </a:lnTo>
                  <a:lnTo>
                    <a:pt x="1880804" y="318165"/>
                  </a:lnTo>
                  <a:lnTo>
                    <a:pt x="1849807" y="288242"/>
                  </a:lnTo>
                  <a:lnTo>
                    <a:pt x="1816990" y="259502"/>
                  </a:lnTo>
                  <a:lnTo>
                    <a:pt x="1782418" y="231994"/>
                  </a:lnTo>
                  <a:lnTo>
                    <a:pt x="1746156" y="205767"/>
                  </a:lnTo>
                  <a:lnTo>
                    <a:pt x="1708270" y="180871"/>
                  </a:lnTo>
                  <a:lnTo>
                    <a:pt x="1668827" y="157357"/>
                  </a:lnTo>
                  <a:lnTo>
                    <a:pt x="1627890" y="135274"/>
                  </a:lnTo>
                  <a:lnTo>
                    <a:pt x="1585527" y="114671"/>
                  </a:lnTo>
                  <a:lnTo>
                    <a:pt x="1541803" y="95599"/>
                  </a:lnTo>
                  <a:lnTo>
                    <a:pt x="1496783" y="78107"/>
                  </a:lnTo>
                  <a:lnTo>
                    <a:pt x="1450532" y="62245"/>
                  </a:lnTo>
                  <a:lnTo>
                    <a:pt x="1403117" y="48062"/>
                  </a:lnTo>
                  <a:lnTo>
                    <a:pt x="1354603" y="35610"/>
                  </a:lnTo>
                  <a:lnTo>
                    <a:pt x="1305056" y="24936"/>
                  </a:lnTo>
                  <a:lnTo>
                    <a:pt x="1254541" y="16092"/>
                  </a:lnTo>
                  <a:lnTo>
                    <a:pt x="1203125" y="9126"/>
                  </a:lnTo>
                  <a:lnTo>
                    <a:pt x="1150871" y="4089"/>
                  </a:lnTo>
                  <a:lnTo>
                    <a:pt x="1097847" y="1030"/>
                  </a:lnTo>
                  <a:lnTo>
                    <a:pt x="1044117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00254" y="4375549"/>
              <a:ext cx="2088514" cy="1584325"/>
            </a:xfrm>
            <a:custGeom>
              <a:avLst/>
              <a:gdLst/>
              <a:ahLst/>
              <a:cxnLst/>
              <a:rect l="l" t="t" r="r" b="b"/>
              <a:pathLst>
                <a:path w="2088515" h="1584325">
                  <a:moveTo>
                    <a:pt x="0" y="792086"/>
                  </a:moveTo>
                  <a:lnTo>
                    <a:pt x="1358" y="751325"/>
                  </a:lnTo>
                  <a:lnTo>
                    <a:pt x="5390" y="711098"/>
                  </a:lnTo>
                  <a:lnTo>
                    <a:pt x="12030" y="671457"/>
                  </a:lnTo>
                  <a:lnTo>
                    <a:pt x="21212" y="632451"/>
                  </a:lnTo>
                  <a:lnTo>
                    <a:pt x="32871" y="594129"/>
                  </a:lnTo>
                  <a:lnTo>
                    <a:pt x="46940" y="556541"/>
                  </a:lnTo>
                  <a:lnTo>
                    <a:pt x="63356" y="519737"/>
                  </a:lnTo>
                  <a:lnTo>
                    <a:pt x="82051" y="483767"/>
                  </a:lnTo>
                  <a:lnTo>
                    <a:pt x="102960" y="448681"/>
                  </a:lnTo>
                  <a:lnTo>
                    <a:pt x="126018" y="414527"/>
                  </a:lnTo>
                  <a:lnTo>
                    <a:pt x="151159" y="381357"/>
                  </a:lnTo>
                  <a:lnTo>
                    <a:pt x="178317" y="349220"/>
                  </a:lnTo>
                  <a:lnTo>
                    <a:pt x="207427" y="318165"/>
                  </a:lnTo>
                  <a:lnTo>
                    <a:pt x="238423" y="288242"/>
                  </a:lnTo>
                  <a:lnTo>
                    <a:pt x="271240" y="259502"/>
                  </a:lnTo>
                  <a:lnTo>
                    <a:pt x="305812" y="231994"/>
                  </a:lnTo>
                  <a:lnTo>
                    <a:pt x="342074" y="205767"/>
                  </a:lnTo>
                  <a:lnTo>
                    <a:pt x="379959" y="180871"/>
                  </a:lnTo>
                  <a:lnTo>
                    <a:pt x="419402" y="157357"/>
                  </a:lnTo>
                  <a:lnTo>
                    <a:pt x="460339" y="135274"/>
                  </a:lnTo>
                  <a:lnTo>
                    <a:pt x="502702" y="114671"/>
                  </a:lnTo>
                  <a:lnTo>
                    <a:pt x="546426" y="95599"/>
                  </a:lnTo>
                  <a:lnTo>
                    <a:pt x="591447" y="78107"/>
                  </a:lnTo>
                  <a:lnTo>
                    <a:pt x="637697" y="62245"/>
                  </a:lnTo>
                  <a:lnTo>
                    <a:pt x="685112" y="48062"/>
                  </a:lnTo>
                  <a:lnTo>
                    <a:pt x="733626" y="35610"/>
                  </a:lnTo>
                  <a:lnTo>
                    <a:pt x="783174" y="24936"/>
                  </a:lnTo>
                  <a:lnTo>
                    <a:pt x="833689" y="16092"/>
                  </a:lnTo>
                  <a:lnTo>
                    <a:pt x="885107" y="9126"/>
                  </a:lnTo>
                  <a:lnTo>
                    <a:pt x="937361" y="4089"/>
                  </a:lnTo>
                  <a:lnTo>
                    <a:pt x="990387" y="1030"/>
                  </a:lnTo>
                  <a:lnTo>
                    <a:pt x="1044117" y="0"/>
                  </a:lnTo>
                  <a:lnTo>
                    <a:pt x="1097847" y="1030"/>
                  </a:lnTo>
                  <a:lnTo>
                    <a:pt x="1150871" y="4089"/>
                  </a:lnTo>
                  <a:lnTo>
                    <a:pt x="1203125" y="9126"/>
                  </a:lnTo>
                  <a:lnTo>
                    <a:pt x="1254541" y="16092"/>
                  </a:lnTo>
                  <a:lnTo>
                    <a:pt x="1305056" y="24936"/>
                  </a:lnTo>
                  <a:lnTo>
                    <a:pt x="1354603" y="35610"/>
                  </a:lnTo>
                  <a:lnTo>
                    <a:pt x="1403117" y="48062"/>
                  </a:lnTo>
                  <a:lnTo>
                    <a:pt x="1450532" y="62245"/>
                  </a:lnTo>
                  <a:lnTo>
                    <a:pt x="1496783" y="78107"/>
                  </a:lnTo>
                  <a:lnTo>
                    <a:pt x="1541803" y="95599"/>
                  </a:lnTo>
                  <a:lnTo>
                    <a:pt x="1585527" y="114671"/>
                  </a:lnTo>
                  <a:lnTo>
                    <a:pt x="1627890" y="135274"/>
                  </a:lnTo>
                  <a:lnTo>
                    <a:pt x="1668827" y="157357"/>
                  </a:lnTo>
                  <a:lnTo>
                    <a:pt x="1708270" y="180871"/>
                  </a:lnTo>
                  <a:lnTo>
                    <a:pt x="1746156" y="205767"/>
                  </a:lnTo>
                  <a:lnTo>
                    <a:pt x="1782418" y="231994"/>
                  </a:lnTo>
                  <a:lnTo>
                    <a:pt x="1816990" y="259502"/>
                  </a:lnTo>
                  <a:lnTo>
                    <a:pt x="1849807" y="288242"/>
                  </a:lnTo>
                  <a:lnTo>
                    <a:pt x="1880804" y="318165"/>
                  </a:lnTo>
                  <a:lnTo>
                    <a:pt x="1909914" y="349220"/>
                  </a:lnTo>
                  <a:lnTo>
                    <a:pt x="1937073" y="381357"/>
                  </a:lnTo>
                  <a:lnTo>
                    <a:pt x="1962214" y="414527"/>
                  </a:lnTo>
                  <a:lnTo>
                    <a:pt x="1985273" y="448681"/>
                  </a:lnTo>
                  <a:lnTo>
                    <a:pt x="2006182" y="483767"/>
                  </a:lnTo>
                  <a:lnTo>
                    <a:pt x="2024878" y="519737"/>
                  </a:lnTo>
                  <a:lnTo>
                    <a:pt x="2041293" y="556541"/>
                  </a:lnTo>
                  <a:lnTo>
                    <a:pt x="2055363" y="594129"/>
                  </a:lnTo>
                  <a:lnTo>
                    <a:pt x="2067022" y="632451"/>
                  </a:lnTo>
                  <a:lnTo>
                    <a:pt x="2076204" y="671457"/>
                  </a:lnTo>
                  <a:lnTo>
                    <a:pt x="2082844" y="711098"/>
                  </a:lnTo>
                  <a:lnTo>
                    <a:pt x="2086876" y="751325"/>
                  </a:lnTo>
                  <a:lnTo>
                    <a:pt x="2088235" y="792086"/>
                  </a:lnTo>
                  <a:lnTo>
                    <a:pt x="2086876" y="832847"/>
                  </a:lnTo>
                  <a:lnTo>
                    <a:pt x="2082844" y="873073"/>
                  </a:lnTo>
                  <a:lnTo>
                    <a:pt x="2076204" y="912714"/>
                  </a:lnTo>
                  <a:lnTo>
                    <a:pt x="2067022" y="951721"/>
                  </a:lnTo>
                  <a:lnTo>
                    <a:pt x="2055363" y="990043"/>
                  </a:lnTo>
                  <a:lnTo>
                    <a:pt x="2041293" y="1027631"/>
                  </a:lnTo>
                  <a:lnTo>
                    <a:pt x="2024878" y="1064434"/>
                  </a:lnTo>
                  <a:lnTo>
                    <a:pt x="2006182" y="1100404"/>
                  </a:lnTo>
                  <a:lnTo>
                    <a:pt x="1985273" y="1135491"/>
                  </a:lnTo>
                  <a:lnTo>
                    <a:pt x="1962214" y="1169644"/>
                  </a:lnTo>
                  <a:lnTo>
                    <a:pt x="1937073" y="1202814"/>
                  </a:lnTo>
                  <a:lnTo>
                    <a:pt x="1909914" y="1234952"/>
                  </a:lnTo>
                  <a:lnTo>
                    <a:pt x="1880804" y="1266007"/>
                  </a:lnTo>
                  <a:lnTo>
                    <a:pt x="1849807" y="1295929"/>
                  </a:lnTo>
                  <a:lnTo>
                    <a:pt x="1816990" y="1324670"/>
                  </a:lnTo>
                  <a:lnTo>
                    <a:pt x="1782418" y="1352178"/>
                  </a:lnTo>
                  <a:lnTo>
                    <a:pt x="1746156" y="1378405"/>
                  </a:lnTo>
                  <a:lnTo>
                    <a:pt x="1708270" y="1403300"/>
                  </a:lnTo>
                  <a:lnTo>
                    <a:pt x="1668827" y="1426815"/>
                  </a:lnTo>
                  <a:lnTo>
                    <a:pt x="1627890" y="1448898"/>
                  </a:lnTo>
                  <a:lnTo>
                    <a:pt x="1585527" y="1469501"/>
                  </a:lnTo>
                  <a:lnTo>
                    <a:pt x="1541803" y="1488573"/>
                  </a:lnTo>
                  <a:lnTo>
                    <a:pt x="1496783" y="1506065"/>
                  </a:lnTo>
                  <a:lnTo>
                    <a:pt x="1450532" y="1521927"/>
                  </a:lnTo>
                  <a:lnTo>
                    <a:pt x="1403117" y="1536109"/>
                  </a:lnTo>
                  <a:lnTo>
                    <a:pt x="1354603" y="1548562"/>
                  </a:lnTo>
                  <a:lnTo>
                    <a:pt x="1305056" y="1559236"/>
                  </a:lnTo>
                  <a:lnTo>
                    <a:pt x="1254541" y="1568080"/>
                  </a:lnTo>
                  <a:lnTo>
                    <a:pt x="1203125" y="1575046"/>
                  </a:lnTo>
                  <a:lnTo>
                    <a:pt x="1150871" y="1580083"/>
                  </a:lnTo>
                  <a:lnTo>
                    <a:pt x="1097847" y="1583141"/>
                  </a:lnTo>
                  <a:lnTo>
                    <a:pt x="1044117" y="1584172"/>
                  </a:lnTo>
                  <a:lnTo>
                    <a:pt x="990387" y="1583141"/>
                  </a:lnTo>
                  <a:lnTo>
                    <a:pt x="937361" y="1580083"/>
                  </a:lnTo>
                  <a:lnTo>
                    <a:pt x="885107" y="1575046"/>
                  </a:lnTo>
                  <a:lnTo>
                    <a:pt x="833689" y="1568080"/>
                  </a:lnTo>
                  <a:lnTo>
                    <a:pt x="783174" y="1559236"/>
                  </a:lnTo>
                  <a:lnTo>
                    <a:pt x="733626" y="1548562"/>
                  </a:lnTo>
                  <a:lnTo>
                    <a:pt x="685112" y="1536109"/>
                  </a:lnTo>
                  <a:lnTo>
                    <a:pt x="637697" y="1521927"/>
                  </a:lnTo>
                  <a:lnTo>
                    <a:pt x="591447" y="1506065"/>
                  </a:lnTo>
                  <a:lnTo>
                    <a:pt x="546426" y="1488573"/>
                  </a:lnTo>
                  <a:lnTo>
                    <a:pt x="502702" y="1469501"/>
                  </a:lnTo>
                  <a:lnTo>
                    <a:pt x="460339" y="1448898"/>
                  </a:lnTo>
                  <a:lnTo>
                    <a:pt x="419402" y="1426815"/>
                  </a:lnTo>
                  <a:lnTo>
                    <a:pt x="379959" y="1403300"/>
                  </a:lnTo>
                  <a:lnTo>
                    <a:pt x="342074" y="1378405"/>
                  </a:lnTo>
                  <a:lnTo>
                    <a:pt x="305812" y="1352178"/>
                  </a:lnTo>
                  <a:lnTo>
                    <a:pt x="271240" y="1324670"/>
                  </a:lnTo>
                  <a:lnTo>
                    <a:pt x="238423" y="1295929"/>
                  </a:lnTo>
                  <a:lnTo>
                    <a:pt x="207427" y="1266007"/>
                  </a:lnTo>
                  <a:lnTo>
                    <a:pt x="178317" y="1234952"/>
                  </a:lnTo>
                  <a:lnTo>
                    <a:pt x="151159" y="1202814"/>
                  </a:lnTo>
                  <a:lnTo>
                    <a:pt x="126018" y="1169644"/>
                  </a:lnTo>
                  <a:lnTo>
                    <a:pt x="102960" y="1135491"/>
                  </a:lnTo>
                  <a:lnTo>
                    <a:pt x="82051" y="1100404"/>
                  </a:lnTo>
                  <a:lnTo>
                    <a:pt x="63356" y="1064434"/>
                  </a:lnTo>
                  <a:lnTo>
                    <a:pt x="46940" y="1027631"/>
                  </a:lnTo>
                  <a:lnTo>
                    <a:pt x="32871" y="990043"/>
                  </a:lnTo>
                  <a:lnTo>
                    <a:pt x="21212" y="951721"/>
                  </a:lnTo>
                  <a:lnTo>
                    <a:pt x="12030" y="912714"/>
                  </a:lnTo>
                  <a:lnTo>
                    <a:pt x="5390" y="873073"/>
                  </a:lnTo>
                  <a:lnTo>
                    <a:pt x="1358" y="832847"/>
                  </a:lnTo>
                  <a:lnTo>
                    <a:pt x="0" y="79208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820642" y="4769363"/>
            <a:ext cx="12477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4546A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solidFill>
                  <a:srgbClr val="44546A"/>
                </a:solidFill>
                <a:latin typeface="Calibri"/>
                <a:cs typeface="Calibri"/>
              </a:rPr>
              <a:t>(прогноз)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47728" y="5028030"/>
            <a:ext cx="4740275" cy="196850"/>
            <a:chOff x="3647728" y="5028030"/>
            <a:chExt cx="4740275" cy="196850"/>
          </a:xfrm>
        </p:grpSpPr>
        <p:sp>
          <p:nvSpPr>
            <p:cNvPr id="26" name="object 26"/>
            <p:cNvSpPr/>
            <p:nvPr/>
          </p:nvSpPr>
          <p:spPr>
            <a:xfrm>
              <a:off x="3647728" y="5085184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0"/>
                  </a:moveTo>
                  <a:lnTo>
                    <a:pt x="478904" y="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50440" y="504073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49"/>
                  </a:lnTo>
                  <a:lnTo>
                    <a:pt x="0" y="88899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4135" y="5167636"/>
              <a:ext cx="340995" cy="0"/>
            </a:xfrm>
            <a:custGeom>
              <a:avLst/>
              <a:gdLst/>
              <a:ahLst/>
              <a:cxnLst/>
              <a:rect l="l" t="t" r="r" b="b"/>
              <a:pathLst>
                <a:path w="340995">
                  <a:moveTo>
                    <a:pt x="0" y="0"/>
                  </a:moveTo>
                  <a:lnTo>
                    <a:pt x="340969" y="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98911" y="5123181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38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0182" y="42697"/>
            <a:ext cx="9678035" cy="273050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685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ОДНОМЕРНАЯ</a:t>
            </a:r>
            <a:r>
              <a:rPr sz="24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ЛИНЕЙНАЯ</a:t>
            </a:r>
            <a:r>
              <a:rPr sz="24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РЕГРЕССИЯ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400" b="1" spc="-15" dirty="0">
                <a:solidFill>
                  <a:srgbClr val="3E3E3E"/>
                </a:solidFill>
                <a:latin typeface="Arial"/>
                <a:cs typeface="Arial"/>
              </a:rPr>
              <a:t>Задача: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  <a:spcBef>
                <a:spcPts val="71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обучить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компьютер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переводить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мили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км.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185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Предположим, что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формула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неизвестна,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 знаем,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зависимость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линейная.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20" dirty="0">
                <a:solidFill>
                  <a:srgbClr val="3E3E3E"/>
                </a:solidFill>
                <a:latin typeface="Arial"/>
                <a:cs typeface="Arial"/>
              </a:rPr>
              <a:t>Тренировочные</a:t>
            </a:r>
            <a:r>
              <a:rPr sz="2400" b="1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данные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39</a:t>
            </a:fld>
            <a:endParaRPr sz="16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37732" y="3115669"/>
          <a:ext cx="10712449" cy="3627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5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Номер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примера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мили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385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1.609344]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31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3.218688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31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4.828032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6.437376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18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9.656064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6666"/>
                      </a:solidFill>
                      <a:prstDash val="solid"/>
                    </a:lnB>
                    <a:solidFill>
                      <a:srgbClr val="E3F0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410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14.484096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6666"/>
                      </a:solidFill>
                      <a:prstDash val="solid"/>
                    </a:lnT>
                    <a:solidFill>
                      <a:srgbClr val="E3F0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000" y="244475"/>
            <a:ext cx="11383010" cy="467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ОДНОМЕРНАЯ</a:t>
            </a:r>
            <a:r>
              <a:rPr sz="24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ЛИНЕЙНАЯ</a:t>
            </a:r>
            <a:r>
              <a:rPr sz="24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РЕГРЕССИЯ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Введем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обозначения:</a:t>
            </a:r>
            <a:endParaRPr sz="2400">
              <a:latin typeface="Arial"/>
              <a:cs typeface="Arial"/>
            </a:endParaRPr>
          </a:p>
          <a:p>
            <a:pPr marL="937894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входные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данные,</a:t>
            </a:r>
            <a:endParaRPr sz="2400">
              <a:latin typeface="Arial"/>
              <a:cs typeface="Arial"/>
            </a:endParaRPr>
          </a:p>
          <a:p>
            <a:pPr marL="937894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Y</a:t>
            </a:r>
            <a:r>
              <a:rPr sz="2400" b="1" spc="-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b="1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выходные,</a:t>
            </a:r>
            <a:endParaRPr sz="2400">
              <a:latin typeface="Arial"/>
              <a:cs typeface="Arial"/>
            </a:endParaRPr>
          </a:p>
          <a:p>
            <a:pPr marL="937894">
              <a:lnSpc>
                <a:spcPct val="100000"/>
              </a:lnSpc>
              <a:spcBef>
                <a:spcPts val="720"/>
              </a:spcBef>
            </a:pP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2400" b="1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количество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тренировочных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наборов,</a:t>
            </a:r>
            <a:endParaRPr sz="2400">
              <a:latin typeface="Arial"/>
              <a:cs typeface="Arial"/>
            </a:endParaRPr>
          </a:p>
          <a:p>
            <a:pPr marL="1021715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solidFill>
                  <a:srgbClr val="3E3E3E"/>
                </a:solidFill>
                <a:latin typeface="Cambria Math"/>
                <a:cs typeface="Cambria Math"/>
              </a:rPr>
              <a:t>𝒙</a:t>
            </a:r>
            <a:r>
              <a:rPr sz="2625" baseline="28571" dirty="0">
                <a:solidFill>
                  <a:srgbClr val="3E3E3E"/>
                </a:solidFill>
                <a:latin typeface="Cambria Math"/>
                <a:cs typeface="Cambria Math"/>
              </a:rPr>
              <a:t>(𝒊)</a:t>
            </a:r>
            <a:r>
              <a:rPr sz="2625" spc="532" baseline="28571" dirty="0">
                <a:solidFill>
                  <a:srgbClr val="3E3E3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Cambria Math"/>
                <a:cs typeface="Cambria Math"/>
              </a:rPr>
              <a:t>𝒚</a:t>
            </a:r>
            <a:r>
              <a:rPr sz="2625" baseline="28571" dirty="0">
                <a:solidFill>
                  <a:srgbClr val="3E3E3E"/>
                </a:solidFill>
                <a:latin typeface="Cambria Math"/>
                <a:cs typeface="Cambria Math"/>
              </a:rPr>
              <a:t>(𝒊)</a:t>
            </a:r>
            <a:r>
              <a:rPr sz="2625" spc="532" baseline="28571" dirty="0">
                <a:solidFill>
                  <a:srgbClr val="3E3E3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Cambria Math"/>
                <a:cs typeface="Cambria Math"/>
              </a:rPr>
              <a:t>𝒊</a:t>
            </a:r>
            <a:r>
              <a:rPr sz="2400" spc="-15" dirty="0">
                <a:solidFill>
                  <a:srgbClr val="3E3E3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-ый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набор.</a:t>
            </a:r>
            <a:endParaRPr sz="24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  <a:spcBef>
                <a:spcPts val="71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Функция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перевода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миль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км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должна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выглядеть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так:</a:t>
            </a:r>
            <a:endParaRPr sz="2400">
              <a:latin typeface="Arial"/>
              <a:cs typeface="Arial"/>
            </a:endParaRPr>
          </a:p>
          <a:p>
            <a:pPr marL="1218565">
              <a:lnSpc>
                <a:spcPct val="100000"/>
              </a:lnSpc>
              <a:spcBef>
                <a:spcPts val="705"/>
              </a:spcBef>
            </a:pP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h(X)</a:t>
            </a:r>
            <a:r>
              <a:rPr sz="2400" b="1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=</a:t>
            </a:r>
            <a:r>
              <a:rPr sz="2400" b="1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w</a:t>
            </a:r>
            <a:r>
              <a:rPr sz="2400" b="1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304165" marR="17780">
              <a:lnSpc>
                <a:spcPts val="2590"/>
              </a:lnSpc>
              <a:spcBef>
                <a:spcPts val="1050"/>
              </a:spcBef>
              <a:tabLst>
                <a:tab pos="1442720" algn="l"/>
                <a:tab pos="3180080" algn="l"/>
                <a:tab pos="4216400" algn="l"/>
                <a:tab pos="5778500" algn="l"/>
                <a:tab pos="6356350" algn="l"/>
                <a:tab pos="7471409" algn="l"/>
                <a:tab pos="8884285" algn="l"/>
                <a:tab pos="9732010" algn="l"/>
                <a:tab pos="10156825" algn="l"/>
                <a:tab pos="10614025" algn="l"/>
              </a:tabLst>
            </a:pP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тим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е	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ие	</a:t>
            </a:r>
            <a:r>
              <a:rPr sz="2400" b="1" spc="15" dirty="0">
                <a:solidFill>
                  <a:srgbClr val="3E3E3E"/>
                </a:solidFill>
                <a:latin typeface="Arial"/>
                <a:cs typeface="Arial"/>
              </a:rPr>
              <a:t>w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	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h</a:t>
            </a: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X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)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Y	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ыла 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минимальной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(в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среднем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всем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тренировочным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наборам).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40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660" y="1119111"/>
            <a:ext cx="4055110" cy="0"/>
          </a:xfrm>
          <a:custGeom>
            <a:avLst/>
            <a:gdLst/>
            <a:ahLst/>
            <a:cxnLst/>
            <a:rect l="l" t="t" r="r" b="b"/>
            <a:pathLst>
              <a:path w="4055110">
                <a:moveTo>
                  <a:pt x="0" y="0"/>
                </a:moveTo>
                <a:lnTo>
                  <a:pt x="4054741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399" y="289869"/>
            <a:ext cx="289369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5" dirty="0"/>
              <a:t>ТРЕН</a:t>
            </a:r>
            <a:r>
              <a:rPr sz="2400" dirty="0"/>
              <a:t>И</a:t>
            </a:r>
            <a:r>
              <a:rPr sz="2400" spc="-45" dirty="0"/>
              <a:t>Р</a:t>
            </a:r>
            <a:r>
              <a:rPr sz="2400" spc="5" dirty="0"/>
              <a:t>О</a:t>
            </a:r>
            <a:r>
              <a:rPr sz="2400" spc="-70" dirty="0"/>
              <a:t>В</a:t>
            </a:r>
            <a:r>
              <a:rPr sz="2400" spc="5" dirty="0"/>
              <a:t>ОЧ</a:t>
            </a:r>
            <a:r>
              <a:rPr sz="2400" spc="-10" dirty="0"/>
              <a:t>Н</a:t>
            </a:r>
            <a:r>
              <a:rPr sz="2400" dirty="0"/>
              <a:t>ЫЙ  </a:t>
            </a:r>
            <a:r>
              <a:rPr sz="2400" spc="-5" dirty="0"/>
              <a:t>НАБОР</a:t>
            </a:r>
            <a:endParaRPr sz="24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48350" y="1339505"/>
          <a:ext cx="3227704" cy="3463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663">
                <a:tc>
                  <a:txBody>
                    <a:bodyPr/>
                    <a:lstStyle/>
                    <a:p>
                      <a:pPr marR="69850" algn="ctr">
                        <a:lnSpc>
                          <a:spcPts val="309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X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502920" algn="ctr">
                        <a:lnSpc>
                          <a:spcPts val="309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Y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32"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[[</a:t>
                      </a:r>
                      <a:r>
                        <a:rPr sz="2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1.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1.609344]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332"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2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2.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3.218688]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622"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2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3.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4.828032]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332"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2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4.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6.437376]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332"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2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6.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9.656064]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663">
                <a:tc>
                  <a:txBody>
                    <a:bodyPr/>
                    <a:lstStyle/>
                    <a:p>
                      <a:pPr marR="336550" algn="r">
                        <a:lnSpc>
                          <a:spcPts val="3295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2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9.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tc>
                  <a:txBody>
                    <a:bodyPr/>
                    <a:lstStyle/>
                    <a:p>
                      <a:pPr marL="344170">
                        <a:lnSpc>
                          <a:spcPts val="3295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14.484096]]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solidFill>
                      <a:srgbClr val="E3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2716" y="1119111"/>
            <a:ext cx="7405307" cy="502919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41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000" y="244475"/>
            <a:ext cx="2522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ПОДБИРАЕМ</a:t>
            </a:r>
            <a:r>
              <a:rPr sz="2400" spc="-60" dirty="0"/>
              <a:t> </a:t>
            </a:r>
            <a:r>
              <a:rPr sz="2400" spc="-5" dirty="0"/>
              <a:t>W</a:t>
            </a:r>
            <a:r>
              <a:rPr sz="2400" spc="-7" baseline="-20833" dirty="0"/>
              <a:t>1</a:t>
            </a:r>
            <a:endParaRPr sz="2400" baseline="-20833"/>
          </a:p>
        </p:txBody>
      </p:sp>
      <p:sp>
        <p:nvSpPr>
          <p:cNvPr id="3" name="object 3"/>
          <p:cNvSpPr txBox="1"/>
          <p:nvPr/>
        </p:nvSpPr>
        <p:spPr>
          <a:xfrm>
            <a:off x="3362306" y="1367832"/>
            <a:ext cx="777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w</a:t>
            </a:r>
            <a:r>
              <a:rPr sz="2400" b="1" spc="-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=</a:t>
            </a:r>
            <a:r>
              <a:rPr sz="24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205" y="1367832"/>
            <a:ext cx="777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w</a:t>
            </a:r>
            <a:r>
              <a:rPr sz="24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=</a:t>
            </a:r>
            <a:r>
              <a:rPr sz="2400" b="1" spc="-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E3E3E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81977" y="1398490"/>
            <a:ext cx="3907790" cy="3215640"/>
            <a:chOff x="1981977" y="1398490"/>
            <a:chExt cx="3907790" cy="3215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977" y="1885823"/>
              <a:ext cx="3907494" cy="27278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17605" y="1412778"/>
              <a:ext cx="936625" cy="792480"/>
            </a:xfrm>
            <a:custGeom>
              <a:avLst/>
              <a:gdLst/>
              <a:ahLst/>
              <a:cxnLst/>
              <a:rect l="l" t="t" r="r" b="b"/>
              <a:pathLst>
                <a:path w="936625" h="792480">
                  <a:moveTo>
                    <a:pt x="0" y="792086"/>
                  </a:moveTo>
                  <a:lnTo>
                    <a:pt x="936104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05567" y="1441420"/>
              <a:ext cx="0" cy="552450"/>
            </a:xfrm>
            <a:custGeom>
              <a:avLst/>
              <a:gdLst/>
              <a:ahLst/>
              <a:cxnLst/>
              <a:rect l="l" t="t" r="r" b="b"/>
              <a:pathLst>
                <a:path h="552450">
                  <a:moveTo>
                    <a:pt x="0" y="55201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0017" y="1933765"/>
            <a:ext cx="3734879" cy="25573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358315" y="4810359"/>
            <a:ext cx="7284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/>
                <a:cs typeface="Calibri"/>
              </a:rPr>
              <a:t>Результат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принято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оценивать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по квадратичной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функции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стоимости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ошибки: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4719" y="5653132"/>
            <a:ext cx="1271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 Math"/>
                <a:cs typeface="Cambria Math"/>
              </a:rPr>
              <a:t>𝑱(𝒘)</a:t>
            </a:r>
            <a:r>
              <a:rPr sz="3200" spc="9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2519" y="5967076"/>
            <a:ext cx="480059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130" dirty="0">
                <a:latin typeface="Cambria Math"/>
                <a:cs typeface="Cambria Math"/>
              </a:rPr>
              <a:t>𝟐𝑚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65217" y="5944730"/>
            <a:ext cx="452755" cy="26034"/>
          </a:xfrm>
          <a:custGeom>
            <a:avLst/>
            <a:gdLst/>
            <a:ahLst/>
            <a:cxnLst/>
            <a:rect l="l" t="t" r="r" b="b"/>
            <a:pathLst>
              <a:path w="452754" h="26035">
                <a:moveTo>
                  <a:pt x="452627" y="0"/>
                </a:moveTo>
                <a:lnTo>
                  <a:pt x="0" y="0"/>
                </a:lnTo>
                <a:lnTo>
                  <a:pt x="0" y="25908"/>
                </a:lnTo>
                <a:lnTo>
                  <a:pt x="452627" y="25908"/>
                </a:lnTo>
                <a:lnTo>
                  <a:pt x="4526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38341" y="5712257"/>
            <a:ext cx="902335" cy="492125"/>
          </a:xfrm>
          <a:custGeom>
            <a:avLst/>
            <a:gdLst/>
            <a:ahLst/>
            <a:cxnLst/>
            <a:rect l="l" t="t" r="r" b="b"/>
            <a:pathLst>
              <a:path w="902334" h="492125">
                <a:moveTo>
                  <a:pt x="773074" y="0"/>
                </a:moveTo>
                <a:lnTo>
                  <a:pt x="768108" y="16294"/>
                </a:lnTo>
                <a:lnTo>
                  <a:pt x="790690" y="28002"/>
                </a:lnTo>
                <a:lnTo>
                  <a:pt x="810353" y="45051"/>
                </a:lnTo>
                <a:lnTo>
                  <a:pt x="840930" y="95173"/>
                </a:lnTo>
                <a:lnTo>
                  <a:pt x="859475" y="163268"/>
                </a:lnTo>
                <a:lnTo>
                  <a:pt x="864111" y="202794"/>
                </a:lnTo>
                <a:lnTo>
                  <a:pt x="865657" y="245973"/>
                </a:lnTo>
                <a:lnTo>
                  <a:pt x="864111" y="289055"/>
                </a:lnTo>
                <a:lnTo>
                  <a:pt x="859475" y="328499"/>
                </a:lnTo>
                <a:lnTo>
                  <a:pt x="840930" y="396481"/>
                </a:lnTo>
                <a:lnTo>
                  <a:pt x="810353" y="446524"/>
                </a:lnTo>
                <a:lnTo>
                  <a:pt x="768108" y="475259"/>
                </a:lnTo>
                <a:lnTo>
                  <a:pt x="773074" y="491553"/>
                </a:lnTo>
                <a:lnTo>
                  <a:pt x="827959" y="462291"/>
                </a:lnTo>
                <a:lnTo>
                  <a:pt x="868641" y="407111"/>
                </a:lnTo>
                <a:lnTo>
                  <a:pt x="883334" y="371468"/>
                </a:lnTo>
                <a:lnTo>
                  <a:pt x="893827" y="332698"/>
                </a:lnTo>
                <a:lnTo>
                  <a:pt x="900122" y="290800"/>
                </a:lnTo>
                <a:lnTo>
                  <a:pt x="902220" y="245770"/>
                </a:lnTo>
                <a:lnTo>
                  <a:pt x="900122" y="200746"/>
                </a:lnTo>
                <a:lnTo>
                  <a:pt x="893827" y="158848"/>
                </a:lnTo>
                <a:lnTo>
                  <a:pt x="883334" y="120079"/>
                </a:lnTo>
                <a:lnTo>
                  <a:pt x="868641" y="84442"/>
                </a:lnTo>
                <a:lnTo>
                  <a:pt x="827959" y="29257"/>
                </a:lnTo>
                <a:lnTo>
                  <a:pt x="802292" y="11386"/>
                </a:lnTo>
                <a:lnTo>
                  <a:pt x="773074" y="0"/>
                </a:lnTo>
                <a:close/>
              </a:path>
              <a:path w="902334" h="492125">
                <a:moveTo>
                  <a:pt x="129146" y="0"/>
                </a:moveTo>
                <a:lnTo>
                  <a:pt x="74256" y="29257"/>
                </a:lnTo>
                <a:lnTo>
                  <a:pt x="33578" y="84442"/>
                </a:lnTo>
                <a:lnTo>
                  <a:pt x="18886" y="120079"/>
                </a:lnTo>
                <a:lnTo>
                  <a:pt x="8393" y="158848"/>
                </a:lnTo>
                <a:lnTo>
                  <a:pt x="2098" y="200746"/>
                </a:lnTo>
                <a:lnTo>
                  <a:pt x="0" y="245770"/>
                </a:lnTo>
                <a:lnTo>
                  <a:pt x="2098" y="290800"/>
                </a:lnTo>
                <a:lnTo>
                  <a:pt x="8393" y="332698"/>
                </a:lnTo>
                <a:lnTo>
                  <a:pt x="18886" y="371468"/>
                </a:lnTo>
                <a:lnTo>
                  <a:pt x="33578" y="407111"/>
                </a:lnTo>
                <a:lnTo>
                  <a:pt x="74256" y="462291"/>
                </a:lnTo>
                <a:lnTo>
                  <a:pt x="129146" y="491553"/>
                </a:lnTo>
                <a:lnTo>
                  <a:pt x="134111" y="475259"/>
                </a:lnTo>
                <a:lnTo>
                  <a:pt x="111530" y="463555"/>
                </a:lnTo>
                <a:lnTo>
                  <a:pt x="91867" y="446524"/>
                </a:lnTo>
                <a:lnTo>
                  <a:pt x="61290" y="396481"/>
                </a:lnTo>
                <a:lnTo>
                  <a:pt x="42745" y="328499"/>
                </a:lnTo>
                <a:lnTo>
                  <a:pt x="38108" y="289055"/>
                </a:lnTo>
                <a:lnTo>
                  <a:pt x="36563" y="245973"/>
                </a:lnTo>
                <a:lnTo>
                  <a:pt x="38108" y="202794"/>
                </a:lnTo>
                <a:lnTo>
                  <a:pt x="42745" y="163268"/>
                </a:lnTo>
                <a:lnTo>
                  <a:pt x="61290" y="95173"/>
                </a:lnTo>
                <a:lnTo>
                  <a:pt x="91867" y="45051"/>
                </a:lnTo>
                <a:lnTo>
                  <a:pt x="134111" y="16294"/>
                </a:lnTo>
                <a:lnTo>
                  <a:pt x="1291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25058" y="5503779"/>
            <a:ext cx="30397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59765" algn="l"/>
                <a:tab pos="1541145" algn="l"/>
              </a:tabLst>
            </a:pPr>
            <a:r>
              <a:rPr sz="4800" baseline="-20833" dirty="0">
                <a:latin typeface="Cambria Math"/>
                <a:cs typeface="Cambria Math"/>
              </a:rPr>
              <a:t>(𝒉	</a:t>
            </a:r>
            <a:r>
              <a:rPr sz="4800" spc="-7" baseline="-20833" dirty="0">
                <a:latin typeface="Cambria Math"/>
                <a:cs typeface="Cambria Math"/>
              </a:rPr>
              <a:t>𝒙</a:t>
            </a:r>
            <a:r>
              <a:rPr sz="2350" spc="-5" dirty="0">
                <a:latin typeface="Cambria Math"/>
                <a:cs typeface="Cambria Math"/>
              </a:rPr>
              <a:t>(𝒊)	</a:t>
            </a:r>
            <a:r>
              <a:rPr sz="4800" baseline="-20833" dirty="0">
                <a:latin typeface="Cambria Math"/>
                <a:cs typeface="Cambria Math"/>
              </a:rPr>
              <a:t>−</a:t>
            </a:r>
            <a:r>
              <a:rPr sz="4800" spc="-60" baseline="-20833" dirty="0">
                <a:latin typeface="Cambria Math"/>
                <a:cs typeface="Cambria Math"/>
              </a:rPr>
              <a:t> </a:t>
            </a:r>
            <a:r>
              <a:rPr sz="4800" spc="-7" baseline="-20833" dirty="0">
                <a:latin typeface="Cambria Math"/>
                <a:cs typeface="Cambria Math"/>
              </a:rPr>
              <a:t>𝒚</a:t>
            </a:r>
            <a:r>
              <a:rPr sz="2350" spc="-5" dirty="0">
                <a:latin typeface="Cambria Math"/>
                <a:cs typeface="Cambria Math"/>
              </a:rPr>
              <a:t>(𝒊)</a:t>
            </a:r>
            <a:r>
              <a:rPr sz="2350" spc="285" dirty="0">
                <a:latin typeface="Cambria Math"/>
                <a:cs typeface="Cambria Math"/>
              </a:rPr>
              <a:t> </a:t>
            </a:r>
            <a:r>
              <a:rPr sz="4800" spc="-7" baseline="-20833" dirty="0">
                <a:latin typeface="Cambria Math"/>
                <a:cs typeface="Cambria Math"/>
              </a:rPr>
              <a:t>)</a:t>
            </a:r>
            <a:r>
              <a:rPr sz="2350" spc="-5" dirty="0">
                <a:latin typeface="Cambria Math"/>
                <a:cs typeface="Cambria Math"/>
              </a:rPr>
              <a:t>𝟐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42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64279" y="5415388"/>
            <a:ext cx="10229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20370" algn="l"/>
              </a:tabLst>
            </a:pPr>
            <a:r>
              <a:rPr sz="2350" spc="-10" dirty="0">
                <a:latin typeface="Cambria Math"/>
                <a:cs typeface="Cambria Math"/>
              </a:rPr>
              <a:t>𝟏	</a:t>
            </a:r>
            <a:r>
              <a:rPr sz="4800" spc="142" baseline="-30381" dirty="0">
                <a:latin typeface="Cambria Math"/>
                <a:cs typeface="Cambria Math"/>
              </a:rPr>
              <a:t>∑</a:t>
            </a:r>
            <a:r>
              <a:rPr sz="3525" spc="142" baseline="-14184" dirty="0">
                <a:latin typeface="Cambria Math"/>
                <a:cs typeface="Cambria Math"/>
              </a:rPr>
              <a:t>𝑚</a:t>
            </a:r>
            <a:endParaRPr sz="3525" baseline="-14184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0238" y="5861920"/>
            <a:ext cx="52959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15" dirty="0">
                <a:latin typeface="Cambria Math"/>
                <a:cs typeface="Cambria Math"/>
              </a:rPr>
              <a:t>𝒊</a:t>
            </a:r>
            <a:r>
              <a:rPr sz="2350" spc="-55" dirty="0">
                <a:latin typeface="Cambria Math"/>
                <a:cs typeface="Cambria Math"/>
              </a:rPr>
              <a:t>=</a:t>
            </a:r>
            <a:r>
              <a:rPr sz="2350" spc="-10" dirty="0">
                <a:latin typeface="Cambria Math"/>
                <a:cs typeface="Cambria Math"/>
              </a:rPr>
              <a:t>𝟏</a:t>
            </a:r>
            <a:endParaRPr sz="23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518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ТОЧЕЧНАЯ</a:t>
            </a:r>
            <a:r>
              <a:rPr sz="2400" spc="-45" dirty="0"/>
              <a:t> </a:t>
            </a:r>
            <a:r>
              <a:rPr sz="2400" spc="-30" dirty="0"/>
              <a:t>ДИАГРАММА</a:t>
            </a:r>
            <a:r>
              <a:rPr sz="2400" dirty="0"/>
              <a:t> </a:t>
            </a:r>
            <a:r>
              <a:rPr sz="2400" spc="-5" dirty="0"/>
              <a:t>J(W)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262540" y="5563972"/>
            <a:ext cx="958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𝑱(𝒘)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7628" y="5768189"/>
            <a:ext cx="491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5" dirty="0">
                <a:latin typeface="Cambria Math"/>
                <a:cs typeface="Cambria Math"/>
              </a:rPr>
              <a:t>𝟐𝑚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0327" y="5785459"/>
            <a:ext cx="464820" cy="20320"/>
          </a:xfrm>
          <a:custGeom>
            <a:avLst/>
            <a:gdLst/>
            <a:ahLst/>
            <a:cxnLst/>
            <a:rect l="l" t="t" r="r" b="b"/>
            <a:pathLst>
              <a:path w="464820" h="20320">
                <a:moveTo>
                  <a:pt x="464820" y="0"/>
                </a:moveTo>
                <a:lnTo>
                  <a:pt x="0" y="0"/>
                </a:lnTo>
                <a:lnTo>
                  <a:pt x="0" y="19812"/>
                </a:lnTo>
                <a:lnTo>
                  <a:pt x="464820" y="19812"/>
                </a:lnTo>
                <a:lnTo>
                  <a:pt x="464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6133" y="5610307"/>
            <a:ext cx="676275" cy="368300"/>
          </a:xfrm>
          <a:custGeom>
            <a:avLst/>
            <a:gdLst/>
            <a:ahLst/>
            <a:cxnLst/>
            <a:rect l="l" t="t" r="r" b="b"/>
            <a:pathLst>
              <a:path w="676275" h="368300">
                <a:moveTo>
                  <a:pt x="579437" y="0"/>
                </a:moveTo>
                <a:lnTo>
                  <a:pt x="575716" y="12204"/>
                </a:lnTo>
                <a:lnTo>
                  <a:pt x="592633" y="20977"/>
                </a:lnTo>
                <a:lnTo>
                  <a:pt x="607361" y="33748"/>
                </a:lnTo>
                <a:lnTo>
                  <a:pt x="630262" y="71285"/>
                </a:lnTo>
                <a:lnTo>
                  <a:pt x="644161" y="122300"/>
                </a:lnTo>
                <a:lnTo>
                  <a:pt x="648792" y="184251"/>
                </a:lnTo>
                <a:lnTo>
                  <a:pt x="647634" y="216522"/>
                </a:lnTo>
                <a:lnTo>
                  <a:pt x="638371" y="272891"/>
                </a:lnTo>
                <a:lnTo>
                  <a:pt x="619904" y="317722"/>
                </a:lnTo>
                <a:lnTo>
                  <a:pt x="592633" y="347226"/>
                </a:lnTo>
                <a:lnTo>
                  <a:pt x="575716" y="355993"/>
                </a:lnTo>
                <a:lnTo>
                  <a:pt x="579437" y="368198"/>
                </a:lnTo>
                <a:lnTo>
                  <a:pt x="620552" y="346286"/>
                </a:lnTo>
                <a:lnTo>
                  <a:pt x="651027" y="304952"/>
                </a:lnTo>
                <a:lnTo>
                  <a:pt x="669886" y="249212"/>
                </a:lnTo>
                <a:lnTo>
                  <a:pt x="676173" y="184099"/>
                </a:lnTo>
                <a:lnTo>
                  <a:pt x="674601" y="150371"/>
                </a:lnTo>
                <a:lnTo>
                  <a:pt x="662028" y="89944"/>
                </a:lnTo>
                <a:lnTo>
                  <a:pt x="637117" y="40155"/>
                </a:lnTo>
                <a:lnTo>
                  <a:pt x="601326" y="8532"/>
                </a:lnTo>
                <a:lnTo>
                  <a:pt x="579437" y="0"/>
                </a:lnTo>
                <a:close/>
              </a:path>
              <a:path w="676275" h="368300">
                <a:moveTo>
                  <a:pt x="96735" y="0"/>
                </a:moveTo>
                <a:lnTo>
                  <a:pt x="55616" y="21917"/>
                </a:lnTo>
                <a:lnTo>
                  <a:pt x="25145" y="63245"/>
                </a:lnTo>
                <a:lnTo>
                  <a:pt x="6286" y="118986"/>
                </a:lnTo>
                <a:lnTo>
                  <a:pt x="0" y="184099"/>
                </a:lnTo>
                <a:lnTo>
                  <a:pt x="1571" y="217827"/>
                </a:lnTo>
                <a:lnTo>
                  <a:pt x="14144" y="278253"/>
                </a:lnTo>
                <a:lnTo>
                  <a:pt x="39050" y="328045"/>
                </a:lnTo>
                <a:lnTo>
                  <a:pt x="74845" y="359671"/>
                </a:lnTo>
                <a:lnTo>
                  <a:pt x="96735" y="368198"/>
                </a:lnTo>
                <a:lnTo>
                  <a:pt x="100456" y="355993"/>
                </a:lnTo>
                <a:lnTo>
                  <a:pt x="83540" y="347226"/>
                </a:lnTo>
                <a:lnTo>
                  <a:pt x="68811" y="334468"/>
                </a:lnTo>
                <a:lnTo>
                  <a:pt x="45910" y="296989"/>
                </a:lnTo>
                <a:lnTo>
                  <a:pt x="32011" y="246068"/>
                </a:lnTo>
                <a:lnTo>
                  <a:pt x="27386" y="184099"/>
                </a:lnTo>
                <a:lnTo>
                  <a:pt x="28538" y="151909"/>
                </a:lnTo>
                <a:lnTo>
                  <a:pt x="37802" y="95426"/>
                </a:lnTo>
                <a:lnTo>
                  <a:pt x="56269" y="50518"/>
                </a:lnTo>
                <a:lnTo>
                  <a:pt x="83540" y="20977"/>
                </a:lnTo>
                <a:lnTo>
                  <a:pt x="100456" y="12204"/>
                </a:lnTo>
                <a:lnTo>
                  <a:pt x="967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62436" y="5563972"/>
            <a:ext cx="17551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1273810" algn="l"/>
              </a:tabLst>
            </a:pPr>
            <a:r>
              <a:rPr sz="3600" baseline="41666" dirty="0">
                <a:latin typeface="Cambria Math"/>
                <a:cs typeface="Cambria Math"/>
              </a:rPr>
              <a:t>𝟏	</a:t>
            </a:r>
            <a:r>
              <a:rPr sz="2400" spc="810" dirty="0">
                <a:latin typeface="Cambria Math"/>
                <a:cs typeface="Cambria Math"/>
              </a:rPr>
              <a:t>�(𝒉	</a:t>
            </a:r>
            <a:r>
              <a:rPr sz="2400" spc="-5" dirty="0">
                <a:latin typeface="Cambria Math"/>
                <a:cs typeface="Cambria Math"/>
              </a:rPr>
              <a:t>𝒙</a:t>
            </a:r>
            <a:r>
              <a:rPr sz="2625" spc="-7" baseline="28571" dirty="0">
                <a:latin typeface="Cambria Math"/>
                <a:cs typeface="Cambria Math"/>
              </a:rPr>
              <a:t>(𝒊)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8292" y="5452720"/>
            <a:ext cx="1160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20833" dirty="0">
                <a:latin typeface="Cambria Math"/>
                <a:cs typeface="Cambria Math"/>
              </a:rPr>
              <a:t>−</a:t>
            </a:r>
            <a:r>
              <a:rPr sz="3600" spc="-67" baseline="-20833" dirty="0">
                <a:latin typeface="Cambria Math"/>
                <a:cs typeface="Cambria Math"/>
              </a:rPr>
              <a:t> </a:t>
            </a:r>
            <a:r>
              <a:rPr sz="3600" baseline="-20833" dirty="0">
                <a:latin typeface="Cambria Math"/>
                <a:cs typeface="Cambria Math"/>
              </a:rPr>
              <a:t>𝒚</a:t>
            </a:r>
            <a:r>
              <a:rPr sz="1750" dirty="0">
                <a:latin typeface="Cambria Math"/>
                <a:cs typeface="Cambria Math"/>
              </a:rPr>
              <a:t>(𝒊)</a:t>
            </a:r>
            <a:r>
              <a:rPr sz="1750" spc="204" dirty="0">
                <a:latin typeface="Cambria Math"/>
                <a:cs typeface="Cambria Math"/>
              </a:rPr>
              <a:t> </a:t>
            </a:r>
            <a:r>
              <a:rPr sz="3600" spc="-7" baseline="-20833" dirty="0">
                <a:latin typeface="Cambria Math"/>
                <a:cs typeface="Cambria Math"/>
              </a:rPr>
              <a:t>)</a:t>
            </a:r>
            <a:r>
              <a:rPr sz="1750" spc="-5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1885" y="5192138"/>
            <a:ext cx="2317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85" dirty="0">
                <a:latin typeface="Cambria Math"/>
                <a:cs typeface="Cambria Math"/>
              </a:rPr>
              <a:t>𝑚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5109" y="6034983"/>
            <a:ext cx="4044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0" dirty="0">
                <a:latin typeface="Cambria Math"/>
                <a:cs typeface="Cambria Math"/>
              </a:rPr>
              <a:t>𝒊</a:t>
            </a:r>
            <a:r>
              <a:rPr sz="1750" spc="-40" dirty="0">
                <a:latin typeface="Cambria Math"/>
                <a:cs typeface="Cambria Math"/>
              </a:rPr>
              <a:t>=</a:t>
            </a: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688" y="1495945"/>
            <a:ext cx="5328588" cy="358923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43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09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ГРАДИЕНТНЫЙ</a:t>
            </a:r>
            <a:r>
              <a:rPr sz="2400" spc="-15" dirty="0"/>
              <a:t> </a:t>
            </a:r>
            <a:r>
              <a:rPr sz="2400" spc="-5" dirty="0"/>
              <a:t>СПУСК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743815" y="4251021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51290" y="4592904"/>
            <a:ext cx="349250" cy="15240"/>
          </a:xfrm>
          <a:custGeom>
            <a:avLst/>
            <a:gdLst/>
            <a:ahLst/>
            <a:cxnLst/>
            <a:rect l="l" t="t" r="r" b="b"/>
            <a:pathLst>
              <a:path w="349250" h="15239">
                <a:moveTo>
                  <a:pt x="348995" y="0"/>
                </a:moveTo>
                <a:lnTo>
                  <a:pt x="0" y="0"/>
                </a:lnTo>
                <a:lnTo>
                  <a:pt x="0" y="15240"/>
                </a:lnTo>
                <a:lnTo>
                  <a:pt x="348995" y="15240"/>
                </a:lnTo>
                <a:lnTo>
                  <a:pt x="348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01020" y="4462684"/>
            <a:ext cx="509270" cy="276225"/>
          </a:xfrm>
          <a:custGeom>
            <a:avLst/>
            <a:gdLst/>
            <a:ahLst/>
            <a:cxnLst/>
            <a:rect l="l" t="t" r="r" b="b"/>
            <a:pathLst>
              <a:path w="509270" h="276225">
                <a:moveTo>
                  <a:pt x="436480" y="0"/>
                </a:moveTo>
                <a:lnTo>
                  <a:pt x="433686" y="9156"/>
                </a:lnTo>
                <a:lnTo>
                  <a:pt x="446374" y="15733"/>
                </a:lnTo>
                <a:lnTo>
                  <a:pt x="457421" y="25311"/>
                </a:lnTo>
                <a:lnTo>
                  <a:pt x="480677" y="71571"/>
                </a:lnTo>
                <a:lnTo>
                  <a:pt x="487631" y="113933"/>
                </a:lnTo>
                <a:lnTo>
                  <a:pt x="488500" y="138188"/>
                </a:lnTo>
                <a:lnTo>
                  <a:pt x="487631" y="162391"/>
                </a:lnTo>
                <a:lnTo>
                  <a:pt x="480677" y="204672"/>
                </a:lnTo>
                <a:lnTo>
                  <a:pt x="457421" y="250855"/>
                </a:lnTo>
                <a:lnTo>
                  <a:pt x="433686" y="266992"/>
                </a:lnTo>
                <a:lnTo>
                  <a:pt x="436480" y="276148"/>
                </a:lnTo>
                <a:lnTo>
                  <a:pt x="479741" y="246037"/>
                </a:lnTo>
                <a:lnTo>
                  <a:pt x="498427" y="208690"/>
                </a:lnTo>
                <a:lnTo>
                  <a:pt x="507857" y="163370"/>
                </a:lnTo>
                <a:lnTo>
                  <a:pt x="509036" y="138074"/>
                </a:lnTo>
                <a:lnTo>
                  <a:pt x="507857" y="112778"/>
                </a:lnTo>
                <a:lnTo>
                  <a:pt x="498427" y="67458"/>
                </a:lnTo>
                <a:lnTo>
                  <a:pt x="479741" y="30116"/>
                </a:lnTo>
                <a:lnTo>
                  <a:pt x="452895" y="6395"/>
                </a:lnTo>
                <a:lnTo>
                  <a:pt x="436480" y="0"/>
                </a:lnTo>
                <a:close/>
              </a:path>
              <a:path w="509270" h="276225">
                <a:moveTo>
                  <a:pt x="72549" y="0"/>
                </a:moveTo>
                <a:lnTo>
                  <a:pt x="29289" y="30116"/>
                </a:lnTo>
                <a:lnTo>
                  <a:pt x="10603" y="67458"/>
                </a:lnTo>
                <a:lnTo>
                  <a:pt x="1173" y="112778"/>
                </a:lnTo>
                <a:lnTo>
                  <a:pt x="0" y="138188"/>
                </a:lnTo>
                <a:lnTo>
                  <a:pt x="1173" y="163370"/>
                </a:lnTo>
                <a:lnTo>
                  <a:pt x="10603" y="208690"/>
                </a:lnTo>
                <a:lnTo>
                  <a:pt x="29289" y="246037"/>
                </a:lnTo>
                <a:lnTo>
                  <a:pt x="72549" y="276148"/>
                </a:lnTo>
                <a:lnTo>
                  <a:pt x="75343" y="266992"/>
                </a:lnTo>
                <a:lnTo>
                  <a:pt x="62656" y="260419"/>
                </a:lnTo>
                <a:lnTo>
                  <a:pt x="51607" y="250855"/>
                </a:lnTo>
                <a:lnTo>
                  <a:pt x="28347" y="204672"/>
                </a:lnTo>
                <a:lnTo>
                  <a:pt x="21399" y="162391"/>
                </a:lnTo>
                <a:lnTo>
                  <a:pt x="20534" y="138074"/>
                </a:lnTo>
                <a:lnTo>
                  <a:pt x="21399" y="113933"/>
                </a:lnTo>
                <a:lnTo>
                  <a:pt x="28347" y="71571"/>
                </a:lnTo>
                <a:lnTo>
                  <a:pt x="51607" y="25311"/>
                </a:lnTo>
                <a:lnTo>
                  <a:pt x="75343" y="9156"/>
                </a:lnTo>
                <a:lnTo>
                  <a:pt x="72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7843" y="4424757"/>
            <a:ext cx="225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𝑱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-5" dirty="0">
                <a:latin typeface="Cambria Math"/>
                <a:cs typeface="Cambria Math"/>
              </a:rPr>
              <a:t>𝒘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2700" spc="165" baseline="-37037" dirty="0">
                <a:latin typeface="Cambria Math"/>
                <a:cs typeface="Cambria Math"/>
              </a:rPr>
              <a:t>𝟐𝑚</a:t>
            </a:r>
            <a:r>
              <a:rPr sz="2700" spc="-150" baseline="-37037" dirty="0">
                <a:latin typeface="Cambria Math"/>
                <a:cs typeface="Cambria Math"/>
              </a:rPr>
              <a:t> </a:t>
            </a:r>
            <a:r>
              <a:rPr sz="1800" spc="1825" dirty="0">
                <a:latin typeface="Cambria Math"/>
                <a:cs typeface="Cambria Math"/>
              </a:rPr>
              <a:t>�</a:t>
            </a:r>
            <a:r>
              <a:rPr sz="1800" spc="-5" dirty="0">
                <a:latin typeface="Cambria Math"/>
                <a:cs typeface="Cambria Math"/>
              </a:rPr>
              <a:t>(</a:t>
            </a:r>
            <a:r>
              <a:rPr sz="1800" dirty="0">
                <a:latin typeface="Cambria Math"/>
                <a:cs typeface="Cambria Math"/>
              </a:rPr>
              <a:t>𝒉  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spc="-155" dirty="0">
                <a:latin typeface="Cambria Math"/>
                <a:cs typeface="Cambria Math"/>
              </a:rPr>
              <a:t>𝒙</a:t>
            </a:r>
            <a:r>
              <a:rPr sz="1950" spc="-232" baseline="27777" dirty="0">
                <a:latin typeface="Cambria Math"/>
                <a:cs typeface="Cambria Math"/>
              </a:rPr>
              <a:t>(𝒊)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1755" y="4340937"/>
            <a:ext cx="892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0061" dirty="0">
                <a:latin typeface="Cambria Math"/>
                <a:cs typeface="Cambria Math"/>
              </a:rPr>
              <a:t>−</a:t>
            </a:r>
            <a:r>
              <a:rPr sz="2700" spc="-37" baseline="-20061" dirty="0">
                <a:latin typeface="Cambria Math"/>
                <a:cs typeface="Cambria Math"/>
              </a:rPr>
              <a:t> </a:t>
            </a:r>
            <a:r>
              <a:rPr sz="2700" spc="7" baseline="-20061" dirty="0">
                <a:latin typeface="Cambria Math"/>
                <a:cs typeface="Cambria Math"/>
              </a:rPr>
              <a:t>𝒚</a:t>
            </a:r>
            <a:r>
              <a:rPr sz="1300" spc="5" dirty="0">
                <a:latin typeface="Cambria Math"/>
                <a:cs typeface="Cambria Math"/>
              </a:rPr>
              <a:t>(𝒊)</a:t>
            </a:r>
            <a:r>
              <a:rPr sz="1300" spc="150" dirty="0">
                <a:latin typeface="Cambria Math"/>
                <a:cs typeface="Cambria Math"/>
              </a:rPr>
              <a:t> </a:t>
            </a:r>
            <a:r>
              <a:rPr sz="2700" baseline="-20061" dirty="0">
                <a:latin typeface="Cambria Math"/>
                <a:cs typeface="Cambria Math"/>
              </a:rPr>
              <a:t>)</a:t>
            </a:r>
            <a:r>
              <a:rPr sz="1300" dirty="0">
                <a:latin typeface="Cambria Math"/>
                <a:cs typeface="Cambria Math"/>
              </a:rPr>
              <a:t>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0416" y="4144402"/>
            <a:ext cx="1809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55" dirty="0">
                <a:latin typeface="Cambria Math"/>
                <a:cs typeface="Cambria Math"/>
              </a:rPr>
              <a:t>𝑚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6378" y="4776908"/>
            <a:ext cx="3105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20" dirty="0">
                <a:latin typeface="Cambria Math"/>
                <a:cs typeface="Cambria Math"/>
              </a:rPr>
              <a:t>𝒊</a:t>
            </a:r>
            <a:r>
              <a:rPr sz="1300" spc="-20" dirty="0">
                <a:latin typeface="Cambria Math"/>
                <a:cs typeface="Cambria Math"/>
              </a:rPr>
              <a:t>=</a:t>
            </a:r>
            <a:r>
              <a:rPr sz="1300" spc="20" dirty="0">
                <a:latin typeface="Cambria Math"/>
                <a:cs typeface="Cambria Math"/>
              </a:rPr>
              <a:t>𝟏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505" y="1501432"/>
            <a:ext cx="3672395" cy="247042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26267" y="5104488"/>
            <a:ext cx="967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h(x)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𝒘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6522" y="3960826"/>
            <a:ext cx="23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0" dirty="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59218" y="3976496"/>
            <a:ext cx="213360" cy="15240"/>
          </a:xfrm>
          <a:custGeom>
            <a:avLst/>
            <a:gdLst/>
            <a:ahLst/>
            <a:cxnLst/>
            <a:rect l="l" t="t" r="r" b="b"/>
            <a:pathLst>
              <a:path w="213359" h="15239">
                <a:moveTo>
                  <a:pt x="213359" y="0"/>
                </a:moveTo>
                <a:lnTo>
                  <a:pt x="0" y="0"/>
                </a:lnTo>
                <a:lnTo>
                  <a:pt x="0" y="15239"/>
                </a:lnTo>
                <a:lnTo>
                  <a:pt x="213359" y="15239"/>
                </a:lnTo>
                <a:lnTo>
                  <a:pt x="2133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1606" y="3839928"/>
            <a:ext cx="172694" cy="1552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707097" y="4160439"/>
            <a:ext cx="3105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20" dirty="0">
                <a:latin typeface="Cambria Math"/>
                <a:cs typeface="Cambria Math"/>
              </a:rPr>
              <a:t>𝒊</a:t>
            </a:r>
            <a:r>
              <a:rPr sz="1300" spc="-20" dirty="0">
                <a:latin typeface="Cambria Math"/>
                <a:cs typeface="Cambria Math"/>
              </a:rPr>
              <a:t>=</a:t>
            </a:r>
            <a:r>
              <a:rPr sz="1300" spc="20" dirty="0">
                <a:latin typeface="Cambria Math"/>
                <a:cs typeface="Cambria Math"/>
              </a:rPr>
              <a:t>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5827" y="3808350"/>
            <a:ext cx="376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𝒘 = 𝒘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spc="150" dirty="0">
                <a:latin typeface="Cambria Math"/>
                <a:cs typeface="Cambria Math"/>
              </a:rPr>
              <a:t>𝛼 </a:t>
            </a:r>
            <a:r>
              <a:rPr sz="2700" baseline="41666" dirty="0">
                <a:latin typeface="Cambria Math"/>
                <a:cs typeface="Cambria Math"/>
              </a:rPr>
              <a:t>𝟏</a:t>
            </a:r>
            <a:r>
              <a:rPr sz="2700" spc="592" baseline="41666" dirty="0">
                <a:latin typeface="Cambria Math"/>
                <a:cs typeface="Cambria Math"/>
              </a:rPr>
              <a:t> </a:t>
            </a:r>
            <a:r>
              <a:rPr sz="1800" spc="210" dirty="0">
                <a:latin typeface="Cambria Math"/>
                <a:cs typeface="Cambria Math"/>
              </a:rPr>
              <a:t>�(𝒉(𝒙</a:t>
            </a:r>
            <a:r>
              <a:rPr sz="1950" spc="315" baseline="27777" dirty="0">
                <a:latin typeface="Cambria Math"/>
                <a:cs typeface="Cambria Math"/>
              </a:rPr>
              <a:t>(𝒊)</a:t>
            </a:r>
            <a:r>
              <a:rPr sz="1800" spc="210" dirty="0">
                <a:latin typeface="Cambria Math"/>
                <a:cs typeface="Cambria Math"/>
              </a:rPr>
              <a:t>)  </a:t>
            </a:r>
            <a:r>
              <a:rPr sz="1800" dirty="0">
                <a:latin typeface="Cambria Math"/>
                <a:cs typeface="Cambria Math"/>
              </a:rPr>
              <a:t>− 𝒚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950" spc="7" baseline="27777" dirty="0">
                <a:latin typeface="Cambria Math"/>
                <a:cs typeface="Cambria Math"/>
              </a:rPr>
              <a:t>𝒊  </a:t>
            </a:r>
            <a:r>
              <a:rPr sz="1800" dirty="0">
                <a:latin typeface="Cambria Math"/>
                <a:cs typeface="Cambria Math"/>
              </a:rPr>
              <a:t>) 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155" dirty="0">
                <a:latin typeface="Cambria Math"/>
                <a:cs typeface="Cambria Math"/>
              </a:rPr>
              <a:t>𝒙</a:t>
            </a:r>
            <a:r>
              <a:rPr sz="1950" spc="-232" baseline="27777" dirty="0">
                <a:latin typeface="Cambria Math"/>
                <a:cs typeface="Cambria Math"/>
              </a:rPr>
              <a:t>(𝒊)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316" y="1488367"/>
            <a:ext cx="13843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0" dirty="0">
                <a:latin typeface="Cambria Math"/>
                <a:cs typeface="Cambria Math"/>
              </a:rPr>
              <a:t>𝝏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2246" y="1765772"/>
            <a:ext cx="28511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5" dirty="0">
                <a:latin typeface="Cambria Math"/>
                <a:cs typeface="Cambria Math"/>
              </a:rPr>
              <a:t>𝝏</a:t>
            </a:r>
            <a:r>
              <a:rPr sz="1450" spc="10" dirty="0">
                <a:latin typeface="Cambria Math"/>
                <a:cs typeface="Cambria Math"/>
              </a:rPr>
              <a:t>𝒘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74868" y="1755571"/>
            <a:ext cx="259079" cy="17145"/>
          </a:xfrm>
          <a:custGeom>
            <a:avLst/>
            <a:gdLst/>
            <a:ahLst/>
            <a:cxnLst/>
            <a:rect l="l" t="t" r="r" b="b"/>
            <a:pathLst>
              <a:path w="259079" h="17144">
                <a:moveTo>
                  <a:pt x="259079" y="0"/>
                </a:moveTo>
                <a:lnTo>
                  <a:pt x="0" y="0"/>
                </a:lnTo>
                <a:lnTo>
                  <a:pt x="0" y="16763"/>
                </a:lnTo>
                <a:lnTo>
                  <a:pt x="259079" y="16763"/>
                </a:lnTo>
                <a:lnTo>
                  <a:pt x="259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46809" y="1646108"/>
            <a:ext cx="372110" cy="236220"/>
          </a:xfrm>
          <a:custGeom>
            <a:avLst/>
            <a:gdLst/>
            <a:ahLst/>
            <a:cxnLst/>
            <a:rect l="l" t="t" r="r" b="b"/>
            <a:pathLst>
              <a:path w="372110" h="236219">
                <a:moveTo>
                  <a:pt x="296608" y="0"/>
                </a:moveTo>
                <a:lnTo>
                  <a:pt x="293255" y="9563"/>
                </a:lnTo>
                <a:lnTo>
                  <a:pt x="306902" y="15490"/>
                </a:lnTo>
                <a:lnTo>
                  <a:pt x="318638" y="23690"/>
                </a:lnTo>
                <a:lnTo>
                  <a:pt x="342463" y="61689"/>
                </a:lnTo>
                <a:lnTo>
                  <a:pt x="350291" y="116687"/>
                </a:lnTo>
                <a:lnTo>
                  <a:pt x="349417" y="137478"/>
                </a:lnTo>
                <a:lnTo>
                  <a:pt x="336308" y="188391"/>
                </a:lnTo>
                <a:lnTo>
                  <a:pt x="307056" y="220226"/>
                </a:lnTo>
                <a:lnTo>
                  <a:pt x="293624" y="226174"/>
                </a:lnTo>
                <a:lnTo>
                  <a:pt x="296608" y="235737"/>
                </a:lnTo>
                <a:lnTo>
                  <a:pt x="341651" y="208984"/>
                </a:lnTo>
                <a:lnTo>
                  <a:pt x="366945" y="159580"/>
                </a:lnTo>
                <a:lnTo>
                  <a:pt x="371792" y="117932"/>
                </a:lnTo>
                <a:lnTo>
                  <a:pt x="370577" y="96320"/>
                </a:lnTo>
                <a:lnTo>
                  <a:pt x="360857" y="58015"/>
                </a:lnTo>
                <a:lnTo>
                  <a:pt x="328688" y="15114"/>
                </a:lnTo>
                <a:lnTo>
                  <a:pt x="313701" y="6169"/>
                </a:lnTo>
                <a:lnTo>
                  <a:pt x="296608" y="0"/>
                </a:lnTo>
                <a:close/>
              </a:path>
              <a:path w="372110" h="236219">
                <a:moveTo>
                  <a:pt x="75184" y="0"/>
                </a:moveTo>
                <a:lnTo>
                  <a:pt x="30231" y="26833"/>
                </a:lnTo>
                <a:lnTo>
                  <a:pt x="4865" y="76347"/>
                </a:lnTo>
                <a:lnTo>
                  <a:pt x="0" y="117932"/>
                </a:lnTo>
                <a:lnTo>
                  <a:pt x="1212" y="139592"/>
                </a:lnTo>
                <a:lnTo>
                  <a:pt x="10908" y="177898"/>
                </a:lnTo>
                <a:lnTo>
                  <a:pt x="43030" y="220659"/>
                </a:lnTo>
                <a:lnTo>
                  <a:pt x="75184" y="235737"/>
                </a:lnTo>
                <a:lnTo>
                  <a:pt x="78168" y="226174"/>
                </a:lnTo>
                <a:lnTo>
                  <a:pt x="64735" y="220226"/>
                </a:lnTo>
                <a:lnTo>
                  <a:pt x="53144" y="211945"/>
                </a:lnTo>
                <a:lnTo>
                  <a:pt x="29366" y="173330"/>
                </a:lnTo>
                <a:lnTo>
                  <a:pt x="21501" y="116687"/>
                </a:lnTo>
                <a:lnTo>
                  <a:pt x="22375" y="96575"/>
                </a:lnTo>
                <a:lnTo>
                  <a:pt x="35483" y="46913"/>
                </a:lnTo>
                <a:lnTo>
                  <a:pt x="64949" y="15490"/>
                </a:lnTo>
                <a:lnTo>
                  <a:pt x="78549" y="9563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21944" y="1569139"/>
            <a:ext cx="790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6740" algn="l"/>
              </a:tabLst>
            </a:pPr>
            <a:r>
              <a:rPr sz="2000" dirty="0">
                <a:latin typeface="Cambria Math"/>
                <a:cs typeface="Cambria Math"/>
              </a:rPr>
              <a:t>𝐉 </a:t>
            </a:r>
            <a:r>
              <a:rPr sz="2000" spc="-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𝐰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55968" y="1755571"/>
            <a:ext cx="259079" cy="17145"/>
          </a:xfrm>
          <a:custGeom>
            <a:avLst/>
            <a:gdLst/>
            <a:ahLst/>
            <a:cxnLst/>
            <a:rect l="l" t="t" r="r" b="b"/>
            <a:pathLst>
              <a:path w="259079" h="17144">
                <a:moveTo>
                  <a:pt x="259079" y="0"/>
                </a:moveTo>
                <a:lnTo>
                  <a:pt x="0" y="0"/>
                </a:lnTo>
                <a:lnTo>
                  <a:pt x="0" y="16763"/>
                </a:lnTo>
                <a:lnTo>
                  <a:pt x="259079" y="16763"/>
                </a:lnTo>
                <a:lnTo>
                  <a:pt x="259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43345" y="1434076"/>
            <a:ext cx="626110" cy="5803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0"/>
              </a:spcBef>
              <a:tabLst>
                <a:tab pos="414655" algn="l"/>
              </a:tabLst>
            </a:pPr>
            <a:r>
              <a:rPr sz="1450" spc="5" dirty="0">
                <a:latin typeface="Cambria Math"/>
                <a:cs typeface="Cambria Math"/>
              </a:rPr>
              <a:t>𝝏	𝟏</a:t>
            </a:r>
            <a:endParaRPr sz="14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50" spc="5" dirty="0">
                <a:latin typeface="Cambria Math"/>
                <a:cs typeface="Cambria Math"/>
              </a:rPr>
              <a:t>𝝏𝒘</a:t>
            </a:r>
            <a:r>
              <a:rPr sz="1450" spc="50" dirty="0">
                <a:latin typeface="Cambria Math"/>
                <a:cs typeface="Cambria Math"/>
              </a:rPr>
              <a:t> </a:t>
            </a:r>
            <a:r>
              <a:rPr sz="1450" spc="70" dirty="0">
                <a:latin typeface="Cambria Math"/>
                <a:cs typeface="Cambria Math"/>
              </a:rPr>
              <a:t>𝟐𝑚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72960" y="1755571"/>
            <a:ext cx="281940" cy="17145"/>
          </a:xfrm>
          <a:custGeom>
            <a:avLst/>
            <a:gdLst/>
            <a:ahLst/>
            <a:cxnLst/>
            <a:rect l="l" t="t" r="r" b="b"/>
            <a:pathLst>
              <a:path w="281940" h="17144">
                <a:moveTo>
                  <a:pt x="281940" y="0"/>
                </a:moveTo>
                <a:lnTo>
                  <a:pt x="0" y="0"/>
                </a:lnTo>
                <a:lnTo>
                  <a:pt x="0" y="16763"/>
                </a:lnTo>
                <a:lnTo>
                  <a:pt x="281940" y="16763"/>
                </a:lnTo>
                <a:lnTo>
                  <a:pt x="2819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81946" y="1609925"/>
            <a:ext cx="560705" cy="307975"/>
          </a:xfrm>
          <a:custGeom>
            <a:avLst/>
            <a:gdLst/>
            <a:ahLst/>
            <a:cxnLst/>
            <a:rect l="l" t="t" r="r" b="b"/>
            <a:pathLst>
              <a:path w="560704" h="307975">
                <a:moveTo>
                  <a:pt x="479533" y="0"/>
                </a:moveTo>
                <a:lnTo>
                  <a:pt x="476421" y="10185"/>
                </a:lnTo>
                <a:lnTo>
                  <a:pt x="490547" y="17512"/>
                </a:lnTo>
                <a:lnTo>
                  <a:pt x="502847" y="28178"/>
                </a:lnTo>
                <a:lnTo>
                  <a:pt x="528744" y="79679"/>
                </a:lnTo>
                <a:lnTo>
                  <a:pt x="536478" y="126842"/>
                </a:lnTo>
                <a:lnTo>
                  <a:pt x="537445" y="153847"/>
                </a:lnTo>
                <a:lnTo>
                  <a:pt x="536478" y="180796"/>
                </a:lnTo>
                <a:lnTo>
                  <a:pt x="528744" y="227860"/>
                </a:lnTo>
                <a:lnTo>
                  <a:pt x="513322" y="265296"/>
                </a:lnTo>
                <a:lnTo>
                  <a:pt x="476421" y="297256"/>
                </a:lnTo>
                <a:lnTo>
                  <a:pt x="479533" y="307441"/>
                </a:lnTo>
                <a:lnTo>
                  <a:pt x="513861" y="289148"/>
                </a:lnTo>
                <a:lnTo>
                  <a:pt x="539312" y="254635"/>
                </a:lnTo>
                <a:lnTo>
                  <a:pt x="555057" y="208092"/>
                </a:lnTo>
                <a:lnTo>
                  <a:pt x="560305" y="153720"/>
                </a:lnTo>
                <a:lnTo>
                  <a:pt x="558993" y="125560"/>
                </a:lnTo>
                <a:lnTo>
                  <a:pt x="548496" y="75107"/>
                </a:lnTo>
                <a:lnTo>
                  <a:pt x="527696" y="33530"/>
                </a:lnTo>
                <a:lnTo>
                  <a:pt x="497807" y="7122"/>
                </a:lnTo>
                <a:lnTo>
                  <a:pt x="479533" y="0"/>
                </a:lnTo>
                <a:close/>
              </a:path>
              <a:path w="560704" h="307975">
                <a:moveTo>
                  <a:pt x="80766" y="0"/>
                </a:moveTo>
                <a:lnTo>
                  <a:pt x="46437" y="18299"/>
                </a:lnTo>
                <a:lnTo>
                  <a:pt x="20987" y="52819"/>
                </a:lnTo>
                <a:lnTo>
                  <a:pt x="5242" y="99355"/>
                </a:lnTo>
                <a:lnTo>
                  <a:pt x="0" y="153847"/>
                </a:lnTo>
                <a:lnTo>
                  <a:pt x="1306" y="181886"/>
                </a:lnTo>
                <a:lnTo>
                  <a:pt x="11802" y="232341"/>
                </a:lnTo>
                <a:lnTo>
                  <a:pt x="32602" y="273917"/>
                </a:lnTo>
                <a:lnTo>
                  <a:pt x="62492" y="300324"/>
                </a:lnTo>
                <a:lnTo>
                  <a:pt x="80766" y="307441"/>
                </a:lnTo>
                <a:lnTo>
                  <a:pt x="83877" y="297256"/>
                </a:lnTo>
                <a:lnTo>
                  <a:pt x="69751" y="289933"/>
                </a:lnTo>
                <a:lnTo>
                  <a:pt x="57452" y="279280"/>
                </a:lnTo>
                <a:lnTo>
                  <a:pt x="31555" y="227860"/>
                </a:lnTo>
                <a:lnTo>
                  <a:pt x="23820" y="180796"/>
                </a:lnTo>
                <a:lnTo>
                  <a:pt x="22858" y="153720"/>
                </a:lnTo>
                <a:lnTo>
                  <a:pt x="23820" y="126842"/>
                </a:lnTo>
                <a:lnTo>
                  <a:pt x="31555" y="79679"/>
                </a:lnTo>
                <a:lnTo>
                  <a:pt x="46976" y="42182"/>
                </a:lnTo>
                <a:lnTo>
                  <a:pt x="83877" y="10185"/>
                </a:lnTo>
                <a:lnTo>
                  <a:pt x="80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81360" y="1476175"/>
            <a:ext cx="980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-20833" dirty="0">
                <a:latin typeface="Cambria Math"/>
                <a:cs typeface="Cambria Math"/>
              </a:rPr>
              <a:t>−</a:t>
            </a:r>
            <a:r>
              <a:rPr sz="3000" spc="-37" baseline="-20833" dirty="0">
                <a:latin typeface="Cambria Math"/>
                <a:cs typeface="Cambria Math"/>
              </a:rPr>
              <a:t> </a:t>
            </a:r>
            <a:r>
              <a:rPr sz="3000" baseline="-20833" dirty="0">
                <a:latin typeface="Cambria Math"/>
                <a:cs typeface="Cambria Math"/>
              </a:rPr>
              <a:t>𝒚</a:t>
            </a:r>
            <a:r>
              <a:rPr sz="1450" dirty="0">
                <a:latin typeface="Cambria Math"/>
                <a:cs typeface="Cambria Math"/>
              </a:rPr>
              <a:t>(𝒊)</a:t>
            </a:r>
            <a:r>
              <a:rPr sz="1450" spc="160" dirty="0">
                <a:latin typeface="Cambria Math"/>
                <a:cs typeface="Cambria Math"/>
              </a:rPr>
              <a:t> </a:t>
            </a:r>
            <a:r>
              <a:rPr sz="3000" baseline="-20833" dirty="0">
                <a:latin typeface="Cambria Math"/>
                <a:cs typeface="Cambria Math"/>
              </a:rPr>
              <a:t>)</a:t>
            </a:r>
            <a:r>
              <a:rPr sz="1450" dirty="0">
                <a:latin typeface="Cambria Math"/>
                <a:cs typeface="Cambria Math"/>
              </a:rPr>
              <a:t>𝟐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59468" y="1476175"/>
            <a:ext cx="13195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32765" algn="l"/>
              </a:tabLst>
            </a:pPr>
            <a:r>
              <a:rPr sz="3000" spc="97" baseline="-18055" dirty="0">
                <a:latin typeface="Cambria Math"/>
                <a:cs typeface="Cambria Math"/>
              </a:rPr>
              <a:t>∑</a:t>
            </a:r>
            <a:r>
              <a:rPr sz="2175" spc="97" baseline="1915" dirty="0">
                <a:latin typeface="Cambria Math"/>
                <a:cs typeface="Cambria Math"/>
              </a:rPr>
              <a:t>𝑚	</a:t>
            </a:r>
            <a:r>
              <a:rPr sz="3000" spc="-7" baseline="-20833" dirty="0">
                <a:latin typeface="Cambria Math"/>
                <a:cs typeface="Cambria Math"/>
              </a:rPr>
              <a:t>(𝒉</a:t>
            </a:r>
            <a:r>
              <a:rPr sz="3000" spc="600" baseline="-20833" dirty="0">
                <a:latin typeface="Cambria Math"/>
                <a:cs typeface="Cambria Math"/>
              </a:rPr>
              <a:t> </a:t>
            </a:r>
            <a:r>
              <a:rPr sz="3000" spc="-7" baseline="-20833" dirty="0">
                <a:latin typeface="Cambria Math"/>
                <a:cs typeface="Cambria Math"/>
              </a:rPr>
              <a:t>𝒙</a:t>
            </a:r>
            <a:r>
              <a:rPr sz="1450" spc="-5" dirty="0">
                <a:latin typeface="Cambria Math"/>
                <a:cs typeface="Cambria Math"/>
              </a:rPr>
              <a:t>(𝒊)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64628" y="1700191"/>
            <a:ext cx="3409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5" dirty="0">
                <a:latin typeface="Cambria Math"/>
                <a:cs typeface="Cambria Math"/>
              </a:rPr>
              <a:t>𝒊</a:t>
            </a:r>
            <a:r>
              <a:rPr sz="1450" spc="-20" dirty="0">
                <a:latin typeface="Cambria Math"/>
                <a:cs typeface="Cambria Math"/>
              </a:rPr>
              <a:t>=</a:t>
            </a:r>
            <a:r>
              <a:rPr sz="1450" spc="10" dirty="0">
                <a:latin typeface="Cambria Math"/>
                <a:cs typeface="Cambria Math"/>
              </a:rPr>
              <a:t>𝟏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9156" y="2376200"/>
            <a:ext cx="4020820" cy="137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Будем </a:t>
            </a:r>
            <a:r>
              <a:rPr sz="1800" spc="-5" dirty="0">
                <a:latin typeface="Calibri"/>
                <a:cs typeface="Calibri"/>
              </a:rPr>
              <a:t>обновлять параметр </a:t>
            </a:r>
            <a:r>
              <a:rPr sz="1800" dirty="0">
                <a:latin typeface="Calibri"/>
                <a:cs typeface="Calibri"/>
              </a:rPr>
              <a:t>w </a:t>
            </a:r>
            <a:r>
              <a:rPr sz="1800" spc="-5" dirty="0">
                <a:latin typeface="Calibri"/>
                <a:cs typeface="Calibri"/>
              </a:rPr>
              <a:t>до </a:t>
            </a:r>
            <a:r>
              <a:rPr sz="1800" spc="-10" dirty="0">
                <a:latin typeface="Calibri"/>
                <a:cs typeface="Calibri"/>
              </a:rPr>
              <a:t>тех </a:t>
            </a:r>
            <a:r>
              <a:rPr sz="1800" spc="-5" dirty="0">
                <a:latin typeface="Calibri"/>
                <a:cs typeface="Calibri"/>
              </a:rPr>
              <a:t>пор,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пока</a:t>
            </a:r>
            <a:r>
              <a:rPr sz="1800" spc="-5" dirty="0">
                <a:latin typeface="Calibri"/>
                <a:cs typeface="Calibri"/>
              </a:rPr>
              <a:t> градиент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не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станет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равным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нулю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latin typeface="Calibri"/>
                <a:cs typeface="Calibri"/>
              </a:rPr>
              <a:t>(с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некоторой</a:t>
            </a:r>
            <a:r>
              <a:rPr sz="1800" spc="-5" dirty="0">
                <a:latin typeface="Calibri"/>
                <a:cs typeface="Calibri"/>
              </a:rPr>
              <a:t> погрешностью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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).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Calibri"/>
              <a:cs typeface="Calibri"/>
            </a:endParaRPr>
          </a:p>
          <a:p>
            <a:pPr marL="283845" algn="ctr">
              <a:lnSpc>
                <a:spcPct val="100000"/>
              </a:lnSpc>
            </a:pPr>
            <a:r>
              <a:rPr sz="1300" spc="130" dirty="0">
                <a:latin typeface="Cambria Math"/>
                <a:cs typeface="Cambria Math"/>
              </a:rPr>
              <a:t>𝑚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19061" y="4846452"/>
            <a:ext cx="284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Здесь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50" dirty="0">
                <a:solidFill>
                  <a:srgbClr val="FF0000"/>
                </a:solidFill>
                <a:latin typeface="Cambria Math"/>
                <a:cs typeface="Cambria Math"/>
              </a:rPr>
              <a:t>𝛼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скорость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обучения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082" y="3101771"/>
            <a:ext cx="6083300" cy="1673860"/>
            <a:chOff x="406082" y="3101771"/>
            <a:chExt cx="6083300" cy="1673860"/>
          </a:xfrm>
        </p:grpSpPr>
        <p:sp>
          <p:nvSpPr>
            <p:cNvPr id="3" name="object 3"/>
            <p:cNvSpPr/>
            <p:nvPr/>
          </p:nvSpPr>
          <p:spPr>
            <a:xfrm>
              <a:off x="412432" y="3108121"/>
              <a:ext cx="6070600" cy="1661160"/>
            </a:xfrm>
            <a:custGeom>
              <a:avLst/>
              <a:gdLst/>
              <a:ahLst/>
              <a:cxnLst/>
              <a:rect l="l" t="t" r="r" b="b"/>
              <a:pathLst>
                <a:path w="6070600" h="1661160">
                  <a:moveTo>
                    <a:pt x="6070206" y="0"/>
                  </a:moveTo>
                  <a:lnTo>
                    <a:pt x="0" y="0"/>
                  </a:lnTo>
                  <a:lnTo>
                    <a:pt x="0" y="1661147"/>
                  </a:lnTo>
                  <a:lnTo>
                    <a:pt x="6070206" y="1661147"/>
                  </a:lnTo>
                  <a:lnTo>
                    <a:pt x="6070206" y="0"/>
                  </a:lnTo>
                  <a:close/>
                </a:path>
              </a:pathLst>
            </a:custGeom>
            <a:solidFill>
              <a:srgbClr val="CACACA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2432" y="3108121"/>
              <a:ext cx="6070600" cy="1661160"/>
            </a:xfrm>
            <a:custGeom>
              <a:avLst/>
              <a:gdLst/>
              <a:ahLst/>
              <a:cxnLst/>
              <a:rect l="l" t="t" r="r" b="b"/>
              <a:pathLst>
                <a:path w="6070600" h="1661160">
                  <a:moveTo>
                    <a:pt x="0" y="0"/>
                  </a:moveTo>
                  <a:lnTo>
                    <a:pt x="6070206" y="0"/>
                  </a:lnTo>
                  <a:lnTo>
                    <a:pt x="6070206" y="1661147"/>
                  </a:lnTo>
                  <a:lnTo>
                    <a:pt x="0" y="166114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706272" y="4490580"/>
            <a:ext cx="5045075" cy="1812925"/>
            <a:chOff x="6706272" y="4490580"/>
            <a:chExt cx="5045075" cy="1812925"/>
          </a:xfrm>
        </p:grpSpPr>
        <p:sp>
          <p:nvSpPr>
            <p:cNvPr id="6" name="object 6"/>
            <p:cNvSpPr/>
            <p:nvPr/>
          </p:nvSpPr>
          <p:spPr>
            <a:xfrm>
              <a:off x="6712622" y="4496930"/>
              <a:ext cx="5032375" cy="1800225"/>
            </a:xfrm>
            <a:custGeom>
              <a:avLst/>
              <a:gdLst/>
              <a:ahLst/>
              <a:cxnLst/>
              <a:rect l="l" t="t" r="r" b="b"/>
              <a:pathLst>
                <a:path w="5032375" h="1800225">
                  <a:moveTo>
                    <a:pt x="5031816" y="0"/>
                  </a:moveTo>
                  <a:lnTo>
                    <a:pt x="0" y="0"/>
                  </a:lnTo>
                  <a:lnTo>
                    <a:pt x="0" y="1800199"/>
                  </a:lnTo>
                  <a:lnTo>
                    <a:pt x="5031816" y="1800199"/>
                  </a:lnTo>
                  <a:lnTo>
                    <a:pt x="5031816" y="0"/>
                  </a:lnTo>
                  <a:close/>
                </a:path>
              </a:pathLst>
            </a:custGeom>
            <a:solidFill>
              <a:srgbClr val="5B9BD5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2622" y="4496930"/>
              <a:ext cx="5032375" cy="1800225"/>
            </a:xfrm>
            <a:custGeom>
              <a:avLst/>
              <a:gdLst/>
              <a:ahLst/>
              <a:cxnLst/>
              <a:rect l="l" t="t" r="r" b="b"/>
              <a:pathLst>
                <a:path w="5032375" h="1800225">
                  <a:moveTo>
                    <a:pt x="0" y="0"/>
                  </a:moveTo>
                  <a:lnTo>
                    <a:pt x="5031816" y="0"/>
                  </a:lnTo>
                  <a:lnTo>
                    <a:pt x="5031816" y="1800199"/>
                  </a:lnTo>
                  <a:lnTo>
                    <a:pt x="0" y="18001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09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ГРАДИЕНТНЫЙ</a:t>
            </a:r>
            <a:r>
              <a:rPr sz="2400" spc="-15" dirty="0"/>
              <a:t> </a:t>
            </a:r>
            <a:r>
              <a:rPr sz="2400" spc="-5" dirty="0"/>
              <a:t>СПУСК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862950" y="3167393"/>
            <a:ext cx="1803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6627" y="3530067"/>
            <a:ext cx="532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Cambria Math"/>
                <a:cs typeface="Cambria Math"/>
              </a:rPr>
              <a:t>𝝏𝒘</a:t>
            </a:r>
            <a:r>
              <a:rPr sz="1950" spc="7" baseline="-21367" dirty="0">
                <a:latin typeface="Cambria Math"/>
                <a:cs typeface="Cambria Math"/>
              </a:rPr>
              <a:t>𝟎</a:t>
            </a:r>
            <a:endParaRPr sz="1950" baseline="-21367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24596" y="3545725"/>
            <a:ext cx="455930" cy="17145"/>
          </a:xfrm>
          <a:custGeom>
            <a:avLst/>
            <a:gdLst/>
            <a:ahLst/>
            <a:cxnLst/>
            <a:rect l="l" t="t" r="r" b="b"/>
            <a:pathLst>
              <a:path w="455930" h="17145">
                <a:moveTo>
                  <a:pt x="455675" y="0"/>
                </a:moveTo>
                <a:lnTo>
                  <a:pt x="0" y="0"/>
                </a:lnTo>
                <a:lnTo>
                  <a:pt x="0" y="16763"/>
                </a:lnTo>
                <a:lnTo>
                  <a:pt x="455675" y="16763"/>
                </a:lnTo>
                <a:lnTo>
                  <a:pt x="455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35226" y="3436259"/>
            <a:ext cx="868680" cy="236220"/>
          </a:xfrm>
          <a:custGeom>
            <a:avLst/>
            <a:gdLst/>
            <a:ahLst/>
            <a:cxnLst/>
            <a:rect l="l" t="t" r="r" b="b"/>
            <a:pathLst>
              <a:path w="868680" h="236220">
                <a:moveTo>
                  <a:pt x="793432" y="0"/>
                </a:moveTo>
                <a:lnTo>
                  <a:pt x="790079" y="9563"/>
                </a:lnTo>
                <a:lnTo>
                  <a:pt x="803726" y="15490"/>
                </a:lnTo>
                <a:lnTo>
                  <a:pt x="815462" y="23690"/>
                </a:lnTo>
                <a:lnTo>
                  <a:pt x="839287" y="61689"/>
                </a:lnTo>
                <a:lnTo>
                  <a:pt x="847115" y="116687"/>
                </a:lnTo>
                <a:lnTo>
                  <a:pt x="846241" y="137478"/>
                </a:lnTo>
                <a:lnTo>
                  <a:pt x="833132" y="188391"/>
                </a:lnTo>
                <a:lnTo>
                  <a:pt x="803880" y="220226"/>
                </a:lnTo>
                <a:lnTo>
                  <a:pt x="790447" y="226174"/>
                </a:lnTo>
                <a:lnTo>
                  <a:pt x="793432" y="235737"/>
                </a:lnTo>
                <a:lnTo>
                  <a:pt x="838475" y="208984"/>
                </a:lnTo>
                <a:lnTo>
                  <a:pt x="863769" y="159580"/>
                </a:lnTo>
                <a:lnTo>
                  <a:pt x="868616" y="117932"/>
                </a:lnTo>
                <a:lnTo>
                  <a:pt x="867401" y="96320"/>
                </a:lnTo>
                <a:lnTo>
                  <a:pt x="857681" y="58015"/>
                </a:lnTo>
                <a:lnTo>
                  <a:pt x="825512" y="15114"/>
                </a:lnTo>
                <a:lnTo>
                  <a:pt x="810525" y="6169"/>
                </a:lnTo>
                <a:lnTo>
                  <a:pt x="793432" y="0"/>
                </a:lnTo>
                <a:close/>
              </a:path>
              <a:path w="868680" h="236220">
                <a:moveTo>
                  <a:pt x="75183" y="0"/>
                </a:moveTo>
                <a:lnTo>
                  <a:pt x="30231" y="26833"/>
                </a:lnTo>
                <a:lnTo>
                  <a:pt x="4865" y="76347"/>
                </a:lnTo>
                <a:lnTo>
                  <a:pt x="0" y="117932"/>
                </a:lnTo>
                <a:lnTo>
                  <a:pt x="1212" y="139592"/>
                </a:lnTo>
                <a:lnTo>
                  <a:pt x="10908" y="177898"/>
                </a:lnTo>
                <a:lnTo>
                  <a:pt x="43030" y="220659"/>
                </a:lnTo>
                <a:lnTo>
                  <a:pt x="75183" y="235737"/>
                </a:lnTo>
                <a:lnTo>
                  <a:pt x="78168" y="226174"/>
                </a:lnTo>
                <a:lnTo>
                  <a:pt x="64735" y="220226"/>
                </a:lnTo>
                <a:lnTo>
                  <a:pt x="53144" y="211945"/>
                </a:lnTo>
                <a:lnTo>
                  <a:pt x="29366" y="173330"/>
                </a:lnTo>
                <a:lnTo>
                  <a:pt x="21501" y="116687"/>
                </a:lnTo>
                <a:lnTo>
                  <a:pt x="22375" y="96575"/>
                </a:lnTo>
                <a:lnTo>
                  <a:pt x="35483" y="46913"/>
                </a:lnTo>
                <a:lnTo>
                  <a:pt x="64949" y="15490"/>
                </a:lnTo>
                <a:lnTo>
                  <a:pt x="78549" y="9563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11056" y="3507120"/>
            <a:ext cx="52324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8305" algn="l"/>
              </a:tabLst>
            </a:pPr>
            <a:r>
              <a:rPr sz="1300" spc="30" dirty="0">
                <a:latin typeface="Cambria Math"/>
                <a:cs typeface="Cambria Math"/>
              </a:rPr>
              <a:t>𝟎	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5192" y="3555964"/>
            <a:ext cx="23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0" dirty="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57968" y="3545725"/>
            <a:ext cx="213360" cy="17145"/>
          </a:xfrm>
          <a:custGeom>
            <a:avLst/>
            <a:gdLst/>
            <a:ahLst/>
            <a:cxnLst/>
            <a:rect l="l" t="t" r="r" b="b"/>
            <a:pathLst>
              <a:path w="213360" h="17145">
                <a:moveTo>
                  <a:pt x="213360" y="0"/>
                </a:moveTo>
                <a:lnTo>
                  <a:pt x="0" y="0"/>
                </a:lnTo>
                <a:lnTo>
                  <a:pt x="0" y="16763"/>
                </a:lnTo>
                <a:lnTo>
                  <a:pt x="213360" y="16763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5029" y="3394731"/>
            <a:ext cx="190792" cy="1722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57440" y="3359292"/>
            <a:ext cx="5042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363345" algn="l"/>
                <a:tab pos="2437765" algn="l"/>
              </a:tabLst>
            </a:pPr>
            <a:r>
              <a:rPr sz="2000" dirty="0">
                <a:latin typeface="Cambria Math"/>
                <a:cs typeface="Cambria Math"/>
              </a:rPr>
              <a:t>j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𝟎:	𝐉 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𝐰 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𝒘	= 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700" baseline="46296" dirty="0">
                <a:latin typeface="Cambria Math"/>
                <a:cs typeface="Cambria Math"/>
              </a:rPr>
              <a:t>𝟏</a:t>
            </a:r>
            <a:r>
              <a:rPr sz="2700" spc="292" baseline="46296" dirty="0">
                <a:latin typeface="Cambria Math"/>
                <a:cs typeface="Cambria Math"/>
              </a:rPr>
              <a:t> </a:t>
            </a:r>
            <a:r>
              <a:rPr sz="2000" spc="2025" dirty="0">
                <a:latin typeface="Cambria Math"/>
                <a:cs typeface="Cambria Math"/>
              </a:rPr>
              <a:t>�</a:t>
            </a:r>
            <a:r>
              <a:rPr sz="2000" spc="-5" dirty="0">
                <a:latin typeface="Cambria Math"/>
                <a:cs typeface="Cambria Math"/>
              </a:rPr>
              <a:t>(</a:t>
            </a:r>
            <a:r>
              <a:rPr sz="2000" spc="5" dirty="0">
                <a:latin typeface="Cambria Math"/>
                <a:cs typeface="Cambria Math"/>
              </a:rPr>
              <a:t>𝒉</a:t>
            </a:r>
            <a:r>
              <a:rPr sz="2000" spc="-5" dirty="0">
                <a:latin typeface="Cambria Math"/>
                <a:cs typeface="Cambria Math"/>
              </a:rPr>
              <a:t>(𝒙</a:t>
            </a:r>
            <a:r>
              <a:rPr sz="2175" spc="-7" baseline="28735" dirty="0">
                <a:latin typeface="Cambria Math"/>
                <a:cs typeface="Cambria Math"/>
              </a:rPr>
              <a:t>(</a:t>
            </a:r>
            <a:r>
              <a:rPr sz="2175" spc="7" baseline="28735" dirty="0">
                <a:latin typeface="Cambria Math"/>
                <a:cs typeface="Cambria Math"/>
              </a:rPr>
              <a:t>𝒊</a:t>
            </a:r>
            <a:r>
              <a:rPr sz="2175" spc="120" baseline="28735" dirty="0">
                <a:latin typeface="Cambria Math"/>
                <a:cs typeface="Cambria Math"/>
              </a:rPr>
              <a:t>)</a:t>
            </a:r>
            <a:r>
              <a:rPr sz="2000" dirty="0">
                <a:latin typeface="Cambria Math"/>
                <a:cs typeface="Cambria Math"/>
              </a:rPr>
              <a:t>) 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170" dirty="0">
                <a:latin typeface="Cambria Math"/>
                <a:cs typeface="Cambria Math"/>
              </a:rPr>
              <a:t> </a:t>
            </a:r>
            <a:r>
              <a:rPr sz="2175" spc="15" baseline="28735" dirty="0">
                <a:latin typeface="Cambria Math"/>
                <a:cs typeface="Cambria Math"/>
              </a:rPr>
              <a:t>𝒊</a:t>
            </a:r>
            <a:r>
              <a:rPr sz="2175" spc="-502" baseline="28735" dirty="0">
                <a:latin typeface="Cambria Math"/>
                <a:cs typeface="Cambria Math"/>
              </a:rPr>
              <a:t> </a:t>
            </a:r>
            <a:r>
              <a:rPr sz="2175" spc="-427" baseline="28735" dirty="0">
                <a:latin typeface="Cambria Math"/>
                <a:cs typeface="Cambria Math"/>
              </a:rPr>
              <a:t> </a:t>
            </a:r>
            <a:r>
              <a:rPr sz="2000" spc="-33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7500" y="3049920"/>
            <a:ext cx="19812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65" dirty="0">
                <a:latin typeface="Cambria Math"/>
                <a:cs typeface="Cambria Math"/>
              </a:rPr>
              <a:t>𝑚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5918" y="3752541"/>
            <a:ext cx="3409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5" dirty="0">
                <a:latin typeface="Cambria Math"/>
                <a:cs typeface="Cambria Math"/>
              </a:rPr>
              <a:t>𝒊</a:t>
            </a:r>
            <a:r>
              <a:rPr sz="1450" spc="-20" dirty="0">
                <a:latin typeface="Cambria Math"/>
                <a:cs typeface="Cambria Math"/>
              </a:rPr>
              <a:t>=</a:t>
            </a:r>
            <a:r>
              <a:rPr sz="1450" spc="10" dirty="0">
                <a:latin typeface="Cambria Math"/>
                <a:cs typeface="Cambria Math"/>
              </a:rPr>
              <a:t>𝟏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24947" y="1266073"/>
            <a:ext cx="1612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95450" y="1598271"/>
            <a:ext cx="4235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𝝏</a:t>
            </a:r>
            <a:r>
              <a:rPr sz="1750" spc="-5" dirty="0">
                <a:latin typeface="Cambria Math"/>
                <a:cs typeface="Cambria Math"/>
              </a:rPr>
              <a:t>𝒘</a:t>
            </a:r>
            <a:r>
              <a:rPr sz="1750" spc="-630" dirty="0">
                <a:latin typeface="Cambria Math"/>
                <a:cs typeface="Cambria Math"/>
              </a:rPr>
              <a:t>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08103" y="1583575"/>
            <a:ext cx="396240" cy="20320"/>
          </a:xfrm>
          <a:custGeom>
            <a:avLst/>
            <a:gdLst/>
            <a:ahLst/>
            <a:cxnLst/>
            <a:rect l="l" t="t" r="r" b="b"/>
            <a:pathLst>
              <a:path w="396239" h="20319">
                <a:moveTo>
                  <a:pt x="396239" y="0"/>
                </a:moveTo>
                <a:lnTo>
                  <a:pt x="0" y="0"/>
                </a:lnTo>
                <a:lnTo>
                  <a:pt x="0" y="19812"/>
                </a:lnTo>
                <a:lnTo>
                  <a:pt x="396239" y="19812"/>
                </a:lnTo>
                <a:lnTo>
                  <a:pt x="396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59742" y="1452336"/>
            <a:ext cx="1042669" cy="282575"/>
          </a:xfrm>
          <a:custGeom>
            <a:avLst/>
            <a:gdLst/>
            <a:ahLst/>
            <a:cxnLst/>
            <a:rect l="l" t="t" r="r" b="b"/>
            <a:pathLst>
              <a:path w="1042670" h="282575">
                <a:moveTo>
                  <a:pt x="952144" y="0"/>
                </a:moveTo>
                <a:lnTo>
                  <a:pt x="948131" y="11455"/>
                </a:lnTo>
                <a:lnTo>
                  <a:pt x="964473" y="18551"/>
                </a:lnTo>
                <a:lnTo>
                  <a:pt x="978527" y="28371"/>
                </a:lnTo>
                <a:lnTo>
                  <a:pt x="1007060" y="73880"/>
                </a:lnTo>
                <a:lnTo>
                  <a:pt x="1015390" y="115661"/>
                </a:lnTo>
                <a:lnTo>
                  <a:pt x="1016431" y="139750"/>
                </a:lnTo>
                <a:lnTo>
                  <a:pt x="1015386" y="164649"/>
                </a:lnTo>
                <a:lnTo>
                  <a:pt x="1007018" y="207587"/>
                </a:lnTo>
                <a:lnTo>
                  <a:pt x="978539" y="253828"/>
                </a:lnTo>
                <a:lnTo>
                  <a:pt x="948575" y="270865"/>
                </a:lnTo>
                <a:lnTo>
                  <a:pt x="952144" y="282321"/>
                </a:lnTo>
                <a:lnTo>
                  <a:pt x="990653" y="264263"/>
                </a:lnTo>
                <a:lnTo>
                  <a:pt x="1018971" y="232994"/>
                </a:lnTo>
                <a:lnTo>
                  <a:pt x="1036380" y="191111"/>
                </a:lnTo>
                <a:lnTo>
                  <a:pt x="1042187" y="141236"/>
                </a:lnTo>
                <a:lnTo>
                  <a:pt x="1040730" y="115357"/>
                </a:lnTo>
                <a:lnTo>
                  <a:pt x="1029082" y="69479"/>
                </a:lnTo>
                <a:lnTo>
                  <a:pt x="1005986" y="32129"/>
                </a:lnTo>
                <a:lnTo>
                  <a:pt x="972611" y="7391"/>
                </a:lnTo>
                <a:lnTo>
                  <a:pt x="952144" y="0"/>
                </a:lnTo>
                <a:close/>
              </a:path>
              <a:path w="1042670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3" y="274944"/>
                </a:lnTo>
                <a:lnTo>
                  <a:pt x="90030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93627" y="1538869"/>
            <a:ext cx="621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6409" algn="l"/>
              </a:tabLst>
            </a:pPr>
            <a:r>
              <a:rPr sz="1600" spc="-5" dirty="0">
                <a:latin typeface="Cambria Math"/>
                <a:cs typeface="Cambria Math"/>
              </a:rPr>
              <a:t>𝟎	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12043" y="1362085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9845" algn="l"/>
              </a:tabLst>
            </a:pPr>
            <a:r>
              <a:rPr sz="2400" dirty="0">
                <a:latin typeface="Cambria Math"/>
                <a:cs typeface="Cambria Math"/>
              </a:rPr>
              <a:t>𝐉 </a:t>
            </a:r>
            <a:r>
              <a:rPr sz="2400" spc="-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𝐰 </a:t>
            </a:r>
            <a:r>
              <a:rPr sz="2400" spc="-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08176" y="1583575"/>
            <a:ext cx="396240" cy="20320"/>
          </a:xfrm>
          <a:custGeom>
            <a:avLst/>
            <a:gdLst/>
            <a:ahLst/>
            <a:cxnLst/>
            <a:rect l="l" t="t" r="r" b="b"/>
            <a:pathLst>
              <a:path w="396240" h="20319">
                <a:moveTo>
                  <a:pt x="396240" y="0"/>
                </a:moveTo>
                <a:lnTo>
                  <a:pt x="0" y="0"/>
                </a:lnTo>
                <a:lnTo>
                  <a:pt x="0" y="19812"/>
                </a:lnTo>
                <a:lnTo>
                  <a:pt x="396240" y="19812"/>
                </a:lnTo>
                <a:lnTo>
                  <a:pt x="3962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95522" y="1200879"/>
            <a:ext cx="828675" cy="6902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615"/>
              </a:spcBef>
              <a:tabLst>
                <a:tab pos="579120" algn="l"/>
              </a:tabLst>
            </a:pPr>
            <a:r>
              <a:rPr sz="1750" dirty="0">
                <a:latin typeface="Cambria Math"/>
                <a:cs typeface="Cambria Math"/>
              </a:rPr>
              <a:t>𝝏	𝟏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750" spc="-130" dirty="0">
                <a:latin typeface="Cambria Math"/>
                <a:cs typeface="Cambria Math"/>
              </a:rPr>
              <a:t>𝝏𝒘𝝏</a:t>
            </a:r>
            <a:r>
              <a:rPr sz="1750" spc="65" dirty="0">
                <a:latin typeface="Cambria Math"/>
                <a:cs typeface="Cambria Math"/>
              </a:rPr>
              <a:t> </a:t>
            </a:r>
            <a:r>
              <a:rPr sz="1750" spc="70" dirty="0">
                <a:latin typeface="Cambria Math"/>
                <a:cs typeface="Cambria Math"/>
              </a:rPr>
              <a:t>𝟐𝑚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72995" y="1583575"/>
            <a:ext cx="340360" cy="20320"/>
          </a:xfrm>
          <a:custGeom>
            <a:avLst/>
            <a:gdLst/>
            <a:ahLst/>
            <a:cxnLst/>
            <a:rect l="l" t="t" r="r" b="b"/>
            <a:pathLst>
              <a:path w="340359" h="20319">
                <a:moveTo>
                  <a:pt x="339851" y="0"/>
                </a:moveTo>
                <a:lnTo>
                  <a:pt x="0" y="0"/>
                </a:lnTo>
                <a:lnTo>
                  <a:pt x="0" y="19812"/>
                </a:lnTo>
                <a:lnTo>
                  <a:pt x="339851" y="19812"/>
                </a:lnTo>
                <a:lnTo>
                  <a:pt x="3398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02813" y="1408419"/>
            <a:ext cx="678180" cy="368300"/>
          </a:xfrm>
          <a:custGeom>
            <a:avLst/>
            <a:gdLst/>
            <a:ahLst/>
            <a:cxnLst/>
            <a:rect l="l" t="t" r="r" b="b"/>
            <a:pathLst>
              <a:path w="678179" h="368300">
                <a:moveTo>
                  <a:pt x="580961" y="0"/>
                </a:moveTo>
                <a:lnTo>
                  <a:pt x="577240" y="12204"/>
                </a:lnTo>
                <a:lnTo>
                  <a:pt x="594157" y="20977"/>
                </a:lnTo>
                <a:lnTo>
                  <a:pt x="608885" y="33748"/>
                </a:lnTo>
                <a:lnTo>
                  <a:pt x="631786" y="71285"/>
                </a:lnTo>
                <a:lnTo>
                  <a:pt x="645685" y="122301"/>
                </a:lnTo>
                <a:lnTo>
                  <a:pt x="650316" y="184251"/>
                </a:lnTo>
                <a:lnTo>
                  <a:pt x="649158" y="216522"/>
                </a:lnTo>
                <a:lnTo>
                  <a:pt x="639895" y="272891"/>
                </a:lnTo>
                <a:lnTo>
                  <a:pt x="621428" y="317722"/>
                </a:lnTo>
                <a:lnTo>
                  <a:pt x="594157" y="347226"/>
                </a:lnTo>
                <a:lnTo>
                  <a:pt x="577240" y="355993"/>
                </a:lnTo>
                <a:lnTo>
                  <a:pt x="580961" y="368198"/>
                </a:lnTo>
                <a:lnTo>
                  <a:pt x="622076" y="346286"/>
                </a:lnTo>
                <a:lnTo>
                  <a:pt x="652551" y="304952"/>
                </a:lnTo>
                <a:lnTo>
                  <a:pt x="671410" y="249212"/>
                </a:lnTo>
                <a:lnTo>
                  <a:pt x="677697" y="184099"/>
                </a:lnTo>
                <a:lnTo>
                  <a:pt x="676125" y="150371"/>
                </a:lnTo>
                <a:lnTo>
                  <a:pt x="663552" y="89944"/>
                </a:lnTo>
                <a:lnTo>
                  <a:pt x="638641" y="40155"/>
                </a:lnTo>
                <a:lnTo>
                  <a:pt x="602850" y="8532"/>
                </a:lnTo>
                <a:lnTo>
                  <a:pt x="580961" y="0"/>
                </a:lnTo>
                <a:close/>
              </a:path>
              <a:path w="678179" h="368300">
                <a:moveTo>
                  <a:pt x="96735" y="0"/>
                </a:moveTo>
                <a:lnTo>
                  <a:pt x="55616" y="2191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71" y="217827"/>
                </a:lnTo>
                <a:lnTo>
                  <a:pt x="14144" y="278253"/>
                </a:lnTo>
                <a:lnTo>
                  <a:pt x="39050" y="328045"/>
                </a:lnTo>
                <a:lnTo>
                  <a:pt x="74845" y="359671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26"/>
                </a:lnTo>
                <a:lnTo>
                  <a:pt x="68811" y="334468"/>
                </a:lnTo>
                <a:lnTo>
                  <a:pt x="45910" y="296989"/>
                </a:lnTo>
                <a:lnTo>
                  <a:pt x="32011" y="246068"/>
                </a:lnTo>
                <a:lnTo>
                  <a:pt x="27386" y="184099"/>
                </a:lnTo>
                <a:lnTo>
                  <a:pt x="28538" y="151909"/>
                </a:lnTo>
                <a:lnTo>
                  <a:pt x="37802" y="95426"/>
                </a:lnTo>
                <a:lnTo>
                  <a:pt x="56269" y="50518"/>
                </a:lnTo>
                <a:lnTo>
                  <a:pt x="83540" y="20977"/>
                </a:lnTo>
                <a:lnTo>
                  <a:pt x="100457" y="12204"/>
                </a:lnTo>
                <a:lnTo>
                  <a:pt x="967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99644" y="1250833"/>
            <a:ext cx="314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57225" algn="l"/>
                <a:tab pos="1113155" algn="l"/>
                <a:tab pos="1772920" algn="l"/>
              </a:tabLst>
            </a:pPr>
            <a:r>
              <a:rPr sz="3600" spc="112" baseline="-18518" dirty="0">
                <a:latin typeface="Cambria Math"/>
                <a:cs typeface="Cambria Math"/>
              </a:rPr>
              <a:t>∑</a:t>
            </a:r>
            <a:r>
              <a:rPr sz="2625" spc="112" baseline="3174" dirty="0">
                <a:latin typeface="Cambria Math"/>
                <a:cs typeface="Cambria Math"/>
              </a:rPr>
              <a:t>𝑚	</a:t>
            </a:r>
            <a:r>
              <a:rPr sz="3600" spc="-7" baseline="-20833" dirty="0">
                <a:latin typeface="Cambria Math"/>
                <a:cs typeface="Cambria Math"/>
              </a:rPr>
              <a:t>(𝒉	</a:t>
            </a:r>
            <a:r>
              <a:rPr sz="3600" baseline="-20833" dirty="0">
                <a:latin typeface="Cambria Math"/>
                <a:cs typeface="Cambria Math"/>
              </a:rPr>
              <a:t>𝒙</a:t>
            </a:r>
            <a:r>
              <a:rPr sz="1750" dirty="0">
                <a:latin typeface="Cambria Math"/>
                <a:cs typeface="Cambria Math"/>
              </a:rPr>
              <a:t>(𝒊)	</a:t>
            </a:r>
            <a:r>
              <a:rPr sz="3600" baseline="-20833" dirty="0">
                <a:latin typeface="Cambria Math"/>
                <a:cs typeface="Cambria Math"/>
              </a:rPr>
              <a:t>−</a:t>
            </a:r>
            <a:r>
              <a:rPr sz="3600" spc="-37" baseline="-20833" dirty="0">
                <a:latin typeface="Cambria Math"/>
                <a:cs typeface="Cambria Math"/>
              </a:rPr>
              <a:t> </a:t>
            </a:r>
            <a:r>
              <a:rPr sz="3600" baseline="-20833" dirty="0">
                <a:latin typeface="Cambria Math"/>
                <a:cs typeface="Cambria Math"/>
              </a:rPr>
              <a:t>𝒚</a:t>
            </a:r>
            <a:r>
              <a:rPr sz="1750" dirty="0">
                <a:latin typeface="Cambria Math"/>
                <a:cs typeface="Cambria Math"/>
              </a:rPr>
              <a:t>(𝒊)</a:t>
            </a:r>
            <a:r>
              <a:rPr sz="1750" spc="210" dirty="0">
                <a:latin typeface="Cambria Math"/>
                <a:cs typeface="Cambria Math"/>
              </a:rPr>
              <a:t> </a:t>
            </a:r>
            <a:r>
              <a:rPr sz="3600" spc="37" baseline="-20833" dirty="0">
                <a:latin typeface="Cambria Math"/>
                <a:cs typeface="Cambria Math"/>
              </a:rPr>
              <a:t>)</a:t>
            </a:r>
            <a:r>
              <a:rPr sz="1750" spc="25" dirty="0">
                <a:latin typeface="Cambria Math"/>
                <a:cs typeface="Cambria Math"/>
              </a:rPr>
              <a:t>𝟐</a:t>
            </a:r>
            <a:r>
              <a:rPr sz="3600" spc="37" baseline="-20833" dirty="0">
                <a:latin typeface="Cambria Math"/>
                <a:cs typeface="Cambria Math"/>
              </a:rPr>
              <a:t>=</a:t>
            </a:r>
            <a:endParaRPr sz="3600" baseline="-20833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66851" y="1519154"/>
            <a:ext cx="4025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Cambria Math"/>
                <a:cs typeface="Cambria Math"/>
              </a:rPr>
              <a:t>𝒊</a:t>
            </a:r>
            <a:r>
              <a:rPr sz="1750" spc="-40" dirty="0">
                <a:latin typeface="Cambria Math"/>
                <a:cs typeface="Cambria Math"/>
              </a:rPr>
              <a:t>=</a:t>
            </a: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7503" y="2611764"/>
            <a:ext cx="420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Получим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частные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производные: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2416" y="887397"/>
            <a:ext cx="2684145" cy="1306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0200"/>
              </a:lnSpc>
              <a:spcBef>
                <a:spcPts val="90"/>
              </a:spcBef>
              <a:tabLst>
                <a:tab pos="1560195" algn="l"/>
              </a:tabLst>
            </a:pPr>
            <a:r>
              <a:rPr sz="2800" spc="-20" dirty="0">
                <a:latin typeface="Calibri"/>
                <a:cs typeface="Calibri"/>
              </a:rPr>
              <a:t>Если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рассмотрим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общий случай: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h(x)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55" dirty="0">
                <a:latin typeface="Cambria Math"/>
                <a:cs typeface="Cambria Math"/>
              </a:rPr>
              <a:t>𝐰</a:t>
            </a:r>
            <a:r>
              <a:rPr sz="3075" spc="-82" baseline="-16260" dirty="0">
                <a:latin typeface="Cambria Math"/>
                <a:cs typeface="Cambria Math"/>
              </a:rPr>
              <a:t>𝟎	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-60" dirty="0">
                <a:latin typeface="Cambria Math"/>
                <a:cs typeface="Cambria Math"/>
              </a:rPr>
              <a:t>𝐰</a:t>
            </a:r>
            <a:r>
              <a:rPr sz="3075" spc="-89" baseline="-16260" dirty="0">
                <a:latin typeface="Cambria Math"/>
                <a:cs typeface="Cambria Math"/>
              </a:rPr>
              <a:t>𝟏</a:t>
            </a:r>
            <a:r>
              <a:rPr sz="3075" spc="405" baseline="-16260" dirty="0">
                <a:latin typeface="Cambria Math"/>
                <a:cs typeface="Cambria Math"/>
              </a:rPr>
              <a:t> </a:t>
            </a:r>
            <a:r>
              <a:rPr sz="2800" b="1" spc="-5" dirty="0"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57308" y="1858871"/>
            <a:ext cx="1084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3600" baseline="-32407" dirty="0">
                <a:latin typeface="Cambria Math"/>
                <a:cs typeface="Cambria Math"/>
              </a:rPr>
              <a:t>=</a:t>
            </a:r>
            <a:r>
              <a:rPr sz="2400" u="heavy" spc="1019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7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𝝏</a:t>
            </a:r>
            <a:r>
              <a:rPr sz="1750" dirty="0">
                <a:latin typeface="Cambria Math"/>
                <a:cs typeface="Cambria Math"/>
              </a:rPr>
              <a:t>	</a:t>
            </a:r>
            <a:r>
              <a:rPr sz="17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91107" y="2273365"/>
            <a:ext cx="8286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30" dirty="0">
                <a:latin typeface="Cambria Math"/>
                <a:cs typeface="Cambria Math"/>
              </a:rPr>
              <a:t>𝝏𝒘𝝏</a:t>
            </a:r>
            <a:r>
              <a:rPr sz="1750" spc="65" dirty="0">
                <a:latin typeface="Cambria Math"/>
                <a:cs typeface="Cambria Math"/>
              </a:rPr>
              <a:t> </a:t>
            </a:r>
            <a:r>
              <a:rPr sz="1750" spc="70" dirty="0">
                <a:latin typeface="Cambria Math"/>
                <a:cs typeface="Cambria Math"/>
              </a:rPr>
              <a:t>𝟐𝑚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40389" y="2037179"/>
            <a:ext cx="39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𝐰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03101" y="2181958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95580" y="2181958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9828" y="1925927"/>
            <a:ext cx="2428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81685" algn="l"/>
              </a:tabLst>
            </a:pPr>
            <a:r>
              <a:rPr sz="3600" baseline="-20833" dirty="0">
                <a:latin typeface="Cambria Math"/>
                <a:cs typeface="Cambria Math"/>
              </a:rPr>
              <a:t>+</a:t>
            </a:r>
            <a:r>
              <a:rPr sz="3600" spc="-15" baseline="-20833" dirty="0">
                <a:latin typeface="Cambria Math"/>
                <a:cs typeface="Cambria Math"/>
              </a:rPr>
              <a:t> </a:t>
            </a:r>
            <a:r>
              <a:rPr sz="3600" baseline="-20833" dirty="0">
                <a:latin typeface="Cambria Math"/>
                <a:cs typeface="Cambria Math"/>
              </a:rPr>
              <a:t>𝐰	𝒙</a:t>
            </a:r>
            <a:r>
              <a:rPr sz="1750" dirty="0">
                <a:latin typeface="Cambria Math"/>
                <a:cs typeface="Cambria Math"/>
              </a:rPr>
              <a:t>(𝒊)</a:t>
            </a:r>
            <a:r>
              <a:rPr sz="1750" spc="204" dirty="0">
                <a:latin typeface="Cambria Math"/>
                <a:cs typeface="Cambria Math"/>
              </a:rPr>
              <a:t> </a:t>
            </a:r>
            <a:r>
              <a:rPr sz="3600" baseline="-20833" dirty="0">
                <a:latin typeface="Cambria Math"/>
                <a:cs typeface="Cambria Math"/>
              </a:rPr>
              <a:t>−</a:t>
            </a:r>
            <a:r>
              <a:rPr sz="3600" spc="-22" baseline="-20833" dirty="0">
                <a:latin typeface="Cambria Math"/>
                <a:cs typeface="Cambria Math"/>
              </a:rPr>
              <a:t> </a:t>
            </a:r>
            <a:r>
              <a:rPr sz="3600" baseline="-20833" dirty="0">
                <a:latin typeface="Cambria Math"/>
                <a:cs typeface="Cambria Math"/>
              </a:rPr>
              <a:t>𝒚</a:t>
            </a:r>
            <a:r>
              <a:rPr sz="1750" dirty="0">
                <a:latin typeface="Cambria Math"/>
                <a:cs typeface="Cambria Math"/>
              </a:rPr>
              <a:t>(𝒊)</a:t>
            </a:r>
            <a:r>
              <a:rPr sz="1750" spc="215" dirty="0">
                <a:latin typeface="Cambria Math"/>
                <a:cs typeface="Cambria Math"/>
              </a:rPr>
              <a:t> </a:t>
            </a:r>
            <a:r>
              <a:rPr sz="3600" spc="-7" baseline="-20833" dirty="0">
                <a:latin typeface="Cambria Math"/>
                <a:cs typeface="Cambria Math"/>
              </a:rPr>
              <a:t>)</a:t>
            </a:r>
            <a:r>
              <a:rPr sz="1750" spc="-5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20628" y="1915247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112" baseline="-19675" dirty="0">
                <a:latin typeface="Cambria Math"/>
                <a:cs typeface="Cambria Math"/>
              </a:rPr>
              <a:t>∑</a:t>
            </a:r>
            <a:r>
              <a:rPr sz="1750" spc="75" dirty="0">
                <a:latin typeface="Cambria Math"/>
                <a:cs typeface="Cambria Math"/>
              </a:rPr>
              <a:t>𝑚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62537" y="2194236"/>
            <a:ext cx="4025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Cambria Math"/>
                <a:cs typeface="Cambria Math"/>
              </a:rPr>
              <a:t>𝒊</a:t>
            </a:r>
            <a:r>
              <a:rPr sz="1750" spc="-40" dirty="0">
                <a:latin typeface="Cambria Math"/>
                <a:cs typeface="Cambria Math"/>
              </a:rPr>
              <a:t>=</a:t>
            </a: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0691" y="4193814"/>
            <a:ext cx="644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j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𝟏: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89275" y="4001915"/>
            <a:ext cx="1803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12951" y="4364589"/>
            <a:ext cx="534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mbria Math"/>
                <a:cs typeface="Cambria Math"/>
              </a:rPr>
              <a:t>𝝏𝒘</a:t>
            </a:r>
            <a:r>
              <a:rPr sz="1950" spc="7" baseline="-21367" dirty="0">
                <a:latin typeface="Cambria Math"/>
                <a:cs typeface="Cambria Math"/>
              </a:rPr>
              <a:t>𝟏</a:t>
            </a:r>
            <a:endParaRPr sz="1950" baseline="-21367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50923" y="4380255"/>
            <a:ext cx="455930" cy="17145"/>
          </a:xfrm>
          <a:custGeom>
            <a:avLst/>
            <a:gdLst/>
            <a:ahLst/>
            <a:cxnLst/>
            <a:rect l="l" t="t" r="r" b="b"/>
            <a:pathLst>
              <a:path w="455930" h="17145">
                <a:moveTo>
                  <a:pt x="455675" y="0"/>
                </a:moveTo>
                <a:lnTo>
                  <a:pt x="0" y="0"/>
                </a:lnTo>
                <a:lnTo>
                  <a:pt x="0" y="16763"/>
                </a:lnTo>
                <a:lnTo>
                  <a:pt x="455675" y="16763"/>
                </a:lnTo>
                <a:lnTo>
                  <a:pt x="455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63076" y="4270782"/>
            <a:ext cx="868680" cy="236220"/>
          </a:xfrm>
          <a:custGeom>
            <a:avLst/>
            <a:gdLst/>
            <a:ahLst/>
            <a:cxnLst/>
            <a:rect l="l" t="t" r="r" b="b"/>
            <a:pathLst>
              <a:path w="868680" h="236220">
                <a:moveTo>
                  <a:pt x="793432" y="0"/>
                </a:moveTo>
                <a:lnTo>
                  <a:pt x="790079" y="9563"/>
                </a:lnTo>
                <a:lnTo>
                  <a:pt x="803726" y="15490"/>
                </a:lnTo>
                <a:lnTo>
                  <a:pt x="815462" y="23690"/>
                </a:lnTo>
                <a:lnTo>
                  <a:pt x="839287" y="61689"/>
                </a:lnTo>
                <a:lnTo>
                  <a:pt x="847115" y="116687"/>
                </a:lnTo>
                <a:lnTo>
                  <a:pt x="846241" y="137478"/>
                </a:lnTo>
                <a:lnTo>
                  <a:pt x="833132" y="188391"/>
                </a:lnTo>
                <a:lnTo>
                  <a:pt x="803880" y="220226"/>
                </a:lnTo>
                <a:lnTo>
                  <a:pt x="790447" y="226174"/>
                </a:lnTo>
                <a:lnTo>
                  <a:pt x="793432" y="235737"/>
                </a:lnTo>
                <a:lnTo>
                  <a:pt x="838475" y="208984"/>
                </a:lnTo>
                <a:lnTo>
                  <a:pt x="863769" y="159580"/>
                </a:lnTo>
                <a:lnTo>
                  <a:pt x="868616" y="117932"/>
                </a:lnTo>
                <a:lnTo>
                  <a:pt x="867401" y="96320"/>
                </a:lnTo>
                <a:lnTo>
                  <a:pt x="857681" y="58015"/>
                </a:lnTo>
                <a:lnTo>
                  <a:pt x="825512" y="15114"/>
                </a:lnTo>
                <a:lnTo>
                  <a:pt x="810525" y="6169"/>
                </a:lnTo>
                <a:lnTo>
                  <a:pt x="793432" y="0"/>
                </a:lnTo>
                <a:close/>
              </a:path>
              <a:path w="868680" h="236220">
                <a:moveTo>
                  <a:pt x="75183" y="0"/>
                </a:moveTo>
                <a:lnTo>
                  <a:pt x="30231" y="26833"/>
                </a:lnTo>
                <a:lnTo>
                  <a:pt x="4865" y="76347"/>
                </a:lnTo>
                <a:lnTo>
                  <a:pt x="0" y="117932"/>
                </a:lnTo>
                <a:lnTo>
                  <a:pt x="1212" y="139592"/>
                </a:lnTo>
                <a:lnTo>
                  <a:pt x="10908" y="177898"/>
                </a:lnTo>
                <a:lnTo>
                  <a:pt x="43030" y="220659"/>
                </a:lnTo>
                <a:lnTo>
                  <a:pt x="75183" y="235737"/>
                </a:lnTo>
                <a:lnTo>
                  <a:pt x="78168" y="226174"/>
                </a:lnTo>
                <a:lnTo>
                  <a:pt x="64735" y="220226"/>
                </a:lnTo>
                <a:lnTo>
                  <a:pt x="53144" y="211945"/>
                </a:lnTo>
                <a:lnTo>
                  <a:pt x="29366" y="173330"/>
                </a:lnTo>
                <a:lnTo>
                  <a:pt x="21501" y="116687"/>
                </a:lnTo>
                <a:lnTo>
                  <a:pt x="22375" y="96575"/>
                </a:lnTo>
                <a:lnTo>
                  <a:pt x="35483" y="46913"/>
                </a:lnTo>
                <a:lnTo>
                  <a:pt x="64949" y="15490"/>
                </a:lnTo>
                <a:lnTo>
                  <a:pt x="78549" y="9563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538907" y="4341642"/>
            <a:ext cx="52324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8305" algn="l"/>
              </a:tabLst>
            </a:pPr>
            <a:r>
              <a:rPr sz="1300" spc="30" dirty="0">
                <a:latin typeface="Cambria Math"/>
                <a:cs typeface="Cambria Math"/>
              </a:rPr>
              <a:t>𝟎	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473043" y="4390486"/>
            <a:ext cx="23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0" dirty="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485819" y="4380255"/>
            <a:ext cx="213360" cy="17145"/>
          </a:xfrm>
          <a:custGeom>
            <a:avLst/>
            <a:gdLst/>
            <a:ahLst/>
            <a:cxnLst/>
            <a:rect l="l" t="t" r="r" b="b"/>
            <a:pathLst>
              <a:path w="213360" h="17145">
                <a:moveTo>
                  <a:pt x="213360" y="0"/>
                </a:moveTo>
                <a:lnTo>
                  <a:pt x="0" y="0"/>
                </a:lnTo>
                <a:lnTo>
                  <a:pt x="0" y="16763"/>
                </a:lnTo>
                <a:lnTo>
                  <a:pt x="213360" y="16763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2880" y="4229253"/>
            <a:ext cx="190792" cy="172224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805351" y="3884442"/>
            <a:ext cx="19812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65" dirty="0">
                <a:latin typeface="Cambria Math"/>
                <a:cs typeface="Cambria Math"/>
              </a:rPr>
              <a:t>𝑚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33769" y="4587064"/>
            <a:ext cx="3409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5" dirty="0">
                <a:latin typeface="Cambria Math"/>
                <a:cs typeface="Cambria Math"/>
              </a:rPr>
              <a:t>𝒊</a:t>
            </a:r>
            <a:r>
              <a:rPr sz="1450" spc="-20" dirty="0">
                <a:latin typeface="Cambria Math"/>
                <a:cs typeface="Cambria Math"/>
              </a:rPr>
              <a:t>=</a:t>
            </a:r>
            <a:r>
              <a:rPr sz="1450" spc="10" dirty="0">
                <a:latin typeface="Cambria Math"/>
                <a:cs typeface="Cambria Math"/>
              </a:rPr>
              <a:t>𝟏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11171" y="4193814"/>
            <a:ext cx="4112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11885" algn="l"/>
              </a:tabLst>
            </a:pPr>
            <a:r>
              <a:rPr sz="2000" dirty="0">
                <a:latin typeface="Cambria Math"/>
                <a:cs typeface="Cambria Math"/>
              </a:rPr>
              <a:t>𝐉</a:t>
            </a:r>
            <a:r>
              <a:rPr sz="2000" spc="3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𝐰</a:t>
            </a:r>
            <a:r>
              <a:rPr sz="2000" spc="3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𝒘	=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700" baseline="46296" dirty="0">
                <a:latin typeface="Cambria Math"/>
                <a:cs typeface="Cambria Math"/>
              </a:rPr>
              <a:t>𝟏</a:t>
            </a:r>
            <a:r>
              <a:rPr sz="2700" spc="592" baseline="46296" dirty="0">
                <a:latin typeface="Cambria Math"/>
                <a:cs typeface="Cambria Math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�(𝒉(𝒙</a:t>
            </a:r>
            <a:r>
              <a:rPr sz="2175" spc="345" baseline="28735" dirty="0">
                <a:latin typeface="Cambria Math"/>
                <a:cs typeface="Cambria Math"/>
              </a:rPr>
              <a:t>(𝒊)</a:t>
            </a:r>
            <a:r>
              <a:rPr sz="2000" spc="229" dirty="0">
                <a:latin typeface="Cambria Math"/>
                <a:cs typeface="Cambria Math"/>
              </a:rPr>
              <a:t>) </a:t>
            </a:r>
            <a:r>
              <a:rPr sz="2000" dirty="0">
                <a:latin typeface="Cambria Math"/>
                <a:cs typeface="Cambria Math"/>
              </a:rPr>
              <a:t>− 𝒚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175" spc="7" baseline="28735" dirty="0">
                <a:latin typeface="Cambria Math"/>
                <a:cs typeface="Cambria Math"/>
              </a:rPr>
              <a:t>𝒊  </a:t>
            </a:r>
            <a:r>
              <a:rPr sz="2000" dirty="0">
                <a:latin typeface="Cambria Math"/>
                <a:cs typeface="Cambria Math"/>
              </a:rPr>
              <a:t>) 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spc="-185" dirty="0">
                <a:latin typeface="Cambria Math"/>
                <a:cs typeface="Cambria Math"/>
              </a:rPr>
              <a:t>𝒙</a:t>
            </a:r>
            <a:r>
              <a:rPr sz="2175" spc="-277" baseline="28735" dirty="0">
                <a:latin typeface="Cambria Math"/>
                <a:cs typeface="Cambria Math"/>
              </a:rPr>
              <a:t>(𝒊)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88358" y="5829334"/>
            <a:ext cx="74676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631825" algn="l"/>
              </a:tabLst>
            </a:pPr>
            <a:r>
              <a:rPr sz="1300" spc="30" dirty="0">
                <a:latin typeface="Cambria Math"/>
                <a:cs typeface="Cambria Math"/>
              </a:rPr>
              <a:t>𝟏	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52326" y="5852281"/>
            <a:ext cx="248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215" dirty="0">
                <a:latin typeface="Cambria Math"/>
                <a:cs typeface="Cambria Math"/>
              </a:rPr>
              <a:t>𝑚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652332" y="5716945"/>
            <a:ext cx="2183765" cy="172720"/>
            <a:chOff x="8652332" y="5716945"/>
            <a:chExt cx="2183765" cy="172720"/>
          </a:xfrm>
        </p:grpSpPr>
        <p:sp>
          <p:nvSpPr>
            <p:cNvPr id="57" name="object 57"/>
            <p:cNvSpPr/>
            <p:nvPr/>
          </p:nvSpPr>
          <p:spPr>
            <a:xfrm>
              <a:off x="8652332" y="5867946"/>
              <a:ext cx="234950" cy="17145"/>
            </a:xfrm>
            <a:custGeom>
              <a:avLst/>
              <a:gdLst/>
              <a:ahLst/>
              <a:cxnLst/>
              <a:rect l="l" t="t" r="r" b="b"/>
              <a:pathLst>
                <a:path w="234950" h="17145">
                  <a:moveTo>
                    <a:pt x="234696" y="0"/>
                  </a:moveTo>
                  <a:lnTo>
                    <a:pt x="0" y="0"/>
                  </a:lnTo>
                  <a:lnTo>
                    <a:pt x="0" y="16763"/>
                  </a:lnTo>
                  <a:lnTo>
                    <a:pt x="234696" y="16763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45306" y="5716945"/>
              <a:ext cx="190792" cy="17222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9012001" y="5372134"/>
            <a:ext cx="18542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450" spc="165" dirty="0">
                <a:latin typeface="Cambria Math"/>
                <a:cs typeface="Cambria Math"/>
              </a:rPr>
              <a:t>𝑚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940418" y="6074756"/>
            <a:ext cx="32829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Cambria Math"/>
                <a:cs typeface="Cambria Math"/>
              </a:rPr>
              <a:t>𝒊</a:t>
            </a:r>
            <a:r>
              <a:rPr sz="1450" spc="-20" dirty="0">
                <a:latin typeface="Cambria Math"/>
                <a:cs typeface="Cambria Math"/>
              </a:rPr>
              <a:t>=</a:t>
            </a:r>
            <a:r>
              <a:rPr sz="1450" spc="10" dirty="0">
                <a:latin typeface="Cambria Math"/>
                <a:cs typeface="Cambria Math"/>
              </a:rPr>
              <a:t>𝟏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61789" y="5681506"/>
            <a:ext cx="4354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96875" algn="l"/>
                <a:tab pos="1071880" algn="l"/>
              </a:tabLst>
            </a:pPr>
            <a:r>
              <a:rPr sz="2000" dirty="0">
                <a:latin typeface="Cambria Math"/>
                <a:cs typeface="Cambria Math"/>
              </a:rPr>
              <a:t>𝒘	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𝒘	−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000" spc="165" dirty="0">
                <a:latin typeface="Cambria Math"/>
                <a:cs typeface="Cambria Math"/>
              </a:rPr>
              <a:t>𝛼 </a:t>
            </a:r>
            <a:r>
              <a:rPr sz="3000" baseline="41666" dirty="0">
                <a:latin typeface="Cambria Math"/>
                <a:cs typeface="Cambria Math"/>
              </a:rPr>
              <a:t>𝟏</a:t>
            </a:r>
            <a:r>
              <a:rPr sz="3000" spc="660" baseline="41666" dirty="0">
                <a:latin typeface="Cambria Math"/>
                <a:cs typeface="Cambria Math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�(𝒉(𝒙</a:t>
            </a:r>
            <a:r>
              <a:rPr sz="2175" spc="345" baseline="28735" dirty="0">
                <a:latin typeface="Cambria Math"/>
                <a:cs typeface="Cambria Math"/>
              </a:rPr>
              <a:t>(𝒊)</a:t>
            </a:r>
            <a:r>
              <a:rPr sz="2000" spc="229" dirty="0">
                <a:latin typeface="Cambria Math"/>
                <a:cs typeface="Cambria Math"/>
              </a:rPr>
              <a:t>) </a:t>
            </a:r>
            <a:r>
              <a:rPr sz="2000" dirty="0">
                <a:latin typeface="Cambria Math"/>
                <a:cs typeface="Cambria Math"/>
              </a:rPr>
              <a:t>− 𝒚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175" spc="7" baseline="28735" dirty="0">
                <a:latin typeface="Cambria Math"/>
                <a:cs typeface="Cambria Math"/>
              </a:rPr>
              <a:t>𝒊  </a:t>
            </a:r>
            <a:r>
              <a:rPr sz="2000" dirty="0">
                <a:latin typeface="Cambria Math"/>
                <a:cs typeface="Cambria Math"/>
              </a:rPr>
              <a:t>) 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spc="-180" dirty="0">
                <a:latin typeface="Cambria Math"/>
                <a:cs typeface="Cambria Math"/>
              </a:rPr>
              <a:t>𝒙</a:t>
            </a:r>
            <a:r>
              <a:rPr sz="2175" spc="-270" baseline="28735" dirty="0">
                <a:latin typeface="Cambria Math"/>
                <a:cs typeface="Cambria Math"/>
              </a:rPr>
              <a:t>(𝒊)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60903" y="3648020"/>
            <a:ext cx="3167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6445" marR="5080" indent="-7543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Формулы </a:t>
            </a:r>
            <a:r>
              <a:rPr sz="2400" spc="-5" dirty="0">
                <a:latin typeface="Calibri"/>
                <a:cs typeface="Calibri"/>
              </a:rPr>
              <a:t>для пересчета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параметров: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9864" y="4929233"/>
            <a:ext cx="74676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631825" algn="l"/>
              </a:tabLst>
            </a:pPr>
            <a:r>
              <a:rPr sz="1300" spc="30" dirty="0">
                <a:latin typeface="Cambria Math"/>
                <a:cs typeface="Cambria Math"/>
              </a:rPr>
              <a:t>𝟎	𝟎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853833" y="4952179"/>
            <a:ext cx="248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215" dirty="0">
                <a:latin typeface="Cambria Math"/>
                <a:cs typeface="Cambria Math"/>
              </a:rPr>
              <a:t>𝑚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853843" y="4816844"/>
            <a:ext cx="2183765" cy="172720"/>
            <a:chOff x="8853843" y="4816844"/>
            <a:chExt cx="2183765" cy="172720"/>
          </a:xfrm>
        </p:grpSpPr>
        <p:sp>
          <p:nvSpPr>
            <p:cNvPr id="66" name="object 66"/>
            <p:cNvSpPr/>
            <p:nvPr/>
          </p:nvSpPr>
          <p:spPr>
            <a:xfrm>
              <a:off x="8853843" y="4967846"/>
              <a:ext cx="234950" cy="17145"/>
            </a:xfrm>
            <a:custGeom>
              <a:avLst/>
              <a:gdLst/>
              <a:ahLst/>
              <a:cxnLst/>
              <a:rect l="l" t="t" r="r" b="b"/>
              <a:pathLst>
                <a:path w="234950" h="17145">
                  <a:moveTo>
                    <a:pt x="23469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234696" y="1676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6812" y="4816844"/>
              <a:ext cx="190792" cy="172224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7263296" y="4781405"/>
            <a:ext cx="3945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96875" algn="l"/>
                <a:tab pos="1071880" algn="l"/>
              </a:tabLst>
            </a:pPr>
            <a:r>
              <a:rPr sz="2000" dirty="0">
                <a:latin typeface="Cambria Math"/>
                <a:cs typeface="Cambria Math"/>
              </a:rPr>
              <a:t>𝒘	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𝒘	−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000" spc="165" dirty="0">
                <a:latin typeface="Cambria Math"/>
                <a:cs typeface="Cambria Math"/>
              </a:rPr>
              <a:t>𝛼</a:t>
            </a:r>
            <a:r>
              <a:rPr sz="2000" spc="195" dirty="0">
                <a:latin typeface="Cambria Math"/>
                <a:cs typeface="Cambria Math"/>
              </a:rPr>
              <a:t> </a:t>
            </a:r>
            <a:r>
              <a:rPr sz="3000" baseline="41666" dirty="0">
                <a:latin typeface="Cambria Math"/>
                <a:cs typeface="Cambria Math"/>
              </a:rPr>
              <a:t>𝟏</a:t>
            </a:r>
            <a:r>
              <a:rPr sz="3000" spc="307" baseline="41666" dirty="0">
                <a:latin typeface="Cambria Math"/>
                <a:cs typeface="Cambria Math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�(𝒉(𝒙</a:t>
            </a:r>
            <a:r>
              <a:rPr sz="2175" spc="345" baseline="28735" dirty="0">
                <a:latin typeface="Cambria Math"/>
                <a:cs typeface="Cambria Math"/>
              </a:rPr>
              <a:t>(𝒊)</a:t>
            </a:r>
            <a:r>
              <a:rPr sz="2000" spc="229" dirty="0">
                <a:latin typeface="Cambria Math"/>
                <a:cs typeface="Cambria Math"/>
              </a:rPr>
              <a:t>)</a:t>
            </a:r>
            <a:r>
              <a:rPr sz="2000" spc="4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 𝒚</a:t>
            </a:r>
            <a:r>
              <a:rPr sz="2000" spc="165" dirty="0">
                <a:latin typeface="Cambria Math"/>
                <a:cs typeface="Cambria Math"/>
              </a:rPr>
              <a:t> </a:t>
            </a:r>
            <a:r>
              <a:rPr sz="2175" spc="7" baseline="28735" dirty="0">
                <a:latin typeface="Cambria Math"/>
                <a:cs typeface="Cambria Math"/>
              </a:rPr>
              <a:t>𝒊</a:t>
            </a:r>
            <a:r>
              <a:rPr sz="2175" spc="-472" baseline="28735" dirty="0">
                <a:latin typeface="Cambria Math"/>
                <a:cs typeface="Cambria Math"/>
              </a:rPr>
              <a:t> </a:t>
            </a:r>
            <a:r>
              <a:rPr sz="2000" spc="-36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45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213508" y="4472033"/>
            <a:ext cx="18542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50" spc="165" dirty="0">
                <a:latin typeface="Cambria Math"/>
                <a:cs typeface="Cambria Math"/>
              </a:rPr>
              <a:t>𝑚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141925" y="5174655"/>
            <a:ext cx="3282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50" spc="5" dirty="0">
                <a:latin typeface="Cambria Math"/>
                <a:cs typeface="Cambria Math"/>
              </a:rPr>
              <a:t>𝒊</a:t>
            </a:r>
            <a:r>
              <a:rPr sz="1450" spc="-20" dirty="0">
                <a:latin typeface="Cambria Math"/>
                <a:cs typeface="Cambria Math"/>
              </a:rPr>
              <a:t>=</a:t>
            </a:r>
            <a:r>
              <a:rPr sz="1450" spc="10" dirty="0">
                <a:latin typeface="Cambria Math"/>
                <a:cs typeface="Cambria Math"/>
              </a:rPr>
              <a:t>𝟏</a:t>
            </a:r>
            <a:endParaRPr sz="14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32140"/>
            <a:ext cx="10050145" cy="414274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МАШИННОЕ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ОБУЧЕНИЕ</a:t>
            </a:r>
            <a:r>
              <a:rPr sz="2400" b="1" spc="-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66"/>
                </a:solidFill>
                <a:latin typeface="Arial"/>
                <a:cs typeface="Arial"/>
              </a:rPr>
              <a:t>С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ПОДКРЕПЛЕНИЕМ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6666"/>
              </a:buClr>
              <a:buSzPct val="150000"/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действует</a:t>
            </a:r>
            <a:r>
              <a:rPr sz="24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2400" spc="-30" dirty="0">
                <a:solidFill>
                  <a:srgbClr val="3E3E3E"/>
                </a:solidFill>
                <a:latin typeface="Times New Roman"/>
                <a:cs typeface="Times New Roman"/>
              </a:rPr>
              <a:t>некой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 среде.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006666"/>
              </a:buClr>
              <a:buSzPct val="150000"/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 помощью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Times New Roman"/>
                <a:cs typeface="Times New Roman"/>
              </a:rPr>
              <a:t>датчиков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определяет</a:t>
            </a:r>
            <a:r>
              <a:rPr sz="24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состояние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,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в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Times New Roman"/>
                <a:cs typeface="Times New Roman"/>
              </a:rPr>
              <a:t>котором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Times New Roman"/>
                <a:cs typeface="Times New Roman"/>
              </a:rPr>
              <a:t>находится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85"/>
              </a:spcBef>
              <a:buClr>
                <a:srgbClr val="006666"/>
              </a:buClr>
              <a:buSzPct val="150000"/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совершает</a:t>
            </a:r>
            <a:r>
              <a:rPr sz="2400" spc="-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E3E3E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006666"/>
              </a:buClr>
              <a:buSzPct val="150000"/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Times New Roman"/>
                <a:cs typeface="Times New Roman"/>
              </a:rPr>
              <a:t>переходит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в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новое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состояние </a:t>
            </a:r>
            <a:r>
              <a:rPr sz="24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s’.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0000"/>
              </a:lnSpc>
              <a:spcBef>
                <a:spcPts val="1000"/>
              </a:spcBef>
              <a:buClr>
                <a:srgbClr val="006666"/>
              </a:buClr>
              <a:buSzPct val="150000"/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Times New Roman"/>
                <a:cs typeface="Times New Roman"/>
              </a:rPr>
              <a:t>оценивает,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3E3E3E"/>
                </a:solidFill>
                <a:latin typeface="Times New Roman"/>
                <a:cs typeface="Times New Roman"/>
              </a:rPr>
              <a:t>сколько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данное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было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полезным</a:t>
            </a:r>
            <a:r>
              <a:rPr sz="2400" spc="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при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помощи </a:t>
            </a:r>
            <a:r>
              <a:rPr sz="2400" spc="-5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награды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r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6971" y="3475055"/>
            <a:ext cx="3694106" cy="30655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6725" y="6461823"/>
            <a:ext cx="25272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sz="2700" b="1" spc="-1335" baseline="-6172" dirty="0">
                <a:latin typeface="Times New Roman"/>
                <a:cs typeface="Times New Roman"/>
              </a:rPr>
              <a:t>4</a:t>
            </a: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</a:t>
            </a:r>
            <a:r>
              <a:rPr sz="2700" b="1" spc="-1357" baseline="-6172" dirty="0">
                <a:latin typeface="Times New Roman"/>
                <a:cs typeface="Times New Roman"/>
              </a:rPr>
              <a:t>7</a:t>
            </a: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40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/>
              <a:t>РАЗВЁРНУТАЯ</a:t>
            </a:r>
            <a:r>
              <a:rPr sz="2400" spc="30" dirty="0"/>
              <a:t> </a:t>
            </a:r>
            <a:r>
              <a:rPr sz="2400" spc="-25" dirty="0"/>
              <a:t>СХЕМА</a:t>
            </a:r>
            <a:r>
              <a:rPr sz="2400" dirty="0"/>
              <a:t> </a:t>
            </a:r>
            <a:r>
              <a:rPr sz="2400" spc="-10" dirty="0"/>
              <a:t>ОБУЧЕНИЯ </a:t>
            </a:r>
            <a:r>
              <a:rPr sz="2400" dirty="0"/>
              <a:t>С</a:t>
            </a:r>
            <a:r>
              <a:rPr sz="2400" spc="-10" dirty="0"/>
              <a:t> ПОДКРЕПЛЕНИЕМ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942" y="871791"/>
            <a:ext cx="6466109" cy="55423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47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11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НАГЛЯДНАЯ</a:t>
            </a:r>
            <a:r>
              <a:rPr sz="2400" spc="-30" dirty="0"/>
              <a:t> </a:t>
            </a:r>
            <a:r>
              <a:rPr sz="2400" spc="-25" dirty="0"/>
              <a:t>СХЕМА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084" y="880290"/>
            <a:ext cx="8175170" cy="5437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48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968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/>
              <a:t>О</a:t>
            </a:r>
            <a:r>
              <a:rPr sz="2400" dirty="0"/>
              <a:t>ПЫТ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49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997317"/>
            <a:ext cx="10908665" cy="41554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8255" algn="just">
              <a:lnSpc>
                <a:spcPts val="3240"/>
              </a:lnSpc>
              <a:spcBef>
                <a:spcPts val="505"/>
              </a:spcBef>
            </a:pP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За </a:t>
            </a:r>
            <a:r>
              <a:rPr sz="3000" spc="-15" dirty="0">
                <a:solidFill>
                  <a:srgbClr val="3E3E3E"/>
                </a:solidFill>
                <a:latin typeface="Times New Roman"/>
                <a:cs typeface="Times New Roman"/>
              </a:rPr>
              <a:t>счёт 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совершения различных действий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3000" spc="-15" dirty="0">
                <a:solidFill>
                  <a:srgbClr val="3E3E3E"/>
                </a:solidFill>
                <a:latin typeface="Times New Roman"/>
                <a:cs typeface="Times New Roman"/>
              </a:rPr>
              <a:t>среде </a:t>
            </a:r>
            <a:r>
              <a:rPr sz="30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набирается </a:t>
            </a:r>
            <a:r>
              <a:rPr sz="3000" spc="5" dirty="0">
                <a:solidFill>
                  <a:srgbClr val="3E3E3E"/>
                </a:solidFill>
                <a:latin typeface="Times New Roman"/>
                <a:cs typeface="Times New Roman"/>
              </a:rPr>
              <a:t> опыта.</a:t>
            </a:r>
            <a:endParaRPr sz="3000">
              <a:latin typeface="Times New Roman"/>
              <a:cs typeface="Times New Roman"/>
            </a:endParaRPr>
          </a:p>
          <a:p>
            <a:pPr marL="12700" marR="5715" algn="just">
              <a:lnSpc>
                <a:spcPts val="3240"/>
              </a:lnSpc>
              <a:spcBef>
                <a:spcPts val="1010"/>
              </a:spcBef>
            </a:pP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Опыт 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– в </a:t>
            </a:r>
            <a:r>
              <a:rPr sz="3000" b="1" spc="-30" dirty="0">
                <a:solidFill>
                  <a:srgbClr val="3E3E3E"/>
                </a:solidFill>
                <a:latin typeface="Times New Roman"/>
                <a:cs typeface="Times New Roman"/>
              </a:rPr>
              <a:t>каком </a:t>
            </a:r>
            <a:r>
              <a:rPr sz="30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состоянии 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было 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совершено </a:t>
            </a:r>
            <a:r>
              <a:rPr sz="3000" b="1" spc="-25" dirty="0">
                <a:solidFill>
                  <a:srgbClr val="3E3E3E"/>
                </a:solidFill>
                <a:latin typeface="Times New Roman"/>
                <a:cs typeface="Times New Roman"/>
              </a:rPr>
              <a:t>какое 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действие, 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3E3E3E"/>
                </a:solidFill>
                <a:latin typeface="Times New Roman"/>
                <a:cs typeface="Times New Roman"/>
              </a:rPr>
              <a:t>какая 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награда 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была 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за </a:t>
            </a:r>
            <a:r>
              <a:rPr sz="30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это 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получена 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и в </a:t>
            </a:r>
            <a:r>
              <a:rPr sz="3000" b="1" spc="-25" dirty="0">
                <a:solidFill>
                  <a:srgbClr val="3E3E3E"/>
                </a:solidFill>
                <a:latin typeface="Times New Roman"/>
                <a:cs typeface="Times New Roman"/>
              </a:rPr>
              <a:t>какое новое </a:t>
            </a:r>
            <a:r>
              <a:rPr sz="30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состояние 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3000" b="1" spc="-35" dirty="0">
                <a:solidFill>
                  <a:srgbClr val="3E3E3E"/>
                </a:solidFill>
                <a:latin typeface="Times New Roman"/>
                <a:cs typeface="Times New Roman"/>
              </a:rPr>
              <a:t>результате</a:t>
            </a:r>
            <a:r>
              <a:rPr sz="30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попал.</a:t>
            </a:r>
            <a:endParaRPr sz="3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85"/>
              </a:spcBef>
            </a:pP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&lt;</a:t>
            </a:r>
            <a:r>
              <a:rPr sz="3000" b="1" i="1" spc="-10" dirty="0">
                <a:solidFill>
                  <a:srgbClr val="3E3E3E"/>
                </a:solidFill>
                <a:latin typeface="Times New Roman"/>
                <a:cs typeface="Times New Roman"/>
              </a:rPr>
              <a:t>s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, </a:t>
            </a:r>
            <a:r>
              <a:rPr sz="3000" b="1" i="1" dirty="0">
                <a:solidFill>
                  <a:srgbClr val="3E3E3E"/>
                </a:solidFill>
                <a:latin typeface="Times New Roman"/>
                <a:cs typeface="Times New Roman"/>
              </a:rPr>
              <a:t>a</a:t>
            </a:r>
            <a:r>
              <a:rPr sz="3000" b="1" dirty="0">
                <a:solidFill>
                  <a:srgbClr val="3E3E3E"/>
                </a:solidFill>
                <a:latin typeface="Times New Roman"/>
                <a:cs typeface="Times New Roman"/>
              </a:rPr>
              <a:t>,</a:t>
            </a:r>
            <a:r>
              <a:rPr sz="30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r</a:t>
            </a:r>
            <a:r>
              <a:rPr sz="30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,</a:t>
            </a:r>
            <a:r>
              <a:rPr sz="3000" b="1" spc="-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b="1" i="1" spc="-10" dirty="0">
                <a:solidFill>
                  <a:srgbClr val="3E3E3E"/>
                </a:solidFill>
                <a:latin typeface="Times New Roman"/>
                <a:cs typeface="Times New Roman"/>
              </a:rPr>
              <a:t>s</a:t>
            </a:r>
            <a:r>
              <a:rPr sz="30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’&gt;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ts val="3240"/>
              </a:lnSpc>
              <a:spcBef>
                <a:spcPts val="1045"/>
              </a:spcBef>
            </a:pP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Опыт</a:t>
            </a:r>
            <a:r>
              <a:rPr sz="3000" spc="69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15" dirty="0">
                <a:solidFill>
                  <a:srgbClr val="3E3E3E"/>
                </a:solidFill>
                <a:latin typeface="Times New Roman"/>
                <a:cs typeface="Times New Roman"/>
              </a:rPr>
              <a:t>должен</a:t>
            </a:r>
            <a:r>
              <a:rPr sz="3000" spc="70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E3E3E"/>
                </a:solidFill>
                <a:latin typeface="Times New Roman"/>
                <a:cs typeface="Times New Roman"/>
              </a:rPr>
              <a:t>быть</a:t>
            </a:r>
            <a:r>
              <a:rPr sz="3000" spc="69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E3E3E"/>
                </a:solidFill>
                <a:latin typeface="Times New Roman"/>
                <a:cs typeface="Times New Roman"/>
              </a:rPr>
              <a:t>максимально</a:t>
            </a:r>
            <a:r>
              <a:rPr sz="3000" spc="6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разнообразным:</a:t>
            </a:r>
            <a:r>
              <a:rPr sz="3000" spc="7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15" dirty="0">
                <a:solidFill>
                  <a:srgbClr val="3E3E3E"/>
                </a:solidFill>
                <a:latin typeface="Times New Roman"/>
                <a:cs typeface="Times New Roman"/>
              </a:rPr>
              <a:t>желательно </a:t>
            </a:r>
            <a:r>
              <a:rPr sz="3000" spc="-74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E3E3E"/>
                </a:solidFill>
                <a:latin typeface="Times New Roman"/>
                <a:cs typeface="Times New Roman"/>
              </a:rPr>
              <a:t>побывать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3000" spc="-10" dirty="0">
                <a:solidFill>
                  <a:srgbClr val="3E3E3E"/>
                </a:solidFill>
                <a:latin typeface="Times New Roman"/>
                <a:cs typeface="Times New Roman"/>
              </a:rPr>
              <a:t>наибольшем 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числе состояний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и </a:t>
            </a:r>
            <a:r>
              <a:rPr sz="30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попробовать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3000" spc="-30" dirty="0">
                <a:solidFill>
                  <a:srgbClr val="3E3E3E"/>
                </a:solidFill>
                <a:latin typeface="Times New Roman"/>
                <a:cs typeface="Times New Roman"/>
              </a:rPr>
              <a:t>каждом </a:t>
            </a:r>
            <a:r>
              <a:rPr sz="30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из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E3E3E"/>
                </a:solidFill>
                <a:latin typeface="Times New Roman"/>
                <a:cs typeface="Times New Roman"/>
              </a:rPr>
              <a:t>них</a:t>
            </a:r>
            <a:r>
              <a:rPr sz="3000" spc="-20" dirty="0">
                <a:solidFill>
                  <a:srgbClr val="3E3E3E"/>
                </a:solidFill>
                <a:latin typeface="Times New Roman"/>
                <a:cs typeface="Times New Roman"/>
              </a:rPr>
              <a:t> как</a:t>
            </a:r>
            <a:r>
              <a:rPr sz="30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E3E3E"/>
                </a:solidFill>
                <a:latin typeface="Times New Roman"/>
                <a:cs typeface="Times New Roman"/>
              </a:rPr>
              <a:t>можно</a:t>
            </a:r>
            <a:r>
              <a:rPr sz="3000" spc="-10" dirty="0">
                <a:solidFill>
                  <a:srgbClr val="3E3E3E"/>
                </a:solidFill>
                <a:latin typeface="Times New Roman"/>
                <a:cs typeface="Times New Roman"/>
              </a:rPr>
              <a:t> больше 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различных</a:t>
            </a:r>
            <a:r>
              <a:rPr sz="30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действий.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1480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НАГ</a:t>
            </a:r>
            <a:r>
              <a:rPr sz="2400" spc="-225" dirty="0"/>
              <a:t>Р</a:t>
            </a:r>
            <a:r>
              <a:rPr sz="2400" spc="75" dirty="0"/>
              <a:t>А</a:t>
            </a:r>
            <a:r>
              <a:rPr sz="2400" spc="5" dirty="0"/>
              <a:t>Д</a:t>
            </a:r>
            <a:r>
              <a:rPr sz="2400" dirty="0"/>
              <a:t>А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67400" y="1009522"/>
            <a:ext cx="109054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4758055" algn="l"/>
                <a:tab pos="8371205" algn="l"/>
              </a:tabLst>
            </a:pP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400" spc="39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оценивает</a:t>
            </a:r>
            <a:r>
              <a:rPr sz="2400" spc="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ситуацию</a:t>
            </a:r>
            <a:r>
              <a:rPr sz="2400" spc="39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–</a:t>
            </a:r>
            <a:r>
              <a:rPr sz="2400" spc="40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пару	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«состояние-действие»</a:t>
            </a:r>
            <a:r>
              <a:rPr sz="2400" spc="4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при	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помощи</a:t>
            </a:r>
            <a:r>
              <a:rPr sz="2400" spc="3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скалярной </a:t>
            </a:r>
            <a:r>
              <a:rPr sz="2400" spc="-5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награды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 (действительного</a:t>
            </a:r>
            <a:r>
              <a:rPr sz="24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числа).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400" y="4531486"/>
            <a:ext cx="309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1605" algn="l"/>
              </a:tabLst>
            </a:pP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Награда	</a:t>
            </a:r>
            <a:r>
              <a:rPr sz="2400" b="1" spc="-25" dirty="0">
                <a:solidFill>
                  <a:srgbClr val="3E3E3E"/>
                </a:solidFill>
                <a:latin typeface="Times New Roman"/>
                <a:cs typeface="Times New Roman"/>
              </a:rPr>
              <a:t>показывает,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9052" y="4531486"/>
            <a:ext cx="759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7989" algn="l"/>
                <a:tab pos="3021965" algn="l"/>
                <a:tab pos="3980815" algn="l"/>
                <a:tab pos="5718175" algn="l"/>
              </a:tabLst>
            </a:pPr>
            <a:r>
              <a:rPr sz="24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насколько	</a:t>
            </a:r>
            <a:r>
              <a:rPr sz="24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полезно	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было	</a:t>
            </a:r>
            <a:r>
              <a:rPr sz="24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совершить	определённое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00" y="4772279"/>
            <a:ext cx="10906125" cy="126619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</a:t>
            </a:r>
            <a:r>
              <a:rPr sz="24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4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 данном</a:t>
            </a:r>
            <a:r>
              <a:rPr sz="2400" b="1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состоянии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1035"/>
              </a:spcBef>
              <a:tabLst>
                <a:tab pos="1343025" algn="l"/>
                <a:tab pos="3107690" algn="l"/>
                <a:tab pos="5116195" algn="l"/>
                <a:tab pos="6282055" algn="l"/>
                <a:tab pos="8564880" algn="l"/>
                <a:tab pos="9970135" algn="l"/>
              </a:tabLst>
            </a:pP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д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ни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е	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2400" b="1" spc="-40" dirty="0">
                <a:solidFill>
                  <a:srgbClr val="3E3E3E"/>
                </a:solidFill>
                <a:latin typeface="Times New Roman"/>
                <a:cs typeface="Times New Roman"/>
              </a:rPr>
              <a:t>ж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2400" b="1" spc="-4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м	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пр</a:t>
            </a:r>
            <a:r>
              <a:rPr sz="2400" b="1" spc="10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2400" b="1" spc="10" dirty="0">
                <a:solidFill>
                  <a:srgbClr val="3E3E3E"/>
                </a:solidFill>
                <a:latin typeface="Times New Roman"/>
                <a:cs typeface="Times New Roman"/>
              </a:rPr>
              <a:t>ь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но</a:t>
            </a:r>
            <a:r>
              <a:rPr sz="2400" b="1" spc="-60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о	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2400" b="1" spc="-4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2400" b="1" spc="-6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д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а	</a:t>
            </a:r>
            <a:r>
              <a:rPr sz="2400" b="1" spc="-30" dirty="0">
                <a:solidFill>
                  <a:srgbClr val="3E3E3E"/>
                </a:solidFill>
                <a:latin typeface="Times New Roman"/>
                <a:cs typeface="Times New Roman"/>
              </a:rPr>
              <a:t>ф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2400" b="1" spc="-30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2400" b="1" spc="-6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я	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аг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рад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ы	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400" b="1" spc="10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ра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ет  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определяющую</a:t>
            </a:r>
            <a:r>
              <a:rPr sz="24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роль</a:t>
            </a:r>
            <a:r>
              <a:rPr sz="2400" b="1" spc="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4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3E3E3E"/>
                </a:solidFill>
                <a:latin typeface="Times New Roman"/>
                <a:cs typeface="Times New Roman"/>
              </a:rPr>
              <a:t>успехе</a:t>
            </a:r>
            <a:r>
              <a:rPr sz="24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обучения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0249" y="2556381"/>
            <a:ext cx="3671011" cy="1245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50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180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/>
              <a:t>С</a:t>
            </a:r>
            <a:r>
              <a:rPr sz="2400" spc="-5" dirty="0"/>
              <a:t>Т</a:t>
            </a:r>
            <a:r>
              <a:rPr sz="2400" spc="-225" dirty="0"/>
              <a:t>Р</a:t>
            </a:r>
            <a:r>
              <a:rPr sz="2400" spc="-130" dirty="0"/>
              <a:t>А</a:t>
            </a:r>
            <a:r>
              <a:rPr sz="2400" spc="-5" dirty="0"/>
              <a:t>ТЕГ</a:t>
            </a:r>
            <a:r>
              <a:rPr sz="2400" dirty="0"/>
              <a:t>ИЯ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1185" y="4298550"/>
            <a:ext cx="3814985" cy="11384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7431" y="3139274"/>
            <a:ext cx="4242489" cy="8503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07211" y="1001889"/>
            <a:ext cx="8427085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Агент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руководствуется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некоторой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стратегией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действий.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50">
              <a:latin typeface="Times New Roman"/>
              <a:cs typeface="Times New Roman"/>
            </a:endParaRPr>
          </a:p>
          <a:p>
            <a:pPr marL="1405255" marR="1065530" indent="-711835">
              <a:lnSpc>
                <a:spcPct val="100000"/>
              </a:lnSpc>
            </a:pPr>
            <a:r>
              <a:rPr sz="2800" b="1" spc="-15" dirty="0">
                <a:latin typeface="Times New Roman"/>
                <a:cs typeface="Times New Roman"/>
              </a:rPr>
              <a:t>Стратегия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определяет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в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каком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состоянии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Times New Roman"/>
                <a:cs typeface="Times New Roman"/>
              </a:rPr>
              <a:t>будет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совершено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какое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действие.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51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09424"/>
            <a:ext cx="2000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ОБУЧЕНИЕ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52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986649"/>
            <a:ext cx="11280140" cy="28028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8255" indent="-635">
              <a:lnSpc>
                <a:spcPts val="3890"/>
              </a:lnSpc>
              <a:spcBef>
                <a:spcPts val="585"/>
              </a:spcBef>
              <a:tabLst>
                <a:tab pos="620395" algn="l"/>
                <a:tab pos="1624965" algn="l"/>
                <a:tab pos="4671695" algn="l"/>
                <a:tab pos="7329170" algn="l"/>
                <a:tab pos="8696325" algn="l"/>
              </a:tabLst>
            </a:pP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а	</a:t>
            </a:r>
            <a:r>
              <a:rPr sz="3600" spc="-8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ч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ё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т	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600" spc="-5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600" spc="-15" dirty="0">
                <a:solidFill>
                  <a:srgbClr val="3E3E3E"/>
                </a:solidFill>
                <a:latin typeface="Times New Roman"/>
                <a:cs typeface="Times New Roman"/>
              </a:rPr>
              <a:t>ь</a:t>
            </a:r>
            <a:r>
              <a:rPr sz="3600" spc="-20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4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600" spc="-10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я	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600" spc="-5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луч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нн</a:t>
            </a:r>
            <a:r>
              <a:rPr sz="3600" spc="-1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85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о	о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ы</a:t>
            </a:r>
            <a:r>
              <a:rPr sz="3600" spc="45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а	</a:t>
            </a:r>
            <a:r>
              <a:rPr sz="3600" b="1" dirty="0">
                <a:solidFill>
                  <a:srgbClr val="3E3E3E"/>
                </a:solidFill>
                <a:latin typeface="Times New Roman"/>
                <a:cs typeface="Times New Roman"/>
              </a:rPr>
              <a:t>обн</a:t>
            </a:r>
            <a:r>
              <a:rPr sz="3600" b="1" spc="-8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b="1" spc="-5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6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6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я</a:t>
            </a:r>
            <a:r>
              <a:rPr sz="36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b="1" spc="4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6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600" b="1" dirty="0">
                <a:solidFill>
                  <a:srgbClr val="3E3E3E"/>
                </a:solidFill>
                <a:latin typeface="Times New Roman"/>
                <a:cs typeface="Times New Roman"/>
              </a:rPr>
              <a:t>я  </a:t>
            </a:r>
            <a:r>
              <a:rPr sz="36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стратегия</a:t>
            </a:r>
            <a:r>
              <a:rPr sz="36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поведения</a:t>
            </a:r>
            <a:r>
              <a:rPr sz="3600" spc="-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агента.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100">
              <a:latin typeface="Times New Roman"/>
              <a:cs typeface="Times New Roman"/>
            </a:endParaRPr>
          </a:p>
          <a:p>
            <a:pPr marL="12700" marR="5080">
              <a:lnSpc>
                <a:spcPts val="3890"/>
              </a:lnSpc>
              <a:tabLst>
                <a:tab pos="1468755" algn="l"/>
                <a:tab pos="4006215" algn="l"/>
                <a:tab pos="6062345" algn="l"/>
                <a:tab pos="7345680" algn="l"/>
                <a:tab pos="8816340" algn="l"/>
              </a:tabLst>
            </a:pP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600" spc="8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ле	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600" spc="-2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600" spc="10" dirty="0">
                <a:solidFill>
                  <a:srgbClr val="3E3E3E"/>
                </a:solidFill>
                <a:latin typeface="Times New Roman"/>
                <a:cs typeface="Times New Roman"/>
              </a:rPr>
              <a:t>ш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ни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я	</a:t>
            </a:r>
            <a:r>
              <a:rPr sz="3600" spc="-1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130" dirty="0">
                <a:solidFill>
                  <a:srgbClr val="3E3E3E"/>
                </a:solidFill>
                <a:latin typeface="Times New Roman"/>
                <a:cs typeface="Times New Roman"/>
              </a:rPr>
              <a:t>б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уч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600" spc="-10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я	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600" spc="-50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т	м</a:t>
            </a:r>
            <a:r>
              <a:rPr sz="3600" spc="-8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55" dirty="0">
                <a:solidFill>
                  <a:srgbClr val="3E3E3E"/>
                </a:solidFill>
                <a:latin typeface="Times New Roman"/>
                <a:cs typeface="Times New Roman"/>
              </a:rPr>
              <a:t>ж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т	д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600" spc="5" dirty="0">
                <a:solidFill>
                  <a:srgbClr val="3E3E3E"/>
                </a:solidFill>
                <a:latin typeface="Times New Roman"/>
                <a:cs typeface="Times New Roman"/>
              </a:rPr>
              <a:t>й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600" spc="-2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600" spc="-4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600" spc="-100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600" dirty="0">
                <a:solidFill>
                  <a:srgbClr val="3E3E3E"/>
                </a:solidFill>
                <a:latin typeface="Times New Roman"/>
                <a:cs typeface="Times New Roman"/>
              </a:rPr>
              <a:t>ть,  </a:t>
            </a:r>
            <a:r>
              <a:rPr sz="3600" spc="-25" dirty="0">
                <a:solidFill>
                  <a:srgbClr val="3E3E3E"/>
                </a:solidFill>
                <a:latin typeface="Times New Roman"/>
                <a:cs typeface="Times New Roman"/>
              </a:rPr>
              <a:t>используя</a:t>
            </a:r>
            <a:r>
              <a:rPr sz="3600" spc="-5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3E3E3E"/>
                </a:solidFill>
                <a:latin typeface="Times New Roman"/>
                <a:cs typeface="Times New Roman"/>
              </a:rPr>
              <a:t>полученную</a:t>
            </a:r>
            <a:r>
              <a:rPr sz="36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Times New Roman"/>
                <a:cs typeface="Times New Roman"/>
              </a:rPr>
              <a:t>стратегию.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562" y="2340428"/>
            <a:ext cx="11064874" cy="26484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5960" y="46456"/>
            <a:ext cx="905002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ts val="2735"/>
              </a:lnSpc>
              <a:spcBef>
                <a:spcPts val="100"/>
              </a:spcBef>
            </a:pPr>
            <a:r>
              <a:rPr sz="2400" spc="-45" dirty="0"/>
              <a:t>ЭТАПЫ</a:t>
            </a:r>
            <a:r>
              <a:rPr sz="2400" spc="-5" dirty="0"/>
              <a:t> </a:t>
            </a:r>
            <a:r>
              <a:rPr sz="2400" spc="-35" dirty="0"/>
              <a:t>РАБОЧЕГО</a:t>
            </a:r>
            <a:r>
              <a:rPr sz="2400" spc="-5" dirty="0"/>
              <a:t> </a:t>
            </a:r>
            <a:r>
              <a:rPr sz="2400" spc="-15" dirty="0"/>
              <a:t>ПРОЦЕССА</a:t>
            </a:r>
            <a:r>
              <a:rPr sz="2400" spc="-5" dirty="0"/>
              <a:t> ПРИ</a:t>
            </a:r>
            <a:r>
              <a:rPr sz="2400" spc="-15" dirty="0"/>
              <a:t> </a:t>
            </a:r>
            <a:r>
              <a:rPr sz="2400" spc="-25" dirty="0"/>
              <a:t>ИСПОЛЬЗОВАНИИ</a:t>
            </a:r>
            <a:endParaRPr sz="2400"/>
          </a:p>
          <a:p>
            <a:pPr marL="12700">
              <a:lnSpc>
                <a:spcPts val="2735"/>
              </a:lnSpc>
              <a:tabLst>
                <a:tab pos="9036685" algn="l"/>
              </a:tabLst>
            </a:pPr>
            <a:r>
              <a:rPr sz="2400" b="0" u="heavy" spc="120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006666"/>
                  </a:solidFill>
                </a:uFill>
              </a:rPr>
              <a:t>ОБУЧЕНИЯ</a:t>
            </a:r>
            <a:r>
              <a:rPr sz="2400" u="heavy" spc="-3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400" u="heavy" dirty="0">
                <a:uFill>
                  <a:solidFill>
                    <a:srgbClr val="006666"/>
                  </a:solidFill>
                </a:uFill>
              </a:rPr>
              <a:t>С</a:t>
            </a:r>
            <a:r>
              <a:rPr sz="2400" u="heavy" spc="-1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006666"/>
                  </a:solidFill>
                </a:uFill>
              </a:rPr>
              <a:t>ПОДКРЕПЛЕНИЕМ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53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161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ПРИМЕР: ОБУЧЕНИЕ</a:t>
            </a:r>
            <a:r>
              <a:rPr sz="2400" spc="-15" dirty="0"/>
              <a:t> </a:t>
            </a:r>
            <a:r>
              <a:rPr sz="2400" spc="-10" dirty="0"/>
              <a:t>БЕСПИЛОТНОГО</a:t>
            </a:r>
            <a:r>
              <a:rPr sz="2400" spc="10" dirty="0"/>
              <a:t> </a:t>
            </a:r>
            <a:r>
              <a:rPr sz="2400" spc="-20" dirty="0"/>
              <a:t>АВТОМОБИЛЯ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00" y="920591"/>
            <a:ext cx="10748010" cy="543115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Бортовой</a:t>
            </a:r>
            <a:r>
              <a:rPr sz="2200" spc="-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Times New Roman"/>
                <a:cs typeface="Times New Roman"/>
              </a:rPr>
              <a:t>компьютер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обучается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Times New Roman"/>
                <a:cs typeface="Times New Roman"/>
              </a:rPr>
              <a:t>вождению...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70"/>
              </a:spcBef>
            </a:pPr>
            <a:r>
              <a:rPr sz="2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(агент)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 помощью данных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Times New Roman"/>
                <a:cs typeface="Times New Roman"/>
              </a:rPr>
              <a:t>датчиков</a:t>
            </a:r>
            <a:r>
              <a:rPr sz="22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(камеры</a:t>
            </a:r>
            <a:r>
              <a:rPr sz="2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и LIDAR),...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65"/>
              </a:spcBef>
            </a:pPr>
            <a:r>
              <a:rPr sz="22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(состояние)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spc="-25" dirty="0">
                <a:solidFill>
                  <a:srgbClr val="3E3E3E"/>
                </a:solidFill>
                <a:latin typeface="Times New Roman"/>
                <a:cs typeface="Times New Roman"/>
              </a:rPr>
              <a:t>которые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отображают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Times New Roman"/>
                <a:cs typeface="Times New Roman"/>
              </a:rPr>
              <a:t>дорожные</a:t>
            </a:r>
            <a:r>
              <a:rPr sz="2200" spc="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условия,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положение</a:t>
            </a:r>
            <a:r>
              <a:rPr sz="22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автомобиля,...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80"/>
              </a:spcBef>
            </a:pPr>
            <a:r>
              <a:rPr sz="2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(среда)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генерирует</a:t>
            </a:r>
            <a:r>
              <a:rPr sz="22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3E3E3E"/>
                </a:solidFill>
                <a:latin typeface="Times New Roman"/>
                <a:cs typeface="Times New Roman"/>
              </a:rPr>
              <a:t>команды</a:t>
            </a:r>
            <a:r>
              <a:rPr sz="2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3E3E3E"/>
                </a:solidFill>
                <a:latin typeface="Times New Roman"/>
                <a:cs typeface="Times New Roman"/>
              </a:rPr>
              <a:t>рулевого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 управления,</a:t>
            </a:r>
            <a:r>
              <a:rPr sz="2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торможения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газа,</a:t>
            </a:r>
            <a:r>
              <a:rPr sz="2200" spc="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70"/>
              </a:spcBef>
            </a:pPr>
            <a:r>
              <a:rPr sz="2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(действие)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и, 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согласно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соответствию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«состояние-действие»,</a:t>
            </a:r>
            <a:r>
              <a:rPr sz="2200" spc="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65"/>
              </a:spcBef>
            </a:pPr>
            <a:r>
              <a:rPr sz="2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(стратегия)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пытается</a:t>
            </a:r>
            <a:r>
              <a:rPr sz="2200" spc="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оптимизировать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Times New Roman"/>
                <a:cs typeface="Times New Roman"/>
              </a:rPr>
              <a:t>комфорт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Times New Roman"/>
                <a:cs typeface="Times New Roman"/>
              </a:rPr>
              <a:t>водителя</a:t>
            </a:r>
            <a:r>
              <a:rPr sz="22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эффективность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3E3E3E"/>
                </a:solidFill>
                <a:latin typeface="Times New Roman"/>
                <a:cs typeface="Times New Roman"/>
              </a:rPr>
              <a:t>расхода</a:t>
            </a:r>
            <a:r>
              <a:rPr sz="2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топлива...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80"/>
              </a:spcBef>
            </a:pPr>
            <a:r>
              <a:rPr sz="22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(вознаграждение)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110"/>
              </a:lnSpc>
              <a:spcBef>
                <a:spcPts val="980"/>
              </a:spcBef>
            </a:pPr>
            <a:r>
              <a:rPr sz="22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Алгоритм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действия</a:t>
            </a:r>
            <a:r>
              <a:rPr sz="22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обновляется</a:t>
            </a:r>
            <a:r>
              <a:rPr sz="2200" spc="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методом 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проб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 и</a:t>
            </a:r>
            <a:r>
              <a:rPr sz="2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ошибок</a:t>
            </a:r>
            <a:r>
              <a:rPr sz="22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Times New Roman"/>
                <a:cs typeface="Times New Roman"/>
              </a:rPr>
              <a:t>с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помощью</a:t>
            </a:r>
            <a:r>
              <a:rPr sz="22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алгоритма</a:t>
            </a:r>
            <a:r>
              <a:rPr sz="2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обучения </a:t>
            </a:r>
            <a:r>
              <a:rPr sz="2200" b="1" spc="-5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подкреплением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79883"/>
            <a:ext cx="905002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ts val="2735"/>
              </a:lnSpc>
              <a:spcBef>
                <a:spcPts val="100"/>
              </a:spcBef>
            </a:pPr>
            <a:r>
              <a:rPr sz="2400" spc="-15" dirty="0"/>
              <a:t>ПОПУЛЯРНЫЙ</a:t>
            </a:r>
            <a:r>
              <a:rPr sz="2400" spc="-55" dirty="0"/>
              <a:t> </a:t>
            </a:r>
            <a:r>
              <a:rPr sz="2400" spc="-10" dirty="0"/>
              <a:t>ПРИМЕР:</a:t>
            </a:r>
            <a:endParaRPr sz="2400"/>
          </a:p>
          <a:p>
            <a:pPr marL="12700">
              <a:lnSpc>
                <a:spcPts val="2735"/>
              </a:lnSpc>
              <a:tabLst>
                <a:tab pos="9036685" algn="l"/>
              </a:tabLst>
            </a:pPr>
            <a:r>
              <a:rPr sz="2400" b="0" u="heavy" spc="120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006666"/>
                  </a:solidFill>
                </a:uFill>
              </a:rPr>
              <a:t>ОБУЧЕНИЕ</a:t>
            </a:r>
            <a:r>
              <a:rPr sz="2400" u="heavy" spc="-4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400" u="heavy" spc="-20" dirty="0">
                <a:uFill>
                  <a:solidFill>
                    <a:srgbClr val="006666"/>
                  </a:solidFill>
                </a:uFill>
              </a:rPr>
              <a:t>ХОДЬБЕ</a:t>
            </a:r>
            <a:r>
              <a:rPr sz="2400" u="heavy" spc="-3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400" u="heavy" spc="-15" dirty="0">
                <a:uFill>
                  <a:solidFill>
                    <a:srgbClr val="006666"/>
                  </a:solidFill>
                </a:uFill>
              </a:rPr>
              <a:t>РОБОТОВ	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924297"/>
            <a:ext cx="9546678" cy="537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55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9826625" cy="1941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Q-ОБУЧЕНИЕ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Самый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простой</a:t>
            </a:r>
            <a:r>
              <a:rPr sz="24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популярный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 алгоритм</a:t>
            </a:r>
            <a:r>
              <a:rPr sz="24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обучения</a:t>
            </a: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подкреплением.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1035"/>
              </a:spcBef>
            </a:pP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основе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лежит</a:t>
            </a:r>
            <a:r>
              <a:rPr sz="24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определение</a:t>
            </a:r>
            <a:r>
              <a:rPr sz="24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оценки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функции</a:t>
            </a:r>
            <a:r>
              <a:rPr sz="24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полезности</a:t>
            </a:r>
            <a:r>
              <a:rPr sz="2400" spc="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(</a:t>
            </a:r>
            <a:r>
              <a:rPr sz="2400" i="1" spc="-10" dirty="0">
                <a:solidFill>
                  <a:srgbClr val="3E3E3E"/>
                </a:solidFill>
                <a:latin typeface="Times New Roman"/>
                <a:cs typeface="Times New Roman"/>
              </a:rPr>
              <a:t>Q</a:t>
            </a:r>
            <a:r>
              <a:rPr sz="2400" spc="-10" dirty="0">
                <a:solidFill>
                  <a:srgbClr val="3E3E3E"/>
                </a:solidFill>
                <a:latin typeface="Times New Roman"/>
                <a:cs typeface="Times New Roman"/>
              </a:rPr>
              <a:t>-функции)</a:t>
            </a:r>
            <a:r>
              <a:rPr sz="24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для </a:t>
            </a:r>
            <a:r>
              <a:rPr sz="2400" spc="-5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Times New Roman"/>
                <a:cs typeface="Times New Roman"/>
              </a:rPr>
              <a:t>конечного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числа </a:t>
            </a:r>
            <a:r>
              <a:rPr sz="24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действий.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56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52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ФУНКЦИЯ</a:t>
            </a:r>
            <a:r>
              <a:rPr sz="2400" spc="-15" dirty="0"/>
              <a:t> </a:t>
            </a:r>
            <a:r>
              <a:rPr sz="2400" spc="-20" dirty="0"/>
              <a:t>ПОЛЕЗНОСТИ</a:t>
            </a:r>
            <a:r>
              <a:rPr sz="2400" dirty="0"/>
              <a:t> </a:t>
            </a:r>
            <a:r>
              <a:rPr sz="2400" spc="-15" dirty="0"/>
              <a:t>ДЕЙСТВИЯ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57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935" y="1001889"/>
            <a:ext cx="1095819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8100" marR="30480" indent="635" algn="just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Каждое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каждом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состоянии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можно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оценить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при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помощи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функцией</a:t>
            </a:r>
            <a:r>
              <a:rPr sz="28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полезности</a:t>
            </a:r>
            <a:r>
              <a:rPr sz="28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i="1" spc="5" dirty="0">
                <a:solidFill>
                  <a:srgbClr val="3E3E3E"/>
                </a:solidFill>
                <a:latin typeface="Times New Roman"/>
                <a:cs typeface="Times New Roman"/>
              </a:rPr>
              <a:t>Q</a:t>
            </a:r>
            <a:r>
              <a:rPr sz="2775" b="1" spc="7" baseline="25525" dirty="0">
                <a:solidFill>
                  <a:srgbClr val="3E3E3E"/>
                </a:solidFill>
                <a:latin typeface="Times New Roman"/>
                <a:cs typeface="Times New Roman"/>
              </a:rPr>
              <a:t>π</a:t>
            </a:r>
            <a:r>
              <a:rPr sz="28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(</a:t>
            </a:r>
            <a:r>
              <a:rPr sz="2800" b="1" i="1" spc="5" dirty="0">
                <a:solidFill>
                  <a:srgbClr val="3E3E3E"/>
                </a:solidFill>
                <a:latin typeface="Times New Roman"/>
                <a:cs typeface="Times New Roman"/>
              </a:rPr>
              <a:t>s,</a:t>
            </a:r>
            <a:r>
              <a:rPr sz="2800" b="1" i="1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E3E3E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3E3E3E"/>
                </a:solidFill>
                <a:latin typeface="Times New Roman"/>
                <a:cs typeface="Times New Roman"/>
              </a:rPr>
              <a:t>)</a:t>
            </a:r>
            <a:r>
              <a:rPr sz="28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–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ожидаемой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суммой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наград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при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совершении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Times New Roman"/>
                <a:cs typeface="Times New Roman"/>
              </a:rPr>
              <a:t>агентом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действия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a</a:t>
            </a:r>
            <a:r>
              <a:rPr sz="2800" i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состоянии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s</a:t>
            </a:r>
            <a:r>
              <a:rPr sz="2800" i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совершении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последующих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действий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в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соответствии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стратегией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π.</a:t>
            </a:r>
            <a:endParaRPr sz="2800">
              <a:latin typeface="Times New Roman"/>
              <a:cs typeface="Times New Roman"/>
            </a:endParaRPr>
          </a:p>
          <a:p>
            <a:pPr marL="38735" marR="31115" algn="just">
              <a:lnSpc>
                <a:spcPts val="3030"/>
              </a:lnSpc>
              <a:spcBef>
                <a:spcPts val="1015"/>
              </a:spcBef>
            </a:pPr>
            <a:r>
              <a:rPr sz="2800" b="1" dirty="0">
                <a:solidFill>
                  <a:srgbClr val="3E3E3E"/>
                </a:solidFill>
                <a:latin typeface="Times New Roman"/>
                <a:cs typeface="Times New Roman"/>
              </a:rPr>
              <a:t>Процесс</a:t>
            </a:r>
            <a:r>
              <a:rPr sz="28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3E3E3E"/>
                </a:solidFill>
                <a:latin typeface="Times New Roman"/>
                <a:cs typeface="Times New Roman"/>
              </a:rPr>
              <a:t>обучения</a:t>
            </a:r>
            <a:r>
              <a:rPr sz="28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–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определение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функции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полезности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процессе 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функционирования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агента.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52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ФУНКЦИЯ</a:t>
            </a:r>
            <a:r>
              <a:rPr sz="2400" spc="-15" dirty="0"/>
              <a:t> </a:t>
            </a:r>
            <a:r>
              <a:rPr sz="2400" spc="-20" dirty="0"/>
              <a:t>ПОЛЕЗНОСТИ</a:t>
            </a:r>
            <a:r>
              <a:rPr sz="2400" dirty="0"/>
              <a:t> </a:t>
            </a:r>
            <a:r>
              <a:rPr sz="2400" spc="-15" dirty="0"/>
              <a:t>ДЕЙСТВИЯ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58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045" y="1001889"/>
            <a:ext cx="11341100" cy="34683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715" algn="just">
              <a:lnSpc>
                <a:spcPts val="3030"/>
              </a:lnSpc>
              <a:spcBef>
                <a:spcPts val="470"/>
              </a:spcBef>
            </a:pP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Функция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полезности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Times New Roman"/>
                <a:cs typeface="Times New Roman"/>
              </a:rPr>
              <a:t>показывает,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Times New Roman"/>
                <a:cs typeface="Times New Roman"/>
              </a:rPr>
              <a:t>насколько</a:t>
            </a:r>
            <a:r>
              <a:rPr sz="2800" spc="-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большую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награду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можно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получить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за определённое действие, </a:t>
            </a:r>
            <a:r>
              <a:rPr sz="28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а также </a:t>
            </a:r>
            <a:r>
              <a:rPr sz="2800" b="1" spc="-20" dirty="0">
                <a:solidFill>
                  <a:srgbClr val="3E3E3E"/>
                </a:solidFill>
                <a:latin typeface="Times New Roman"/>
                <a:cs typeface="Times New Roman"/>
              </a:rPr>
              <a:t>насколько </a:t>
            </a:r>
            <a:r>
              <a:rPr sz="28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данное действие </a:t>
            </a:r>
            <a:r>
              <a:rPr sz="2800" b="1" spc="-6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является</a:t>
            </a:r>
            <a:r>
              <a:rPr sz="2800" b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перспективным.</a:t>
            </a:r>
            <a:endParaRPr sz="2800">
              <a:latin typeface="Times New Roman"/>
              <a:cs typeface="Times New Roman"/>
            </a:endParaRPr>
          </a:p>
          <a:p>
            <a:pPr marL="13335" marR="5715" indent="-1270" algn="just">
              <a:lnSpc>
                <a:spcPts val="3030"/>
              </a:lnSpc>
              <a:spcBef>
                <a:spcPts val="995"/>
              </a:spcBef>
            </a:pPr>
            <a:r>
              <a:rPr sz="2800" spc="-80" dirty="0">
                <a:solidFill>
                  <a:srgbClr val="3E3E3E"/>
                </a:solidFill>
                <a:latin typeface="Times New Roman"/>
                <a:cs typeface="Times New Roman"/>
              </a:rPr>
              <a:t>Т.е.</a:t>
            </a:r>
            <a:r>
              <a:rPr sz="2800" spc="-7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3E3E3E"/>
                </a:solidFill>
                <a:latin typeface="Times New Roman"/>
                <a:cs typeface="Times New Roman"/>
              </a:rPr>
              <a:t>сколько</a:t>
            </a:r>
            <a:r>
              <a:rPr sz="28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ещё</a:t>
            </a:r>
            <a:r>
              <a:rPr sz="28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 наград</a:t>
            </a:r>
            <a:r>
              <a:rPr sz="2800" b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3E3E3E"/>
                </a:solidFill>
                <a:latin typeface="Times New Roman"/>
                <a:cs typeface="Times New Roman"/>
              </a:rPr>
              <a:t>можно</a:t>
            </a:r>
            <a:r>
              <a:rPr sz="2800" b="1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60" dirty="0">
                <a:solidFill>
                  <a:srgbClr val="3E3E3E"/>
                </a:solidFill>
                <a:latin typeface="Times New Roman"/>
                <a:cs typeface="Times New Roman"/>
              </a:rPr>
              <a:t>будет</a:t>
            </a:r>
            <a:r>
              <a:rPr sz="2800" b="1" spc="-5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3E3E3E"/>
                </a:solidFill>
                <a:latin typeface="Times New Roman"/>
                <a:cs typeface="Times New Roman"/>
              </a:rPr>
              <a:t>собрать</a:t>
            </a:r>
            <a:r>
              <a:rPr sz="28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800" b="1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b="1" spc="-40" dirty="0">
                <a:solidFill>
                  <a:srgbClr val="3E3E3E"/>
                </a:solidFill>
                <a:latin typeface="Times New Roman"/>
                <a:cs typeface="Times New Roman"/>
              </a:rPr>
              <a:t>будущем</a:t>
            </a:r>
            <a:r>
              <a:rPr sz="2800" spc="-40" dirty="0">
                <a:solidFill>
                  <a:srgbClr val="3E3E3E"/>
                </a:solidFill>
                <a:latin typeface="Times New Roman"/>
                <a:cs typeface="Times New Roman"/>
              </a:rPr>
              <a:t>,</a:t>
            </a:r>
            <a:r>
              <a:rPr sz="2800" spc="-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если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при </a:t>
            </a:r>
            <a:r>
              <a:rPr sz="2800" spc="-6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движении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из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нового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состояния,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Times New Roman"/>
                <a:cs typeface="Times New Roman"/>
              </a:rPr>
              <a:t>используя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текущую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стратегию.</a:t>
            </a:r>
            <a:endParaRPr sz="2800">
              <a:latin typeface="Times New Roman"/>
              <a:cs typeface="Times New Roman"/>
            </a:endParaRPr>
          </a:p>
          <a:p>
            <a:pPr marL="13335" marR="5080" indent="-635" algn="just">
              <a:lnSpc>
                <a:spcPts val="3030"/>
              </a:lnSpc>
              <a:spcBef>
                <a:spcPts val="985"/>
              </a:spcBef>
            </a:pP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 </a:t>
            </a:r>
            <a:r>
              <a:rPr sz="2800" spc="-50" dirty="0">
                <a:solidFill>
                  <a:srgbClr val="3E3E3E"/>
                </a:solidFill>
                <a:latin typeface="Times New Roman"/>
                <a:cs typeface="Times New Roman"/>
              </a:rPr>
              <a:t>сколько</a:t>
            </a:r>
            <a:r>
              <a:rPr sz="2800" spc="-4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сильно </a:t>
            </a:r>
            <a:r>
              <a:rPr sz="2800" spc="-60" dirty="0">
                <a:solidFill>
                  <a:srgbClr val="3E3E3E"/>
                </a:solidFill>
                <a:latin typeface="Times New Roman"/>
                <a:cs typeface="Times New Roman"/>
              </a:rPr>
              <a:t>будет</a:t>
            </a:r>
            <a:r>
              <a:rPr sz="2800" spc="-5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учитываться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перспектива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получения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наград в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Times New Roman"/>
                <a:cs typeface="Times New Roman"/>
              </a:rPr>
              <a:t>будущем,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инженер</a:t>
            </a:r>
            <a:r>
              <a:rPr sz="2800" spc="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задаёт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с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помощью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коэффициента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дисконтирования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3E3E3E"/>
                </a:solidFill>
                <a:latin typeface="Times New Roman"/>
                <a:cs typeface="Times New Roman"/>
              </a:rPr>
              <a:t>γ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5098415" algn="just">
              <a:lnSpc>
                <a:spcPct val="100000"/>
              </a:lnSpc>
              <a:spcBef>
                <a:spcPts val="665"/>
              </a:spcBef>
            </a:pPr>
            <a:r>
              <a:rPr sz="2400" dirty="0">
                <a:solidFill>
                  <a:srgbClr val="3E3E3E"/>
                </a:solidFill>
                <a:latin typeface="Times New Roman"/>
                <a:cs typeface="Times New Roman"/>
              </a:rPr>
              <a:t>0</a:t>
            </a:r>
            <a:r>
              <a:rPr sz="24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E3E3E"/>
                </a:solidFill>
                <a:latin typeface="Times New Roman"/>
                <a:cs typeface="Times New Roman"/>
              </a:rPr>
              <a:t>&lt;</a:t>
            </a:r>
            <a:r>
              <a:rPr sz="2400" i="1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E3E3E"/>
                </a:solidFill>
                <a:latin typeface="Times New Roman"/>
                <a:cs typeface="Times New Roman"/>
              </a:rPr>
              <a:t>γ</a:t>
            </a:r>
            <a:r>
              <a:rPr sz="2400" i="1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E3E3E"/>
                </a:solidFill>
                <a:latin typeface="Times New Roman"/>
                <a:cs typeface="Times New Roman"/>
              </a:rPr>
              <a:t>&lt;</a:t>
            </a:r>
            <a:r>
              <a:rPr sz="2400" i="1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E3E3E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45" dirty="0"/>
              <a:t>СТРАТЕГИЯ</a:t>
            </a:r>
            <a:r>
              <a:rPr sz="2200" spc="5" dirty="0"/>
              <a:t> </a:t>
            </a:r>
            <a:r>
              <a:rPr sz="2200" spc="-15" dirty="0"/>
              <a:t>ДЕЙСТВИЙ</a:t>
            </a:r>
            <a:r>
              <a:rPr sz="2200" spc="20" dirty="0"/>
              <a:t> </a:t>
            </a:r>
            <a:r>
              <a:rPr sz="2200" spc="-30" dirty="0"/>
              <a:t>АГЕНТА</a:t>
            </a:r>
            <a:r>
              <a:rPr sz="2200" dirty="0"/>
              <a:t> </a:t>
            </a:r>
            <a:r>
              <a:rPr sz="2200" spc="-5" dirty="0"/>
              <a:t>ПРИ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u="heavy" spc="10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Q-ОБУЧЕНИИ	</a:t>
            </a:r>
            <a:endParaRPr sz="22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59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180" y="994268"/>
            <a:ext cx="1090866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635">
              <a:lnSpc>
                <a:spcPts val="3460"/>
              </a:lnSpc>
              <a:spcBef>
                <a:spcPts val="535"/>
              </a:spcBef>
              <a:tabLst>
                <a:tab pos="2235200" algn="l"/>
                <a:tab pos="4219575" algn="l"/>
                <a:tab pos="4714240" algn="l"/>
                <a:tab pos="6083300" algn="l"/>
                <a:tab pos="7934325" algn="l"/>
                <a:tab pos="8406765" algn="l"/>
              </a:tabLst>
            </a:pPr>
            <a:r>
              <a:rPr sz="3200" b="1" spc="-3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b="1" spc="3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b="1" spc="-10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b="1" spc="-80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b="1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b="1" spc="-20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3200" b="1" dirty="0">
                <a:solidFill>
                  <a:srgbClr val="3E3E3E"/>
                </a:solidFill>
                <a:latin typeface="Times New Roman"/>
                <a:cs typeface="Times New Roman"/>
              </a:rPr>
              <a:t>ия	д</a:t>
            </a:r>
            <a:r>
              <a:rPr sz="3200" b="1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b="1" dirty="0">
                <a:solidFill>
                  <a:srgbClr val="3E3E3E"/>
                </a:solidFill>
                <a:latin typeface="Times New Roman"/>
                <a:cs typeface="Times New Roman"/>
              </a:rPr>
              <a:t>й</a:t>
            </a:r>
            <a:r>
              <a:rPr sz="3200" b="1" spc="1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b="1" spc="-5" dirty="0">
                <a:solidFill>
                  <a:srgbClr val="3E3E3E"/>
                </a:solidFill>
                <a:latin typeface="Times New Roman"/>
                <a:cs typeface="Times New Roman"/>
              </a:rPr>
              <a:t>тв</a:t>
            </a:r>
            <a:r>
              <a:rPr sz="3200" b="1" dirty="0">
                <a:solidFill>
                  <a:srgbClr val="3E3E3E"/>
                </a:solidFill>
                <a:latin typeface="Times New Roman"/>
                <a:cs typeface="Times New Roman"/>
              </a:rPr>
              <a:t>ий	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–	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ы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б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р	д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й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	с	</a:t>
            </a:r>
            <a:r>
              <a:rPr sz="3200" spc="-3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80" dirty="0">
                <a:solidFill>
                  <a:srgbClr val="3E3E3E"/>
                </a:solidFill>
                <a:latin typeface="Times New Roman"/>
                <a:cs typeface="Times New Roman"/>
              </a:rPr>
              <a:t>к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3200" spc="2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20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ьн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ой 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текущей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оценкой</a:t>
            </a:r>
            <a:r>
              <a:rPr sz="3200" spc="-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полезности.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902" y="211029"/>
            <a:ext cx="81807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/>
              <a:t>ХРАНЕНИЕ</a:t>
            </a:r>
            <a:r>
              <a:rPr sz="2200" spc="5" dirty="0"/>
              <a:t> </a:t>
            </a:r>
            <a:r>
              <a:rPr sz="2200" spc="-10" dirty="0"/>
              <a:t>ОЦЕНОК</a:t>
            </a:r>
            <a:r>
              <a:rPr sz="2200" spc="10" dirty="0"/>
              <a:t> </a:t>
            </a:r>
            <a:r>
              <a:rPr sz="2200" spc="-20" dirty="0"/>
              <a:t>ПОЛЕЗНОСТИ</a:t>
            </a:r>
            <a:r>
              <a:rPr sz="2200" spc="45" dirty="0"/>
              <a:t> </a:t>
            </a:r>
            <a:r>
              <a:rPr sz="2200" spc="-15" dirty="0"/>
              <a:t>ДЕЙСТВИЙ</a:t>
            </a:r>
            <a:r>
              <a:rPr sz="2200" spc="25" dirty="0"/>
              <a:t> </a:t>
            </a:r>
            <a:r>
              <a:rPr sz="2200" spc="-5" dirty="0"/>
              <a:t>В</a:t>
            </a:r>
            <a:r>
              <a:rPr sz="2200" spc="-10" dirty="0"/>
              <a:t> </a:t>
            </a:r>
            <a:r>
              <a:rPr sz="2200" spc="-35" dirty="0"/>
              <a:t>ТАБЛИЦЕ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60</a:t>
            </a:fld>
            <a:endParaRPr sz="16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3084" y="1276040"/>
          <a:ext cx="10582273" cy="4828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6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6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5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b="1" i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6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3600" spc="36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3600" spc="38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3600" spc="36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i="1" spc="-7" baseline="-20833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6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3600" spc="36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3600" spc="38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3600" spc="36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i="1" spc="-7" baseline="-20833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8280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6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b="1" i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sz="3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i="1" spc="-7" baseline="-20833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3600" spc="39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i="1" spc="-7" baseline="-20833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3600" spc="39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3600" i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3600" i="1" spc="-7" baseline="-20833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3600" spc="-7" baseline="-20833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3600" spc="39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3600" i="1" baseline="-20833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09424"/>
            <a:ext cx="441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ГЛУБОКОЕ</a:t>
            </a:r>
            <a:r>
              <a:rPr sz="2800" spc="-35" dirty="0"/>
              <a:t> </a:t>
            </a:r>
            <a:r>
              <a:rPr sz="2800" spc="-15" dirty="0"/>
              <a:t>Q-ОБУЧЕНИЕ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61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993" y="994268"/>
            <a:ext cx="11352530" cy="23964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6350" algn="just">
              <a:lnSpc>
                <a:spcPts val="3460"/>
              </a:lnSpc>
              <a:spcBef>
                <a:spcPts val="535"/>
              </a:spcBef>
            </a:pP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Для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аппроксимации</a:t>
            </a:r>
            <a:r>
              <a:rPr sz="3200" spc="77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3E3E3E"/>
                </a:solidFill>
                <a:latin typeface="Times New Roman"/>
                <a:cs typeface="Times New Roman"/>
              </a:rPr>
              <a:t>функции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полезности</a:t>
            </a:r>
            <a:r>
              <a:rPr sz="3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непрерывном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3E3E3E"/>
                </a:solidFill>
                <a:latin typeface="Times New Roman"/>
                <a:cs typeface="Times New Roman"/>
              </a:rPr>
              <a:t>пространстве</a:t>
            </a:r>
            <a:r>
              <a:rPr sz="3200" spc="-3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состояний</a:t>
            </a:r>
            <a:r>
              <a:rPr sz="3200" spc="-5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используется</a:t>
            </a:r>
            <a:r>
              <a:rPr sz="3200" spc="-4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нейронная</a:t>
            </a:r>
            <a:r>
              <a:rPr sz="3200" spc="-4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3E3E3E"/>
                </a:solidFill>
                <a:latin typeface="Times New Roman"/>
                <a:cs typeface="Times New Roman"/>
              </a:rPr>
              <a:t>сеть.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3460"/>
              </a:lnSpc>
              <a:spcBef>
                <a:spcPts val="990"/>
              </a:spcBef>
            </a:pPr>
            <a:r>
              <a:rPr sz="3200" spc="-80" dirty="0">
                <a:solidFill>
                  <a:srgbClr val="3E3E3E"/>
                </a:solidFill>
                <a:latin typeface="Times New Roman"/>
                <a:cs typeface="Times New Roman"/>
              </a:rPr>
              <a:t>Т.е. </a:t>
            </a:r>
            <a:r>
              <a:rPr sz="3200" spc="20" dirty="0">
                <a:solidFill>
                  <a:srgbClr val="3E3E3E"/>
                </a:solidFill>
                <a:latin typeface="Times New Roman"/>
                <a:cs typeface="Times New Roman"/>
              </a:rPr>
              <a:t>если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состояний 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бесконечно 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много,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нейронная </a:t>
            </a:r>
            <a:r>
              <a:rPr sz="3200" spc="10" dirty="0">
                <a:solidFill>
                  <a:srgbClr val="3E3E3E"/>
                </a:solidFill>
                <a:latin typeface="Times New Roman"/>
                <a:cs typeface="Times New Roman"/>
              </a:rPr>
              <a:t>сеть 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позволяет </a:t>
            </a:r>
            <a:r>
              <a:rPr sz="3200" spc="-78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правильно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определить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полезность</a:t>
            </a:r>
            <a:r>
              <a:rPr sz="32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состояний,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3E3E3E"/>
                </a:solidFill>
                <a:latin typeface="Times New Roman"/>
                <a:cs typeface="Times New Roman"/>
              </a:rPr>
              <a:t>находящихся 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близко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к</a:t>
            </a:r>
            <a:r>
              <a:rPr sz="3200" spc="-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уже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 исследованным.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180" y="3442634"/>
            <a:ext cx="859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69160" algn="l"/>
                <a:tab pos="4577080" algn="l"/>
                <a:tab pos="5888990" algn="l"/>
                <a:tab pos="8188959" algn="l"/>
              </a:tabLst>
            </a:pPr>
            <a:r>
              <a:rPr sz="3200" spc="-245" dirty="0">
                <a:solidFill>
                  <a:srgbClr val="3E3E3E"/>
                </a:solidFill>
                <a:latin typeface="Times New Roman"/>
                <a:cs typeface="Times New Roman"/>
              </a:rPr>
              <a:t>Г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200" spc="-30" dirty="0">
                <a:solidFill>
                  <a:srgbClr val="3E3E3E"/>
                </a:solidFill>
                <a:latin typeface="Times New Roman"/>
                <a:cs typeface="Times New Roman"/>
              </a:rPr>
              <a:t>у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бо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к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	н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й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нн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	</a:t>
            </a:r>
            <a:r>
              <a:rPr sz="3200" spc="4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ть	п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3200" spc="-4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	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не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00" y="3881688"/>
            <a:ext cx="89115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9025" algn="l"/>
                <a:tab pos="5952490" algn="l"/>
                <a:tab pos="8694420" algn="l"/>
              </a:tabLst>
            </a:pP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spc="-3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д</a:t>
            </a:r>
            <a:r>
              <a:rPr sz="3200" spc="-4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ар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ит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л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ь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у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ю	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бр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б</a:t>
            </a:r>
            <a:r>
              <a:rPr sz="3200" spc="-3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spc="-60" dirty="0">
                <a:solidFill>
                  <a:srgbClr val="3E3E3E"/>
                </a:solidFill>
                <a:latin typeface="Times New Roman"/>
                <a:cs typeface="Times New Roman"/>
              </a:rPr>
              <a:t>к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у	инф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spc="-2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ц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ии	о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00" y="4320742"/>
            <a:ext cx="9017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12035" algn="l"/>
                <a:tab pos="3156585" algn="l"/>
                <a:tab pos="4381500" algn="l"/>
                <a:tab pos="6708775" algn="l"/>
                <a:tab pos="7919084" algn="l"/>
              </a:tabLst>
            </a:pP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200" spc="-3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м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,	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н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а	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120" dirty="0">
                <a:solidFill>
                  <a:srgbClr val="3E3E3E"/>
                </a:solidFill>
                <a:latin typeface="Times New Roman"/>
                <a:cs typeface="Times New Roman"/>
              </a:rPr>
              <a:t>х</a:t>
            </a:r>
            <a:r>
              <a:rPr sz="3200" spc="-10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д	н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й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р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нн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й	</a:t>
            </a:r>
            <a:r>
              <a:rPr sz="3200" spc="2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ти	м</a:t>
            </a:r>
            <a:r>
              <a:rPr sz="3200" spc="-9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ж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е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3238" y="3442634"/>
            <a:ext cx="219646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6545" marR="5080" indent="-284480" algn="just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п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ро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з</a:t>
            </a:r>
            <a:r>
              <a:rPr sz="3200" spc="-3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90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д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ь  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spc="8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spc="-1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spc="-45" dirty="0">
                <a:solidFill>
                  <a:srgbClr val="3E3E3E"/>
                </a:solidFill>
                <a:latin typeface="Times New Roman"/>
                <a:cs typeface="Times New Roman"/>
              </a:rPr>
              <a:t>т</a:t>
            </a:r>
            <a:r>
              <a:rPr sz="3200" spc="-5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</a:t>
            </a:r>
            <a:r>
              <a:rPr sz="3200" spc="-15" dirty="0">
                <a:solidFill>
                  <a:srgbClr val="3E3E3E"/>
                </a:solidFill>
                <a:latin typeface="Times New Roman"/>
                <a:cs typeface="Times New Roman"/>
              </a:rPr>
              <a:t>ни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.  п</a:t>
            </a:r>
            <a:r>
              <a:rPr sz="3200" spc="-105" dirty="0">
                <a:solidFill>
                  <a:srgbClr val="3E3E3E"/>
                </a:solidFill>
                <a:latin typeface="Times New Roman"/>
                <a:cs typeface="Times New Roman"/>
              </a:rPr>
              <a:t>о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д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spc="-40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3200" spc="-90" dirty="0">
                <a:solidFill>
                  <a:srgbClr val="3E3E3E"/>
                </a:solidFill>
                <a:latin typeface="Times New Roman"/>
                <a:cs typeface="Times New Roman"/>
              </a:rPr>
              <a:t>а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ть</a:t>
            </a:r>
            <a:r>
              <a:rPr sz="3200" spc="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я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807" y="4759795"/>
            <a:ext cx="4042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изображение</a:t>
            </a:r>
            <a:r>
              <a:rPr sz="3200" spc="-7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3200" spc="-3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E3E3E"/>
                </a:solidFill>
                <a:latin typeface="Times New Roman"/>
                <a:cs typeface="Times New Roman"/>
              </a:rPr>
              <a:t>камеры.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09424"/>
            <a:ext cx="11285220" cy="495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6666"/>
                </a:solidFill>
                <a:latin typeface="Arial"/>
                <a:cs typeface="Arial"/>
              </a:rPr>
              <a:t>СИСТЕМЫ</a:t>
            </a:r>
            <a:r>
              <a:rPr sz="28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6666"/>
                </a:solidFill>
                <a:latin typeface="Arial"/>
                <a:cs typeface="Arial"/>
              </a:rPr>
              <a:t>АДАПТИВНОЙ</a:t>
            </a:r>
            <a:r>
              <a:rPr sz="2800" b="1" spc="2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6666"/>
                </a:solidFill>
                <a:latin typeface="Arial"/>
                <a:cs typeface="Arial"/>
              </a:rPr>
              <a:t>КРИТИКИ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Более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сложный</a:t>
            </a:r>
            <a:r>
              <a:rPr sz="2800" spc="2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алгоритм,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чем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i="1" spc="-15" dirty="0">
                <a:solidFill>
                  <a:srgbClr val="3E3E3E"/>
                </a:solidFill>
                <a:latin typeface="Times New Roman"/>
                <a:cs typeface="Times New Roman"/>
              </a:rPr>
              <a:t>Q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-обучение.</a:t>
            </a:r>
            <a:endParaRPr sz="2800">
              <a:latin typeface="Times New Roman"/>
              <a:cs typeface="Times New Roman"/>
            </a:endParaRPr>
          </a:p>
          <a:p>
            <a:pPr marL="13970" marR="5080" indent="-1270" algn="just">
              <a:lnSpc>
                <a:spcPts val="3030"/>
              </a:lnSpc>
              <a:spcBef>
                <a:spcPts val="1050"/>
              </a:spcBef>
            </a:pP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Нет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ограничений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на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количество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действий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(например,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действие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-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угол </a:t>
            </a:r>
            <a:r>
              <a:rPr sz="2800" spc="-2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поворота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45" dirty="0">
                <a:solidFill>
                  <a:srgbClr val="3E3E3E"/>
                </a:solidFill>
                <a:latin typeface="Times New Roman"/>
                <a:cs typeface="Times New Roman"/>
              </a:rPr>
              <a:t>руля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на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любой 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угол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от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-90° до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+90°).</a:t>
            </a:r>
            <a:endParaRPr sz="28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  <a:spcBef>
                <a:spcPts val="610"/>
              </a:spcBef>
            </a:pP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Используется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два </a:t>
            </a:r>
            <a:r>
              <a:rPr sz="2800" spc="-25" dirty="0">
                <a:solidFill>
                  <a:srgbClr val="3E3E3E"/>
                </a:solidFill>
                <a:latin typeface="Times New Roman"/>
                <a:cs typeface="Times New Roman"/>
              </a:rPr>
              <a:t>блока: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актор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и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критик.</a:t>
            </a:r>
            <a:endParaRPr sz="2800">
              <a:latin typeface="Times New Roman"/>
              <a:cs typeface="Times New Roman"/>
            </a:endParaRPr>
          </a:p>
          <a:p>
            <a:pPr marL="13335" marR="5080" algn="just">
              <a:lnSpc>
                <a:spcPts val="3030"/>
              </a:lnSpc>
              <a:spcBef>
                <a:spcPts val="1035"/>
              </a:spcBef>
            </a:pP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Позволяет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настраивать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управляющее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устройство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(актор)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таким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образом,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чтобы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предлагаемое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им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действие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в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каждом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состоянии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имело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максимальную</a:t>
            </a:r>
            <a:r>
              <a:rPr sz="2800" spc="5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полезность.</a:t>
            </a:r>
            <a:endParaRPr sz="28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  <a:spcBef>
                <a:spcPts val="615"/>
              </a:spcBef>
            </a:pPr>
            <a:r>
              <a:rPr sz="2800" spc="-20" dirty="0">
                <a:solidFill>
                  <a:srgbClr val="3E3E3E"/>
                </a:solidFill>
                <a:latin typeface="Times New Roman"/>
                <a:cs typeface="Times New Roman"/>
              </a:rPr>
              <a:t>Актор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Times New Roman"/>
                <a:cs typeface="Times New Roman"/>
              </a:rPr>
              <a:t>может</a:t>
            </a:r>
            <a:r>
              <a:rPr sz="2800" spc="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иметь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 различную </a:t>
            </a:r>
            <a:r>
              <a:rPr sz="2800" spc="-40" dirty="0">
                <a:solidFill>
                  <a:srgbClr val="3E3E3E"/>
                </a:solidFill>
                <a:latin typeface="Times New Roman"/>
                <a:cs typeface="Times New Roman"/>
              </a:rPr>
              <a:t>структуру.</a:t>
            </a:r>
            <a:endParaRPr sz="2800">
              <a:latin typeface="Times New Roman"/>
              <a:cs typeface="Times New Roman"/>
            </a:endParaRPr>
          </a:p>
          <a:p>
            <a:pPr marL="13335" algn="just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Критик,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Times New Roman"/>
                <a:cs typeface="Times New Roman"/>
              </a:rPr>
              <a:t>как</a:t>
            </a:r>
            <a:r>
              <a:rPr sz="2800" spc="1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правило,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реализуется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с</a:t>
            </a:r>
            <a:r>
              <a:rPr sz="2800" spc="-1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Times New Roman"/>
                <a:cs typeface="Times New Roman"/>
              </a:rPr>
              <a:t>помощью</a:t>
            </a:r>
            <a:r>
              <a:rPr sz="2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Times New Roman"/>
                <a:cs typeface="Times New Roman"/>
              </a:rPr>
              <a:t>нейронной </a:t>
            </a:r>
            <a:r>
              <a:rPr sz="2800" dirty="0">
                <a:solidFill>
                  <a:srgbClr val="3E3E3E"/>
                </a:solidFill>
                <a:latin typeface="Times New Roman"/>
                <a:cs typeface="Times New Roman"/>
              </a:rPr>
              <a:t>сети.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62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172846"/>
            <a:ext cx="71831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/>
              <a:t>СИСТЕМЫ</a:t>
            </a:r>
            <a:r>
              <a:rPr sz="3200" spc="-25" dirty="0"/>
              <a:t> </a:t>
            </a:r>
            <a:r>
              <a:rPr sz="3200" spc="5" dirty="0"/>
              <a:t>АДАПТИВНОЙ</a:t>
            </a:r>
            <a:r>
              <a:rPr sz="3200" spc="-35" dirty="0"/>
              <a:t> </a:t>
            </a:r>
            <a:r>
              <a:rPr sz="3200" spc="-5" dirty="0"/>
              <a:t>КРИТИКИ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9945" y="875919"/>
            <a:ext cx="5305296" cy="24493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0810" y="1036017"/>
            <a:ext cx="607568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  <a:tab pos="1682750" algn="l"/>
                <a:tab pos="2153285" algn="l"/>
                <a:tab pos="3070860" algn="l"/>
                <a:tab pos="448691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Крит</a:t>
            </a:r>
            <a:r>
              <a:rPr sz="2400" b="1" spc="5" dirty="0">
                <a:latin typeface="Times New Roman"/>
                <a:cs typeface="Times New Roman"/>
              </a:rPr>
              <a:t>и</a:t>
            </a:r>
            <a:r>
              <a:rPr sz="2400" b="1" dirty="0">
                <a:latin typeface="Times New Roman"/>
                <a:cs typeface="Times New Roman"/>
              </a:rPr>
              <a:t>к	</a:t>
            </a: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60" dirty="0">
                <a:latin typeface="Times New Roman"/>
                <a:cs typeface="Times New Roman"/>
              </a:rPr>
              <a:t>б</a:t>
            </a:r>
            <a:r>
              <a:rPr sz="2400" dirty="0">
                <a:latin typeface="Times New Roman"/>
                <a:cs typeface="Times New Roman"/>
              </a:rPr>
              <a:t>лок	сис</a:t>
            </a:r>
            <a:r>
              <a:rPr sz="2400" spc="-5" dirty="0">
                <a:latin typeface="Times New Roman"/>
                <a:cs typeface="Times New Roman"/>
              </a:rPr>
              <a:t>т</a:t>
            </a:r>
            <a:r>
              <a:rPr sz="2400" dirty="0">
                <a:latin typeface="Times New Roman"/>
                <a:cs typeface="Times New Roman"/>
              </a:rPr>
              <a:t>е</a:t>
            </a:r>
            <a:r>
              <a:rPr sz="2400" spc="5" dirty="0">
                <a:latin typeface="Times New Roman"/>
                <a:cs typeface="Times New Roman"/>
              </a:rPr>
              <a:t>м</a:t>
            </a:r>
            <a:r>
              <a:rPr sz="2400" dirty="0">
                <a:latin typeface="Times New Roman"/>
                <a:cs typeface="Times New Roman"/>
              </a:rPr>
              <a:t>ы	</a:t>
            </a:r>
            <a:r>
              <a:rPr sz="2400" spc="20" dirty="0">
                <a:latin typeface="Times New Roman"/>
                <a:cs typeface="Times New Roman"/>
              </a:rPr>
              <a:t>у</a:t>
            </a:r>
            <a:r>
              <a:rPr sz="2400" spc="-5" dirty="0">
                <a:latin typeface="Times New Roman"/>
                <a:cs typeface="Times New Roman"/>
              </a:rPr>
              <a:t>пр</a:t>
            </a:r>
            <a:r>
              <a:rPr sz="2400" dirty="0">
                <a:latin typeface="Times New Roman"/>
                <a:cs typeface="Times New Roman"/>
              </a:rPr>
              <a:t>а</a:t>
            </a:r>
            <a:r>
              <a:rPr sz="2400" spc="-45" dirty="0">
                <a:latin typeface="Times New Roman"/>
                <a:cs typeface="Times New Roman"/>
              </a:rPr>
              <a:t>в</a:t>
            </a:r>
            <a:r>
              <a:rPr sz="2400" dirty="0">
                <a:latin typeface="Times New Roman"/>
                <a:cs typeface="Times New Roman"/>
              </a:rPr>
              <a:t>ле</a:t>
            </a:r>
            <a:r>
              <a:rPr sz="2400" spc="-5" dirty="0">
                <a:latin typeface="Times New Roman"/>
                <a:cs typeface="Times New Roman"/>
              </a:rPr>
              <a:t>ния,  </a:t>
            </a:r>
            <a:r>
              <a:rPr sz="2400" spc="-35" dirty="0">
                <a:latin typeface="Times New Roman"/>
                <a:cs typeface="Times New Roman"/>
              </a:rPr>
              <a:t>который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оценивает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качество </a:t>
            </a:r>
            <a:r>
              <a:rPr sz="2400" dirty="0">
                <a:latin typeface="Times New Roman"/>
                <a:cs typeface="Times New Roman"/>
              </a:rPr>
              <a:t>её</a:t>
            </a:r>
            <a:r>
              <a:rPr sz="2400" spc="-10" dirty="0">
                <a:latin typeface="Times New Roman"/>
                <a:cs typeface="Times New Roman"/>
              </a:rPr>
              <a:t> работы.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725" y="6461823"/>
            <a:ext cx="25272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sz="2700" b="1" spc="-1335" baseline="-6172" dirty="0">
                <a:latin typeface="Times New Roman"/>
                <a:cs typeface="Times New Roman"/>
              </a:rPr>
              <a:t>6</a:t>
            </a: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</a:t>
            </a:r>
            <a:r>
              <a:rPr sz="2700" b="1" spc="-1357" baseline="-6172" dirty="0">
                <a:latin typeface="Times New Roman"/>
                <a:cs typeface="Times New Roman"/>
              </a:rPr>
              <a:t>4</a:t>
            </a: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642" y="1913839"/>
            <a:ext cx="166433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/>
                <a:cs typeface="Times New Roman"/>
              </a:rPr>
              <a:t>критика</a:t>
            </a:r>
            <a:endParaRPr sz="2400">
              <a:latin typeface="Times New Roman"/>
              <a:cs typeface="Times New Roman"/>
            </a:endParaRPr>
          </a:p>
          <a:p>
            <a:pPr marL="417830">
              <a:lnSpc>
                <a:spcPct val="100000"/>
              </a:lnSpc>
              <a:spcBef>
                <a:spcPts val="575"/>
              </a:spcBef>
            </a:pPr>
            <a:r>
              <a:rPr sz="2400" b="1" spc="-15" dirty="0">
                <a:latin typeface="Times New Roman"/>
                <a:cs typeface="Times New Roman"/>
              </a:rPr>
              <a:t>функции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8802" y="1913839"/>
            <a:ext cx="156845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100">
              <a:lnSpc>
                <a:spcPct val="12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я</a:t>
            </a:r>
            <a:r>
              <a:rPr sz="2400" b="1" spc="-25" dirty="0">
                <a:latin typeface="Times New Roman"/>
                <a:cs typeface="Times New Roman"/>
              </a:rPr>
              <a:t>в</a:t>
            </a:r>
            <a:r>
              <a:rPr sz="2400" b="1" spc="-5" dirty="0">
                <a:latin typeface="Times New Roman"/>
                <a:cs typeface="Times New Roman"/>
              </a:rPr>
              <a:t>ля</a:t>
            </a:r>
            <a:r>
              <a:rPr sz="2400" b="1" dirty="0">
                <a:latin typeface="Times New Roman"/>
                <a:cs typeface="Times New Roman"/>
              </a:rPr>
              <a:t>е</a:t>
            </a:r>
            <a:r>
              <a:rPr sz="2400" b="1" spc="20" dirty="0">
                <a:latin typeface="Times New Roman"/>
                <a:cs typeface="Times New Roman"/>
              </a:rPr>
              <a:t>т</a:t>
            </a:r>
            <a:r>
              <a:rPr sz="2400" b="1" dirty="0">
                <a:latin typeface="Times New Roman"/>
                <a:cs typeface="Times New Roman"/>
              </a:rPr>
              <a:t>ся  </a:t>
            </a:r>
            <a:r>
              <a:rPr sz="2400" b="1" spc="5" dirty="0">
                <a:latin typeface="Times New Roman"/>
                <a:cs typeface="Times New Roman"/>
              </a:rPr>
              <a:t>п</a:t>
            </a:r>
            <a:r>
              <a:rPr sz="2400" b="1" spc="-40" dirty="0">
                <a:latin typeface="Times New Roman"/>
                <a:cs typeface="Times New Roman"/>
              </a:rPr>
              <a:t>о</a:t>
            </a:r>
            <a:r>
              <a:rPr sz="2400" b="1" spc="-5" dirty="0">
                <a:latin typeface="Times New Roman"/>
                <a:cs typeface="Times New Roman"/>
              </a:rPr>
              <a:t>л</a:t>
            </a:r>
            <a:r>
              <a:rPr sz="2400" b="1" dirty="0">
                <a:latin typeface="Times New Roman"/>
                <a:cs typeface="Times New Roman"/>
              </a:rPr>
              <a:t>е</a:t>
            </a:r>
            <a:r>
              <a:rPr sz="2400" b="1" spc="-5" dirty="0">
                <a:latin typeface="Times New Roman"/>
                <a:cs typeface="Times New Roman"/>
              </a:rPr>
              <a:t>зно</a:t>
            </a:r>
            <a:r>
              <a:rPr sz="2400" b="1" dirty="0">
                <a:latin typeface="Times New Roman"/>
                <a:cs typeface="Times New Roman"/>
              </a:rPr>
              <a:t>с</a:t>
            </a:r>
            <a:r>
              <a:rPr sz="2400" b="1" spc="-5" dirty="0">
                <a:latin typeface="Times New Roman"/>
                <a:cs typeface="Times New Roman"/>
              </a:rPr>
              <a:t>ти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810" y="1913839"/>
            <a:ext cx="249047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5" dirty="0">
                <a:latin typeface="Times New Roman"/>
                <a:cs typeface="Times New Roman"/>
              </a:rPr>
              <a:t>Задачей 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а</a:t>
            </a:r>
            <a:r>
              <a:rPr sz="2400" b="1" spc="5" dirty="0">
                <a:latin typeface="Times New Roman"/>
                <a:cs typeface="Times New Roman"/>
              </a:rPr>
              <a:t>п</a:t>
            </a:r>
            <a:r>
              <a:rPr sz="2400" b="1" spc="-5" dirty="0">
                <a:latin typeface="Times New Roman"/>
                <a:cs typeface="Times New Roman"/>
              </a:rPr>
              <a:t>пр</a:t>
            </a:r>
            <a:r>
              <a:rPr sz="2400" b="1" spc="10" dirty="0">
                <a:latin typeface="Times New Roman"/>
                <a:cs typeface="Times New Roman"/>
              </a:rPr>
              <a:t>о</a:t>
            </a:r>
            <a:r>
              <a:rPr sz="2400" b="1" spc="-65" dirty="0">
                <a:latin typeface="Times New Roman"/>
                <a:cs typeface="Times New Roman"/>
              </a:rPr>
              <a:t>к</a:t>
            </a:r>
            <a:r>
              <a:rPr sz="2400" b="1" dirty="0">
                <a:latin typeface="Times New Roman"/>
                <a:cs typeface="Times New Roman"/>
              </a:rPr>
              <a:t>с</a:t>
            </a:r>
            <a:r>
              <a:rPr sz="2400" b="1" spc="-5" dirty="0">
                <a:latin typeface="Times New Roman"/>
                <a:cs typeface="Times New Roman"/>
              </a:rPr>
              <a:t>имац</a:t>
            </a:r>
            <a:r>
              <a:rPr sz="2400" b="1" spc="5" dirty="0">
                <a:latin typeface="Times New Roman"/>
                <a:cs typeface="Times New Roman"/>
              </a:rPr>
              <a:t>и</a:t>
            </a:r>
            <a:r>
              <a:rPr sz="2400" b="1" dirty="0">
                <a:latin typeface="Times New Roman"/>
                <a:cs typeface="Times New Roman"/>
              </a:rPr>
              <a:t>я  </a:t>
            </a:r>
            <a:r>
              <a:rPr sz="2400" b="1" spc="-5" dirty="0">
                <a:latin typeface="Times New Roman"/>
                <a:cs typeface="Times New Roman"/>
              </a:rPr>
              <a:t>действий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Q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810" y="3303728"/>
            <a:ext cx="6075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  <a:tab pos="1530350" algn="l"/>
                <a:tab pos="2052955" algn="l"/>
                <a:tab pos="3021965" algn="l"/>
                <a:tab pos="448818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Актор	</a:t>
            </a: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15" dirty="0">
                <a:latin typeface="Times New Roman"/>
                <a:cs typeface="Times New Roman"/>
              </a:rPr>
              <a:t>блок	</a:t>
            </a:r>
            <a:r>
              <a:rPr sz="2400" spc="-5" dirty="0">
                <a:latin typeface="Times New Roman"/>
                <a:cs typeface="Times New Roman"/>
              </a:rPr>
              <a:t>системы	</a:t>
            </a:r>
            <a:r>
              <a:rPr sz="2400" spc="-10" dirty="0">
                <a:latin typeface="Times New Roman"/>
                <a:cs typeface="Times New Roman"/>
              </a:rPr>
              <a:t>управления,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7322" y="3742640"/>
            <a:ext cx="4511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задающий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действия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этой</a:t>
            </a:r>
            <a:r>
              <a:rPr sz="2400" spc="-5" dirty="0">
                <a:latin typeface="Times New Roman"/>
                <a:cs typeface="Times New Roman"/>
              </a:rPr>
              <a:t> системы.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810" y="4108400"/>
            <a:ext cx="6076950" cy="178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  <a:tab pos="1458595" algn="l"/>
                <a:tab pos="2632075" algn="l"/>
                <a:tab pos="3013075" algn="l"/>
                <a:tab pos="4114800" algn="l"/>
                <a:tab pos="5928360" algn="l"/>
              </a:tabLst>
            </a:pPr>
            <a:r>
              <a:rPr sz="2400" b="1" spc="5" dirty="0">
                <a:latin typeface="Times New Roman"/>
                <a:cs typeface="Times New Roman"/>
              </a:rPr>
              <a:t>З</a:t>
            </a:r>
            <a:r>
              <a:rPr sz="2400" b="1" dirty="0">
                <a:latin typeface="Times New Roman"/>
                <a:cs typeface="Times New Roman"/>
              </a:rPr>
              <a:t>а</a:t>
            </a:r>
            <a:r>
              <a:rPr sz="2400" b="1" spc="-5" dirty="0">
                <a:latin typeface="Times New Roman"/>
                <a:cs typeface="Times New Roman"/>
              </a:rPr>
              <a:t>д</a:t>
            </a:r>
            <a:r>
              <a:rPr sz="2400" b="1" spc="-100" dirty="0">
                <a:latin typeface="Times New Roman"/>
                <a:cs typeface="Times New Roman"/>
              </a:rPr>
              <a:t>а</a:t>
            </a:r>
            <a:r>
              <a:rPr sz="2400" b="1" dirty="0">
                <a:latin typeface="Times New Roman"/>
                <a:cs typeface="Times New Roman"/>
              </a:rPr>
              <a:t>ча	а</a:t>
            </a:r>
            <a:r>
              <a:rPr sz="2400" b="1" spc="-5" dirty="0">
                <a:latin typeface="Times New Roman"/>
                <a:cs typeface="Times New Roman"/>
              </a:rPr>
              <a:t>к</a:t>
            </a:r>
            <a:r>
              <a:rPr sz="2400" b="1" spc="-40" dirty="0">
                <a:latin typeface="Times New Roman"/>
                <a:cs typeface="Times New Roman"/>
              </a:rPr>
              <a:t>т</a:t>
            </a:r>
            <a:r>
              <a:rPr sz="2400" b="1" dirty="0">
                <a:latin typeface="Times New Roman"/>
                <a:cs typeface="Times New Roman"/>
              </a:rPr>
              <a:t>о</a:t>
            </a:r>
            <a:r>
              <a:rPr sz="2400" b="1" spc="-5" dirty="0">
                <a:latin typeface="Times New Roman"/>
                <a:cs typeface="Times New Roman"/>
              </a:rPr>
              <a:t>р</a:t>
            </a:r>
            <a:r>
              <a:rPr sz="2400" b="1" dirty="0">
                <a:latin typeface="Times New Roman"/>
                <a:cs typeface="Times New Roman"/>
              </a:rPr>
              <a:t>а	–	</a:t>
            </a:r>
            <a:r>
              <a:rPr sz="2400" b="1" spc="10" dirty="0">
                <a:latin typeface="Times New Roman"/>
                <a:cs typeface="Times New Roman"/>
              </a:rPr>
              <a:t>в</a:t>
            </a:r>
            <a:r>
              <a:rPr sz="2400" b="1" spc="-5" dirty="0">
                <a:latin typeface="Times New Roman"/>
                <a:cs typeface="Times New Roman"/>
              </a:rPr>
              <a:t>ы</a:t>
            </a:r>
            <a:r>
              <a:rPr sz="2400" b="1" spc="-40" dirty="0">
                <a:latin typeface="Times New Roman"/>
                <a:cs typeface="Times New Roman"/>
              </a:rPr>
              <a:t>б</a:t>
            </a:r>
            <a:r>
              <a:rPr sz="2400" b="1" dirty="0">
                <a:latin typeface="Times New Roman"/>
                <a:cs typeface="Times New Roman"/>
              </a:rPr>
              <a:t>ор	</a:t>
            </a:r>
            <a:r>
              <a:rPr sz="2400" b="1" spc="-5" dirty="0">
                <a:latin typeface="Times New Roman"/>
                <a:cs typeface="Times New Roman"/>
              </a:rPr>
              <a:t>н</a:t>
            </a:r>
            <a:r>
              <a:rPr sz="2400" b="1" spc="10" dirty="0">
                <a:latin typeface="Times New Roman"/>
                <a:cs typeface="Times New Roman"/>
              </a:rPr>
              <a:t>а</a:t>
            </a:r>
            <a:r>
              <a:rPr sz="2400" b="1" spc="5" dirty="0">
                <a:latin typeface="Times New Roman"/>
                <a:cs typeface="Times New Roman"/>
              </a:rPr>
              <a:t>и</a:t>
            </a:r>
            <a:r>
              <a:rPr sz="2400" b="1" spc="-5" dirty="0">
                <a:latin typeface="Times New Roman"/>
                <a:cs typeface="Times New Roman"/>
              </a:rPr>
              <a:t>лу</a:t>
            </a:r>
            <a:r>
              <a:rPr sz="2400" b="1" dirty="0">
                <a:latin typeface="Times New Roman"/>
                <a:cs typeface="Times New Roman"/>
              </a:rPr>
              <a:t>чш</a:t>
            </a:r>
            <a:r>
              <a:rPr sz="2400" b="1" spc="-5" dirty="0">
                <a:latin typeface="Times New Roman"/>
                <a:cs typeface="Times New Roman"/>
              </a:rPr>
              <a:t>и</a:t>
            </a:r>
            <a:r>
              <a:rPr sz="2400" b="1" dirty="0">
                <a:latin typeface="Times New Roman"/>
                <a:cs typeface="Times New Roman"/>
              </a:rPr>
              <a:t>х	с  </a:t>
            </a:r>
            <a:r>
              <a:rPr sz="2400" b="1" spc="-25" dirty="0">
                <a:latin typeface="Times New Roman"/>
                <a:cs typeface="Times New Roman"/>
              </a:rPr>
              <a:t>точки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зрения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критика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действий.</a:t>
            </a:r>
            <a:endParaRPr sz="2400">
              <a:latin typeface="Times New Roman"/>
              <a:cs typeface="Times New Roman"/>
            </a:endParaRPr>
          </a:p>
          <a:p>
            <a:pPr marL="299085" marR="5715" indent="-287020">
              <a:lnSpc>
                <a:spcPct val="120000"/>
              </a:lnSpc>
              <a:buFont typeface="Arial"/>
              <a:buChar char="•"/>
              <a:tabLst>
                <a:tab pos="299085" algn="l"/>
                <a:tab pos="299720" algn="l"/>
                <a:tab pos="1295400" algn="l"/>
                <a:tab pos="1656714" algn="l"/>
                <a:tab pos="2762885" algn="l"/>
                <a:tab pos="3828415" algn="l"/>
                <a:tab pos="5582285" algn="l"/>
              </a:tabLst>
            </a:pPr>
            <a:r>
              <a:rPr sz="2400" spc="-10" dirty="0">
                <a:latin typeface="Times New Roman"/>
                <a:cs typeface="Times New Roman"/>
              </a:rPr>
              <a:t>А</a:t>
            </a:r>
            <a:r>
              <a:rPr sz="2400" spc="-30" dirty="0">
                <a:latin typeface="Times New Roman"/>
                <a:cs typeface="Times New Roman"/>
              </a:rPr>
              <a:t>к</a:t>
            </a:r>
            <a:r>
              <a:rPr sz="2400" spc="-45" dirty="0">
                <a:latin typeface="Times New Roman"/>
                <a:cs typeface="Times New Roman"/>
              </a:rPr>
              <a:t>т</a:t>
            </a:r>
            <a:r>
              <a:rPr sz="2400" dirty="0">
                <a:latin typeface="Times New Roman"/>
                <a:cs typeface="Times New Roman"/>
              </a:rPr>
              <a:t>ор	и	</a:t>
            </a:r>
            <a:r>
              <a:rPr sz="2400" spc="10" dirty="0">
                <a:latin typeface="Times New Roman"/>
                <a:cs typeface="Times New Roman"/>
              </a:rPr>
              <a:t>к</a:t>
            </a:r>
            <a:r>
              <a:rPr sz="2400" dirty="0">
                <a:latin typeface="Times New Roman"/>
                <a:cs typeface="Times New Roman"/>
              </a:rPr>
              <a:t>ри</a:t>
            </a:r>
            <a:r>
              <a:rPr sz="2400" spc="-5" dirty="0">
                <a:latin typeface="Times New Roman"/>
                <a:cs typeface="Times New Roman"/>
              </a:rPr>
              <a:t>ти</a:t>
            </a:r>
            <a:r>
              <a:rPr sz="2400" dirty="0">
                <a:latin typeface="Times New Roman"/>
                <a:cs typeface="Times New Roman"/>
              </a:rPr>
              <a:t>к	</a:t>
            </a:r>
            <a:r>
              <a:rPr sz="2400" spc="5" dirty="0">
                <a:latin typeface="Times New Roman"/>
                <a:cs typeface="Times New Roman"/>
              </a:rPr>
              <a:t>м</a:t>
            </a:r>
            <a:r>
              <a:rPr sz="2400" spc="-50" dirty="0">
                <a:latin typeface="Times New Roman"/>
                <a:cs typeface="Times New Roman"/>
              </a:rPr>
              <a:t>о</a:t>
            </a:r>
            <a:r>
              <a:rPr sz="2400" spc="5" dirty="0">
                <a:latin typeface="Times New Roman"/>
                <a:cs typeface="Times New Roman"/>
              </a:rPr>
              <a:t>ж</a:t>
            </a:r>
            <a:r>
              <a:rPr sz="2400" spc="-5" dirty="0">
                <a:latin typeface="Times New Roman"/>
                <a:cs typeface="Times New Roman"/>
              </a:rPr>
              <a:t>н</a:t>
            </a:r>
            <a:r>
              <a:rPr sz="2400" dirty="0">
                <a:latin typeface="Times New Roman"/>
                <a:cs typeface="Times New Roman"/>
              </a:rPr>
              <a:t>о	р</a:t>
            </a:r>
            <a:r>
              <a:rPr sz="2400" spc="25" dirty="0">
                <a:latin typeface="Times New Roman"/>
                <a:cs typeface="Times New Roman"/>
              </a:rPr>
              <a:t>еа</a:t>
            </a:r>
            <a:r>
              <a:rPr sz="2400" dirty="0">
                <a:latin typeface="Times New Roman"/>
                <a:cs typeface="Times New Roman"/>
              </a:rPr>
              <a:t>л</a:t>
            </a:r>
            <a:r>
              <a:rPr sz="2400" spc="-5" dirty="0">
                <a:latin typeface="Times New Roman"/>
                <a:cs typeface="Times New Roman"/>
              </a:rPr>
              <a:t>и</a:t>
            </a:r>
            <a:r>
              <a:rPr sz="2400" spc="-15" dirty="0">
                <a:latin typeface="Times New Roman"/>
                <a:cs typeface="Times New Roman"/>
              </a:rPr>
              <a:t>з</a:t>
            </a:r>
            <a:r>
              <a:rPr sz="2400" dirty="0">
                <a:latin typeface="Times New Roman"/>
                <a:cs typeface="Times New Roman"/>
              </a:rPr>
              <a:t>о</a:t>
            </a:r>
            <a:r>
              <a:rPr sz="2400" spc="-45" dirty="0">
                <a:latin typeface="Times New Roman"/>
                <a:cs typeface="Times New Roman"/>
              </a:rPr>
              <a:t>в</a:t>
            </a:r>
            <a:r>
              <a:rPr sz="2400" spc="-60" dirty="0">
                <a:latin typeface="Times New Roman"/>
                <a:cs typeface="Times New Roman"/>
              </a:rPr>
              <a:t>а</a:t>
            </a:r>
            <a:r>
              <a:rPr sz="2400" spc="5" dirty="0">
                <a:latin typeface="Times New Roman"/>
                <a:cs typeface="Times New Roman"/>
              </a:rPr>
              <a:t>т</a:t>
            </a:r>
            <a:r>
              <a:rPr sz="2400" dirty="0">
                <a:latin typeface="Times New Roman"/>
                <a:cs typeface="Times New Roman"/>
              </a:rPr>
              <a:t>ь	</a:t>
            </a:r>
            <a:r>
              <a:rPr sz="2400" spc="-5" dirty="0">
                <a:latin typeface="Times New Roman"/>
                <a:cs typeface="Times New Roman"/>
              </a:rPr>
              <a:t>п</a:t>
            </a:r>
            <a:r>
              <a:rPr sz="2400" spc="10" dirty="0">
                <a:latin typeface="Times New Roman"/>
                <a:cs typeface="Times New Roman"/>
              </a:rPr>
              <a:t>р</a:t>
            </a:r>
            <a:r>
              <a:rPr sz="2400" dirty="0">
                <a:latin typeface="Times New Roman"/>
                <a:cs typeface="Times New Roman"/>
              </a:rPr>
              <a:t>и  </a:t>
            </a:r>
            <a:r>
              <a:rPr sz="2400" spc="-10" dirty="0">
                <a:latin typeface="Times New Roman"/>
                <a:cs typeface="Times New Roman"/>
              </a:rPr>
              <a:t>помощи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нейронных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сетей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2126" y="3764542"/>
            <a:ext cx="4738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Times New Roman"/>
                <a:cs typeface="Times New Roman"/>
              </a:rPr>
              <a:t>Авторы</a:t>
            </a:r>
            <a:r>
              <a:rPr sz="2000" i="1" spc="3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-</a:t>
            </a:r>
            <a:r>
              <a:rPr sz="2000" i="1" spc="38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Данил</a:t>
            </a:r>
            <a:r>
              <a:rPr sz="2000" i="1" spc="3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Валентинович</a:t>
            </a:r>
            <a:r>
              <a:rPr sz="2000" i="1" spc="370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Прохоров,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71871" y="4069443"/>
            <a:ext cx="474027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854835" algn="l"/>
                <a:tab pos="1887220" algn="l"/>
                <a:tab pos="2969260" algn="l"/>
                <a:tab pos="3656329" algn="l"/>
                <a:tab pos="4496435" algn="l"/>
                <a:tab pos="4599305" algn="l"/>
              </a:tabLst>
            </a:pPr>
            <a:r>
              <a:rPr sz="2000" i="1" spc="-5" dirty="0">
                <a:latin typeface="Times New Roman"/>
                <a:cs typeface="Times New Roman"/>
              </a:rPr>
              <a:t>Д</a:t>
            </a:r>
            <a:r>
              <a:rPr sz="2000" i="1" spc="5" dirty="0">
                <a:latin typeface="Times New Roman"/>
                <a:cs typeface="Times New Roman"/>
              </a:rPr>
              <a:t>о</a:t>
            </a:r>
            <a:r>
              <a:rPr sz="2000" i="1" spc="-10" dirty="0">
                <a:latin typeface="Times New Roman"/>
                <a:cs typeface="Times New Roman"/>
              </a:rPr>
              <a:t>н</a:t>
            </a:r>
            <a:r>
              <a:rPr sz="2000" i="1" spc="5" dirty="0">
                <a:latin typeface="Times New Roman"/>
                <a:cs typeface="Times New Roman"/>
              </a:rPr>
              <a:t>а</a:t>
            </a:r>
            <a:r>
              <a:rPr sz="2000" i="1" dirty="0">
                <a:latin typeface="Times New Roman"/>
                <a:cs typeface="Times New Roman"/>
              </a:rPr>
              <a:t>л</a:t>
            </a:r>
            <a:r>
              <a:rPr sz="2000" i="1" spc="-5" dirty="0">
                <a:latin typeface="Times New Roman"/>
                <a:cs typeface="Times New Roman"/>
              </a:rPr>
              <a:t>ь</a:t>
            </a:r>
            <a:r>
              <a:rPr sz="2000" i="1" dirty="0">
                <a:latin typeface="Times New Roman"/>
                <a:cs typeface="Times New Roman"/>
              </a:rPr>
              <a:t>д	С	</a:t>
            </a:r>
            <a:r>
              <a:rPr sz="2000" i="1" spc="-25" dirty="0">
                <a:latin typeface="Times New Roman"/>
                <a:cs typeface="Times New Roman"/>
              </a:rPr>
              <a:t>В</a:t>
            </a:r>
            <a:r>
              <a:rPr sz="2000" i="1" spc="-5" dirty="0">
                <a:latin typeface="Times New Roman"/>
                <a:cs typeface="Times New Roman"/>
              </a:rPr>
              <a:t>у</a:t>
            </a:r>
            <a:r>
              <a:rPr sz="2000" i="1" dirty="0">
                <a:latin typeface="Times New Roman"/>
                <a:cs typeface="Times New Roman"/>
              </a:rPr>
              <a:t>нш		</a:t>
            </a:r>
            <a:r>
              <a:rPr sz="2000" i="1" spc="-10" dirty="0">
                <a:latin typeface="Times New Roman"/>
                <a:cs typeface="Times New Roman"/>
              </a:rPr>
              <a:t>II,  </a:t>
            </a:r>
            <a:r>
              <a:rPr sz="2000" i="1" spc="-5" dirty="0">
                <a:latin typeface="Times New Roman"/>
                <a:cs typeface="Times New Roman"/>
              </a:rPr>
              <a:t>М</a:t>
            </a:r>
            <a:r>
              <a:rPr sz="2000" i="1" spc="5" dirty="0">
                <a:latin typeface="Times New Roman"/>
                <a:cs typeface="Times New Roman"/>
              </a:rPr>
              <a:t>и</a:t>
            </a:r>
            <a:r>
              <a:rPr sz="2000" i="1" spc="-5" dirty="0">
                <a:latin typeface="Times New Roman"/>
                <a:cs typeface="Times New Roman"/>
              </a:rPr>
              <a:t>с</a:t>
            </a:r>
            <a:r>
              <a:rPr sz="2000" i="1" spc="-30" dirty="0">
                <a:latin typeface="Times New Roman"/>
                <a:cs typeface="Times New Roman"/>
              </a:rPr>
              <a:t>су</a:t>
            </a:r>
            <a:r>
              <a:rPr sz="2000" i="1" spc="-10" dirty="0">
                <a:latin typeface="Times New Roman"/>
                <a:cs typeface="Times New Roman"/>
              </a:rPr>
              <a:t>ри</a:t>
            </a:r>
            <a:r>
              <a:rPr sz="2000" i="1" spc="5" dirty="0">
                <a:latin typeface="Times New Roman"/>
                <a:cs typeface="Times New Roman"/>
              </a:rPr>
              <a:t>й</a:t>
            </a:r>
            <a:r>
              <a:rPr sz="2000" i="1" spc="-5" dirty="0">
                <a:latin typeface="Times New Roman"/>
                <a:cs typeface="Times New Roman"/>
              </a:rPr>
              <a:t>ск</a:t>
            </a:r>
            <a:r>
              <a:rPr sz="2000" i="1" spc="-10" dirty="0">
                <a:latin typeface="Times New Roman"/>
                <a:cs typeface="Times New Roman"/>
              </a:rPr>
              <a:t>и</a:t>
            </a:r>
            <a:r>
              <a:rPr sz="2000" i="1" dirty="0">
                <a:latin typeface="Times New Roman"/>
                <a:cs typeface="Times New Roman"/>
              </a:rPr>
              <a:t>й		</a:t>
            </a:r>
            <a:r>
              <a:rPr sz="2000" i="1" spc="-5" dirty="0">
                <a:latin typeface="Times New Roman"/>
                <a:cs typeface="Times New Roman"/>
              </a:rPr>
              <a:t>у</a:t>
            </a:r>
            <a:r>
              <a:rPr sz="2000" i="1" spc="-15" dirty="0">
                <a:latin typeface="Times New Roman"/>
                <a:cs typeface="Times New Roman"/>
              </a:rPr>
              <a:t>н</a:t>
            </a:r>
            <a:r>
              <a:rPr sz="2000" i="1" spc="5" dirty="0">
                <a:latin typeface="Times New Roman"/>
                <a:cs typeface="Times New Roman"/>
              </a:rPr>
              <a:t>и</a:t>
            </a:r>
            <a:r>
              <a:rPr sz="2000" i="1" spc="-10" dirty="0">
                <a:latin typeface="Times New Roman"/>
                <a:cs typeface="Times New Roman"/>
              </a:rPr>
              <a:t>в</a:t>
            </a:r>
            <a:r>
              <a:rPr sz="2000" i="1" spc="-15" dirty="0">
                <a:latin typeface="Times New Roman"/>
                <a:cs typeface="Times New Roman"/>
              </a:rPr>
              <a:t>е</a:t>
            </a:r>
            <a:r>
              <a:rPr sz="2000" i="1" spc="5" dirty="0">
                <a:latin typeface="Times New Roman"/>
                <a:cs typeface="Times New Roman"/>
              </a:rPr>
              <a:t>р</a:t>
            </a:r>
            <a:r>
              <a:rPr sz="2000" i="1" spc="-5" dirty="0">
                <a:latin typeface="Times New Roman"/>
                <a:cs typeface="Times New Roman"/>
              </a:rPr>
              <a:t>с</a:t>
            </a:r>
            <a:r>
              <a:rPr sz="2000" i="1" spc="5" dirty="0">
                <a:latin typeface="Times New Roman"/>
                <a:cs typeface="Times New Roman"/>
              </a:rPr>
              <a:t>и</a:t>
            </a:r>
            <a:r>
              <a:rPr sz="2000" i="1" spc="-10" dirty="0">
                <a:latin typeface="Times New Roman"/>
                <a:cs typeface="Times New Roman"/>
              </a:rPr>
              <a:t>т</a:t>
            </a:r>
            <a:r>
              <a:rPr sz="2000" i="1" spc="-30" dirty="0">
                <a:latin typeface="Times New Roman"/>
                <a:cs typeface="Times New Roman"/>
              </a:rPr>
              <a:t>е</a:t>
            </a:r>
            <a:r>
              <a:rPr sz="2000" i="1" dirty="0">
                <a:latin typeface="Times New Roman"/>
                <a:cs typeface="Times New Roman"/>
              </a:rPr>
              <a:t>т	</a:t>
            </a:r>
            <a:r>
              <a:rPr sz="2000" i="1" spc="-15" dirty="0">
                <a:latin typeface="Times New Roman"/>
                <a:cs typeface="Times New Roman"/>
              </a:rPr>
              <a:t>н</a:t>
            </a:r>
            <a:r>
              <a:rPr sz="2000" i="1" spc="-20" dirty="0">
                <a:latin typeface="Times New Roman"/>
                <a:cs typeface="Times New Roman"/>
              </a:rPr>
              <a:t>а</a:t>
            </a:r>
            <a:r>
              <a:rPr sz="2000" i="1" spc="-5" dirty="0">
                <a:latin typeface="Times New Roman"/>
                <a:cs typeface="Times New Roman"/>
              </a:rPr>
              <a:t>у</a:t>
            </a:r>
            <a:r>
              <a:rPr sz="2000" i="1" spc="-15" dirty="0">
                <a:latin typeface="Times New Roman"/>
                <a:cs typeface="Times New Roman"/>
              </a:rPr>
              <a:t>к</a:t>
            </a:r>
            <a:r>
              <a:rPr sz="2000" i="1" dirty="0">
                <a:latin typeface="Times New Roman"/>
                <a:cs typeface="Times New Roman"/>
              </a:rPr>
              <a:t>и		и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1871" y="4679244"/>
            <a:ext cx="1974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latin typeface="Times New Roman"/>
                <a:cs typeface="Times New Roman"/>
              </a:rPr>
              <a:t>технологий,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spc="5" dirty="0">
                <a:latin typeface="Times New Roman"/>
                <a:cs typeface="Times New Roman"/>
              </a:rPr>
              <a:t>1997.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1871" y="5307115"/>
            <a:ext cx="33610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  <a:tab pos="2540635" algn="l"/>
              </a:tabLst>
            </a:pPr>
            <a:r>
              <a:rPr sz="2000" i="1" dirty="0">
                <a:latin typeface="Times New Roman"/>
                <a:cs typeface="Times New Roman"/>
              </a:rPr>
              <a:t>В	</a:t>
            </a:r>
            <a:r>
              <a:rPr sz="2000" i="1" spc="-10" dirty="0">
                <a:latin typeface="Times New Roman"/>
                <a:cs typeface="Times New Roman"/>
              </a:rPr>
              <a:t>I</a:t>
            </a:r>
            <a:r>
              <a:rPr sz="2000" i="1" spc="-155" dirty="0">
                <a:latin typeface="Times New Roman"/>
                <a:cs typeface="Times New Roman"/>
              </a:rPr>
              <a:t>T</a:t>
            </a:r>
            <a:r>
              <a:rPr sz="2000" i="1" dirty="0">
                <a:latin typeface="Times New Roman"/>
                <a:cs typeface="Times New Roman"/>
              </a:rPr>
              <a:t>-</a:t>
            </a:r>
            <a:r>
              <a:rPr sz="2000" i="1" spc="-65" dirty="0">
                <a:latin typeface="Times New Roman"/>
                <a:cs typeface="Times New Roman"/>
              </a:rPr>
              <a:t>с</a:t>
            </a:r>
            <a:r>
              <a:rPr sz="2000" i="1" spc="-10" dirty="0">
                <a:latin typeface="Times New Roman"/>
                <a:cs typeface="Times New Roman"/>
              </a:rPr>
              <a:t>о</a:t>
            </a:r>
            <a:r>
              <a:rPr sz="2000" i="1" spc="-20" dirty="0">
                <a:latin typeface="Times New Roman"/>
                <a:cs typeface="Times New Roman"/>
              </a:rPr>
              <a:t>о</a:t>
            </a:r>
            <a:r>
              <a:rPr sz="2000" i="1" dirty="0">
                <a:latin typeface="Times New Roman"/>
                <a:cs typeface="Times New Roman"/>
              </a:rPr>
              <a:t>б</a:t>
            </a:r>
            <a:r>
              <a:rPr sz="2000" i="1" spc="30" dirty="0">
                <a:latin typeface="Times New Roman"/>
                <a:cs typeface="Times New Roman"/>
              </a:rPr>
              <a:t>щ</a:t>
            </a:r>
            <a:r>
              <a:rPr sz="2000" i="1" spc="-30" dirty="0">
                <a:latin typeface="Times New Roman"/>
                <a:cs typeface="Times New Roman"/>
              </a:rPr>
              <a:t>е</a:t>
            </a:r>
            <a:r>
              <a:rPr sz="2000" i="1" spc="-5" dirty="0">
                <a:latin typeface="Times New Roman"/>
                <a:cs typeface="Times New Roman"/>
              </a:rPr>
              <a:t>с</a:t>
            </a:r>
            <a:r>
              <a:rPr sz="2000" i="1" spc="5" dirty="0">
                <a:latin typeface="Times New Roman"/>
                <a:cs typeface="Times New Roman"/>
              </a:rPr>
              <a:t>т</a:t>
            </a:r>
            <a:r>
              <a:rPr sz="2000" i="1" spc="-10" dirty="0">
                <a:latin typeface="Times New Roman"/>
                <a:cs typeface="Times New Roman"/>
              </a:rPr>
              <a:t>в</a:t>
            </a:r>
            <a:r>
              <a:rPr sz="2000" i="1" dirty="0">
                <a:latin typeface="Times New Roman"/>
                <a:cs typeface="Times New Roman"/>
              </a:rPr>
              <a:t>е	</a:t>
            </a:r>
            <a:r>
              <a:rPr sz="2000" i="1" spc="-15" dirty="0">
                <a:latin typeface="Times New Roman"/>
                <a:cs typeface="Times New Roman"/>
              </a:rPr>
              <a:t>ш</a:t>
            </a:r>
            <a:r>
              <a:rPr sz="2000" i="1" spc="-10" dirty="0">
                <a:latin typeface="Times New Roman"/>
                <a:cs typeface="Times New Roman"/>
              </a:rPr>
              <a:t>ир</a:t>
            </a:r>
            <a:r>
              <a:rPr sz="2000" i="1" spc="5" dirty="0">
                <a:latin typeface="Times New Roman"/>
                <a:cs typeface="Times New Roman"/>
              </a:rPr>
              <a:t>о</a:t>
            </a:r>
            <a:r>
              <a:rPr sz="2000" i="1" spc="-90" dirty="0">
                <a:latin typeface="Times New Roman"/>
                <a:cs typeface="Times New Roman"/>
              </a:rPr>
              <a:t>к</a:t>
            </a:r>
            <a:r>
              <a:rPr sz="2000" i="1" dirty="0">
                <a:latin typeface="Times New Roman"/>
                <a:cs typeface="Times New Roman"/>
              </a:rPr>
              <a:t>о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92014" y="5307115"/>
            <a:ext cx="10198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известна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71871" y="5612016"/>
            <a:ext cx="4738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150" algn="l"/>
                <a:tab pos="3213100" algn="l"/>
                <a:tab pos="4346575" algn="l"/>
              </a:tabLst>
            </a:pPr>
            <a:r>
              <a:rPr sz="2000" i="1" dirty="0">
                <a:latin typeface="Times New Roman"/>
                <a:cs typeface="Times New Roman"/>
              </a:rPr>
              <a:t>н</a:t>
            </a:r>
            <a:r>
              <a:rPr sz="2000" i="1" spc="-40" dirty="0">
                <a:latin typeface="Times New Roman"/>
                <a:cs typeface="Times New Roman"/>
              </a:rPr>
              <a:t>еб</a:t>
            </a:r>
            <a:r>
              <a:rPr sz="2000" i="1" spc="-45" dirty="0">
                <a:latin typeface="Times New Roman"/>
                <a:cs typeface="Times New Roman"/>
              </a:rPr>
              <a:t>о</a:t>
            </a:r>
            <a:r>
              <a:rPr sz="2000" i="1" dirty="0">
                <a:latin typeface="Times New Roman"/>
                <a:cs typeface="Times New Roman"/>
              </a:rPr>
              <a:t>л</a:t>
            </a:r>
            <a:r>
              <a:rPr sz="2000" i="1" spc="-5" dirty="0">
                <a:latin typeface="Times New Roman"/>
                <a:cs typeface="Times New Roman"/>
              </a:rPr>
              <a:t>ьш</a:t>
            </a:r>
            <a:r>
              <a:rPr sz="2000" i="1" spc="-10" dirty="0">
                <a:latin typeface="Times New Roman"/>
                <a:cs typeface="Times New Roman"/>
              </a:rPr>
              <a:t>а</a:t>
            </a:r>
            <a:r>
              <a:rPr sz="2000" i="1" dirty="0">
                <a:latin typeface="Times New Roman"/>
                <a:cs typeface="Times New Roman"/>
              </a:rPr>
              <a:t>я	</a:t>
            </a:r>
            <a:r>
              <a:rPr sz="2000" i="1" spc="-10" dirty="0">
                <a:latin typeface="Times New Roman"/>
                <a:cs typeface="Times New Roman"/>
              </a:rPr>
              <a:t>м</a:t>
            </a:r>
            <a:r>
              <a:rPr sz="2000" i="1" spc="-20" dirty="0">
                <a:latin typeface="Times New Roman"/>
                <a:cs typeface="Times New Roman"/>
              </a:rPr>
              <a:t>о</a:t>
            </a:r>
            <a:r>
              <a:rPr sz="2000" i="1" spc="-10" dirty="0">
                <a:latin typeface="Times New Roman"/>
                <a:cs typeface="Times New Roman"/>
              </a:rPr>
              <a:t>д</a:t>
            </a:r>
            <a:r>
              <a:rPr sz="2000" i="1" spc="5" dirty="0">
                <a:latin typeface="Times New Roman"/>
                <a:cs typeface="Times New Roman"/>
              </a:rPr>
              <a:t>и</a:t>
            </a:r>
            <a:r>
              <a:rPr sz="2000" i="1" spc="-10" dirty="0">
                <a:latin typeface="Times New Roman"/>
                <a:cs typeface="Times New Roman"/>
              </a:rPr>
              <a:t>ф</a:t>
            </a:r>
            <a:r>
              <a:rPr sz="2000" i="1" spc="5" dirty="0">
                <a:latin typeface="Times New Roman"/>
                <a:cs typeface="Times New Roman"/>
              </a:rPr>
              <a:t>и</a:t>
            </a:r>
            <a:r>
              <a:rPr sz="2000" i="1" spc="-65" dirty="0">
                <a:latin typeface="Times New Roman"/>
                <a:cs typeface="Times New Roman"/>
              </a:rPr>
              <a:t>к</a:t>
            </a:r>
            <a:r>
              <a:rPr sz="2000" i="1" spc="5" dirty="0">
                <a:latin typeface="Times New Roman"/>
                <a:cs typeface="Times New Roman"/>
              </a:rPr>
              <a:t>а</a:t>
            </a:r>
            <a:r>
              <a:rPr sz="2000" i="1" spc="-10" dirty="0">
                <a:latin typeface="Times New Roman"/>
                <a:cs typeface="Times New Roman"/>
              </a:rPr>
              <a:t>ци</a:t>
            </a:r>
            <a:r>
              <a:rPr sz="2000" i="1" dirty="0">
                <a:latin typeface="Times New Roman"/>
                <a:cs typeface="Times New Roman"/>
              </a:rPr>
              <a:t>я	</a:t>
            </a:r>
            <a:r>
              <a:rPr sz="2000" i="1" spc="5" dirty="0">
                <a:latin typeface="Times New Roman"/>
                <a:cs typeface="Times New Roman"/>
              </a:rPr>
              <a:t>м</a:t>
            </a:r>
            <a:r>
              <a:rPr sz="2000" i="1" spc="-30" dirty="0">
                <a:latin typeface="Times New Roman"/>
                <a:cs typeface="Times New Roman"/>
              </a:rPr>
              <a:t>е</a:t>
            </a:r>
            <a:r>
              <a:rPr sz="2000" i="1" spc="-10" dirty="0">
                <a:latin typeface="Times New Roman"/>
                <a:cs typeface="Times New Roman"/>
              </a:rPr>
              <a:t>т</a:t>
            </a:r>
            <a:r>
              <a:rPr sz="2000" i="1" spc="-20" dirty="0">
                <a:latin typeface="Times New Roman"/>
                <a:cs typeface="Times New Roman"/>
              </a:rPr>
              <a:t>о</a:t>
            </a:r>
            <a:r>
              <a:rPr sz="2000" i="1" spc="-10" dirty="0">
                <a:latin typeface="Times New Roman"/>
                <a:cs typeface="Times New Roman"/>
              </a:rPr>
              <a:t>д</a:t>
            </a:r>
            <a:r>
              <a:rPr sz="2000" i="1" dirty="0">
                <a:latin typeface="Times New Roman"/>
                <a:cs typeface="Times New Roman"/>
              </a:rPr>
              <a:t>а	</a:t>
            </a:r>
            <a:r>
              <a:rPr sz="2000" i="1" spc="-10" dirty="0">
                <a:latin typeface="Times New Roman"/>
                <a:cs typeface="Times New Roman"/>
              </a:rPr>
              <a:t>п</a:t>
            </a:r>
            <a:r>
              <a:rPr sz="2000" i="1" spc="-20" dirty="0">
                <a:latin typeface="Times New Roman"/>
                <a:cs typeface="Times New Roman"/>
              </a:rPr>
              <a:t>од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2126" y="5916917"/>
            <a:ext cx="2607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названием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DDPG</a:t>
            </a:r>
            <a:r>
              <a:rPr sz="2000" i="1" dirty="0">
                <a:latin typeface="Times New Roman"/>
                <a:cs typeface="Times New Roman"/>
              </a:rPr>
              <a:t>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5" dirty="0">
                <a:latin typeface="Times New Roman"/>
                <a:cs typeface="Times New Roman"/>
              </a:rPr>
              <a:t>2015.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172846"/>
            <a:ext cx="2215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ФО</a:t>
            </a:r>
            <a:r>
              <a:rPr sz="3200" spc="-40" dirty="0"/>
              <a:t>Р</a:t>
            </a:r>
            <a:r>
              <a:rPr sz="3200" spc="-10" dirty="0"/>
              <a:t>М</a:t>
            </a:r>
            <a:r>
              <a:rPr sz="3200" spc="-125" dirty="0"/>
              <a:t>У</a:t>
            </a:r>
            <a:r>
              <a:rPr sz="3200" spc="-10" dirty="0"/>
              <a:t>Л</a:t>
            </a:r>
            <a:r>
              <a:rPr sz="3200" dirty="0"/>
              <a:t>Ы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007" y="1774939"/>
            <a:ext cx="8915819" cy="13362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68241" y="4478829"/>
            <a:ext cx="261620" cy="0"/>
          </a:xfrm>
          <a:custGeom>
            <a:avLst/>
            <a:gdLst/>
            <a:ahLst/>
            <a:cxnLst/>
            <a:rect l="l" t="t" r="r" b="b"/>
            <a:pathLst>
              <a:path w="261620">
                <a:moveTo>
                  <a:pt x="0" y="0"/>
                </a:moveTo>
                <a:lnTo>
                  <a:pt x="261125" y="0"/>
                </a:lnTo>
              </a:path>
            </a:pathLst>
          </a:custGeom>
          <a:ln w="209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83647" y="1093180"/>
            <a:ext cx="61201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imes New Roman"/>
                <a:cs typeface="Times New Roman"/>
              </a:rPr>
              <a:t>Определение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функции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полезности: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435" y="3287736"/>
            <a:ext cx="11225530" cy="188404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365"/>
              </a:spcBef>
            </a:pPr>
            <a:r>
              <a:rPr sz="3200" spc="-25" dirty="0">
                <a:latin typeface="Times New Roman"/>
                <a:cs typeface="Times New Roman"/>
              </a:rPr>
              <a:t>Формула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вычисления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целевых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значений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для</a:t>
            </a:r>
            <a:r>
              <a:rPr sz="3200" spc="-15" dirty="0">
                <a:latin typeface="Times New Roman"/>
                <a:cs typeface="Times New Roman"/>
              </a:rPr>
              <a:t> обучения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критика: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380"/>
              </a:spcBef>
              <a:tabLst>
                <a:tab pos="1079500" algn="l"/>
              </a:tabLst>
            </a:pPr>
            <a:r>
              <a:rPr sz="4600" i="1" spc="229" dirty="0">
                <a:latin typeface="Times New Roman"/>
                <a:cs typeface="Times New Roman"/>
              </a:rPr>
              <a:t>q</a:t>
            </a:r>
            <a:r>
              <a:rPr sz="4950" i="1" spc="120" baseline="-23569" dirty="0">
                <a:latin typeface="Times New Roman"/>
                <a:cs typeface="Times New Roman"/>
              </a:rPr>
              <a:t>s</a:t>
            </a:r>
            <a:r>
              <a:rPr sz="4950" spc="-67" baseline="-23569" dirty="0">
                <a:latin typeface="Times New Roman"/>
                <a:cs typeface="Times New Roman"/>
              </a:rPr>
              <a:t>,</a:t>
            </a:r>
            <a:r>
              <a:rPr sz="4950" spc="-607" baseline="-23569" dirty="0">
                <a:latin typeface="Times New Roman"/>
                <a:cs typeface="Times New Roman"/>
              </a:rPr>
              <a:t> </a:t>
            </a:r>
            <a:r>
              <a:rPr sz="4950" i="1" spc="-127" baseline="-23569" dirty="0">
                <a:latin typeface="Times New Roman"/>
                <a:cs typeface="Times New Roman"/>
              </a:rPr>
              <a:t>a</a:t>
            </a:r>
            <a:r>
              <a:rPr sz="4950" i="1" baseline="-23569" dirty="0">
                <a:latin typeface="Times New Roman"/>
                <a:cs typeface="Times New Roman"/>
              </a:rPr>
              <a:t>	</a:t>
            </a:r>
            <a:r>
              <a:rPr sz="4600" spc="-120" dirty="0">
                <a:latin typeface="Symbol"/>
                <a:cs typeface="Symbol"/>
              </a:rPr>
              <a:t></a:t>
            </a:r>
            <a:r>
              <a:rPr sz="4600" spc="-280" dirty="0">
                <a:latin typeface="Times New Roman"/>
                <a:cs typeface="Times New Roman"/>
              </a:rPr>
              <a:t> </a:t>
            </a:r>
            <a:r>
              <a:rPr sz="4600" i="1" spc="-360" dirty="0">
                <a:latin typeface="Times New Roman"/>
                <a:cs typeface="Times New Roman"/>
              </a:rPr>
              <a:t>Q</a:t>
            </a:r>
            <a:r>
              <a:rPr sz="4950" i="1" spc="-75" baseline="-19360" dirty="0">
                <a:latin typeface="Times New Roman"/>
                <a:cs typeface="Times New Roman"/>
              </a:rPr>
              <a:t>t</a:t>
            </a:r>
            <a:r>
              <a:rPr sz="4950" i="1" spc="-225" baseline="-19360" dirty="0">
                <a:latin typeface="Times New Roman"/>
                <a:cs typeface="Times New Roman"/>
              </a:rPr>
              <a:t> </a:t>
            </a:r>
            <a:r>
              <a:rPr sz="4600" spc="105" dirty="0">
                <a:latin typeface="Times New Roman"/>
                <a:cs typeface="Times New Roman"/>
              </a:rPr>
              <a:t>(</a:t>
            </a:r>
            <a:r>
              <a:rPr sz="4600" i="1" spc="-10" dirty="0">
                <a:latin typeface="Times New Roman"/>
                <a:cs typeface="Times New Roman"/>
              </a:rPr>
              <a:t>s</a:t>
            </a:r>
            <a:r>
              <a:rPr sz="4600" spc="-55" dirty="0">
                <a:latin typeface="Times New Roman"/>
                <a:cs typeface="Times New Roman"/>
              </a:rPr>
              <a:t>,</a:t>
            </a:r>
            <a:r>
              <a:rPr sz="4600" spc="220" dirty="0">
                <a:latin typeface="Times New Roman"/>
                <a:cs typeface="Times New Roman"/>
              </a:rPr>
              <a:t> </a:t>
            </a:r>
            <a:r>
              <a:rPr sz="4600" i="1" spc="25" dirty="0">
                <a:latin typeface="Times New Roman"/>
                <a:cs typeface="Times New Roman"/>
              </a:rPr>
              <a:t>a</a:t>
            </a:r>
            <a:r>
              <a:rPr sz="4600" spc="-75" dirty="0">
                <a:latin typeface="Times New Roman"/>
                <a:cs typeface="Times New Roman"/>
              </a:rPr>
              <a:t>)</a:t>
            </a:r>
            <a:r>
              <a:rPr sz="4600" spc="-350" dirty="0">
                <a:latin typeface="Times New Roman"/>
                <a:cs typeface="Times New Roman"/>
              </a:rPr>
              <a:t> </a:t>
            </a:r>
            <a:r>
              <a:rPr sz="4600" spc="-120" dirty="0">
                <a:latin typeface="Symbol"/>
                <a:cs typeface="Symbol"/>
              </a:rPr>
              <a:t></a:t>
            </a:r>
            <a:r>
              <a:rPr sz="4600" spc="-340" dirty="0">
                <a:latin typeface="Times New Roman"/>
                <a:cs typeface="Times New Roman"/>
              </a:rPr>
              <a:t> </a:t>
            </a:r>
            <a:r>
              <a:rPr sz="4600" spc="-55" dirty="0">
                <a:latin typeface="Symbol"/>
                <a:cs typeface="Symbol"/>
              </a:rPr>
              <a:t></a:t>
            </a:r>
            <a:r>
              <a:rPr sz="5950" spc="-595" dirty="0">
                <a:latin typeface="Symbol"/>
                <a:cs typeface="Symbol"/>
              </a:rPr>
              <a:t></a:t>
            </a:r>
            <a:r>
              <a:rPr sz="4600" i="1" spc="195" dirty="0">
                <a:latin typeface="Times New Roman"/>
                <a:cs typeface="Times New Roman"/>
              </a:rPr>
              <a:t>r</a:t>
            </a:r>
            <a:r>
              <a:rPr sz="4600" spc="105" dirty="0">
                <a:latin typeface="Times New Roman"/>
                <a:cs typeface="Times New Roman"/>
              </a:rPr>
              <a:t>(</a:t>
            </a:r>
            <a:r>
              <a:rPr sz="4600" i="1" spc="-10" dirty="0">
                <a:latin typeface="Times New Roman"/>
                <a:cs typeface="Times New Roman"/>
              </a:rPr>
              <a:t>s</a:t>
            </a:r>
            <a:r>
              <a:rPr sz="4600" spc="-55" dirty="0">
                <a:latin typeface="Times New Roman"/>
                <a:cs typeface="Times New Roman"/>
              </a:rPr>
              <a:t>,</a:t>
            </a:r>
            <a:r>
              <a:rPr sz="4600" spc="220" dirty="0">
                <a:latin typeface="Times New Roman"/>
                <a:cs typeface="Times New Roman"/>
              </a:rPr>
              <a:t> </a:t>
            </a:r>
            <a:r>
              <a:rPr sz="4600" i="1" spc="25" dirty="0">
                <a:latin typeface="Times New Roman"/>
                <a:cs typeface="Times New Roman"/>
              </a:rPr>
              <a:t>a</a:t>
            </a:r>
            <a:r>
              <a:rPr sz="4600" spc="-75" dirty="0">
                <a:latin typeface="Times New Roman"/>
                <a:cs typeface="Times New Roman"/>
              </a:rPr>
              <a:t>)</a:t>
            </a:r>
            <a:r>
              <a:rPr sz="4600" spc="-350" dirty="0">
                <a:latin typeface="Times New Roman"/>
                <a:cs typeface="Times New Roman"/>
              </a:rPr>
              <a:t> </a:t>
            </a:r>
            <a:r>
              <a:rPr sz="4600" spc="-120" dirty="0">
                <a:latin typeface="Symbol"/>
                <a:cs typeface="Symbol"/>
              </a:rPr>
              <a:t></a:t>
            </a:r>
            <a:r>
              <a:rPr sz="4600" spc="-200" dirty="0">
                <a:latin typeface="Times New Roman"/>
                <a:cs typeface="Times New Roman"/>
              </a:rPr>
              <a:t> </a:t>
            </a:r>
            <a:r>
              <a:rPr sz="4600" spc="-114" dirty="0">
                <a:latin typeface="Symbol"/>
                <a:cs typeface="Symbol"/>
              </a:rPr>
              <a:t></a:t>
            </a:r>
            <a:r>
              <a:rPr sz="4600" i="1" spc="-360" dirty="0">
                <a:latin typeface="Times New Roman"/>
                <a:cs typeface="Times New Roman"/>
              </a:rPr>
              <a:t>Q</a:t>
            </a:r>
            <a:r>
              <a:rPr sz="4950" i="1" spc="-75" baseline="-19360" dirty="0">
                <a:latin typeface="Times New Roman"/>
                <a:cs typeface="Times New Roman"/>
              </a:rPr>
              <a:t>t</a:t>
            </a:r>
            <a:r>
              <a:rPr sz="4950" i="1" spc="-225" baseline="-19360" dirty="0">
                <a:latin typeface="Times New Roman"/>
                <a:cs typeface="Times New Roman"/>
              </a:rPr>
              <a:t> </a:t>
            </a:r>
            <a:r>
              <a:rPr sz="4600" spc="105" dirty="0">
                <a:latin typeface="Times New Roman"/>
                <a:cs typeface="Times New Roman"/>
              </a:rPr>
              <a:t>(</a:t>
            </a:r>
            <a:r>
              <a:rPr sz="4600" i="1" spc="55" dirty="0">
                <a:latin typeface="Times New Roman"/>
                <a:cs typeface="Times New Roman"/>
              </a:rPr>
              <a:t>s</a:t>
            </a:r>
            <a:r>
              <a:rPr sz="4600" spc="265" dirty="0">
                <a:latin typeface="Times New Roman"/>
                <a:cs typeface="Times New Roman"/>
              </a:rPr>
              <a:t>'</a:t>
            </a:r>
            <a:r>
              <a:rPr sz="4600" spc="-55" dirty="0">
                <a:latin typeface="Times New Roman"/>
                <a:cs typeface="Times New Roman"/>
              </a:rPr>
              <a:t>,</a:t>
            </a:r>
            <a:r>
              <a:rPr sz="4600" spc="220" dirty="0">
                <a:latin typeface="Times New Roman"/>
                <a:cs typeface="Times New Roman"/>
              </a:rPr>
              <a:t> </a:t>
            </a:r>
            <a:r>
              <a:rPr sz="4600" i="1" spc="25" dirty="0">
                <a:latin typeface="Times New Roman"/>
                <a:cs typeface="Times New Roman"/>
              </a:rPr>
              <a:t>a</a:t>
            </a:r>
            <a:r>
              <a:rPr sz="4600" spc="335" dirty="0">
                <a:latin typeface="Times New Roman"/>
                <a:cs typeface="Times New Roman"/>
              </a:rPr>
              <a:t>'</a:t>
            </a:r>
            <a:r>
              <a:rPr sz="4600" spc="-75" dirty="0">
                <a:latin typeface="Times New Roman"/>
                <a:cs typeface="Times New Roman"/>
              </a:rPr>
              <a:t>)</a:t>
            </a:r>
            <a:r>
              <a:rPr sz="4600" spc="-350" dirty="0">
                <a:latin typeface="Times New Roman"/>
                <a:cs typeface="Times New Roman"/>
              </a:rPr>
              <a:t> </a:t>
            </a:r>
            <a:r>
              <a:rPr sz="4600" spc="-120" dirty="0">
                <a:latin typeface="Symbol"/>
                <a:cs typeface="Symbol"/>
              </a:rPr>
              <a:t></a:t>
            </a:r>
            <a:r>
              <a:rPr sz="4600" spc="-484" dirty="0">
                <a:latin typeface="Times New Roman"/>
                <a:cs typeface="Times New Roman"/>
              </a:rPr>
              <a:t> </a:t>
            </a:r>
            <a:r>
              <a:rPr sz="4600" i="1" spc="-360" dirty="0">
                <a:latin typeface="Times New Roman"/>
                <a:cs typeface="Times New Roman"/>
              </a:rPr>
              <a:t>Q</a:t>
            </a:r>
            <a:r>
              <a:rPr sz="4950" i="1" spc="-75" baseline="-19360" dirty="0">
                <a:latin typeface="Times New Roman"/>
                <a:cs typeface="Times New Roman"/>
              </a:rPr>
              <a:t>t</a:t>
            </a:r>
            <a:r>
              <a:rPr sz="4950" i="1" spc="-225" baseline="-19360" dirty="0">
                <a:latin typeface="Times New Roman"/>
                <a:cs typeface="Times New Roman"/>
              </a:rPr>
              <a:t> </a:t>
            </a:r>
            <a:r>
              <a:rPr sz="4600" spc="105" dirty="0">
                <a:latin typeface="Times New Roman"/>
                <a:cs typeface="Times New Roman"/>
              </a:rPr>
              <a:t>(</a:t>
            </a:r>
            <a:r>
              <a:rPr sz="4600" i="1" spc="-10" dirty="0">
                <a:latin typeface="Times New Roman"/>
                <a:cs typeface="Times New Roman"/>
              </a:rPr>
              <a:t>s</a:t>
            </a:r>
            <a:r>
              <a:rPr sz="4600" spc="-55" dirty="0">
                <a:latin typeface="Times New Roman"/>
                <a:cs typeface="Times New Roman"/>
              </a:rPr>
              <a:t>,</a:t>
            </a:r>
            <a:r>
              <a:rPr sz="4600" spc="220" dirty="0">
                <a:latin typeface="Times New Roman"/>
                <a:cs typeface="Times New Roman"/>
              </a:rPr>
              <a:t> </a:t>
            </a:r>
            <a:r>
              <a:rPr sz="4600" i="1" spc="25" dirty="0">
                <a:latin typeface="Times New Roman"/>
                <a:cs typeface="Times New Roman"/>
              </a:rPr>
              <a:t>a</a:t>
            </a:r>
            <a:r>
              <a:rPr sz="4600" spc="105" dirty="0">
                <a:latin typeface="Times New Roman"/>
                <a:cs typeface="Times New Roman"/>
              </a:rPr>
              <a:t>)</a:t>
            </a:r>
            <a:r>
              <a:rPr sz="5950" spc="-540" dirty="0">
                <a:latin typeface="Symbol"/>
                <a:cs typeface="Symbol"/>
              </a:rPr>
              <a:t></a:t>
            </a:r>
            <a:endParaRPr sz="5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271" y="4077080"/>
            <a:ext cx="1883292" cy="2462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1452" y="172846"/>
            <a:ext cx="11560175" cy="601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006666"/>
                </a:solidFill>
                <a:latin typeface="Arial"/>
                <a:cs typeface="Arial"/>
              </a:rPr>
              <a:t>ЗАДАЧА</a:t>
            </a:r>
            <a:r>
              <a:rPr sz="3200" b="1" spc="-4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6666"/>
                </a:solidFill>
                <a:latin typeface="Arial"/>
                <a:cs typeface="Arial"/>
              </a:rPr>
              <a:t>О</a:t>
            </a:r>
            <a:r>
              <a:rPr sz="3200" b="1" spc="-10" dirty="0">
                <a:solidFill>
                  <a:srgbClr val="006666"/>
                </a:solidFill>
                <a:latin typeface="Arial"/>
                <a:cs typeface="Arial"/>
              </a:rPr>
              <a:t> ПЕРЕВЁРНУТОМ</a:t>
            </a:r>
            <a:r>
              <a:rPr sz="3200" b="1" spc="-5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6666"/>
                </a:solidFill>
                <a:latin typeface="Arial"/>
                <a:cs typeface="Arial"/>
              </a:rPr>
              <a:t>МАЯТНИКЕ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259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15" dirty="0">
                <a:latin typeface="Times New Roman"/>
                <a:cs typeface="Times New Roman"/>
              </a:rPr>
              <a:t>Простая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задача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для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апробации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методов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обучения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с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подкреплением.</a:t>
            </a:r>
            <a:endParaRPr sz="3200">
              <a:latin typeface="Times New Roman"/>
              <a:cs typeface="Times New Roman"/>
            </a:endParaRPr>
          </a:p>
          <a:p>
            <a:pPr marL="355600" marR="834390" indent="-342900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Целевое состояние </a:t>
            </a:r>
            <a:r>
              <a:rPr sz="3200" spc="-10" dirty="0">
                <a:latin typeface="Times New Roman"/>
                <a:cs typeface="Times New Roman"/>
              </a:rPr>
              <a:t>маятника: </a:t>
            </a:r>
            <a:r>
              <a:rPr sz="3200" dirty="0">
                <a:latin typeface="Times New Roman"/>
                <a:cs typeface="Times New Roman"/>
              </a:rPr>
              <a:t>стабилизация в </a:t>
            </a:r>
            <a:r>
              <a:rPr sz="3200" spc="-10" dirty="0">
                <a:latin typeface="Times New Roman"/>
                <a:cs typeface="Times New Roman"/>
              </a:rPr>
              <a:t>вертикальном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положении (нулевой </a:t>
            </a:r>
            <a:r>
              <a:rPr sz="3200" spc="-25" dirty="0">
                <a:latin typeface="Times New Roman"/>
                <a:cs typeface="Times New Roman"/>
              </a:rPr>
              <a:t>угол </a:t>
            </a:r>
            <a:r>
              <a:rPr sz="3200" spc="-5" dirty="0">
                <a:latin typeface="Times New Roman"/>
                <a:cs typeface="Times New Roman"/>
              </a:rPr>
              <a:t>отклонения </a:t>
            </a:r>
            <a:r>
              <a:rPr sz="3200" spc="-15" dirty="0">
                <a:latin typeface="Times New Roman"/>
                <a:cs typeface="Times New Roman"/>
              </a:rPr>
              <a:t>от </a:t>
            </a:r>
            <a:r>
              <a:rPr sz="3200" spc="-5" dirty="0">
                <a:latin typeface="Times New Roman"/>
                <a:cs typeface="Times New Roman"/>
              </a:rPr>
              <a:t>вертикальной </a:t>
            </a:r>
            <a:r>
              <a:rPr sz="3200" spc="20" dirty="0">
                <a:latin typeface="Times New Roman"/>
                <a:cs typeface="Times New Roman"/>
              </a:rPr>
              <a:t>оси,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нулевая </a:t>
            </a:r>
            <a:r>
              <a:rPr sz="3200" spc="-30" dirty="0">
                <a:latin typeface="Times New Roman"/>
                <a:cs typeface="Times New Roman"/>
              </a:rPr>
              <a:t>угловая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скорость).</a:t>
            </a:r>
            <a:endParaRPr sz="3200">
              <a:latin typeface="Times New Roman"/>
              <a:cs typeface="Times New Roman"/>
            </a:endParaRPr>
          </a:p>
          <a:p>
            <a:pPr marL="355600" marR="116840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5" dirty="0">
                <a:latin typeface="Times New Roman"/>
                <a:cs typeface="Times New Roman"/>
              </a:rPr>
              <a:t>Чем </a:t>
            </a:r>
            <a:r>
              <a:rPr sz="3200" spc="-30" dirty="0">
                <a:latin typeface="Times New Roman"/>
                <a:cs typeface="Times New Roman"/>
              </a:rPr>
              <a:t>ближе </a:t>
            </a:r>
            <a:r>
              <a:rPr sz="3200" spc="-20" dirty="0">
                <a:latin typeface="Times New Roman"/>
                <a:cs typeface="Times New Roman"/>
              </a:rPr>
              <a:t>положение </a:t>
            </a:r>
            <a:r>
              <a:rPr sz="3200" spc="-10" dirty="0">
                <a:latin typeface="Times New Roman"/>
                <a:cs typeface="Times New Roman"/>
              </a:rPr>
              <a:t>маятника </a:t>
            </a:r>
            <a:r>
              <a:rPr sz="3200" dirty="0">
                <a:latin typeface="Times New Roman"/>
                <a:cs typeface="Times New Roman"/>
              </a:rPr>
              <a:t>к </a:t>
            </a:r>
            <a:r>
              <a:rPr sz="3200" spc="-35" dirty="0">
                <a:latin typeface="Times New Roman"/>
                <a:cs typeface="Times New Roman"/>
              </a:rPr>
              <a:t>вертикальному, </a:t>
            </a:r>
            <a:r>
              <a:rPr sz="3200" spc="-5" dirty="0">
                <a:latin typeface="Times New Roman"/>
                <a:cs typeface="Times New Roman"/>
              </a:rPr>
              <a:t>больше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награда.</a:t>
            </a:r>
            <a:endParaRPr sz="3200">
              <a:latin typeface="Times New Roman"/>
              <a:cs typeface="Times New Roman"/>
            </a:endParaRPr>
          </a:p>
          <a:p>
            <a:pPr marL="355600" marR="4909820" indent="-342900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В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точке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подвеса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мотор.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Действие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 </a:t>
            </a:r>
            <a:r>
              <a:rPr sz="3200" spc="-7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управляющий </a:t>
            </a:r>
            <a:r>
              <a:rPr sz="3200" spc="-40" dirty="0">
                <a:latin typeface="Times New Roman"/>
                <a:cs typeface="Times New Roman"/>
              </a:rPr>
              <a:t>момент, </a:t>
            </a:r>
            <a:r>
              <a:rPr sz="3200" spc="-10" dirty="0">
                <a:latin typeface="Times New Roman"/>
                <a:cs typeface="Times New Roman"/>
              </a:rPr>
              <a:t>создаваемый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мотором.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65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172846"/>
            <a:ext cx="75958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/>
              <a:t>ИСПОЛЬЗУЕМЫЙ</a:t>
            </a:r>
            <a:r>
              <a:rPr sz="3200" spc="-85" dirty="0"/>
              <a:t> </a:t>
            </a:r>
            <a:r>
              <a:rPr sz="3200" spc="-25" dirty="0"/>
              <a:t>ИНСТРУМЕНТАРИЙ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88660" y="1019599"/>
            <a:ext cx="6798309" cy="3046730"/>
            <a:chOff x="288660" y="1019599"/>
            <a:chExt cx="6798309" cy="3046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3379" y="2057772"/>
              <a:ext cx="2903194" cy="20082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660" y="1019599"/>
              <a:ext cx="4816764" cy="203975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1270" y="1022299"/>
            <a:ext cx="4304484" cy="1818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4648" y="4605454"/>
            <a:ext cx="5919468" cy="14190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55012" y="3763455"/>
            <a:ext cx="2713272" cy="22610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66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5538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ИСКУССТВЕННЫЙ</a:t>
            </a:r>
            <a:r>
              <a:rPr sz="2400" spc="40" dirty="0"/>
              <a:t> </a:t>
            </a:r>
            <a:r>
              <a:rPr sz="2400" dirty="0"/>
              <a:t>ИНТЕЛЛЕКТ</a:t>
            </a:r>
            <a:r>
              <a:rPr sz="2400" spc="30" dirty="0"/>
              <a:t> </a:t>
            </a:r>
            <a:r>
              <a:rPr sz="2400" spc="-25" dirty="0"/>
              <a:t>(ОБЛАСТИ)</a:t>
            </a:r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1360716" y="924534"/>
            <a:ext cx="8883015" cy="5314950"/>
            <a:chOff x="1360716" y="924534"/>
            <a:chExt cx="8883015" cy="53149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0716" y="924534"/>
              <a:ext cx="8882735" cy="53147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0862" y="2497797"/>
              <a:ext cx="2522537" cy="20709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9547" y="4812891"/>
              <a:ext cx="2522855" cy="1008380"/>
            </a:xfrm>
            <a:custGeom>
              <a:avLst/>
              <a:gdLst/>
              <a:ahLst/>
              <a:cxnLst/>
              <a:rect l="l" t="t" r="r" b="b"/>
              <a:pathLst>
                <a:path w="2522854" h="1008379">
                  <a:moveTo>
                    <a:pt x="1261275" y="0"/>
                  </a:moveTo>
                  <a:lnTo>
                    <a:pt x="1194290" y="698"/>
                  </a:lnTo>
                  <a:lnTo>
                    <a:pt x="1128215" y="2771"/>
                  </a:lnTo>
                  <a:lnTo>
                    <a:pt x="1063139" y="6183"/>
                  </a:lnTo>
                  <a:lnTo>
                    <a:pt x="999147" y="10900"/>
                  </a:lnTo>
                  <a:lnTo>
                    <a:pt x="936328" y="16886"/>
                  </a:lnTo>
                  <a:lnTo>
                    <a:pt x="874768" y="24106"/>
                  </a:lnTo>
                  <a:lnTo>
                    <a:pt x="814554" y="32527"/>
                  </a:lnTo>
                  <a:lnTo>
                    <a:pt x="755774" y="42113"/>
                  </a:lnTo>
                  <a:lnTo>
                    <a:pt x="698515" y="52829"/>
                  </a:lnTo>
                  <a:lnTo>
                    <a:pt x="642863" y="64641"/>
                  </a:lnTo>
                  <a:lnTo>
                    <a:pt x="588907" y="77513"/>
                  </a:lnTo>
                  <a:lnTo>
                    <a:pt x="536733" y="91411"/>
                  </a:lnTo>
                  <a:lnTo>
                    <a:pt x="486429" y="106300"/>
                  </a:lnTo>
                  <a:lnTo>
                    <a:pt x="438081" y="122145"/>
                  </a:lnTo>
                  <a:lnTo>
                    <a:pt x="391777" y="138911"/>
                  </a:lnTo>
                  <a:lnTo>
                    <a:pt x="347604" y="156564"/>
                  </a:lnTo>
                  <a:lnTo>
                    <a:pt x="305649" y="175068"/>
                  </a:lnTo>
                  <a:lnTo>
                    <a:pt x="266000" y="194389"/>
                  </a:lnTo>
                  <a:lnTo>
                    <a:pt x="228742" y="214492"/>
                  </a:lnTo>
                  <a:lnTo>
                    <a:pt x="193965" y="235342"/>
                  </a:lnTo>
                  <a:lnTo>
                    <a:pt x="161754" y="256905"/>
                  </a:lnTo>
                  <a:lnTo>
                    <a:pt x="105382" y="302026"/>
                  </a:lnTo>
                  <a:lnTo>
                    <a:pt x="60323" y="349579"/>
                  </a:lnTo>
                  <a:lnTo>
                    <a:pt x="27275" y="399285"/>
                  </a:lnTo>
                  <a:lnTo>
                    <a:pt x="6935" y="450863"/>
                  </a:lnTo>
                  <a:lnTo>
                    <a:pt x="0" y="504037"/>
                  </a:lnTo>
                  <a:lnTo>
                    <a:pt x="1748" y="530806"/>
                  </a:lnTo>
                  <a:lnTo>
                    <a:pt x="15473" y="583217"/>
                  </a:lnTo>
                  <a:lnTo>
                    <a:pt x="42254" y="633894"/>
                  </a:lnTo>
                  <a:lnTo>
                    <a:pt x="81395" y="682558"/>
                  </a:lnTo>
                  <a:lnTo>
                    <a:pt x="132198" y="728930"/>
                  </a:lnTo>
                  <a:lnTo>
                    <a:pt x="193965" y="772732"/>
                  </a:lnTo>
                  <a:lnTo>
                    <a:pt x="228742" y="793582"/>
                  </a:lnTo>
                  <a:lnTo>
                    <a:pt x="266000" y="813685"/>
                  </a:lnTo>
                  <a:lnTo>
                    <a:pt x="305649" y="833006"/>
                  </a:lnTo>
                  <a:lnTo>
                    <a:pt x="347604" y="851510"/>
                  </a:lnTo>
                  <a:lnTo>
                    <a:pt x="391777" y="869163"/>
                  </a:lnTo>
                  <a:lnTo>
                    <a:pt x="438081" y="885929"/>
                  </a:lnTo>
                  <a:lnTo>
                    <a:pt x="486429" y="901774"/>
                  </a:lnTo>
                  <a:lnTo>
                    <a:pt x="536733" y="916663"/>
                  </a:lnTo>
                  <a:lnTo>
                    <a:pt x="588907" y="930561"/>
                  </a:lnTo>
                  <a:lnTo>
                    <a:pt x="642863" y="943433"/>
                  </a:lnTo>
                  <a:lnTo>
                    <a:pt x="698515" y="955245"/>
                  </a:lnTo>
                  <a:lnTo>
                    <a:pt x="755774" y="965961"/>
                  </a:lnTo>
                  <a:lnTo>
                    <a:pt x="814554" y="975547"/>
                  </a:lnTo>
                  <a:lnTo>
                    <a:pt x="874768" y="983968"/>
                  </a:lnTo>
                  <a:lnTo>
                    <a:pt x="936328" y="991189"/>
                  </a:lnTo>
                  <a:lnTo>
                    <a:pt x="999147" y="997175"/>
                  </a:lnTo>
                  <a:lnTo>
                    <a:pt x="1063139" y="1001891"/>
                  </a:lnTo>
                  <a:lnTo>
                    <a:pt x="1128215" y="1005303"/>
                  </a:lnTo>
                  <a:lnTo>
                    <a:pt x="1194290" y="1007376"/>
                  </a:lnTo>
                  <a:lnTo>
                    <a:pt x="1261275" y="1008075"/>
                  </a:lnTo>
                  <a:lnTo>
                    <a:pt x="1328258" y="1007376"/>
                  </a:lnTo>
                  <a:lnTo>
                    <a:pt x="1394332" y="1005303"/>
                  </a:lnTo>
                  <a:lnTo>
                    <a:pt x="1459407" y="1001891"/>
                  </a:lnTo>
                  <a:lnTo>
                    <a:pt x="1523398" y="997175"/>
                  </a:lnTo>
                  <a:lnTo>
                    <a:pt x="1586216" y="991189"/>
                  </a:lnTo>
                  <a:lnTo>
                    <a:pt x="1647776" y="983968"/>
                  </a:lnTo>
                  <a:lnTo>
                    <a:pt x="1707988" y="975547"/>
                  </a:lnTo>
                  <a:lnTo>
                    <a:pt x="1766768" y="965961"/>
                  </a:lnTo>
                  <a:lnTo>
                    <a:pt x="1824026" y="955245"/>
                  </a:lnTo>
                  <a:lnTo>
                    <a:pt x="1879677" y="943433"/>
                  </a:lnTo>
                  <a:lnTo>
                    <a:pt x="1933633" y="930561"/>
                  </a:lnTo>
                  <a:lnTo>
                    <a:pt x="1985806" y="916663"/>
                  </a:lnTo>
                  <a:lnTo>
                    <a:pt x="2036110" y="901774"/>
                  </a:lnTo>
                  <a:lnTo>
                    <a:pt x="2084458" y="885929"/>
                  </a:lnTo>
                  <a:lnTo>
                    <a:pt x="2130761" y="869163"/>
                  </a:lnTo>
                  <a:lnTo>
                    <a:pt x="2174934" y="851510"/>
                  </a:lnTo>
                  <a:lnTo>
                    <a:pt x="2216889" y="833006"/>
                  </a:lnTo>
                  <a:lnTo>
                    <a:pt x="2256538" y="813685"/>
                  </a:lnTo>
                  <a:lnTo>
                    <a:pt x="2293795" y="793582"/>
                  </a:lnTo>
                  <a:lnTo>
                    <a:pt x="2328572" y="772732"/>
                  </a:lnTo>
                  <a:lnTo>
                    <a:pt x="2360783" y="751170"/>
                  </a:lnTo>
                  <a:lnTo>
                    <a:pt x="2417155" y="706048"/>
                  </a:lnTo>
                  <a:lnTo>
                    <a:pt x="2462213" y="658495"/>
                  </a:lnTo>
                  <a:lnTo>
                    <a:pt x="2495262" y="608790"/>
                  </a:lnTo>
                  <a:lnTo>
                    <a:pt x="2515602" y="557211"/>
                  </a:lnTo>
                  <a:lnTo>
                    <a:pt x="2522537" y="504037"/>
                  </a:lnTo>
                  <a:lnTo>
                    <a:pt x="2520789" y="477268"/>
                  </a:lnTo>
                  <a:lnTo>
                    <a:pt x="2507064" y="424857"/>
                  </a:lnTo>
                  <a:lnTo>
                    <a:pt x="2480282" y="374180"/>
                  </a:lnTo>
                  <a:lnTo>
                    <a:pt x="2441142" y="325516"/>
                  </a:lnTo>
                  <a:lnTo>
                    <a:pt x="2390339" y="279144"/>
                  </a:lnTo>
                  <a:lnTo>
                    <a:pt x="2328572" y="235342"/>
                  </a:lnTo>
                  <a:lnTo>
                    <a:pt x="2293795" y="214492"/>
                  </a:lnTo>
                  <a:lnTo>
                    <a:pt x="2256538" y="194389"/>
                  </a:lnTo>
                  <a:lnTo>
                    <a:pt x="2216889" y="175068"/>
                  </a:lnTo>
                  <a:lnTo>
                    <a:pt x="2174934" y="156564"/>
                  </a:lnTo>
                  <a:lnTo>
                    <a:pt x="2130761" y="138911"/>
                  </a:lnTo>
                  <a:lnTo>
                    <a:pt x="2084458" y="122145"/>
                  </a:lnTo>
                  <a:lnTo>
                    <a:pt x="2036110" y="106300"/>
                  </a:lnTo>
                  <a:lnTo>
                    <a:pt x="1985806" y="91411"/>
                  </a:lnTo>
                  <a:lnTo>
                    <a:pt x="1933633" y="77513"/>
                  </a:lnTo>
                  <a:lnTo>
                    <a:pt x="1879677" y="64641"/>
                  </a:lnTo>
                  <a:lnTo>
                    <a:pt x="1824026" y="52829"/>
                  </a:lnTo>
                  <a:lnTo>
                    <a:pt x="1766768" y="42113"/>
                  </a:lnTo>
                  <a:lnTo>
                    <a:pt x="1707988" y="32527"/>
                  </a:lnTo>
                  <a:lnTo>
                    <a:pt x="1647776" y="24106"/>
                  </a:lnTo>
                  <a:lnTo>
                    <a:pt x="1586216" y="16886"/>
                  </a:lnTo>
                  <a:lnTo>
                    <a:pt x="1523398" y="10900"/>
                  </a:lnTo>
                  <a:lnTo>
                    <a:pt x="1459407" y="6183"/>
                  </a:lnTo>
                  <a:lnTo>
                    <a:pt x="1394332" y="2771"/>
                  </a:lnTo>
                  <a:lnTo>
                    <a:pt x="1328258" y="698"/>
                  </a:lnTo>
                  <a:lnTo>
                    <a:pt x="126127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9547" y="4812891"/>
              <a:ext cx="2522855" cy="1008380"/>
            </a:xfrm>
            <a:custGeom>
              <a:avLst/>
              <a:gdLst/>
              <a:ahLst/>
              <a:cxnLst/>
              <a:rect l="l" t="t" r="r" b="b"/>
              <a:pathLst>
                <a:path w="2522854" h="1008379">
                  <a:moveTo>
                    <a:pt x="0" y="504037"/>
                  </a:moveTo>
                  <a:lnTo>
                    <a:pt x="6935" y="450863"/>
                  </a:lnTo>
                  <a:lnTo>
                    <a:pt x="27275" y="399285"/>
                  </a:lnTo>
                  <a:lnTo>
                    <a:pt x="60323" y="349579"/>
                  </a:lnTo>
                  <a:lnTo>
                    <a:pt x="105382" y="302026"/>
                  </a:lnTo>
                  <a:lnTo>
                    <a:pt x="161754" y="256905"/>
                  </a:lnTo>
                  <a:lnTo>
                    <a:pt x="193965" y="235342"/>
                  </a:lnTo>
                  <a:lnTo>
                    <a:pt x="228742" y="214492"/>
                  </a:lnTo>
                  <a:lnTo>
                    <a:pt x="266000" y="194389"/>
                  </a:lnTo>
                  <a:lnTo>
                    <a:pt x="305649" y="175068"/>
                  </a:lnTo>
                  <a:lnTo>
                    <a:pt x="347604" y="156564"/>
                  </a:lnTo>
                  <a:lnTo>
                    <a:pt x="391777" y="138911"/>
                  </a:lnTo>
                  <a:lnTo>
                    <a:pt x="438081" y="122145"/>
                  </a:lnTo>
                  <a:lnTo>
                    <a:pt x="486429" y="106300"/>
                  </a:lnTo>
                  <a:lnTo>
                    <a:pt x="536733" y="91411"/>
                  </a:lnTo>
                  <a:lnTo>
                    <a:pt x="588907" y="77513"/>
                  </a:lnTo>
                  <a:lnTo>
                    <a:pt x="642863" y="64641"/>
                  </a:lnTo>
                  <a:lnTo>
                    <a:pt x="698515" y="52829"/>
                  </a:lnTo>
                  <a:lnTo>
                    <a:pt x="755774" y="42113"/>
                  </a:lnTo>
                  <a:lnTo>
                    <a:pt x="814554" y="32527"/>
                  </a:lnTo>
                  <a:lnTo>
                    <a:pt x="874768" y="24106"/>
                  </a:lnTo>
                  <a:lnTo>
                    <a:pt x="936328" y="16886"/>
                  </a:lnTo>
                  <a:lnTo>
                    <a:pt x="999147" y="10900"/>
                  </a:lnTo>
                  <a:lnTo>
                    <a:pt x="1063139" y="6183"/>
                  </a:lnTo>
                  <a:lnTo>
                    <a:pt x="1128215" y="2771"/>
                  </a:lnTo>
                  <a:lnTo>
                    <a:pt x="1194290" y="698"/>
                  </a:lnTo>
                  <a:lnTo>
                    <a:pt x="1261275" y="0"/>
                  </a:lnTo>
                  <a:lnTo>
                    <a:pt x="1328258" y="698"/>
                  </a:lnTo>
                  <a:lnTo>
                    <a:pt x="1394332" y="2771"/>
                  </a:lnTo>
                  <a:lnTo>
                    <a:pt x="1459407" y="6183"/>
                  </a:lnTo>
                  <a:lnTo>
                    <a:pt x="1523398" y="10900"/>
                  </a:lnTo>
                  <a:lnTo>
                    <a:pt x="1586216" y="16886"/>
                  </a:lnTo>
                  <a:lnTo>
                    <a:pt x="1647776" y="24106"/>
                  </a:lnTo>
                  <a:lnTo>
                    <a:pt x="1707988" y="32527"/>
                  </a:lnTo>
                  <a:lnTo>
                    <a:pt x="1766768" y="42113"/>
                  </a:lnTo>
                  <a:lnTo>
                    <a:pt x="1824026" y="52829"/>
                  </a:lnTo>
                  <a:lnTo>
                    <a:pt x="1879677" y="64641"/>
                  </a:lnTo>
                  <a:lnTo>
                    <a:pt x="1933633" y="77513"/>
                  </a:lnTo>
                  <a:lnTo>
                    <a:pt x="1985806" y="91411"/>
                  </a:lnTo>
                  <a:lnTo>
                    <a:pt x="2036110" y="106300"/>
                  </a:lnTo>
                  <a:lnTo>
                    <a:pt x="2084458" y="122145"/>
                  </a:lnTo>
                  <a:lnTo>
                    <a:pt x="2130761" y="138911"/>
                  </a:lnTo>
                  <a:lnTo>
                    <a:pt x="2174934" y="156564"/>
                  </a:lnTo>
                  <a:lnTo>
                    <a:pt x="2216889" y="175068"/>
                  </a:lnTo>
                  <a:lnTo>
                    <a:pt x="2256538" y="194389"/>
                  </a:lnTo>
                  <a:lnTo>
                    <a:pt x="2293795" y="214492"/>
                  </a:lnTo>
                  <a:lnTo>
                    <a:pt x="2328572" y="235342"/>
                  </a:lnTo>
                  <a:lnTo>
                    <a:pt x="2360783" y="256905"/>
                  </a:lnTo>
                  <a:lnTo>
                    <a:pt x="2417155" y="302026"/>
                  </a:lnTo>
                  <a:lnTo>
                    <a:pt x="2462213" y="349579"/>
                  </a:lnTo>
                  <a:lnTo>
                    <a:pt x="2495262" y="399285"/>
                  </a:lnTo>
                  <a:lnTo>
                    <a:pt x="2515602" y="450863"/>
                  </a:lnTo>
                  <a:lnTo>
                    <a:pt x="2522537" y="504037"/>
                  </a:lnTo>
                  <a:lnTo>
                    <a:pt x="2520789" y="530806"/>
                  </a:lnTo>
                  <a:lnTo>
                    <a:pt x="2507064" y="583217"/>
                  </a:lnTo>
                  <a:lnTo>
                    <a:pt x="2480282" y="633894"/>
                  </a:lnTo>
                  <a:lnTo>
                    <a:pt x="2441142" y="682558"/>
                  </a:lnTo>
                  <a:lnTo>
                    <a:pt x="2390339" y="728930"/>
                  </a:lnTo>
                  <a:lnTo>
                    <a:pt x="2328572" y="772732"/>
                  </a:lnTo>
                  <a:lnTo>
                    <a:pt x="2293795" y="793582"/>
                  </a:lnTo>
                  <a:lnTo>
                    <a:pt x="2256538" y="813685"/>
                  </a:lnTo>
                  <a:lnTo>
                    <a:pt x="2216889" y="833006"/>
                  </a:lnTo>
                  <a:lnTo>
                    <a:pt x="2174934" y="851510"/>
                  </a:lnTo>
                  <a:lnTo>
                    <a:pt x="2130761" y="869163"/>
                  </a:lnTo>
                  <a:lnTo>
                    <a:pt x="2084458" y="885929"/>
                  </a:lnTo>
                  <a:lnTo>
                    <a:pt x="2036110" y="901774"/>
                  </a:lnTo>
                  <a:lnTo>
                    <a:pt x="1985806" y="916663"/>
                  </a:lnTo>
                  <a:lnTo>
                    <a:pt x="1933633" y="930561"/>
                  </a:lnTo>
                  <a:lnTo>
                    <a:pt x="1879677" y="943433"/>
                  </a:lnTo>
                  <a:lnTo>
                    <a:pt x="1824026" y="955245"/>
                  </a:lnTo>
                  <a:lnTo>
                    <a:pt x="1766768" y="965961"/>
                  </a:lnTo>
                  <a:lnTo>
                    <a:pt x="1707988" y="975547"/>
                  </a:lnTo>
                  <a:lnTo>
                    <a:pt x="1647776" y="983968"/>
                  </a:lnTo>
                  <a:lnTo>
                    <a:pt x="1586216" y="991189"/>
                  </a:lnTo>
                  <a:lnTo>
                    <a:pt x="1523398" y="997175"/>
                  </a:lnTo>
                  <a:lnTo>
                    <a:pt x="1459407" y="1001891"/>
                  </a:lnTo>
                  <a:lnTo>
                    <a:pt x="1394332" y="1005303"/>
                  </a:lnTo>
                  <a:lnTo>
                    <a:pt x="1328258" y="1007376"/>
                  </a:lnTo>
                  <a:lnTo>
                    <a:pt x="1261275" y="1008075"/>
                  </a:lnTo>
                  <a:lnTo>
                    <a:pt x="1194290" y="1007376"/>
                  </a:lnTo>
                  <a:lnTo>
                    <a:pt x="1128215" y="1005303"/>
                  </a:lnTo>
                  <a:lnTo>
                    <a:pt x="1063139" y="1001891"/>
                  </a:lnTo>
                  <a:lnTo>
                    <a:pt x="999147" y="997175"/>
                  </a:lnTo>
                  <a:lnTo>
                    <a:pt x="936328" y="991189"/>
                  </a:lnTo>
                  <a:lnTo>
                    <a:pt x="874768" y="983968"/>
                  </a:lnTo>
                  <a:lnTo>
                    <a:pt x="814554" y="975547"/>
                  </a:lnTo>
                  <a:lnTo>
                    <a:pt x="755774" y="965961"/>
                  </a:lnTo>
                  <a:lnTo>
                    <a:pt x="698515" y="955245"/>
                  </a:lnTo>
                  <a:lnTo>
                    <a:pt x="642863" y="943433"/>
                  </a:lnTo>
                  <a:lnTo>
                    <a:pt x="588907" y="930561"/>
                  </a:lnTo>
                  <a:lnTo>
                    <a:pt x="536733" y="916663"/>
                  </a:lnTo>
                  <a:lnTo>
                    <a:pt x="486429" y="901774"/>
                  </a:lnTo>
                  <a:lnTo>
                    <a:pt x="438081" y="885929"/>
                  </a:lnTo>
                  <a:lnTo>
                    <a:pt x="391777" y="869163"/>
                  </a:lnTo>
                  <a:lnTo>
                    <a:pt x="347604" y="851510"/>
                  </a:lnTo>
                  <a:lnTo>
                    <a:pt x="305649" y="833006"/>
                  </a:lnTo>
                  <a:lnTo>
                    <a:pt x="266000" y="813685"/>
                  </a:lnTo>
                  <a:lnTo>
                    <a:pt x="228742" y="793582"/>
                  </a:lnTo>
                  <a:lnTo>
                    <a:pt x="193965" y="772732"/>
                  </a:lnTo>
                  <a:lnTo>
                    <a:pt x="161754" y="751170"/>
                  </a:lnTo>
                  <a:lnTo>
                    <a:pt x="105382" y="706048"/>
                  </a:lnTo>
                  <a:lnTo>
                    <a:pt x="60323" y="658495"/>
                  </a:lnTo>
                  <a:lnTo>
                    <a:pt x="27275" y="608790"/>
                  </a:lnTo>
                  <a:lnTo>
                    <a:pt x="6935" y="557211"/>
                  </a:lnTo>
                  <a:lnTo>
                    <a:pt x="0" y="50403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70363" y="5048195"/>
            <a:ext cx="110617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Ис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к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у</a:t>
            </a: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сст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1100" b="1" spc="5" dirty="0">
                <a:solidFill>
                  <a:srgbClr val="FF0000"/>
                </a:solidFill>
                <a:latin typeface="Arial"/>
                <a:cs typeface="Arial"/>
              </a:rPr>
              <a:t>нны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е  нейронные </a:t>
            </a:r>
            <a:r>
              <a:rPr sz="11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сети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67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365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/>
              <a:t>О</a:t>
            </a:r>
            <a:r>
              <a:rPr sz="2400" dirty="0"/>
              <a:t>П</a:t>
            </a:r>
            <a:r>
              <a:rPr sz="2400" spc="-5" dirty="0"/>
              <a:t>РЕДЕЛЕН</a:t>
            </a:r>
            <a:r>
              <a:rPr sz="2400" dirty="0"/>
              <a:t>ИЕ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68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73465"/>
            <a:ext cx="10908030" cy="46736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40665" marR="422275" indent="-228600">
              <a:lnSpc>
                <a:spcPct val="73800"/>
              </a:lnSpc>
              <a:spcBef>
                <a:spcPts val="15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</a:tabLst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Нейронной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сетью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называется</a:t>
            </a:r>
            <a:r>
              <a:rPr sz="28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некоторая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последовательность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нейронов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(связка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нейронов),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объединённых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собой</a:t>
            </a:r>
            <a:endParaRPr sz="2800">
              <a:latin typeface="Arial"/>
              <a:cs typeface="Arial"/>
            </a:endParaRPr>
          </a:p>
          <a:p>
            <a:pPr marL="240665">
              <a:lnSpc>
                <a:spcPts val="2150"/>
              </a:lnSpc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синапсами.</a:t>
            </a:r>
            <a:endParaRPr sz="2800">
              <a:latin typeface="Arial"/>
              <a:cs typeface="Arial"/>
            </a:endParaRPr>
          </a:p>
          <a:p>
            <a:pPr marL="240029" marR="5080" indent="-227965" algn="just">
              <a:lnSpc>
                <a:spcPct val="79200"/>
              </a:lnSpc>
              <a:spcBef>
                <a:spcPts val="509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</a:tabLst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Каждый из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этих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нейронов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получает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данные,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обрабатывает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их,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потом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передаёт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другому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нейрону.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каждый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нейрон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обрабатывает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сигналы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одинаково. Но 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каким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же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тогда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образом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получаем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разный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3E3E3E"/>
                </a:solidFill>
                <a:latin typeface="Arial"/>
                <a:cs typeface="Arial"/>
              </a:rPr>
              <a:t>результат?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отвечают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синапсы,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соединяющие нейроны друг с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другом.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Каждый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нейрон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способен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иметь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множество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синапсов,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которые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ослабляют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или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усиливают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сигнал.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Нейроны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способны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менять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свои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характеристики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течение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определённого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времени.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Кстати,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правильно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выбрав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параметры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синапсов,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сможем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получать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выходе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правильные</a:t>
            </a:r>
            <a:r>
              <a:rPr sz="2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результаты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преобразования</a:t>
            </a:r>
            <a:r>
              <a:rPr sz="28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входной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информации.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110364"/>
            <a:ext cx="733298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spc="-20" dirty="0"/>
              <a:t>САМЫМИ</a:t>
            </a:r>
            <a:r>
              <a:rPr sz="2200" spc="25" dirty="0"/>
              <a:t> </a:t>
            </a:r>
            <a:r>
              <a:rPr sz="2200" spc="-40" dirty="0"/>
              <a:t>РАСПРОСТРАНЕННЫМИ</a:t>
            </a:r>
            <a:r>
              <a:rPr sz="2200" spc="45" dirty="0"/>
              <a:t> </a:t>
            </a:r>
            <a:r>
              <a:rPr sz="2200" spc="-5" dirty="0"/>
              <a:t>ПРИМЕНЕНИЯМИ </a:t>
            </a:r>
            <a:r>
              <a:rPr sz="2200" spc="-595" dirty="0"/>
              <a:t> </a:t>
            </a:r>
            <a:r>
              <a:rPr sz="2200" spc="-10" dirty="0"/>
              <a:t>НЕЙРОННЫХ</a:t>
            </a:r>
            <a:r>
              <a:rPr sz="2200" spc="5" dirty="0"/>
              <a:t> </a:t>
            </a:r>
            <a:r>
              <a:rPr sz="2200" spc="-5" dirty="0"/>
              <a:t>СЕТЕЙ</a:t>
            </a:r>
            <a:r>
              <a:rPr sz="2200" spc="15" dirty="0"/>
              <a:t> </a:t>
            </a:r>
            <a:r>
              <a:rPr sz="2200" spc="-15" dirty="0"/>
              <a:t>ЯВЛЯЕТСЯ:</a:t>
            </a:r>
            <a:endParaRPr sz="22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69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916138"/>
            <a:ext cx="10909300" cy="493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175" indent="-245110">
              <a:lnSpc>
                <a:spcPts val="3429"/>
              </a:lnSpc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  <a:tab pos="3142615" algn="l"/>
                <a:tab pos="3772535" algn="l"/>
                <a:tab pos="6596380" algn="l"/>
                <a:tab pos="8103870" algn="l"/>
                <a:tab pos="8769985" algn="l"/>
              </a:tabLst>
            </a:pP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Классификация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—	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распределение	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данных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по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параметрам.</a:t>
            </a:r>
            <a:endParaRPr sz="2800">
              <a:latin typeface="Arial"/>
              <a:cs typeface="Arial"/>
            </a:endParaRPr>
          </a:p>
          <a:p>
            <a:pPr marL="242570" marR="5080" indent="-1270" algn="just">
              <a:lnSpc>
                <a:spcPts val="3030"/>
              </a:lnSpc>
              <a:spcBef>
                <a:spcPts val="65"/>
              </a:spcBef>
            </a:pP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Например,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вход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дается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набор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людей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нужно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решить, 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кому 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из них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давать </a:t>
            </a:r>
            <a:r>
              <a:rPr sz="2800" spc="-55" dirty="0">
                <a:solidFill>
                  <a:srgbClr val="3E3E3E"/>
                </a:solidFill>
                <a:latin typeface="Arial"/>
                <a:cs typeface="Arial"/>
              </a:rPr>
              <a:t>кредит,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 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кому </a:t>
            </a:r>
            <a:r>
              <a:rPr sz="2800" spc="-105" dirty="0">
                <a:solidFill>
                  <a:srgbClr val="3E3E3E"/>
                </a:solidFill>
                <a:latin typeface="Arial"/>
                <a:cs typeface="Arial"/>
              </a:rPr>
              <a:t>нет.</a:t>
            </a:r>
            <a:r>
              <a:rPr sz="28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Эту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работу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может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сделать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нейронная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сеть,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анализируя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такую информацию 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как: 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возраст, </a:t>
            </a:r>
            <a:r>
              <a:rPr sz="28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платежеспособность,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кредитная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история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тд.</a:t>
            </a:r>
            <a:endParaRPr sz="2800">
              <a:latin typeface="Arial"/>
              <a:cs typeface="Arial"/>
            </a:endParaRPr>
          </a:p>
          <a:p>
            <a:pPr marL="240029" marR="6350" indent="-227965" algn="just">
              <a:lnSpc>
                <a:spcPct val="83100"/>
              </a:lnSpc>
              <a:spcBef>
                <a:spcPts val="50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</a:tabLst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Предсказание —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возможность предсказывать следующий </a:t>
            </a:r>
            <a:r>
              <a:rPr sz="2800" spc="-85" dirty="0">
                <a:solidFill>
                  <a:srgbClr val="3E3E3E"/>
                </a:solidFill>
                <a:latin typeface="Arial"/>
                <a:cs typeface="Arial"/>
              </a:rPr>
              <a:t>шаг. </a:t>
            </a:r>
            <a:r>
              <a:rPr sz="2800" spc="-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рост</a:t>
            </a:r>
            <a:r>
              <a:rPr sz="2800" spc="3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800" spc="3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падение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акций,</a:t>
            </a:r>
            <a:r>
              <a:rPr sz="2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основываясь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spc="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ситуации</a:t>
            </a:r>
            <a:endParaRPr sz="2800">
              <a:latin typeface="Arial"/>
              <a:cs typeface="Arial"/>
            </a:endParaRPr>
          </a:p>
          <a:p>
            <a:pPr marL="240665" algn="just">
              <a:lnSpc>
                <a:spcPts val="2660"/>
              </a:lnSpc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фондовом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рынке.</a:t>
            </a:r>
            <a:endParaRPr sz="2800">
              <a:latin typeface="Arial"/>
              <a:cs typeface="Arial"/>
            </a:endParaRPr>
          </a:p>
          <a:p>
            <a:pPr marL="240029" marR="8255" indent="-227965" algn="just">
              <a:lnSpc>
                <a:spcPct val="87600"/>
              </a:lnSpc>
              <a:spcBef>
                <a:spcPts val="259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</a:tabLst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Распознавание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—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настоящее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время,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самое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широкое 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применение нейронных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сетей. Используется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Google,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когда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вы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ищете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фото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или в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камерах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телефонов,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когда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оно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определяет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положение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вашего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лица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выделяет</a:t>
            </a:r>
            <a:r>
              <a:rPr sz="2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его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многое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другое.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323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ОСНОВНЫЕ</a:t>
            </a:r>
            <a:r>
              <a:rPr sz="2400" spc="-60" dirty="0"/>
              <a:t> </a:t>
            </a:r>
            <a:r>
              <a:rPr sz="2400" spc="-5" dirty="0"/>
              <a:t>ОПРЕДЕЛЕНИЯ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367400" y="916138"/>
            <a:ext cx="10906760" cy="288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175" indent="-245110">
              <a:lnSpc>
                <a:spcPts val="3429"/>
              </a:lnSpc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  <a:tab pos="1748155" algn="l"/>
                <a:tab pos="2348865" algn="l"/>
                <a:tab pos="3124835" algn="l"/>
                <a:tab pos="6109970" algn="l"/>
                <a:tab pos="7847965" algn="l"/>
                <a:tab pos="9388475" algn="l"/>
              </a:tabLst>
            </a:pP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Нейрон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—	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это	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вычислительная	единица,	которая	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получает</a:t>
            </a:r>
            <a:endParaRPr sz="2800">
              <a:latin typeface="Arial"/>
              <a:cs typeface="Arial"/>
            </a:endParaRPr>
          </a:p>
          <a:p>
            <a:pPr marL="241935" marR="5080" indent="-635" algn="just">
              <a:lnSpc>
                <a:spcPts val="3030"/>
              </a:lnSpc>
              <a:spcBef>
                <a:spcPts val="65"/>
              </a:spcBef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информацию,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производит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над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ней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простые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вычисления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передает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дальше.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Они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делятся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три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основных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типа: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входной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(синий),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скрытый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(красный)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выходной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(зеленый).</a:t>
            </a:r>
            <a:endParaRPr sz="2800">
              <a:latin typeface="Arial"/>
              <a:cs typeface="Arial"/>
            </a:endParaRPr>
          </a:p>
          <a:p>
            <a:pPr marL="240665" marR="5080" indent="-228600">
              <a:lnSpc>
                <a:spcPct val="83100"/>
              </a:lnSpc>
              <a:spcBef>
                <a:spcPts val="55"/>
              </a:spcBef>
              <a:buClr>
                <a:srgbClr val="006666"/>
              </a:buClr>
              <a:buSzPct val="146428"/>
              <a:buFont typeface="Wingdings"/>
              <a:buChar char=""/>
              <a:tabLst>
                <a:tab pos="257810" algn="l"/>
                <a:tab pos="2180590" algn="l"/>
                <a:tab pos="2895600" algn="l"/>
                <a:tab pos="3916679" algn="l"/>
                <a:tab pos="6018530" algn="l"/>
                <a:tab pos="7066915" algn="l"/>
                <a:tab pos="8772525" algn="l"/>
              </a:tabLst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Синапс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800" spc="3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связь</a:t>
            </a:r>
            <a:r>
              <a:rPr sz="2800" spc="3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2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двумя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нейронами.</a:t>
            </a:r>
            <a:r>
              <a:rPr sz="2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800" spc="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синапсов</a:t>
            </a:r>
            <a:r>
              <a:rPr sz="2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есть</a:t>
            </a:r>
            <a:r>
              <a:rPr sz="2800" spc="3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1 </a:t>
            </a:r>
            <a:r>
              <a:rPr sz="2800" spc="-7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арам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—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ес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е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spc="-28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дн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	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нф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ор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ац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endParaRPr sz="2800">
              <a:latin typeface="Arial"/>
              <a:cs typeface="Arial"/>
            </a:endParaRPr>
          </a:p>
          <a:p>
            <a:pPr marL="240665" algn="just">
              <a:lnSpc>
                <a:spcPts val="3025"/>
              </a:lnSpc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изменяется,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когда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передается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одного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нейрона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3E3E3E"/>
                </a:solidFill>
                <a:latin typeface="Arial"/>
                <a:cs typeface="Arial"/>
              </a:rPr>
              <a:t>другому.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261" y="3885704"/>
            <a:ext cx="3839526" cy="23850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5110" y="3969894"/>
            <a:ext cx="4601153" cy="221669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70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19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ВИДЫ</a:t>
            </a:r>
            <a:r>
              <a:rPr sz="2400" spc="-35" dirty="0"/>
              <a:t> </a:t>
            </a:r>
            <a:r>
              <a:rPr sz="2400" spc="-10" dirty="0"/>
              <a:t>НЕЙРОННЫХ</a:t>
            </a:r>
            <a:r>
              <a:rPr sz="2400" spc="-15" dirty="0"/>
              <a:t> </a:t>
            </a:r>
            <a:r>
              <a:rPr sz="2400" spc="-10" dirty="0"/>
              <a:t>СЕТЕЙ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71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400" y="884133"/>
            <a:ext cx="8604885" cy="549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135"/>
              </a:lnSpc>
              <a:spcBef>
                <a:spcPts val="10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зависимости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количества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слоёв: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Однослойна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8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Многослойна</a:t>
            </a: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ts val="2140"/>
              </a:lnSpc>
              <a:spcBef>
                <a:spcPts val="3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направлению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распределения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информации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синапсам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нейронами: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4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Нейросети</a:t>
            </a:r>
            <a:r>
              <a:rPr sz="15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прямого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распространения</a:t>
            </a:r>
            <a:r>
              <a:rPr sz="15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(однонаправленные)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Рекуррентные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нейронные</a:t>
            </a:r>
            <a:r>
              <a:rPr sz="15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15" dirty="0">
                <a:solidFill>
                  <a:srgbClr val="3E3E3E"/>
                </a:solidFill>
                <a:latin typeface="Arial"/>
                <a:cs typeface="Arial"/>
              </a:rPr>
              <a:t>сети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(с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 обратными</a:t>
            </a:r>
            <a:r>
              <a:rPr sz="15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связями)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Радиально-базисные</a:t>
            </a:r>
            <a:r>
              <a:rPr sz="15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функции.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8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Самоорганизующиеся</a:t>
            </a:r>
            <a:r>
              <a:rPr sz="15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карты.</a:t>
            </a: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ts val="2140"/>
              </a:lnSpc>
              <a:spcBef>
                <a:spcPts val="35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зависимости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типов нейронов: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4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однородные;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8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гибридные.</a:t>
            </a: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ts val="2140"/>
              </a:lnSpc>
              <a:spcBef>
                <a:spcPts val="35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зависимости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метода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нейронных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сетей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обучению: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обучение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5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Arial"/>
                <a:cs typeface="Arial"/>
              </a:rPr>
              <a:t>учителем;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15" dirty="0">
                <a:solidFill>
                  <a:srgbClr val="3E3E3E"/>
                </a:solidFill>
                <a:latin typeface="Arial"/>
                <a:cs typeface="Arial"/>
              </a:rPr>
              <a:t>без</a:t>
            </a:r>
            <a:r>
              <a:rPr sz="15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15" dirty="0">
                <a:solidFill>
                  <a:srgbClr val="3E3E3E"/>
                </a:solidFill>
                <a:latin typeface="Arial"/>
                <a:cs typeface="Arial"/>
              </a:rPr>
              <a:t>учителя;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8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5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подкреплением.</a:t>
            </a: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ts val="2140"/>
              </a:lnSpc>
              <a:spcBef>
                <a:spcPts val="345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типу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входной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информации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нейронные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бывают: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4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аналоговые;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двоичные;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75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образные.</a:t>
            </a: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ts val="2135"/>
              </a:lnSpc>
              <a:spcBef>
                <a:spcPts val="360"/>
              </a:spcBef>
              <a:buClr>
                <a:srgbClr val="006666"/>
              </a:buClr>
              <a:buSzPct val="150000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характеру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настройки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синапсов:</a:t>
            </a:r>
            <a:endParaRPr sz="1800">
              <a:latin typeface="Arial"/>
              <a:cs typeface="Arial"/>
            </a:endParaRPr>
          </a:p>
          <a:p>
            <a:pPr marL="698500" lvl="1" indent="-229235">
              <a:lnSpc>
                <a:spcPts val="176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5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фиксированными</a:t>
            </a:r>
            <a:r>
              <a:rPr sz="15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связями;</a:t>
            </a:r>
            <a:endParaRPr sz="1500">
              <a:latin typeface="Arial"/>
              <a:cs typeface="Arial"/>
            </a:endParaRPr>
          </a:p>
          <a:p>
            <a:pPr marL="698500" lvl="1" indent="-229235">
              <a:lnSpc>
                <a:spcPts val="1780"/>
              </a:lnSpc>
              <a:buClr>
                <a:srgbClr val="006666"/>
              </a:buClr>
              <a:buSzPct val="170000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5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E3E3E"/>
                </a:solidFill>
                <a:latin typeface="Arial"/>
                <a:cs typeface="Arial"/>
              </a:rPr>
              <a:t>динамическими</a:t>
            </a:r>
            <a:r>
              <a:rPr sz="15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3E3E3E"/>
                </a:solidFill>
                <a:latin typeface="Arial"/>
                <a:cs typeface="Arial"/>
              </a:rPr>
              <a:t>связями.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1" y="108860"/>
            <a:ext cx="9451334" cy="59395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72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211" y="85725"/>
            <a:ext cx="7010562" cy="62069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73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08929" y="946099"/>
            <a:ext cx="4516120" cy="156972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"/>
                <a:cs typeface="Arial"/>
              </a:rPr>
              <a:t>Нейроны:</a:t>
            </a:r>
            <a:endParaRPr sz="2400">
              <a:latin typeface="Arial"/>
              <a:cs typeface="Arial"/>
            </a:endParaRPr>
          </a:p>
          <a:p>
            <a:pPr marL="281940" indent="-191135">
              <a:lnSpc>
                <a:spcPct val="100000"/>
              </a:lnSpc>
              <a:buChar char="•"/>
              <a:tabLst>
                <a:tab pos="282575" algn="l"/>
              </a:tabLst>
            </a:pPr>
            <a:r>
              <a:rPr sz="2400" spc="-5" dirty="0">
                <a:latin typeface="Arial"/>
                <a:cs typeface="Arial"/>
              </a:rPr>
              <a:t>не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делятся</a:t>
            </a:r>
            <a:endParaRPr sz="2400">
              <a:latin typeface="Arial"/>
              <a:cs typeface="Arial"/>
            </a:endParaRPr>
          </a:p>
          <a:p>
            <a:pPr marL="281940" indent="-191135">
              <a:lnSpc>
                <a:spcPct val="100000"/>
              </a:lnSpc>
              <a:buChar char="•"/>
              <a:tabLst>
                <a:tab pos="282575" algn="l"/>
              </a:tabLst>
            </a:pPr>
            <a:r>
              <a:rPr sz="2400" spc="-15" dirty="0">
                <a:latin typeface="Arial"/>
                <a:cs typeface="Arial"/>
              </a:rPr>
              <a:t>много </a:t>
            </a:r>
            <a:r>
              <a:rPr sz="2400" spc="-20" dirty="0">
                <a:latin typeface="Arial"/>
                <a:cs typeface="Arial"/>
              </a:rPr>
              <a:t>входов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до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10000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281940" indent="-191135">
              <a:lnSpc>
                <a:spcPct val="100000"/>
              </a:lnSpc>
              <a:buChar char="•"/>
              <a:tabLst>
                <a:tab pos="282575" algn="l"/>
              </a:tabLst>
            </a:pPr>
            <a:r>
              <a:rPr sz="2400" spc="-15" dirty="0">
                <a:latin typeface="Arial"/>
                <a:cs typeface="Arial"/>
              </a:rPr>
              <a:t>один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выход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17840" y="2630347"/>
            <a:ext cx="4014470" cy="831215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 marR="965835">
              <a:lnSpc>
                <a:spcPct val="100000"/>
              </a:lnSpc>
              <a:spcBef>
                <a:spcPts val="300"/>
              </a:spcBef>
            </a:pPr>
            <a:r>
              <a:rPr sz="2400" spc="-15" dirty="0">
                <a:latin typeface="Arial"/>
                <a:cs typeface="Arial"/>
              </a:rPr>
              <a:t>Слабая </a:t>
            </a:r>
            <a:r>
              <a:rPr sz="2400" dirty="0">
                <a:latin typeface="Arial"/>
                <a:cs typeface="Arial"/>
              </a:rPr>
              <a:t>и </a:t>
            </a:r>
            <a:r>
              <a:rPr sz="2400" spc="-5" dirty="0">
                <a:latin typeface="Arial"/>
                <a:cs typeface="Arial"/>
              </a:rPr>
              <a:t>сильная </a:t>
            </a:r>
            <a:r>
              <a:rPr sz="2400" dirty="0">
                <a:latin typeface="Arial"/>
                <a:cs typeface="Arial"/>
              </a:rPr>
              <a:t> синаптическая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связь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2587" y="3844455"/>
            <a:ext cx="4035767" cy="25833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477" y="1145321"/>
            <a:ext cx="4229100" cy="26098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3236" y="3575926"/>
            <a:ext cx="2568275" cy="28518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2848" y="2004389"/>
            <a:ext cx="432434" cy="1346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145"/>
              </a:lnSpc>
            </a:pPr>
            <a:r>
              <a:rPr sz="3200" spc="-5" dirty="0">
                <a:latin typeface="Calibri"/>
                <a:cs typeface="Calibri"/>
              </a:rPr>
              <a:t>Нейр</a:t>
            </a:r>
            <a:r>
              <a:rPr sz="3200" dirty="0">
                <a:latin typeface="Calibri"/>
                <a:cs typeface="Calibri"/>
              </a:rPr>
              <a:t>он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847" y="6461823"/>
            <a:ext cx="3016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74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1323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НЕ</a:t>
            </a:r>
            <a:r>
              <a:rPr sz="2400" dirty="0"/>
              <a:t>Й</a:t>
            </a:r>
            <a:r>
              <a:rPr sz="2400" spc="-45" dirty="0"/>
              <a:t>Р</a:t>
            </a:r>
            <a:r>
              <a:rPr sz="2400" spc="5" dirty="0"/>
              <a:t>О</a:t>
            </a:r>
            <a:r>
              <a:rPr sz="2400" dirty="0"/>
              <a:t>Н</a:t>
            </a:r>
            <a:endParaRPr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247" y="6442623"/>
            <a:ext cx="250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97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17294" y="1059367"/>
            <a:ext cx="9668510" cy="5518785"/>
            <a:chOff x="1717294" y="1059367"/>
            <a:chExt cx="9668510" cy="5518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3953" y="1596186"/>
              <a:ext cx="3271441" cy="10299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5474" y="1263955"/>
              <a:ext cx="5453019" cy="3647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8862" y="4406215"/>
              <a:ext cx="2358159" cy="2171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7294" y="2056079"/>
              <a:ext cx="1608188" cy="4703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8860" y="1059367"/>
              <a:ext cx="1927161" cy="5210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9575" y="1559471"/>
              <a:ext cx="1380337" cy="8148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56332" y="4119442"/>
              <a:ext cx="846809" cy="36895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80382" y="4645776"/>
              <a:ext cx="1714503" cy="8218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80382" y="5387190"/>
              <a:ext cx="1351864" cy="79386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940328" y="2719272"/>
            <a:ext cx="821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с</a:t>
            </a:r>
            <a:r>
              <a:rPr sz="1600" spc="-10" dirty="0">
                <a:latin typeface="Arial"/>
                <a:cs typeface="Arial"/>
              </a:rPr>
              <a:t>и</a:t>
            </a:r>
            <a:r>
              <a:rPr sz="1600" spc="-15" dirty="0">
                <a:latin typeface="Arial"/>
                <a:cs typeface="Arial"/>
              </a:rPr>
              <a:t>н</a:t>
            </a:r>
            <a:r>
              <a:rPr sz="1600" spc="-10" dirty="0">
                <a:latin typeface="Arial"/>
                <a:cs typeface="Arial"/>
              </a:rPr>
              <a:t>ап</a:t>
            </a:r>
            <a:r>
              <a:rPr sz="1600" dirty="0">
                <a:latin typeface="Arial"/>
                <a:cs typeface="Arial"/>
              </a:rPr>
              <a:t>с</a:t>
            </a:r>
            <a:r>
              <a:rPr sz="1600" spc="-5" dirty="0">
                <a:latin typeface="Arial"/>
                <a:cs typeface="Arial"/>
              </a:rPr>
              <a:t>ы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9213" y="3378427"/>
            <a:ext cx="457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т</a:t>
            </a:r>
            <a:r>
              <a:rPr sz="1600" spc="-55" dirty="0">
                <a:latin typeface="Arial"/>
                <a:cs typeface="Arial"/>
              </a:rPr>
              <a:t>е</a:t>
            </a:r>
            <a:r>
              <a:rPr sz="1600" spc="10" dirty="0">
                <a:latin typeface="Arial"/>
                <a:cs typeface="Arial"/>
              </a:rPr>
              <a:t>л</a:t>
            </a:r>
            <a:r>
              <a:rPr sz="1600" spc="-5" dirty="0">
                <a:latin typeface="Arial"/>
                <a:cs typeface="Arial"/>
              </a:rPr>
              <a:t>о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74203" y="2831159"/>
            <a:ext cx="5562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аксон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99717" y="3457071"/>
            <a:ext cx="1848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Функция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активации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8941" y="4147846"/>
            <a:ext cx="1217295" cy="177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линейная</a:t>
            </a:r>
            <a:endParaRPr sz="1600">
              <a:latin typeface="Arial"/>
              <a:cs typeface="Arial"/>
            </a:endParaRPr>
          </a:p>
          <a:p>
            <a:pPr marL="97790" marR="5080">
              <a:lnSpc>
                <a:spcPts val="6040"/>
              </a:lnSpc>
              <a:spcBef>
                <a:spcPts val="445"/>
              </a:spcBef>
            </a:pPr>
            <a:r>
              <a:rPr sz="1600" spc="-15" dirty="0">
                <a:latin typeface="Arial"/>
                <a:cs typeface="Arial"/>
              </a:rPr>
              <a:t>пороговая 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</a:t>
            </a:r>
            <a:r>
              <a:rPr sz="1600" spc="-10" dirty="0">
                <a:latin typeface="Arial"/>
                <a:cs typeface="Arial"/>
              </a:rPr>
              <a:t>и</a:t>
            </a:r>
            <a:r>
              <a:rPr sz="1600" dirty="0">
                <a:latin typeface="Arial"/>
                <a:cs typeface="Arial"/>
              </a:rPr>
              <a:t>г</a:t>
            </a:r>
            <a:r>
              <a:rPr sz="1600" spc="-15" dirty="0">
                <a:latin typeface="Arial"/>
                <a:cs typeface="Arial"/>
              </a:rPr>
              <a:t>м</a:t>
            </a:r>
            <a:r>
              <a:rPr sz="1600" spc="-10" dirty="0">
                <a:latin typeface="Arial"/>
                <a:cs typeface="Arial"/>
              </a:rPr>
              <a:t>ои</a:t>
            </a:r>
            <a:r>
              <a:rPr sz="1600" dirty="0">
                <a:latin typeface="Arial"/>
                <a:cs typeface="Arial"/>
              </a:rPr>
              <a:t>д</a:t>
            </a:r>
            <a:r>
              <a:rPr sz="1600" spc="-15" dirty="0">
                <a:latin typeface="Arial"/>
                <a:cs typeface="Arial"/>
              </a:rPr>
              <a:t>н</a:t>
            </a:r>
            <a:r>
              <a:rPr sz="1600" spc="-10" dirty="0">
                <a:latin typeface="Arial"/>
                <a:cs typeface="Arial"/>
              </a:rPr>
              <a:t>а</a:t>
            </a:r>
            <a:r>
              <a:rPr sz="1600" spc="-5" dirty="0">
                <a:latin typeface="Arial"/>
                <a:cs typeface="Arial"/>
              </a:rPr>
              <a:t>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42181" y="6447184"/>
            <a:ext cx="484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с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48477" y="3414453"/>
            <a:ext cx="1259840" cy="2482215"/>
            <a:chOff x="7048477" y="3414453"/>
            <a:chExt cx="1259840" cy="2482215"/>
          </a:xfrm>
        </p:grpSpPr>
        <p:sp>
          <p:nvSpPr>
            <p:cNvPr id="20" name="object 20"/>
            <p:cNvSpPr/>
            <p:nvPr/>
          </p:nvSpPr>
          <p:spPr>
            <a:xfrm>
              <a:off x="7067523" y="5810353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67809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7527" y="5743671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0"/>
                  </a:moveTo>
                  <a:lnTo>
                    <a:pt x="0" y="66674"/>
                  </a:lnTo>
                  <a:lnTo>
                    <a:pt x="114300" y="133349"/>
                  </a:lnTo>
                </a:path>
              </a:pathLst>
            </a:custGeom>
            <a:ln w="381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89914" y="3428741"/>
              <a:ext cx="403860" cy="100330"/>
            </a:xfrm>
            <a:custGeom>
              <a:avLst/>
              <a:gdLst/>
              <a:ahLst/>
              <a:cxnLst/>
              <a:rect l="l" t="t" r="r" b="b"/>
              <a:pathLst>
                <a:path w="403859" h="100329">
                  <a:moveTo>
                    <a:pt x="0" y="0"/>
                  </a:moveTo>
                  <a:lnTo>
                    <a:pt x="403542" y="99872"/>
                  </a:lnTo>
                </a:path>
              </a:pathLst>
            </a:custGeom>
            <a:ln w="28574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98230" y="3459470"/>
              <a:ext cx="95250" cy="97155"/>
            </a:xfrm>
            <a:custGeom>
              <a:avLst/>
              <a:gdLst/>
              <a:ahLst/>
              <a:cxnLst/>
              <a:rect l="l" t="t" r="r" b="b"/>
              <a:pathLst>
                <a:path w="95250" h="97154">
                  <a:moveTo>
                    <a:pt x="24028" y="0"/>
                  </a:moveTo>
                  <a:lnTo>
                    <a:pt x="95224" y="69138"/>
                  </a:lnTo>
                  <a:lnTo>
                    <a:pt x="0" y="97078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6530" y="2167932"/>
            <a:ext cx="304800" cy="93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йр</a:t>
            </a:r>
            <a:r>
              <a:rPr sz="2200" spc="5" dirty="0">
                <a:solidFill>
                  <a:srgbClr val="8A8A4C"/>
                </a:solidFill>
                <a:latin typeface="Calibri"/>
                <a:cs typeface="Calibri"/>
              </a:rPr>
              <a:t>о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н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74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СХЕМА</a:t>
            </a:r>
            <a:r>
              <a:rPr sz="2400" spc="-10" dirty="0"/>
              <a:t> ИСКУССТВЕННОГО</a:t>
            </a:r>
            <a:r>
              <a:rPr sz="2400" spc="35" dirty="0"/>
              <a:t> </a:t>
            </a:r>
            <a:r>
              <a:rPr sz="2400" spc="-15" dirty="0"/>
              <a:t>НЕЙРОНА</a:t>
            </a:r>
            <a:endParaRPr sz="2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1039" y="2741965"/>
            <a:ext cx="2597419" cy="15069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95" y="2973832"/>
            <a:ext cx="4103808" cy="29417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07972" y="1079088"/>
            <a:ext cx="90957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914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Каждый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синапс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характеризуется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величиной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синаптической </a:t>
            </a:r>
            <a:r>
              <a:rPr sz="1800" spc="-10" dirty="0">
                <a:latin typeface="Arial"/>
                <a:cs typeface="Arial"/>
              </a:rPr>
              <a:t>связи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–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её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также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называют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весом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</a:t>
            </a:r>
            <a:r>
              <a:rPr sz="1800" b="1" spc="-7" baseline="-20833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38100" marR="308610" indent="914400">
              <a:lnSpc>
                <a:spcPct val="100000"/>
              </a:lnSpc>
            </a:pPr>
            <a:r>
              <a:rPr sz="1800" i="1" dirty="0">
                <a:latin typeface="Arial"/>
                <a:cs typeface="Arial"/>
              </a:rPr>
              <a:t>По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физическому</a:t>
            </a:r>
            <a:r>
              <a:rPr sz="1800" i="1" spc="2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смыслу,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вес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синаптической</a:t>
            </a:r>
            <a:r>
              <a:rPr sz="1800" i="1" spc="1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связи</a:t>
            </a:r>
            <a:r>
              <a:rPr sz="1800" i="1" spc="1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– </a:t>
            </a:r>
            <a:r>
              <a:rPr sz="1800" i="1" spc="-15" dirty="0">
                <a:latin typeface="Arial"/>
                <a:cs typeface="Arial"/>
              </a:rPr>
              <a:t>это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электрическая </a:t>
            </a:r>
            <a:r>
              <a:rPr sz="1800" i="1" spc="-484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проводимость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данного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синапса.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61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/>
              <a:t>СОСТОЯНИЕ</a:t>
            </a:r>
            <a:r>
              <a:rPr sz="2400" spc="-45" dirty="0"/>
              <a:t> </a:t>
            </a:r>
            <a:r>
              <a:rPr sz="2400" spc="-15" dirty="0"/>
              <a:t>НЕЙРОНА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76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6374841" y="4379228"/>
            <a:ext cx="44138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27325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float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s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=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0;</a:t>
            </a:r>
            <a:endParaRPr sz="2800">
              <a:latin typeface="Arial"/>
              <a:cs typeface="Arial"/>
            </a:endParaRPr>
          </a:p>
          <a:p>
            <a:pPr marL="788035"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for(int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i = </a:t>
            </a:r>
            <a:r>
              <a:rPr sz="2800" i="1" dirty="0">
                <a:latin typeface="Arial"/>
                <a:cs typeface="Arial"/>
              </a:rPr>
              <a:t>0;</a:t>
            </a:r>
            <a:r>
              <a:rPr sz="2800" i="1" spc="-2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i &lt; </a:t>
            </a:r>
            <a:r>
              <a:rPr sz="2800" i="1" dirty="0">
                <a:latin typeface="Arial"/>
                <a:cs typeface="Arial"/>
              </a:rPr>
              <a:t>n;</a:t>
            </a:r>
            <a:r>
              <a:rPr sz="2800" i="1" spc="-2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i++</a:t>
            </a:r>
            <a:r>
              <a:rPr sz="2800" spc="-5" dirty="0">
                <a:latin typeface="Arial"/>
                <a:cs typeface="Arial"/>
              </a:rPr>
              <a:t>)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{</a:t>
            </a:r>
            <a:endParaRPr sz="2800">
              <a:latin typeface="Arial"/>
              <a:cs typeface="Arial"/>
            </a:endParaRPr>
          </a:p>
          <a:p>
            <a:pPr marL="781050" algn="ctr">
              <a:lnSpc>
                <a:spcPct val="100000"/>
              </a:lnSpc>
            </a:pPr>
            <a:r>
              <a:rPr sz="2800" i="1" spc="-5" dirty="0">
                <a:latin typeface="Arial"/>
                <a:cs typeface="Arial"/>
              </a:rPr>
              <a:t>s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+</a:t>
            </a:r>
            <a:r>
              <a:rPr sz="2800" i="1" spc="-5" dirty="0">
                <a:latin typeface="Arial"/>
                <a:cs typeface="Arial"/>
              </a:rPr>
              <a:t>=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x</a:t>
            </a:r>
            <a:r>
              <a:rPr sz="2800" spc="-5" dirty="0">
                <a:latin typeface="Arial"/>
                <a:cs typeface="Arial"/>
              </a:rPr>
              <a:t>[</a:t>
            </a:r>
            <a:r>
              <a:rPr sz="2800" i="1" spc="-5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]</a:t>
            </a:r>
            <a:r>
              <a:rPr sz="2800" i="1" spc="-5" dirty="0">
                <a:latin typeface="Arial"/>
                <a:cs typeface="Arial"/>
              </a:rPr>
              <a:t>*w</a:t>
            </a:r>
            <a:r>
              <a:rPr sz="2800" spc="-5" dirty="0">
                <a:latin typeface="Arial"/>
                <a:cs typeface="Arial"/>
              </a:rPr>
              <a:t>[</a:t>
            </a:r>
            <a:r>
              <a:rPr sz="2800" i="1" spc="-5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];</a:t>
            </a:r>
            <a:endParaRPr sz="2800">
              <a:latin typeface="Arial"/>
              <a:cs typeface="Arial"/>
            </a:endParaRPr>
          </a:p>
          <a:p>
            <a:pPr marR="2681605"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}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1172" y="1733675"/>
            <a:ext cx="304800" cy="93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йр</a:t>
            </a:r>
            <a:r>
              <a:rPr sz="2200" spc="5" dirty="0">
                <a:solidFill>
                  <a:srgbClr val="8A8A4C"/>
                </a:solidFill>
                <a:latin typeface="Calibri"/>
                <a:cs typeface="Calibri"/>
              </a:rPr>
              <a:t>о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н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1628775"/>
            <a:ext cx="2232024" cy="14271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58389" y="5257674"/>
            <a:ext cx="7319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Arial"/>
                <a:cs typeface="Arial"/>
              </a:rPr>
              <a:t>Одна </a:t>
            </a:r>
            <a:r>
              <a:rPr sz="1200" i="1" dirty="0">
                <a:latin typeface="Arial"/>
                <a:cs typeface="Arial"/>
              </a:rPr>
              <a:t>из </a:t>
            </a:r>
            <a:r>
              <a:rPr sz="1200" i="1" spc="-5" dirty="0">
                <a:latin typeface="Arial"/>
                <a:cs typeface="Arial"/>
              </a:rPr>
              <a:t>причин, по которой сигмоид </a:t>
            </a:r>
            <a:r>
              <a:rPr sz="1200" i="1" spc="-10" dirty="0">
                <a:latin typeface="Arial"/>
                <a:cs typeface="Arial"/>
              </a:rPr>
              <a:t>используется </a:t>
            </a:r>
            <a:r>
              <a:rPr sz="1200" i="1" dirty="0">
                <a:latin typeface="Arial"/>
                <a:cs typeface="Arial"/>
              </a:rPr>
              <a:t>в </a:t>
            </a:r>
            <a:r>
              <a:rPr sz="1200" i="1" spc="-5" dirty="0">
                <a:latin typeface="Arial"/>
                <a:cs typeface="Arial"/>
              </a:rPr>
              <a:t>нейронных </a:t>
            </a:r>
            <a:r>
              <a:rPr sz="1200" i="1" spc="-10" dirty="0">
                <a:latin typeface="Arial"/>
                <a:cs typeface="Arial"/>
              </a:rPr>
              <a:t>сетях, </a:t>
            </a:r>
            <a:r>
              <a:rPr sz="1200" i="1" spc="-15" dirty="0">
                <a:latin typeface="Arial"/>
                <a:cs typeface="Arial"/>
              </a:rPr>
              <a:t>это </a:t>
            </a:r>
            <a:r>
              <a:rPr sz="1200" i="1" spc="-10" dirty="0">
                <a:latin typeface="Arial"/>
                <a:cs typeface="Arial"/>
              </a:rPr>
              <a:t>простое </a:t>
            </a:r>
            <a:r>
              <a:rPr sz="1200" i="1" dirty="0">
                <a:latin typeface="Arial"/>
                <a:cs typeface="Arial"/>
              </a:rPr>
              <a:t>выражение </a:t>
            </a:r>
            <a:r>
              <a:rPr sz="1200" i="1" spc="-10" dirty="0">
                <a:latin typeface="Arial"/>
                <a:cs typeface="Arial"/>
              </a:rPr>
              <a:t>его </a:t>
            </a:r>
            <a:r>
              <a:rPr sz="1200" i="1" spc="-320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производной через саму функцию (которое </a:t>
            </a:r>
            <a:r>
              <a:rPr sz="1200" i="1" spc="-10" dirty="0">
                <a:latin typeface="Arial"/>
                <a:cs typeface="Arial"/>
              </a:rPr>
              <a:t>позволило существенно </a:t>
            </a:r>
            <a:r>
              <a:rPr sz="1200" i="1" spc="-5" dirty="0">
                <a:latin typeface="Arial"/>
                <a:cs typeface="Arial"/>
              </a:rPr>
              <a:t>сократить вычислительную 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сложность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метода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обратного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распространения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ошибки, </a:t>
            </a:r>
            <a:r>
              <a:rPr sz="1200" i="1" spc="-10" dirty="0">
                <a:latin typeface="Arial"/>
                <a:cs typeface="Arial"/>
              </a:rPr>
              <a:t>сделав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его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применимым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на</a:t>
            </a:r>
            <a:r>
              <a:rPr sz="1200" i="1" spc="10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практике):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5032" y="6089650"/>
            <a:ext cx="10456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215" algn="l"/>
                <a:tab pos="10443210" algn="l"/>
              </a:tabLst>
            </a:pPr>
            <a:r>
              <a:rPr sz="24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	f</a:t>
            </a:r>
            <a:r>
              <a:rPr sz="2400" i="1" u="heavy" spc="-30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spc="-5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'(s)</a:t>
            </a:r>
            <a:r>
              <a:rPr sz="2400" i="1" u="heavy" spc="-20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=</a:t>
            </a:r>
            <a:r>
              <a:rPr sz="2400" i="1" u="heavy" spc="-15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f(s)</a:t>
            </a:r>
            <a:r>
              <a:rPr sz="18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x</a:t>
            </a:r>
            <a:r>
              <a:rPr sz="24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(1</a:t>
            </a:r>
            <a:r>
              <a:rPr sz="2400" i="1" u="heavy" spc="-40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spc="-5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–</a:t>
            </a:r>
            <a:r>
              <a:rPr sz="2400" i="1" u="heavy" spc="-10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dirty="0"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f(s))	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4061" y="1655700"/>
            <a:ext cx="7719059" cy="309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9270" marR="7550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Значение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выходе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нейрона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это 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функция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от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его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состояния –</a:t>
            </a:r>
            <a:r>
              <a:rPr sz="1800" spc="-10" dirty="0">
                <a:latin typeface="Arial"/>
                <a:cs typeface="Arial"/>
              </a:rPr>
              <a:t> функция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активации:</a:t>
            </a:r>
            <a:endParaRPr sz="1800">
              <a:latin typeface="Arial"/>
              <a:cs typeface="Arial"/>
            </a:endParaRPr>
          </a:p>
          <a:p>
            <a:pPr marL="4246245">
              <a:lnSpc>
                <a:spcPct val="100000"/>
              </a:lnSpc>
              <a:spcBef>
                <a:spcPts val="1780"/>
              </a:spcBef>
            </a:pP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f(s)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Arial"/>
              <a:cs typeface="Arial"/>
            </a:endParaRPr>
          </a:p>
          <a:p>
            <a:pPr marL="25400" marR="17780" indent="9144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Чаще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всего,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используется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логистическая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функция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или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функция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S-образного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вида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</a:t>
            </a:r>
            <a:r>
              <a:rPr sz="1800" b="1" spc="-5" dirty="0">
                <a:latin typeface="Arial"/>
                <a:cs typeface="Arial"/>
              </a:rPr>
              <a:t>сигмоид</a:t>
            </a:r>
            <a:r>
              <a:rPr sz="1800" spc="-5" dirty="0">
                <a:latin typeface="Arial"/>
                <a:cs typeface="Arial"/>
              </a:rPr>
              <a:t>):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Arial"/>
              <a:cs typeface="Arial"/>
            </a:endParaRPr>
          </a:p>
          <a:p>
            <a:pPr marL="2112645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f(s)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1/(1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+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i="1" spc="-7" baseline="24305" dirty="0">
                <a:latin typeface="Arial"/>
                <a:cs typeface="Arial"/>
              </a:rPr>
              <a:t>-as</a:t>
            </a:r>
            <a:r>
              <a:rPr sz="2400" i="1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6214" y="3789363"/>
            <a:ext cx="1323974" cy="13239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44269" y="2127431"/>
            <a:ext cx="304800" cy="93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йр</a:t>
            </a:r>
            <a:r>
              <a:rPr sz="2200" spc="5" dirty="0">
                <a:solidFill>
                  <a:srgbClr val="8A8A4C"/>
                </a:solidFill>
                <a:latin typeface="Calibri"/>
                <a:cs typeface="Calibri"/>
              </a:rPr>
              <a:t>о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н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12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ФУНКЦИЯ</a:t>
            </a:r>
            <a:r>
              <a:rPr sz="2400" spc="-15" dirty="0"/>
              <a:t> АКТИВАЦИИ</a:t>
            </a:r>
            <a:r>
              <a:rPr sz="2400" spc="10" dirty="0"/>
              <a:t> </a:t>
            </a:r>
            <a:r>
              <a:rPr sz="2400" spc="-15" dirty="0"/>
              <a:t>НЕЙРОНА</a:t>
            </a:r>
            <a:endParaRPr sz="24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77</a:t>
            </a:fld>
            <a:endParaRPr spc="-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4112" y="1639887"/>
            <a:ext cx="3790950" cy="4958080"/>
            <a:chOff x="2424112" y="1639887"/>
            <a:chExt cx="3790950" cy="4958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4112" y="1639887"/>
              <a:ext cx="2519361" cy="49577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6716" y="5413247"/>
              <a:ext cx="1248155" cy="3962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16500" y="5445118"/>
              <a:ext cx="1151255" cy="287655"/>
            </a:xfrm>
            <a:custGeom>
              <a:avLst/>
              <a:gdLst/>
              <a:ahLst/>
              <a:cxnLst/>
              <a:rect l="l" t="t" r="r" b="b"/>
              <a:pathLst>
                <a:path w="1151254" h="287654">
                  <a:moveTo>
                    <a:pt x="143649" y="0"/>
                  </a:moveTo>
                  <a:lnTo>
                    <a:pt x="0" y="143675"/>
                  </a:lnTo>
                  <a:lnTo>
                    <a:pt x="143649" y="287350"/>
                  </a:lnTo>
                  <a:lnTo>
                    <a:pt x="143649" y="215506"/>
                  </a:lnTo>
                  <a:lnTo>
                    <a:pt x="1150937" y="215506"/>
                  </a:lnTo>
                  <a:lnTo>
                    <a:pt x="1150937" y="71843"/>
                  </a:lnTo>
                  <a:lnTo>
                    <a:pt x="143649" y="71843"/>
                  </a:lnTo>
                  <a:lnTo>
                    <a:pt x="143649" y="0"/>
                  </a:lnTo>
                  <a:close/>
                </a:path>
              </a:pathLst>
            </a:custGeom>
            <a:solidFill>
              <a:srgbClr val="E2E2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16500" y="5445118"/>
              <a:ext cx="1151255" cy="287655"/>
            </a:xfrm>
            <a:custGeom>
              <a:avLst/>
              <a:gdLst/>
              <a:ahLst/>
              <a:cxnLst/>
              <a:rect l="l" t="t" r="r" b="b"/>
              <a:pathLst>
                <a:path w="1151254" h="287654">
                  <a:moveTo>
                    <a:pt x="0" y="143675"/>
                  </a:moveTo>
                  <a:lnTo>
                    <a:pt x="143649" y="0"/>
                  </a:lnTo>
                  <a:lnTo>
                    <a:pt x="143649" y="71843"/>
                  </a:lnTo>
                  <a:lnTo>
                    <a:pt x="1150937" y="71843"/>
                  </a:lnTo>
                  <a:lnTo>
                    <a:pt x="1150937" y="215506"/>
                  </a:lnTo>
                  <a:lnTo>
                    <a:pt x="143649" y="215506"/>
                  </a:lnTo>
                  <a:lnTo>
                    <a:pt x="143649" y="287350"/>
                  </a:lnTo>
                  <a:lnTo>
                    <a:pt x="0" y="143675"/>
                  </a:lnTo>
                  <a:close/>
                </a:path>
              </a:pathLst>
            </a:custGeom>
            <a:ln w="9525">
              <a:solidFill>
                <a:srgbClr val="000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0720" y="4009644"/>
              <a:ext cx="210311" cy="2103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08662" y="4033837"/>
              <a:ext cx="114300" cy="116205"/>
            </a:xfrm>
            <a:custGeom>
              <a:avLst/>
              <a:gdLst/>
              <a:ahLst/>
              <a:cxnLst/>
              <a:rect l="l" t="t" r="r" b="b"/>
              <a:pathLst>
                <a:path w="114300" h="116204">
                  <a:moveTo>
                    <a:pt x="114300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4300" y="115887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1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8662" y="4033837"/>
              <a:ext cx="114300" cy="116205"/>
            </a:xfrm>
            <a:custGeom>
              <a:avLst/>
              <a:gdLst/>
              <a:ahLst/>
              <a:cxnLst/>
              <a:rect l="l" t="t" r="r" b="b"/>
              <a:pathLst>
                <a:path w="114300" h="116204">
                  <a:moveTo>
                    <a:pt x="0" y="0"/>
                  </a:moveTo>
                  <a:lnTo>
                    <a:pt x="114300" y="0"/>
                  </a:lnTo>
                  <a:lnTo>
                    <a:pt x="114300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1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1652" y="2252472"/>
              <a:ext cx="210310" cy="2103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59150" y="2276475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59150" y="2276475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1652" y="2641091"/>
              <a:ext cx="210311" cy="21031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59150" y="2665412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9150" y="2665412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7972" y="2641091"/>
              <a:ext cx="211835" cy="21031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95787" y="2665412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5787" y="2665412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5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1652" y="4226052"/>
              <a:ext cx="210311" cy="2103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59150" y="4249737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59150" y="4249737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47972" y="5521452"/>
              <a:ext cx="211835" cy="21031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95787" y="5545137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95787" y="5545137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1652" y="5881115"/>
              <a:ext cx="210311" cy="21031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59150" y="5905500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115887" y="0"/>
                  </a:moveTo>
                  <a:lnTo>
                    <a:pt x="0" y="0"/>
                  </a:lnTo>
                  <a:lnTo>
                    <a:pt x="0" y="115887"/>
                  </a:lnTo>
                  <a:lnTo>
                    <a:pt x="115887" y="115887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59150" y="5905500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0" y="0"/>
                  </a:moveTo>
                  <a:lnTo>
                    <a:pt x="115887" y="0"/>
                  </a:lnTo>
                  <a:lnTo>
                    <a:pt x="115887" y="115887"/>
                  </a:lnTo>
                  <a:lnTo>
                    <a:pt x="0" y="1158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8152" y="4483620"/>
              <a:ext cx="210311" cy="21334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35650" y="4508500"/>
              <a:ext cx="116205" cy="117475"/>
            </a:xfrm>
            <a:custGeom>
              <a:avLst/>
              <a:gdLst/>
              <a:ahLst/>
              <a:cxnLst/>
              <a:rect l="l" t="t" r="r" b="b"/>
              <a:pathLst>
                <a:path w="116204" h="117475">
                  <a:moveTo>
                    <a:pt x="115887" y="0"/>
                  </a:moveTo>
                  <a:lnTo>
                    <a:pt x="0" y="0"/>
                  </a:lnTo>
                  <a:lnTo>
                    <a:pt x="0" y="117475"/>
                  </a:lnTo>
                  <a:lnTo>
                    <a:pt x="115887" y="117475"/>
                  </a:lnTo>
                  <a:lnTo>
                    <a:pt x="115887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35650" y="4508500"/>
              <a:ext cx="116205" cy="117475"/>
            </a:xfrm>
            <a:custGeom>
              <a:avLst/>
              <a:gdLst/>
              <a:ahLst/>
              <a:cxnLst/>
              <a:rect l="l" t="t" r="r" b="b"/>
              <a:pathLst>
                <a:path w="116204" h="117475">
                  <a:moveTo>
                    <a:pt x="0" y="0"/>
                  </a:moveTo>
                  <a:lnTo>
                    <a:pt x="115887" y="0"/>
                  </a:lnTo>
                  <a:lnTo>
                    <a:pt x="115887" y="117475"/>
                  </a:lnTo>
                  <a:lnTo>
                    <a:pt x="0" y="1174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F7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62053" y="1800162"/>
            <a:ext cx="421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5789" algn="l"/>
                <a:tab pos="2879090" algn="l"/>
                <a:tab pos="3247390" algn="l"/>
              </a:tabLst>
            </a:pPr>
            <a:r>
              <a:rPr sz="1800" spc="-5" dirty="0">
                <a:latin typeface="Arial"/>
                <a:cs typeface="Arial"/>
              </a:rPr>
              <a:t>Искусственный	нейрон	–	</a:t>
            </a:r>
            <a:r>
              <a:rPr sz="1800" spc="-20" dirty="0">
                <a:latin typeface="Arial"/>
                <a:cs typeface="Arial"/>
              </a:rPr>
              <a:t>является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32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НЕЙРОН </a:t>
            </a:r>
            <a:r>
              <a:rPr sz="2400" spc="-5" dirty="0"/>
              <a:t>–</a:t>
            </a:r>
            <a:r>
              <a:rPr sz="2400" spc="-25" dirty="0"/>
              <a:t> </a:t>
            </a:r>
            <a:r>
              <a:rPr sz="2400" spc="-5" dirty="0"/>
              <a:t>ЛИНЕЙНЫЙ</a:t>
            </a:r>
            <a:r>
              <a:rPr sz="2400" dirty="0"/>
              <a:t> </a:t>
            </a:r>
            <a:r>
              <a:rPr sz="2400" spc="-25" dirty="0"/>
              <a:t>КЛАССИФИКАТОР</a:t>
            </a:r>
            <a:endParaRPr sz="240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78</a:t>
            </a:fld>
            <a:endParaRPr spc="-5" dirty="0"/>
          </a:p>
        </p:txBody>
      </p:sp>
      <p:sp>
        <p:nvSpPr>
          <p:cNvPr id="32" name="object 32"/>
          <p:cNvSpPr txBox="1"/>
          <p:nvPr/>
        </p:nvSpPr>
        <p:spPr>
          <a:xfrm>
            <a:off x="5347653" y="2074482"/>
            <a:ext cx="513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0050" algn="l"/>
                <a:tab pos="3376929" algn="l"/>
              </a:tabLst>
            </a:pPr>
            <a:r>
              <a:rPr sz="1800" spc="-45" dirty="0">
                <a:latin typeface="Arial"/>
                <a:cs typeface="Arial"/>
              </a:rPr>
              <a:t>о</a:t>
            </a:r>
            <a:r>
              <a:rPr sz="1800" spc="5" dirty="0">
                <a:latin typeface="Arial"/>
                <a:cs typeface="Arial"/>
              </a:rPr>
              <a:t>д</a:t>
            </a:r>
            <a:r>
              <a:rPr sz="1800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о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25" dirty="0">
                <a:latin typeface="Arial"/>
                <a:cs typeface="Arial"/>
              </a:rPr>
              <a:t>л</a:t>
            </a:r>
            <a:r>
              <a:rPr sz="1800" spc="-10" dirty="0">
                <a:latin typeface="Arial"/>
                <a:cs typeface="Arial"/>
              </a:rPr>
              <a:t>о</a:t>
            </a:r>
            <a:r>
              <a:rPr sz="1800" dirty="0">
                <a:latin typeface="Arial"/>
                <a:cs typeface="Arial"/>
              </a:rPr>
              <a:t>йным	</a:t>
            </a:r>
            <a:r>
              <a:rPr sz="1800" spc="-5" dirty="0">
                <a:latin typeface="Arial"/>
                <a:cs typeface="Arial"/>
              </a:rPr>
              <a:t>п</a:t>
            </a:r>
            <a:r>
              <a:rPr sz="1800" spc="-10" dirty="0">
                <a:latin typeface="Arial"/>
                <a:cs typeface="Arial"/>
              </a:rPr>
              <a:t>ер</a:t>
            </a:r>
            <a:r>
              <a:rPr sz="1800" spc="-5" dirty="0">
                <a:latin typeface="Arial"/>
                <a:cs typeface="Arial"/>
              </a:rPr>
              <a:t>с</a:t>
            </a:r>
            <a:r>
              <a:rPr sz="1800" spc="-10" dirty="0">
                <a:latin typeface="Arial"/>
                <a:cs typeface="Arial"/>
              </a:rPr>
              <a:t>е</a:t>
            </a:r>
            <a:r>
              <a:rPr sz="1800" spc="-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т</a:t>
            </a:r>
            <a:r>
              <a:rPr sz="1800" spc="5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о</a:t>
            </a:r>
            <a:r>
              <a:rPr sz="1800" dirty="0">
                <a:latin typeface="Arial"/>
                <a:cs typeface="Arial"/>
              </a:rPr>
              <a:t>н</a:t>
            </a:r>
            <a:r>
              <a:rPr sz="1800" spc="5" dirty="0">
                <a:latin typeface="Arial"/>
                <a:cs typeface="Arial"/>
              </a:rPr>
              <a:t>о</a:t>
            </a:r>
            <a:r>
              <a:rPr sz="1800" dirty="0">
                <a:latin typeface="Arial"/>
                <a:cs typeface="Arial"/>
              </a:rPr>
              <a:t>м	(</a:t>
            </a:r>
            <a:r>
              <a:rPr sz="1800" spc="-5" dirty="0">
                <a:latin typeface="Arial"/>
                <a:cs typeface="Arial"/>
              </a:rPr>
              <a:t>п</a:t>
            </a:r>
            <a:r>
              <a:rPr sz="1800" spc="-10" dirty="0">
                <a:latin typeface="Arial"/>
                <a:cs typeface="Arial"/>
              </a:rPr>
              <a:t>ер</a:t>
            </a:r>
            <a:r>
              <a:rPr sz="1800" spc="-25" dirty="0">
                <a:latin typeface="Arial"/>
                <a:cs typeface="Arial"/>
              </a:rPr>
              <a:t>ц</a:t>
            </a:r>
            <a:r>
              <a:rPr sz="1800" spc="-10" dirty="0">
                <a:latin typeface="Arial"/>
                <a:cs typeface="Arial"/>
              </a:rPr>
              <a:t>е</a:t>
            </a:r>
            <a:r>
              <a:rPr sz="1800" spc="-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т</a:t>
            </a:r>
            <a:r>
              <a:rPr sz="1800" spc="5" dirty="0">
                <a:latin typeface="Arial"/>
                <a:cs typeface="Arial"/>
              </a:rPr>
              <a:t>ро</a:t>
            </a:r>
            <a:r>
              <a:rPr sz="1800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о</a:t>
            </a:r>
            <a:r>
              <a:rPr sz="1800" spc="-5" dirty="0">
                <a:latin typeface="Arial"/>
                <a:cs typeface="Arial"/>
              </a:rPr>
              <a:t>м</a:t>
            </a:r>
            <a:r>
              <a:rPr sz="1800" dirty="0">
                <a:latin typeface="Arial"/>
                <a:cs typeface="Arial"/>
              </a:rPr>
              <a:t>),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46967" y="2348802"/>
            <a:ext cx="51320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т.е.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моделью,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которой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входные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элементы </a:t>
            </a:r>
            <a:r>
              <a:rPr sz="1800" spc="-5" dirty="0">
                <a:latin typeface="Arial"/>
                <a:cs typeface="Arial"/>
              </a:rPr>
              <a:t> напрямую соединены </a:t>
            </a:r>
            <a:r>
              <a:rPr sz="1800" dirty="0">
                <a:latin typeface="Arial"/>
                <a:cs typeface="Arial"/>
              </a:rPr>
              <a:t>с </a:t>
            </a:r>
            <a:r>
              <a:rPr sz="1800" spc="-10" dirty="0">
                <a:latin typeface="Arial"/>
                <a:cs typeface="Arial"/>
              </a:rPr>
              <a:t>выходными </a:t>
            </a:r>
            <a:r>
              <a:rPr sz="1800" dirty="0">
                <a:latin typeface="Arial"/>
                <a:cs typeface="Arial"/>
              </a:rPr>
              <a:t>с </a:t>
            </a:r>
            <a:r>
              <a:rPr sz="1800" spc="-10" dirty="0">
                <a:latin typeface="Arial"/>
                <a:cs typeface="Arial"/>
              </a:rPr>
              <a:t>помощью </a:t>
            </a:r>
            <a:r>
              <a:rPr sz="1800" spc="-5" dirty="0">
                <a:latin typeface="Arial"/>
                <a:cs typeface="Arial"/>
              </a:rPr>
              <a:t> системы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весов,</a:t>
            </a:r>
            <a:r>
              <a:rPr sz="1800" dirty="0">
                <a:latin typeface="Arial"/>
                <a:cs typeface="Arial"/>
              </a:rPr>
              <a:t> и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выполняет</a:t>
            </a:r>
            <a:r>
              <a:rPr sz="1800" spc="-10" dirty="0">
                <a:latin typeface="Arial"/>
                <a:cs typeface="Arial"/>
              </a:rPr>
              <a:t> функцию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линейной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классификации</a:t>
            </a:r>
            <a:r>
              <a:rPr sz="1800" spc="-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74741" y="3960748"/>
            <a:ext cx="5810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TRUE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spc="-8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ALSE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26816" y="1727137"/>
            <a:ext cx="513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N</a:t>
            </a:r>
            <a:r>
              <a:rPr sz="1800" b="1" spc="-5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98139" y="3301963"/>
            <a:ext cx="36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61563" y="4959313"/>
            <a:ext cx="6660515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XOR</a:t>
            </a:r>
            <a:endParaRPr sz="1800">
              <a:latin typeface="Arial"/>
              <a:cs typeface="Arial"/>
            </a:endParaRPr>
          </a:p>
          <a:p>
            <a:pPr marL="1633220" marR="5080" indent="914400">
              <a:lnSpc>
                <a:spcPct val="100000"/>
              </a:lnSpc>
              <a:spcBef>
                <a:spcPts val="1415"/>
              </a:spcBef>
            </a:pPr>
            <a:r>
              <a:rPr sz="1800" spc="-5" dirty="0">
                <a:latin typeface="Arial"/>
                <a:cs typeface="Arial"/>
              </a:rPr>
              <a:t>Классический пример </a:t>
            </a:r>
            <a:r>
              <a:rPr sz="1800" spc="-10" dirty="0">
                <a:latin typeface="Arial"/>
                <a:cs typeface="Arial"/>
              </a:rPr>
              <a:t>задачи, </a:t>
            </a:r>
            <a:r>
              <a:rPr sz="1800" spc="-15" dirty="0">
                <a:latin typeface="Arial"/>
                <a:cs typeface="Arial"/>
              </a:rPr>
              <a:t>которая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по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зубам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однослойному </a:t>
            </a:r>
            <a:r>
              <a:rPr sz="1800" spc="-10" dirty="0">
                <a:latin typeface="Arial"/>
                <a:cs typeface="Arial"/>
              </a:rPr>
              <a:t>перцептрону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исключающее</a:t>
            </a:r>
            <a:r>
              <a:rPr sz="1800" b="1" spc="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ИЛИ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(XOR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или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сумма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по </a:t>
            </a:r>
            <a:r>
              <a:rPr sz="1800" spc="-10" dirty="0">
                <a:latin typeface="Arial"/>
                <a:cs typeface="Arial"/>
              </a:rPr>
              <a:t>mod2)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44269" y="2127431"/>
            <a:ext cx="304800" cy="93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йр</a:t>
            </a:r>
            <a:r>
              <a:rPr sz="2200" spc="5" dirty="0">
                <a:solidFill>
                  <a:srgbClr val="8A8A4C"/>
                </a:solidFill>
                <a:latin typeface="Calibri"/>
                <a:cs typeface="Calibri"/>
              </a:rPr>
              <a:t>о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н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5639" y="2467355"/>
            <a:ext cx="6286500" cy="2903220"/>
            <a:chOff x="3215639" y="2467355"/>
            <a:chExt cx="6286500" cy="2903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5012" y="2851150"/>
              <a:ext cx="6134086" cy="2019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639" y="2467355"/>
              <a:ext cx="1319783" cy="29032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62312" y="2492368"/>
              <a:ext cx="1225550" cy="2808605"/>
            </a:xfrm>
            <a:custGeom>
              <a:avLst/>
              <a:gdLst/>
              <a:ahLst/>
              <a:cxnLst/>
              <a:rect l="l" t="t" r="r" b="b"/>
              <a:pathLst>
                <a:path w="1225550" h="2808604">
                  <a:moveTo>
                    <a:pt x="0" y="1404150"/>
                  </a:moveTo>
                  <a:lnTo>
                    <a:pt x="666" y="1338050"/>
                  </a:lnTo>
                  <a:lnTo>
                    <a:pt x="2648" y="1272737"/>
                  </a:lnTo>
                  <a:lnTo>
                    <a:pt x="5914" y="1208278"/>
                  </a:lnTo>
                  <a:lnTo>
                    <a:pt x="10436" y="1144741"/>
                  </a:lnTo>
                  <a:lnTo>
                    <a:pt x="16183" y="1082192"/>
                  </a:lnTo>
                  <a:lnTo>
                    <a:pt x="23127" y="1020700"/>
                  </a:lnTo>
                  <a:lnTo>
                    <a:pt x="31239" y="960331"/>
                  </a:lnTo>
                  <a:lnTo>
                    <a:pt x="40488" y="901153"/>
                  </a:lnTo>
                  <a:lnTo>
                    <a:pt x="50846" y="843234"/>
                  </a:lnTo>
                  <a:lnTo>
                    <a:pt x="62282" y="786641"/>
                  </a:lnTo>
                  <a:lnTo>
                    <a:pt x="74768" y="731442"/>
                  </a:lnTo>
                  <a:lnTo>
                    <a:pt x="88274" y="677703"/>
                  </a:lnTo>
                  <a:lnTo>
                    <a:pt x="102771" y="625493"/>
                  </a:lnTo>
                  <a:lnTo>
                    <a:pt x="118229" y="574878"/>
                  </a:lnTo>
                  <a:lnTo>
                    <a:pt x="134618" y="525927"/>
                  </a:lnTo>
                  <a:lnTo>
                    <a:pt x="151910" y="478706"/>
                  </a:lnTo>
                  <a:lnTo>
                    <a:pt x="170075" y="433283"/>
                  </a:lnTo>
                  <a:lnTo>
                    <a:pt x="189084" y="389725"/>
                  </a:lnTo>
                  <a:lnTo>
                    <a:pt x="208906" y="348101"/>
                  </a:lnTo>
                  <a:lnTo>
                    <a:pt x="229514" y="308477"/>
                  </a:lnTo>
                  <a:lnTo>
                    <a:pt x="250876" y="270920"/>
                  </a:lnTo>
                  <a:lnTo>
                    <a:pt x="272964" y="235499"/>
                  </a:lnTo>
                  <a:lnTo>
                    <a:pt x="295749" y="202280"/>
                  </a:lnTo>
                  <a:lnTo>
                    <a:pt x="319201" y="171331"/>
                  </a:lnTo>
                  <a:lnTo>
                    <a:pt x="367988" y="116513"/>
                  </a:lnTo>
                  <a:lnTo>
                    <a:pt x="419089" y="71584"/>
                  </a:lnTo>
                  <a:lnTo>
                    <a:pt x="472270" y="37084"/>
                  </a:lnTo>
                  <a:lnTo>
                    <a:pt x="527295" y="13552"/>
                  </a:lnTo>
                  <a:lnTo>
                    <a:pt x="583928" y="1528"/>
                  </a:lnTo>
                  <a:lnTo>
                    <a:pt x="612775" y="0"/>
                  </a:lnTo>
                  <a:lnTo>
                    <a:pt x="641621" y="1528"/>
                  </a:lnTo>
                  <a:lnTo>
                    <a:pt x="698254" y="13552"/>
                  </a:lnTo>
                  <a:lnTo>
                    <a:pt x="753279" y="37084"/>
                  </a:lnTo>
                  <a:lnTo>
                    <a:pt x="806460" y="71584"/>
                  </a:lnTo>
                  <a:lnTo>
                    <a:pt x="857561" y="116513"/>
                  </a:lnTo>
                  <a:lnTo>
                    <a:pt x="906348" y="171331"/>
                  </a:lnTo>
                  <a:lnTo>
                    <a:pt x="929800" y="202280"/>
                  </a:lnTo>
                  <a:lnTo>
                    <a:pt x="952585" y="235499"/>
                  </a:lnTo>
                  <a:lnTo>
                    <a:pt x="974673" y="270920"/>
                  </a:lnTo>
                  <a:lnTo>
                    <a:pt x="996035" y="308477"/>
                  </a:lnTo>
                  <a:lnTo>
                    <a:pt x="1016643" y="348101"/>
                  </a:lnTo>
                  <a:lnTo>
                    <a:pt x="1036465" y="389725"/>
                  </a:lnTo>
                  <a:lnTo>
                    <a:pt x="1055474" y="433283"/>
                  </a:lnTo>
                  <a:lnTo>
                    <a:pt x="1073639" y="478706"/>
                  </a:lnTo>
                  <a:lnTo>
                    <a:pt x="1090931" y="525927"/>
                  </a:lnTo>
                  <a:lnTo>
                    <a:pt x="1107320" y="574878"/>
                  </a:lnTo>
                  <a:lnTo>
                    <a:pt x="1122778" y="625493"/>
                  </a:lnTo>
                  <a:lnTo>
                    <a:pt x="1137275" y="677703"/>
                  </a:lnTo>
                  <a:lnTo>
                    <a:pt x="1150781" y="731442"/>
                  </a:lnTo>
                  <a:lnTo>
                    <a:pt x="1163267" y="786641"/>
                  </a:lnTo>
                  <a:lnTo>
                    <a:pt x="1174703" y="843234"/>
                  </a:lnTo>
                  <a:lnTo>
                    <a:pt x="1185061" y="901153"/>
                  </a:lnTo>
                  <a:lnTo>
                    <a:pt x="1194310" y="960331"/>
                  </a:lnTo>
                  <a:lnTo>
                    <a:pt x="1202422" y="1020700"/>
                  </a:lnTo>
                  <a:lnTo>
                    <a:pt x="1209366" y="1082192"/>
                  </a:lnTo>
                  <a:lnTo>
                    <a:pt x="1215113" y="1144741"/>
                  </a:lnTo>
                  <a:lnTo>
                    <a:pt x="1219635" y="1208278"/>
                  </a:lnTo>
                  <a:lnTo>
                    <a:pt x="1222901" y="1272737"/>
                  </a:lnTo>
                  <a:lnTo>
                    <a:pt x="1224883" y="1338050"/>
                  </a:lnTo>
                  <a:lnTo>
                    <a:pt x="1225550" y="1404150"/>
                  </a:lnTo>
                  <a:lnTo>
                    <a:pt x="1224883" y="1470249"/>
                  </a:lnTo>
                  <a:lnTo>
                    <a:pt x="1222901" y="1535562"/>
                  </a:lnTo>
                  <a:lnTo>
                    <a:pt x="1219635" y="1600021"/>
                  </a:lnTo>
                  <a:lnTo>
                    <a:pt x="1215113" y="1663559"/>
                  </a:lnTo>
                  <a:lnTo>
                    <a:pt x="1209366" y="1726107"/>
                  </a:lnTo>
                  <a:lnTo>
                    <a:pt x="1202422" y="1787600"/>
                  </a:lnTo>
                  <a:lnTo>
                    <a:pt x="1194310" y="1847968"/>
                  </a:lnTo>
                  <a:lnTo>
                    <a:pt x="1185061" y="1907146"/>
                  </a:lnTo>
                  <a:lnTo>
                    <a:pt x="1174703" y="1965065"/>
                  </a:lnTo>
                  <a:lnTo>
                    <a:pt x="1163267" y="2021658"/>
                  </a:lnTo>
                  <a:lnTo>
                    <a:pt x="1150781" y="2076857"/>
                  </a:lnTo>
                  <a:lnTo>
                    <a:pt x="1137275" y="2130596"/>
                  </a:lnTo>
                  <a:lnTo>
                    <a:pt x="1122778" y="2182806"/>
                  </a:lnTo>
                  <a:lnTo>
                    <a:pt x="1107320" y="2233421"/>
                  </a:lnTo>
                  <a:lnTo>
                    <a:pt x="1090931" y="2282372"/>
                  </a:lnTo>
                  <a:lnTo>
                    <a:pt x="1073639" y="2329593"/>
                  </a:lnTo>
                  <a:lnTo>
                    <a:pt x="1055474" y="2375016"/>
                  </a:lnTo>
                  <a:lnTo>
                    <a:pt x="1036465" y="2418574"/>
                  </a:lnTo>
                  <a:lnTo>
                    <a:pt x="1016643" y="2460198"/>
                  </a:lnTo>
                  <a:lnTo>
                    <a:pt x="996035" y="2499823"/>
                  </a:lnTo>
                  <a:lnTo>
                    <a:pt x="974673" y="2537379"/>
                  </a:lnTo>
                  <a:lnTo>
                    <a:pt x="952585" y="2572801"/>
                  </a:lnTo>
                  <a:lnTo>
                    <a:pt x="929800" y="2606019"/>
                  </a:lnTo>
                  <a:lnTo>
                    <a:pt x="906348" y="2636968"/>
                  </a:lnTo>
                  <a:lnTo>
                    <a:pt x="857561" y="2691786"/>
                  </a:lnTo>
                  <a:lnTo>
                    <a:pt x="806460" y="2736715"/>
                  </a:lnTo>
                  <a:lnTo>
                    <a:pt x="753279" y="2771215"/>
                  </a:lnTo>
                  <a:lnTo>
                    <a:pt x="698254" y="2794747"/>
                  </a:lnTo>
                  <a:lnTo>
                    <a:pt x="641621" y="2806771"/>
                  </a:lnTo>
                  <a:lnTo>
                    <a:pt x="612775" y="2808300"/>
                  </a:lnTo>
                  <a:lnTo>
                    <a:pt x="583928" y="2806771"/>
                  </a:lnTo>
                  <a:lnTo>
                    <a:pt x="527295" y="2794747"/>
                  </a:lnTo>
                  <a:lnTo>
                    <a:pt x="472270" y="2771215"/>
                  </a:lnTo>
                  <a:lnTo>
                    <a:pt x="419089" y="2736715"/>
                  </a:lnTo>
                  <a:lnTo>
                    <a:pt x="367988" y="2691786"/>
                  </a:lnTo>
                  <a:lnTo>
                    <a:pt x="319201" y="2636968"/>
                  </a:lnTo>
                  <a:lnTo>
                    <a:pt x="295749" y="2606019"/>
                  </a:lnTo>
                  <a:lnTo>
                    <a:pt x="272964" y="2572801"/>
                  </a:lnTo>
                  <a:lnTo>
                    <a:pt x="250876" y="2537379"/>
                  </a:lnTo>
                  <a:lnTo>
                    <a:pt x="229514" y="2499823"/>
                  </a:lnTo>
                  <a:lnTo>
                    <a:pt x="208906" y="2460198"/>
                  </a:lnTo>
                  <a:lnTo>
                    <a:pt x="189084" y="2418574"/>
                  </a:lnTo>
                  <a:lnTo>
                    <a:pt x="170075" y="2375016"/>
                  </a:lnTo>
                  <a:lnTo>
                    <a:pt x="151910" y="2329593"/>
                  </a:lnTo>
                  <a:lnTo>
                    <a:pt x="134618" y="2282372"/>
                  </a:lnTo>
                  <a:lnTo>
                    <a:pt x="118229" y="2233421"/>
                  </a:lnTo>
                  <a:lnTo>
                    <a:pt x="102771" y="2182806"/>
                  </a:lnTo>
                  <a:lnTo>
                    <a:pt x="88274" y="2130596"/>
                  </a:lnTo>
                  <a:lnTo>
                    <a:pt x="74768" y="2076857"/>
                  </a:lnTo>
                  <a:lnTo>
                    <a:pt x="62282" y="2021658"/>
                  </a:lnTo>
                  <a:lnTo>
                    <a:pt x="50846" y="1965065"/>
                  </a:lnTo>
                  <a:lnTo>
                    <a:pt x="40488" y="1907146"/>
                  </a:lnTo>
                  <a:lnTo>
                    <a:pt x="31239" y="1847968"/>
                  </a:lnTo>
                  <a:lnTo>
                    <a:pt x="23127" y="1787600"/>
                  </a:lnTo>
                  <a:lnTo>
                    <a:pt x="16183" y="1726107"/>
                  </a:lnTo>
                  <a:lnTo>
                    <a:pt x="10436" y="1663559"/>
                  </a:lnTo>
                  <a:lnTo>
                    <a:pt x="5914" y="1600021"/>
                  </a:lnTo>
                  <a:lnTo>
                    <a:pt x="2648" y="1535562"/>
                  </a:lnTo>
                  <a:lnTo>
                    <a:pt x="666" y="1470249"/>
                  </a:lnTo>
                  <a:lnTo>
                    <a:pt x="0" y="1404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3878" y="2467355"/>
              <a:ext cx="1318259" cy="29032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31187" y="2492368"/>
              <a:ext cx="1224280" cy="2808605"/>
            </a:xfrm>
            <a:custGeom>
              <a:avLst/>
              <a:gdLst/>
              <a:ahLst/>
              <a:cxnLst/>
              <a:rect l="l" t="t" r="r" b="b"/>
              <a:pathLst>
                <a:path w="1224279" h="2808604">
                  <a:moveTo>
                    <a:pt x="0" y="1404150"/>
                  </a:moveTo>
                  <a:lnTo>
                    <a:pt x="666" y="1338050"/>
                  </a:lnTo>
                  <a:lnTo>
                    <a:pt x="2644" y="1272737"/>
                  </a:lnTo>
                  <a:lnTo>
                    <a:pt x="5906" y="1208278"/>
                  </a:lnTo>
                  <a:lnTo>
                    <a:pt x="10422" y="1144741"/>
                  </a:lnTo>
                  <a:lnTo>
                    <a:pt x="16162" y="1082192"/>
                  </a:lnTo>
                  <a:lnTo>
                    <a:pt x="23097" y="1020700"/>
                  </a:lnTo>
                  <a:lnTo>
                    <a:pt x="31198" y="960331"/>
                  </a:lnTo>
                  <a:lnTo>
                    <a:pt x="40436" y="901153"/>
                  </a:lnTo>
                  <a:lnTo>
                    <a:pt x="50780" y="843234"/>
                  </a:lnTo>
                  <a:lnTo>
                    <a:pt x="62202" y="786641"/>
                  </a:lnTo>
                  <a:lnTo>
                    <a:pt x="74671" y="731442"/>
                  </a:lnTo>
                  <a:lnTo>
                    <a:pt x="88160" y="677703"/>
                  </a:lnTo>
                  <a:lnTo>
                    <a:pt x="102638" y="625493"/>
                  </a:lnTo>
                  <a:lnTo>
                    <a:pt x="118076" y="574878"/>
                  </a:lnTo>
                  <a:lnTo>
                    <a:pt x="134444" y="525927"/>
                  </a:lnTo>
                  <a:lnTo>
                    <a:pt x="151714" y="478706"/>
                  </a:lnTo>
                  <a:lnTo>
                    <a:pt x="169856" y="433283"/>
                  </a:lnTo>
                  <a:lnTo>
                    <a:pt x="188840" y="389725"/>
                  </a:lnTo>
                  <a:lnTo>
                    <a:pt x="208637" y="348101"/>
                  </a:lnTo>
                  <a:lnTo>
                    <a:pt x="229217" y="308477"/>
                  </a:lnTo>
                  <a:lnTo>
                    <a:pt x="250552" y="270920"/>
                  </a:lnTo>
                  <a:lnTo>
                    <a:pt x="272612" y="235499"/>
                  </a:lnTo>
                  <a:lnTo>
                    <a:pt x="295368" y="202280"/>
                  </a:lnTo>
                  <a:lnTo>
                    <a:pt x="318789" y="171331"/>
                  </a:lnTo>
                  <a:lnTo>
                    <a:pt x="367513" y="116513"/>
                  </a:lnTo>
                  <a:lnTo>
                    <a:pt x="418549" y="71584"/>
                  </a:lnTo>
                  <a:lnTo>
                    <a:pt x="471662" y="37084"/>
                  </a:lnTo>
                  <a:lnTo>
                    <a:pt x="526616" y="13552"/>
                  </a:lnTo>
                  <a:lnTo>
                    <a:pt x="583178" y="1528"/>
                  </a:lnTo>
                  <a:lnTo>
                    <a:pt x="611987" y="0"/>
                  </a:lnTo>
                  <a:lnTo>
                    <a:pt x="640796" y="1528"/>
                  </a:lnTo>
                  <a:lnTo>
                    <a:pt x="697355" y="13552"/>
                  </a:lnTo>
                  <a:lnTo>
                    <a:pt x="752308" y="37084"/>
                  </a:lnTo>
                  <a:lnTo>
                    <a:pt x="805419" y="71584"/>
                  </a:lnTo>
                  <a:lnTo>
                    <a:pt x="856453" y="116513"/>
                  </a:lnTo>
                  <a:lnTo>
                    <a:pt x="905176" y="171331"/>
                  </a:lnTo>
                  <a:lnTo>
                    <a:pt x="928597" y="202280"/>
                  </a:lnTo>
                  <a:lnTo>
                    <a:pt x="951352" y="235499"/>
                  </a:lnTo>
                  <a:lnTo>
                    <a:pt x="973412" y="270920"/>
                  </a:lnTo>
                  <a:lnTo>
                    <a:pt x="994746" y="308477"/>
                  </a:lnTo>
                  <a:lnTo>
                    <a:pt x="1015327" y="348101"/>
                  </a:lnTo>
                  <a:lnTo>
                    <a:pt x="1035124" y="389725"/>
                  </a:lnTo>
                  <a:lnTo>
                    <a:pt x="1054107" y="433283"/>
                  </a:lnTo>
                  <a:lnTo>
                    <a:pt x="1072249" y="478706"/>
                  </a:lnTo>
                  <a:lnTo>
                    <a:pt x="1089518" y="525927"/>
                  </a:lnTo>
                  <a:lnTo>
                    <a:pt x="1105887" y="574878"/>
                  </a:lnTo>
                  <a:lnTo>
                    <a:pt x="1121324" y="625493"/>
                  </a:lnTo>
                  <a:lnTo>
                    <a:pt x="1135802" y="677703"/>
                  </a:lnTo>
                  <a:lnTo>
                    <a:pt x="1149291" y="731442"/>
                  </a:lnTo>
                  <a:lnTo>
                    <a:pt x="1161760" y="786641"/>
                  </a:lnTo>
                  <a:lnTo>
                    <a:pt x="1173182" y="843234"/>
                  </a:lnTo>
                  <a:lnTo>
                    <a:pt x="1183526" y="901153"/>
                  </a:lnTo>
                  <a:lnTo>
                    <a:pt x="1192763" y="960331"/>
                  </a:lnTo>
                  <a:lnTo>
                    <a:pt x="1200864" y="1020700"/>
                  </a:lnTo>
                  <a:lnTo>
                    <a:pt x="1207799" y="1082192"/>
                  </a:lnTo>
                  <a:lnTo>
                    <a:pt x="1213540" y="1144741"/>
                  </a:lnTo>
                  <a:lnTo>
                    <a:pt x="1218055" y="1208278"/>
                  </a:lnTo>
                  <a:lnTo>
                    <a:pt x="1221317" y="1272737"/>
                  </a:lnTo>
                  <a:lnTo>
                    <a:pt x="1223296" y="1338050"/>
                  </a:lnTo>
                  <a:lnTo>
                    <a:pt x="1223962" y="1404150"/>
                  </a:lnTo>
                  <a:lnTo>
                    <a:pt x="1223296" y="1470249"/>
                  </a:lnTo>
                  <a:lnTo>
                    <a:pt x="1221317" y="1535562"/>
                  </a:lnTo>
                  <a:lnTo>
                    <a:pt x="1218055" y="1600021"/>
                  </a:lnTo>
                  <a:lnTo>
                    <a:pt x="1213540" y="1663559"/>
                  </a:lnTo>
                  <a:lnTo>
                    <a:pt x="1207799" y="1726107"/>
                  </a:lnTo>
                  <a:lnTo>
                    <a:pt x="1200864" y="1787600"/>
                  </a:lnTo>
                  <a:lnTo>
                    <a:pt x="1192763" y="1847968"/>
                  </a:lnTo>
                  <a:lnTo>
                    <a:pt x="1183526" y="1907146"/>
                  </a:lnTo>
                  <a:lnTo>
                    <a:pt x="1173182" y="1965065"/>
                  </a:lnTo>
                  <a:lnTo>
                    <a:pt x="1161760" y="2021658"/>
                  </a:lnTo>
                  <a:lnTo>
                    <a:pt x="1149291" y="2076857"/>
                  </a:lnTo>
                  <a:lnTo>
                    <a:pt x="1135802" y="2130596"/>
                  </a:lnTo>
                  <a:lnTo>
                    <a:pt x="1121324" y="2182806"/>
                  </a:lnTo>
                  <a:lnTo>
                    <a:pt x="1105887" y="2233421"/>
                  </a:lnTo>
                  <a:lnTo>
                    <a:pt x="1089518" y="2282372"/>
                  </a:lnTo>
                  <a:lnTo>
                    <a:pt x="1072249" y="2329593"/>
                  </a:lnTo>
                  <a:lnTo>
                    <a:pt x="1054107" y="2375016"/>
                  </a:lnTo>
                  <a:lnTo>
                    <a:pt x="1035124" y="2418574"/>
                  </a:lnTo>
                  <a:lnTo>
                    <a:pt x="1015327" y="2460198"/>
                  </a:lnTo>
                  <a:lnTo>
                    <a:pt x="994746" y="2499823"/>
                  </a:lnTo>
                  <a:lnTo>
                    <a:pt x="973412" y="2537379"/>
                  </a:lnTo>
                  <a:lnTo>
                    <a:pt x="951352" y="2572801"/>
                  </a:lnTo>
                  <a:lnTo>
                    <a:pt x="928597" y="2606019"/>
                  </a:lnTo>
                  <a:lnTo>
                    <a:pt x="905176" y="2636968"/>
                  </a:lnTo>
                  <a:lnTo>
                    <a:pt x="856453" y="2691786"/>
                  </a:lnTo>
                  <a:lnTo>
                    <a:pt x="805419" y="2736715"/>
                  </a:lnTo>
                  <a:lnTo>
                    <a:pt x="752308" y="2771215"/>
                  </a:lnTo>
                  <a:lnTo>
                    <a:pt x="697355" y="2794747"/>
                  </a:lnTo>
                  <a:lnTo>
                    <a:pt x="640796" y="2806771"/>
                  </a:lnTo>
                  <a:lnTo>
                    <a:pt x="611987" y="2808300"/>
                  </a:lnTo>
                  <a:lnTo>
                    <a:pt x="583178" y="2806771"/>
                  </a:lnTo>
                  <a:lnTo>
                    <a:pt x="526616" y="2794747"/>
                  </a:lnTo>
                  <a:lnTo>
                    <a:pt x="471662" y="2771215"/>
                  </a:lnTo>
                  <a:lnTo>
                    <a:pt x="418549" y="2736715"/>
                  </a:lnTo>
                  <a:lnTo>
                    <a:pt x="367513" y="2691786"/>
                  </a:lnTo>
                  <a:lnTo>
                    <a:pt x="318789" y="2636968"/>
                  </a:lnTo>
                  <a:lnTo>
                    <a:pt x="295368" y="2606019"/>
                  </a:lnTo>
                  <a:lnTo>
                    <a:pt x="272612" y="2572801"/>
                  </a:lnTo>
                  <a:lnTo>
                    <a:pt x="250552" y="2537379"/>
                  </a:lnTo>
                  <a:lnTo>
                    <a:pt x="229217" y="2499823"/>
                  </a:lnTo>
                  <a:lnTo>
                    <a:pt x="208637" y="2460198"/>
                  </a:lnTo>
                  <a:lnTo>
                    <a:pt x="188840" y="2418574"/>
                  </a:lnTo>
                  <a:lnTo>
                    <a:pt x="169856" y="2375016"/>
                  </a:lnTo>
                  <a:lnTo>
                    <a:pt x="151714" y="2329593"/>
                  </a:lnTo>
                  <a:lnTo>
                    <a:pt x="134444" y="2282372"/>
                  </a:lnTo>
                  <a:lnTo>
                    <a:pt x="118076" y="2233421"/>
                  </a:lnTo>
                  <a:lnTo>
                    <a:pt x="102638" y="2182806"/>
                  </a:lnTo>
                  <a:lnTo>
                    <a:pt x="88160" y="2130596"/>
                  </a:lnTo>
                  <a:lnTo>
                    <a:pt x="74671" y="2076857"/>
                  </a:lnTo>
                  <a:lnTo>
                    <a:pt x="62202" y="2021658"/>
                  </a:lnTo>
                  <a:lnTo>
                    <a:pt x="50780" y="1965065"/>
                  </a:lnTo>
                  <a:lnTo>
                    <a:pt x="40436" y="1907146"/>
                  </a:lnTo>
                  <a:lnTo>
                    <a:pt x="31198" y="1847968"/>
                  </a:lnTo>
                  <a:lnTo>
                    <a:pt x="23097" y="1787600"/>
                  </a:lnTo>
                  <a:lnTo>
                    <a:pt x="16162" y="1726107"/>
                  </a:lnTo>
                  <a:lnTo>
                    <a:pt x="10422" y="1663559"/>
                  </a:lnTo>
                  <a:lnTo>
                    <a:pt x="5906" y="1600021"/>
                  </a:lnTo>
                  <a:lnTo>
                    <a:pt x="2644" y="1535562"/>
                  </a:lnTo>
                  <a:lnTo>
                    <a:pt x="666" y="1470249"/>
                  </a:lnTo>
                  <a:lnTo>
                    <a:pt x="0" y="1404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59098" y="2598312"/>
            <a:ext cx="252095" cy="25527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15" dirty="0">
                <a:latin typeface="Arial"/>
                <a:cs typeface="Arial"/>
              </a:rPr>
              <a:t>Входной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(сенсорный)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948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МНОГОСЛОЙНЫЙ</a:t>
            </a:r>
            <a:r>
              <a:rPr sz="2400" spc="-25" dirty="0"/>
              <a:t> </a:t>
            </a:r>
            <a:r>
              <a:rPr sz="2400" spc="-15" dirty="0"/>
              <a:t>ПЕРСЕПТРОН</a:t>
            </a:r>
            <a:endParaRPr sz="24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79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5095240" y="2017586"/>
            <a:ext cx="2776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Скрытые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слои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(hidden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layers)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72662" y="3240817"/>
            <a:ext cx="252095" cy="14782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15" dirty="0">
                <a:latin typeface="Arial"/>
                <a:cs typeface="Arial"/>
              </a:rPr>
              <a:t>Выходной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4269" y="1913541"/>
            <a:ext cx="304800" cy="14370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П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е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р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сеп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т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р</a:t>
            </a:r>
            <a:r>
              <a:rPr sz="2200" spc="5" dirty="0">
                <a:solidFill>
                  <a:srgbClr val="8A8A4C"/>
                </a:solidFill>
                <a:latin typeface="Calibri"/>
                <a:cs typeface="Calibri"/>
              </a:rPr>
              <a:t>о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н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8115" y="2593847"/>
            <a:ext cx="9791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hidden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layer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9513" y="2593847"/>
            <a:ext cx="9791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hidden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layer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2295" y="2368956"/>
            <a:ext cx="8438515" cy="223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0" dirty="0">
                <a:solidFill>
                  <a:srgbClr val="000090"/>
                </a:solidFill>
                <a:latin typeface="Times New Roman"/>
                <a:cs typeface="Times New Roman"/>
              </a:rPr>
              <a:t>Три</a:t>
            </a:r>
            <a:r>
              <a:rPr sz="3200" spc="-2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фазы </a:t>
            </a:r>
            <a:r>
              <a:rPr sz="3200" spc="-5" dirty="0">
                <a:solidFill>
                  <a:srgbClr val="000090"/>
                </a:solidFill>
                <a:latin typeface="Times New Roman"/>
                <a:cs typeface="Times New Roman"/>
              </a:rPr>
              <a:t>работы</a:t>
            </a:r>
            <a:r>
              <a:rPr sz="3200" spc="-4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нейронной</a:t>
            </a:r>
            <a:r>
              <a:rPr sz="3200" spc="-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000090"/>
                </a:solidFill>
                <a:latin typeface="Times New Roman"/>
                <a:cs typeface="Times New Roman"/>
              </a:rPr>
              <a:t>сети</a:t>
            </a:r>
            <a:r>
              <a:rPr sz="3200" spc="-1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при</a:t>
            </a:r>
            <a:r>
              <a:rPr sz="3200" spc="-1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000090"/>
                </a:solidFill>
                <a:latin typeface="Times New Roman"/>
                <a:cs typeface="Times New Roman"/>
              </a:rPr>
              <a:t>обучении: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300">
              <a:latin typeface="Times New Roman"/>
              <a:cs typeface="Times New Roman"/>
            </a:endParaRPr>
          </a:p>
          <a:p>
            <a:pPr marL="458470" marR="516890" indent="58419">
              <a:lnSpc>
                <a:spcPct val="84300"/>
              </a:lnSpc>
            </a:pP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1</a:t>
            </a:r>
            <a:r>
              <a:rPr sz="3200" spc="22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фаза)</a:t>
            </a:r>
            <a:r>
              <a:rPr sz="3200" spc="22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000090"/>
                </a:solidFill>
                <a:latin typeface="Times New Roman"/>
                <a:cs typeface="Times New Roman"/>
              </a:rPr>
              <a:t>прямое</a:t>
            </a:r>
            <a:r>
              <a:rPr sz="3200" spc="22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000090"/>
                </a:solidFill>
                <a:latin typeface="Times New Roman"/>
                <a:cs typeface="Times New Roman"/>
              </a:rPr>
              <a:t>распространение</a:t>
            </a:r>
            <a:r>
              <a:rPr sz="3200" spc="19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000090"/>
                </a:solidFill>
                <a:latin typeface="Times New Roman"/>
                <a:cs typeface="Times New Roman"/>
              </a:rPr>
              <a:t>сигнала </a:t>
            </a:r>
            <a:r>
              <a:rPr sz="3200" spc="1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2 фаза) </a:t>
            </a:r>
            <a:r>
              <a:rPr sz="3200" spc="-5" dirty="0">
                <a:solidFill>
                  <a:srgbClr val="000090"/>
                </a:solidFill>
                <a:latin typeface="Times New Roman"/>
                <a:cs typeface="Times New Roman"/>
              </a:rPr>
              <a:t>обратное </a:t>
            </a:r>
            <a:r>
              <a:rPr sz="3200" spc="10" dirty="0">
                <a:solidFill>
                  <a:srgbClr val="000090"/>
                </a:solidFill>
                <a:latin typeface="Times New Roman"/>
                <a:cs typeface="Times New Roman"/>
              </a:rPr>
              <a:t>распространение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ошибки </a:t>
            </a:r>
            <a:r>
              <a:rPr sz="3200" spc="-78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3</a:t>
            </a:r>
            <a:r>
              <a:rPr sz="3200" spc="-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90"/>
                </a:solidFill>
                <a:latin typeface="Times New Roman"/>
                <a:cs typeface="Times New Roman"/>
              </a:rPr>
              <a:t>фаза)</a:t>
            </a:r>
            <a:r>
              <a:rPr sz="3200" spc="-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90"/>
                </a:solidFill>
                <a:latin typeface="Times New Roman"/>
                <a:cs typeface="Times New Roman"/>
              </a:rPr>
              <a:t>коррекция</a:t>
            </a:r>
            <a:r>
              <a:rPr sz="3200" spc="-40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000090"/>
                </a:solidFill>
                <a:latin typeface="Times New Roman"/>
                <a:cs typeface="Times New Roman"/>
              </a:rPr>
              <a:t>весовых</a:t>
            </a:r>
            <a:r>
              <a:rPr sz="3200" spc="-5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90"/>
                </a:solidFill>
                <a:latin typeface="Times New Roman"/>
                <a:cs typeface="Times New Roman"/>
              </a:rPr>
              <a:t>коэффициентов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35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РАБОТА</a:t>
            </a:r>
            <a:r>
              <a:rPr sz="2400" spc="-25" dirty="0"/>
              <a:t> </a:t>
            </a:r>
            <a:r>
              <a:rPr sz="2400" spc="-10" dirty="0"/>
              <a:t>НЕЙРОННОЙ</a:t>
            </a:r>
            <a:r>
              <a:rPr sz="2400" spc="-30" dirty="0"/>
              <a:t> </a:t>
            </a:r>
            <a:r>
              <a:rPr sz="2400" spc="-10" dirty="0"/>
              <a:t>СЕТИ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44269" y="1618560"/>
            <a:ext cx="304800" cy="2809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Работа</a:t>
            </a:r>
            <a:r>
              <a:rPr sz="2200" spc="-35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нейронной</a:t>
            </a:r>
            <a:r>
              <a:rPr sz="2200" spc="-3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сети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3357563"/>
            <a:ext cx="3284537" cy="14747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660525"/>
            <a:ext cx="3284537" cy="14811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4789" y="1700214"/>
            <a:ext cx="3286123" cy="14573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5900" y="3344862"/>
            <a:ext cx="3275011" cy="14525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99237" y="5111750"/>
            <a:ext cx="3313112" cy="141287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178295" y="1606296"/>
            <a:ext cx="4352925" cy="4910455"/>
            <a:chOff x="6178295" y="1606296"/>
            <a:chExt cx="4352925" cy="491045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8295" y="1606296"/>
              <a:ext cx="195071" cy="49103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40463" y="1628776"/>
              <a:ext cx="71755" cy="4824730"/>
            </a:xfrm>
            <a:custGeom>
              <a:avLst/>
              <a:gdLst/>
              <a:ahLst/>
              <a:cxnLst/>
              <a:rect l="l" t="t" r="r" b="b"/>
              <a:pathLst>
                <a:path w="71754" h="4824730">
                  <a:moveTo>
                    <a:pt x="0" y="0"/>
                  </a:moveTo>
                  <a:lnTo>
                    <a:pt x="71437" y="48244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9735" y="4899659"/>
              <a:ext cx="4261103" cy="1234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11901" y="4941887"/>
              <a:ext cx="4177029" cy="0"/>
            </a:xfrm>
            <a:custGeom>
              <a:avLst/>
              <a:gdLst/>
              <a:ahLst/>
              <a:cxnLst/>
              <a:rect l="l" t="t" r="r" b="b"/>
              <a:pathLst>
                <a:path w="4177029">
                  <a:moveTo>
                    <a:pt x="0" y="0"/>
                  </a:moveTo>
                  <a:lnTo>
                    <a:pt x="417671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21989" y="1431798"/>
            <a:ext cx="643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1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4914" y="1512672"/>
            <a:ext cx="643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2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9048" y="4919519"/>
            <a:ext cx="1478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Arial"/>
                <a:cs typeface="Arial"/>
              </a:rPr>
              <a:t>Выходной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67000" y="5013325"/>
            <a:ext cx="3284537" cy="14747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57716" y="831056"/>
            <a:ext cx="600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1</a:t>
            </a:r>
            <a:r>
              <a:rPr sz="2400" spc="-10" dirty="0">
                <a:solidFill>
                  <a:srgbClr val="000090"/>
                </a:solidFill>
                <a:latin typeface="Arial"/>
                <a:cs typeface="Arial"/>
              </a:rPr>
              <a:t> фаза)</a:t>
            </a:r>
            <a:r>
              <a:rPr sz="2400" spc="-2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"/>
                <a:cs typeface="Arial"/>
              </a:rPr>
              <a:t>прямое</a:t>
            </a:r>
            <a:r>
              <a:rPr sz="240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распространение</a:t>
            </a:r>
            <a:r>
              <a:rPr sz="2400" spc="3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сигнала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3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РАБОТА</a:t>
            </a:r>
            <a:r>
              <a:rPr sz="2400" spc="-25" dirty="0"/>
              <a:t> </a:t>
            </a:r>
            <a:r>
              <a:rPr sz="2400" spc="-10" dirty="0"/>
              <a:t>НЕЙРОННОЙ</a:t>
            </a:r>
            <a:r>
              <a:rPr sz="2400" spc="-25" dirty="0"/>
              <a:t> </a:t>
            </a:r>
            <a:r>
              <a:rPr sz="2400" spc="-10" dirty="0"/>
              <a:t>СЕТИ</a:t>
            </a:r>
            <a:endParaRPr sz="24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81</a:t>
            </a:fld>
            <a:endParaRPr spc="-5" dirty="0"/>
          </a:p>
        </p:txBody>
      </p:sp>
      <p:sp>
        <p:nvSpPr>
          <p:cNvPr id="17" name="object 17"/>
          <p:cNvSpPr txBox="1"/>
          <p:nvPr/>
        </p:nvSpPr>
        <p:spPr>
          <a:xfrm>
            <a:off x="1644269" y="1618560"/>
            <a:ext cx="304800" cy="2809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Работа</a:t>
            </a:r>
            <a:r>
              <a:rPr sz="2200" spc="-35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нейронной</a:t>
            </a:r>
            <a:r>
              <a:rPr sz="2200" spc="-3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сети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1700213"/>
            <a:ext cx="3086099" cy="133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9650" y="3141662"/>
            <a:ext cx="3025774" cy="1416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9650" y="4724401"/>
            <a:ext cx="3095624" cy="14509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6963" y="1638300"/>
            <a:ext cx="3087686" cy="1574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02363" y="3376614"/>
            <a:ext cx="3068636" cy="15652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02364" y="5106987"/>
            <a:ext cx="3062285" cy="15620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165603" y="1606296"/>
            <a:ext cx="3705225" cy="4910455"/>
            <a:chOff x="2165603" y="1606296"/>
            <a:chExt cx="3705225" cy="491045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73851" y="1606296"/>
              <a:ext cx="196595" cy="49103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35638" y="1628776"/>
              <a:ext cx="73025" cy="4824730"/>
            </a:xfrm>
            <a:custGeom>
              <a:avLst/>
              <a:gdLst/>
              <a:ahLst/>
              <a:cxnLst/>
              <a:rect l="l" t="t" r="r" b="b"/>
              <a:pathLst>
                <a:path w="73025" h="4824730">
                  <a:moveTo>
                    <a:pt x="0" y="0"/>
                  </a:moveTo>
                  <a:lnTo>
                    <a:pt x="73025" y="48244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65603" y="3026663"/>
              <a:ext cx="3613403" cy="1234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08213" y="3068637"/>
              <a:ext cx="3527425" cy="0"/>
            </a:xfrm>
            <a:custGeom>
              <a:avLst/>
              <a:gdLst/>
              <a:ahLst/>
              <a:cxnLst/>
              <a:rect l="l" t="t" r="r" b="b"/>
              <a:pathLst>
                <a:path w="3527425">
                  <a:moveTo>
                    <a:pt x="0" y="0"/>
                  </a:moveTo>
                  <a:lnTo>
                    <a:pt x="352742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61720" y="3097134"/>
            <a:ext cx="643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2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3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РАБОТА</a:t>
            </a:r>
            <a:r>
              <a:rPr sz="2400" spc="-25" dirty="0"/>
              <a:t> </a:t>
            </a:r>
            <a:r>
              <a:rPr sz="2400" spc="-10" dirty="0"/>
              <a:t>НЕЙРОННОЙ</a:t>
            </a:r>
            <a:r>
              <a:rPr sz="2400" spc="-25" dirty="0"/>
              <a:t> </a:t>
            </a:r>
            <a:r>
              <a:rPr sz="2400" spc="-10" dirty="0"/>
              <a:t>СЕТИ</a:t>
            </a:r>
            <a:endParaRPr sz="24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82</a:t>
            </a:fld>
            <a:endParaRPr spc="-5" dirty="0"/>
          </a:p>
        </p:txBody>
      </p:sp>
      <p:sp>
        <p:nvSpPr>
          <p:cNvPr id="14" name="object 14"/>
          <p:cNvSpPr txBox="1"/>
          <p:nvPr/>
        </p:nvSpPr>
        <p:spPr>
          <a:xfrm>
            <a:off x="3065114" y="960438"/>
            <a:ext cx="622300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2</a:t>
            </a:r>
            <a:r>
              <a:rPr sz="2400" spc="-1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"/>
                <a:cs typeface="Arial"/>
              </a:rPr>
              <a:t>фаза)</a:t>
            </a:r>
            <a:r>
              <a:rPr sz="2400" spc="-2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"/>
                <a:cs typeface="Arial"/>
              </a:rPr>
              <a:t>обратное</a:t>
            </a:r>
            <a:r>
              <a:rPr sz="240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распространение</a:t>
            </a:r>
            <a:r>
              <a:rPr sz="2400" spc="2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ошибки</a:t>
            </a:r>
            <a:endParaRPr sz="2400">
              <a:latin typeface="Arial"/>
              <a:cs typeface="Arial"/>
            </a:endParaRPr>
          </a:p>
          <a:p>
            <a:pPr marL="745490">
              <a:lnSpc>
                <a:spcPct val="100000"/>
              </a:lnSpc>
              <a:spcBef>
                <a:spcPts val="1639"/>
              </a:spcBef>
              <a:tabLst>
                <a:tab pos="3050540" algn="l"/>
              </a:tabLst>
            </a:pPr>
            <a:r>
              <a:rPr sz="1600" spc="-15" dirty="0">
                <a:latin typeface="Arial"/>
                <a:cs typeface="Arial"/>
              </a:rPr>
              <a:t>Выходной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	</a:t>
            </a:r>
            <a:r>
              <a:rPr sz="1600" spc="-5" dirty="0">
                <a:latin typeface="Arial"/>
                <a:cs typeface="Arial"/>
              </a:rPr>
              <a:t>1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4269" y="1618560"/>
            <a:ext cx="304800" cy="2809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Работа</a:t>
            </a:r>
            <a:r>
              <a:rPr sz="2200" spc="-35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нейронной</a:t>
            </a:r>
            <a:r>
              <a:rPr sz="2200" spc="-3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сети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660" y="764703"/>
            <a:ext cx="9024620" cy="0"/>
          </a:xfrm>
          <a:custGeom>
            <a:avLst/>
            <a:gdLst/>
            <a:ahLst/>
            <a:cxnLst/>
            <a:rect l="l" t="t" r="r" b="b"/>
            <a:pathLst>
              <a:path w="9024620">
                <a:moveTo>
                  <a:pt x="0" y="0"/>
                </a:moveTo>
                <a:lnTo>
                  <a:pt x="9024302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729" y="6438900"/>
            <a:ext cx="10431145" cy="40640"/>
          </a:xfrm>
          <a:custGeom>
            <a:avLst/>
            <a:gdLst/>
            <a:ahLst/>
            <a:cxnLst/>
            <a:rect l="l" t="t" r="r" b="b"/>
            <a:pathLst>
              <a:path w="10431145" h="40639">
                <a:moveTo>
                  <a:pt x="10430929" y="0"/>
                </a:moveTo>
                <a:lnTo>
                  <a:pt x="0" y="0"/>
                </a:lnTo>
                <a:lnTo>
                  <a:pt x="0" y="14287"/>
                </a:lnTo>
                <a:lnTo>
                  <a:pt x="0" y="25781"/>
                </a:lnTo>
                <a:lnTo>
                  <a:pt x="0" y="40068"/>
                </a:lnTo>
                <a:lnTo>
                  <a:pt x="10430929" y="40068"/>
                </a:lnTo>
                <a:lnTo>
                  <a:pt x="10430929" y="25781"/>
                </a:lnTo>
                <a:lnTo>
                  <a:pt x="10430929" y="14287"/>
                </a:lnTo>
                <a:lnTo>
                  <a:pt x="10430929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736850" y="1557337"/>
            <a:ext cx="3040380" cy="3311525"/>
            <a:chOff x="2736850" y="1557337"/>
            <a:chExt cx="3040380" cy="33115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6850" y="1557337"/>
              <a:ext cx="3040061" cy="16557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6850" y="3213100"/>
              <a:ext cx="3024187" cy="165576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6850" y="4941888"/>
            <a:ext cx="3071811" cy="165576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48525" y="1557337"/>
            <a:ext cx="3024187" cy="1727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3600" y="3357562"/>
            <a:ext cx="3059111" cy="17271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5501" y="5157787"/>
            <a:ext cx="3097210" cy="151129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178295" y="1606296"/>
            <a:ext cx="4352925" cy="4910455"/>
            <a:chOff x="6178295" y="1606296"/>
            <a:chExt cx="4352925" cy="491045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8295" y="1606296"/>
              <a:ext cx="195071" cy="49103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40463" y="1628776"/>
              <a:ext cx="71755" cy="4824730"/>
            </a:xfrm>
            <a:custGeom>
              <a:avLst/>
              <a:gdLst/>
              <a:ahLst/>
              <a:cxnLst/>
              <a:rect l="l" t="t" r="r" b="b"/>
              <a:pathLst>
                <a:path w="71754" h="4824730">
                  <a:moveTo>
                    <a:pt x="0" y="0"/>
                  </a:moveTo>
                  <a:lnTo>
                    <a:pt x="71437" y="48244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69735" y="5042915"/>
              <a:ext cx="4261103" cy="12344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311901" y="5084762"/>
              <a:ext cx="4177029" cy="0"/>
            </a:xfrm>
            <a:custGeom>
              <a:avLst/>
              <a:gdLst/>
              <a:ahLst/>
              <a:cxnLst/>
              <a:rect l="l" t="t" r="r" b="b"/>
              <a:pathLst>
                <a:path w="4177029">
                  <a:moveTo>
                    <a:pt x="0" y="0"/>
                  </a:moveTo>
                  <a:lnTo>
                    <a:pt x="417671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8752" y="1461961"/>
            <a:ext cx="891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Arial"/>
                <a:cs typeface="Arial"/>
              </a:rPr>
              <a:t>1-го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4188" y="1512837"/>
            <a:ext cx="891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Arial"/>
                <a:cs typeface="Arial"/>
              </a:rPr>
              <a:t>2-го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5220" y="5135551"/>
            <a:ext cx="1543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Arial"/>
                <a:cs typeface="Arial"/>
              </a:rPr>
              <a:t>Выходного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слоя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48300" y="6453187"/>
            <a:ext cx="1768475" cy="307975"/>
          </a:xfrm>
          <a:custGeom>
            <a:avLst/>
            <a:gdLst/>
            <a:ahLst/>
            <a:cxnLst/>
            <a:rect l="l" t="t" r="r" b="b"/>
            <a:pathLst>
              <a:path w="1768475" h="307975">
                <a:moveTo>
                  <a:pt x="1768475" y="0"/>
                </a:moveTo>
                <a:lnTo>
                  <a:pt x="0" y="0"/>
                </a:lnTo>
                <a:lnTo>
                  <a:pt x="0" y="307975"/>
                </a:lnTo>
                <a:lnTo>
                  <a:pt x="1768475" y="307975"/>
                </a:lnTo>
                <a:lnTo>
                  <a:pt x="1768475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11443" y="887413"/>
            <a:ext cx="6293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"/>
                <a:cs typeface="Arial"/>
              </a:rPr>
              <a:t>фаза)</a:t>
            </a:r>
            <a:r>
              <a:rPr sz="2400" spc="-1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"/>
                <a:cs typeface="Arial"/>
              </a:rPr>
              <a:t>коррекция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весовых</a:t>
            </a:r>
            <a:r>
              <a:rPr sz="2400" spc="1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0"/>
                </a:solidFill>
                <a:latin typeface="Arial"/>
                <a:cs typeface="Arial"/>
              </a:rPr>
              <a:t>коэффициентов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3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РАБОТА</a:t>
            </a:r>
            <a:r>
              <a:rPr sz="2400" spc="-25" dirty="0"/>
              <a:t> </a:t>
            </a:r>
            <a:r>
              <a:rPr sz="2400" spc="-10" dirty="0"/>
              <a:t>НЕЙРОННОЙ</a:t>
            </a:r>
            <a:r>
              <a:rPr sz="2400" spc="-25" dirty="0"/>
              <a:t> </a:t>
            </a:r>
            <a:r>
              <a:rPr sz="2400" spc="-10" dirty="0"/>
              <a:t>СЕТИ</a:t>
            </a:r>
            <a:endParaRPr sz="240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83</a:t>
            </a:fld>
            <a:endParaRPr spc="-5" dirty="0"/>
          </a:p>
        </p:txBody>
      </p:sp>
      <p:sp>
        <p:nvSpPr>
          <p:cNvPr id="28" name="object 28"/>
          <p:cNvSpPr txBox="1"/>
          <p:nvPr/>
        </p:nvSpPr>
        <p:spPr>
          <a:xfrm>
            <a:off x="5527041" y="6497003"/>
            <a:ext cx="158178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i="1" dirty="0">
                <a:latin typeface="Arial"/>
                <a:cs typeface="Arial"/>
              </a:rPr>
              <a:t>f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'(s)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=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f(s)x(1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–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f(s))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4269" y="1618560"/>
            <a:ext cx="304800" cy="2809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Работа</a:t>
            </a:r>
            <a:r>
              <a:rPr sz="2200" spc="-35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нейронной</a:t>
            </a:r>
            <a:r>
              <a:rPr sz="2200" spc="-3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сети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1628775"/>
            <a:ext cx="5348287" cy="2522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7712" y="4344987"/>
            <a:ext cx="5930899" cy="2324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44269" y="2010622"/>
            <a:ext cx="304800" cy="19862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5" dirty="0">
                <a:solidFill>
                  <a:srgbClr val="8A8A4C"/>
                </a:solidFill>
                <a:latin typeface="Calibri"/>
                <a:cs typeface="Calibri"/>
              </a:rPr>
              <a:t>Нейронные</a:t>
            </a:r>
            <a:r>
              <a:rPr sz="2200" spc="-55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сети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22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НЕЙРОННЫЕ</a:t>
            </a:r>
            <a:r>
              <a:rPr sz="2400" spc="-5" dirty="0"/>
              <a:t> </a:t>
            </a:r>
            <a:r>
              <a:rPr sz="2400" spc="-10" dirty="0"/>
              <a:t>СЕТИ </a:t>
            </a:r>
            <a:r>
              <a:rPr sz="2400" spc="-5" dirty="0"/>
              <a:t>VS</a:t>
            </a:r>
            <a:r>
              <a:rPr sz="2400" spc="-20" dirty="0"/>
              <a:t> </a:t>
            </a:r>
            <a:r>
              <a:rPr sz="2400" spc="-10" dirty="0"/>
              <a:t>ЭВМ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84</a:t>
            </a:fld>
            <a:endParaRPr spc="-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891" y="6442623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6666"/>
                </a:solidFill>
                <a:latin typeface="Arial"/>
                <a:cs typeface="Arial"/>
              </a:rPr>
              <a:t>107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4113" y="1628775"/>
            <a:ext cx="7848600" cy="5040630"/>
            <a:chOff x="2424113" y="1628775"/>
            <a:chExt cx="7848600" cy="5040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4113" y="1628775"/>
              <a:ext cx="7848599" cy="45434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1538" y="4868864"/>
              <a:ext cx="4206874" cy="180022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44269" y="1626616"/>
            <a:ext cx="304800" cy="3089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Искусственный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8A8A4C"/>
                </a:solidFill>
                <a:latin typeface="Calibri"/>
                <a:cs typeface="Calibri"/>
              </a:rPr>
              <a:t>интеллект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8590" y="6618098"/>
            <a:ext cx="36855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4"/>
              </a:rPr>
              <a:t>http://2013.nscf.ru/TesisAll/Plenar/13_1520_GalyshkinAI_P13.pdf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056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НЕЙРОЧИПЫ</a:t>
            </a:r>
            <a:endParaRPr sz="2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5678" y="877455"/>
            <a:ext cx="9070340" cy="5263515"/>
          </a:xfrm>
          <a:custGeom>
            <a:avLst/>
            <a:gdLst/>
            <a:ahLst/>
            <a:cxnLst/>
            <a:rect l="l" t="t" r="r" b="b"/>
            <a:pathLst>
              <a:path w="9070340" h="5263515">
                <a:moveTo>
                  <a:pt x="9070111" y="0"/>
                </a:moveTo>
                <a:lnTo>
                  <a:pt x="0" y="0"/>
                </a:lnTo>
                <a:lnTo>
                  <a:pt x="0" y="5262981"/>
                </a:lnTo>
                <a:lnTo>
                  <a:pt x="9070111" y="5262981"/>
                </a:lnTo>
                <a:lnTo>
                  <a:pt x="9070111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469" y="244486"/>
            <a:ext cx="10120630" cy="580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ОЦЕНКА</a:t>
            </a:r>
            <a:r>
              <a:rPr sz="2400" b="1" spc="-7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ПРОИЗВОДИТЕЛЬНОСТИ</a:t>
            </a:r>
            <a:endParaRPr sz="2400">
              <a:latin typeface="Arial"/>
              <a:cs typeface="Arial"/>
            </a:endParaRPr>
          </a:p>
          <a:p>
            <a:pPr marL="1812289" marR="5080" indent="-342900">
              <a:lnSpc>
                <a:spcPct val="100000"/>
              </a:lnSpc>
              <a:spcBef>
                <a:spcPts val="2305"/>
              </a:spcBef>
              <a:buFont typeface="Wingdings"/>
              <a:buChar char=""/>
              <a:tabLst>
                <a:tab pos="1812289" algn="l"/>
                <a:tab pos="1812925" algn="l"/>
              </a:tabLst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CUPS</a:t>
            </a:r>
            <a:r>
              <a:rPr sz="24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(connections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update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second)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число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измененных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значений </a:t>
            </a:r>
            <a:r>
              <a:rPr sz="2400" spc="-5" dirty="0">
                <a:latin typeface="Arial"/>
                <a:cs typeface="Arial"/>
              </a:rPr>
              <a:t>весов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секунду </a:t>
            </a:r>
            <a:r>
              <a:rPr sz="2400" spc="-20" dirty="0">
                <a:latin typeface="Arial"/>
                <a:cs typeface="Arial"/>
              </a:rPr>
              <a:t>(оценивает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скорость </a:t>
            </a:r>
            <a:r>
              <a:rPr sz="2400" spc="-10" dirty="0">
                <a:latin typeface="Arial"/>
                <a:cs typeface="Arial"/>
              </a:rPr>
              <a:t>обучения).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00FF"/>
              </a:buClr>
              <a:buFont typeface="Wingdings"/>
              <a:buChar char=""/>
            </a:pPr>
            <a:endParaRPr sz="2500">
              <a:latin typeface="Arial"/>
              <a:cs typeface="Arial"/>
            </a:endParaRPr>
          </a:p>
          <a:p>
            <a:pPr marL="1812289" marR="1226820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12925" algn="l"/>
              </a:tabLst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CPS </a:t>
            </a:r>
            <a:r>
              <a:rPr sz="2400" spc="-5" dirty="0">
                <a:latin typeface="Arial"/>
                <a:cs typeface="Arial"/>
              </a:rPr>
              <a:t>(connections per second) </a:t>
            </a:r>
            <a:r>
              <a:rPr sz="2400" dirty="0">
                <a:latin typeface="Arial"/>
                <a:cs typeface="Arial"/>
              </a:rPr>
              <a:t>- число </a:t>
            </a:r>
            <a:r>
              <a:rPr sz="2400" spc="-10" dirty="0">
                <a:latin typeface="Arial"/>
                <a:cs typeface="Arial"/>
              </a:rPr>
              <a:t>соединений 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(умножений </a:t>
            </a:r>
            <a:r>
              <a:rPr sz="2400" dirty="0">
                <a:latin typeface="Arial"/>
                <a:cs typeface="Arial"/>
              </a:rPr>
              <a:t>с </a:t>
            </a:r>
            <a:r>
              <a:rPr sz="2400" spc="-5" dirty="0">
                <a:latin typeface="Arial"/>
                <a:cs typeface="Arial"/>
              </a:rPr>
              <a:t>накоплением) </a:t>
            </a:r>
            <a:r>
              <a:rPr sz="2400" dirty="0">
                <a:latin typeface="Arial"/>
                <a:cs typeface="Arial"/>
              </a:rPr>
              <a:t>в секунду </a:t>
            </a:r>
            <a:r>
              <a:rPr sz="2400" spc="-20" dirty="0">
                <a:latin typeface="Arial"/>
                <a:cs typeface="Arial"/>
              </a:rPr>
              <a:t>(оценивает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производительность).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00FF"/>
              </a:buClr>
              <a:buFont typeface="Wingdings"/>
              <a:buChar char=""/>
            </a:pPr>
            <a:endParaRPr sz="2500">
              <a:latin typeface="Arial"/>
              <a:cs typeface="Arial"/>
            </a:endParaRPr>
          </a:p>
          <a:p>
            <a:pPr marL="1812289" indent="-3435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12289" algn="l"/>
                <a:tab pos="1812925" algn="l"/>
              </a:tabLst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CPSPW</a:t>
            </a:r>
            <a:r>
              <a:rPr sz="24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CPS/Nw,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где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Nw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число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синапсов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нейроне.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00FF"/>
              </a:buClr>
              <a:buFont typeface="Wingdings"/>
              <a:buChar char=""/>
            </a:pPr>
            <a:endParaRPr sz="2500">
              <a:latin typeface="Arial"/>
              <a:cs typeface="Arial"/>
            </a:endParaRPr>
          </a:p>
          <a:p>
            <a:pPr marL="1812289" marR="820419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12289" algn="l"/>
                <a:tab pos="1812925" algn="l"/>
              </a:tabLst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CPPS</a:t>
            </a:r>
            <a:r>
              <a:rPr sz="24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число</a:t>
            </a:r>
            <a:r>
              <a:rPr sz="2400" spc="-10" dirty="0">
                <a:latin typeface="Arial"/>
                <a:cs typeface="Arial"/>
              </a:rPr>
              <a:t> соединений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примитовов </a:t>
            </a:r>
            <a:r>
              <a:rPr sz="2400" dirty="0">
                <a:latin typeface="Arial"/>
                <a:cs typeface="Arial"/>
              </a:rPr>
              <a:t>в </a:t>
            </a:r>
            <a:r>
              <a:rPr sz="2400" spc="-30" dirty="0">
                <a:latin typeface="Arial"/>
                <a:cs typeface="Arial"/>
              </a:rPr>
              <a:t>секунду, 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CPPS=CPS*Bw*Bs,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где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Bw,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10" dirty="0">
                <a:latin typeface="Arial"/>
                <a:cs typeface="Arial"/>
              </a:rPr>
              <a:t> разрядность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весов </a:t>
            </a:r>
            <a:r>
              <a:rPr sz="2400" dirty="0">
                <a:latin typeface="Arial"/>
                <a:cs typeface="Arial"/>
              </a:rPr>
              <a:t>и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синапсов.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Font typeface="Wingdings"/>
              <a:buChar char=""/>
            </a:pPr>
            <a:endParaRPr sz="2500">
              <a:latin typeface="Arial"/>
              <a:cs typeface="Arial"/>
            </a:endParaRPr>
          </a:p>
          <a:p>
            <a:pPr marL="1812289" indent="-343535">
              <a:lnSpc>
                <a:spcPct val="100000"/>
              </a:lnSpc>
              <a:buFont typeface="Wingdings"/>
              <a:buChar char=""/>
              <a:tabLst>
                <a:tab pos="1812289" algn="l"/>
                <a:tab pos="1812925" algn="l"/>
              </a:tabLst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MMAC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миллионов</a:t>
            </a:r>
            <a:r>
              <a:rPr sz="2400" spc="-10" dirty="0">
                <a:latin typeface="Arial"/>
                <a:cs typeface="Arial"/>
              </a:rPr>
              <a:t> умножений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накоплением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секунду.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86</a:t>
            </a:fld>
            <a:endParaRPr spc="-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400" y="887260"/>
            <a:ext cx="9406077" cy="52046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10" dirty="0"/>
              <a:t>TRUENORTH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b="0" u="heavy" spc="-5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0" u="heavy" spc="229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ПРОЦЕССОР</a:t>
            </a:r>
            <a:r>
              <a:rPr sz="2200" u="heavy" spc="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25" dirty="0">
                <a:uFill>
                  <a:solidFill>
                    <a:srgbClr val="006666"/>
                  </a:solidFill>
                </a:uFill>
              </a:rPr>
              <a:t>НОВОГО</a:t>
            </a:r>
            <a:r>
              <a:rPr sz="2200" u="heavy" spc="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ПОКОЛЕНИЯ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87</a:t>
            </a:fld>
            <a:endParaRPr spc="-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1773237"/>
            <a:ext cx="7023099" cy="49402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10" dirty="0"/>
              <a:t>TRUENORTH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b="0" u="heavy" spc="-5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0" u="heavy" spc="229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ПРОЦЕССОР</a:t>
            </a:r>
            <a:r>
              <a:rPr sz="2200" u="heavy" spc="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25" dirty="0">
                <a:uFill>
                  <a:solidFill>
                    <a:srgbClr val="006666"/>
                  </a:solidFill>
                </a:uFill>
              </a:rPr>
              <a:t>НОВОГО</a:t>
            </a:r>
            <a:r>
              <a:rPr sz="2200" u="heavy" spc="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ПОКОЛЕНИЯ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88</a:t>
            </a:fld>
            <a:endParaRPr spc="-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213" y="1773238"/>
            <a:ext cx="2409823" cy="30829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2400" y="1844675"/>
            <a:ext cx="5040630" cy="203200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39370" rIns="0" bIns="0" rtlCol="0">
            <a:spAutoFit/>
          </a:bodyPr>
          <a:lstStyle/>
          <a:p>
            <a:pPr marL="91440" marR="177165" indent="9144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"/>
                <a:cs typeface="Arial"/>
              </a:rPr>
              <a:t>Compass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5" dirty="0">
                <a:latin typeface="Arial"/>
                <a:cs typeface="Arial"/>
              </a:rPr>
              <a:t> система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симуляции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новой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компьютерной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архитектуры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TrueNorth.</a:t>
            </a:r>
            <a:endParaRPr sz="1800">
              <a:latin typeface="Arial"/>
              <a:cs typeface="Arial"/>
            </a:endParaRPr>
          </a:p>
          <a:p>
            <a:pPr marL="91440" marR="269875" indent="914400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TrueNorth</a:t>
            </a:r>
            <a:r>
              <a:rPr sz="1800" spc="-10" dirty="0">
                <a:latin typeface="Arial"/>
                <a:cs typeface="Arial"/>
              </a:rPr>
              <a:t> построен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по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образу</a:t>
            </a:r>
            <a:r>
              <a:rPr sz="1800" dirty="0">
                <a:latin typeface="Arial"/>
                <a:cs typeface="Arial"/>
              </a:rPr>
              <a:t> и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подобию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мозга,</a:t>
            </a:r>
            <a:r>
              <a:rPr sz="1800" dirty="0">
                <a:latin typeface="Arial"/>
                <a:cs typeface="Arial"/>
              </a:rPr>
              <a:t> на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базе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разработанных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IBM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"нейросемантических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ядер"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5" dirty="0">
                <a:latin typeface="Arial"/>
                <a:cs typeface="Arial"/>
              </a:rPr>
              <a:t> чипов,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содержащих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кремниевые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нейроны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синапсы.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841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НЕЙРОСЕМАНТИЧЕСКОЕ</a:t>
            </a:r>
            <a:r>
              <a:rPr sz="2400" dirty="0"/>
              <a:t> </a:t>
            </a:r>
            <a:r>
              <a:rPr sz="2400" spc="-25" dirty="0"/>
              <a:t>ЯДРО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424112" y="5026025"/>
            <a:ext cx="7920355" cy="92392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 marR="83820" algn="just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latin typeface="Arial"/>
                <a:cs typeface="Arial"/>
              </a:rPr>
              <a:t>Каждый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чип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содержит</a:t>
            </a:r>
            <a:r>
              <a:rPr sz="1800" spc="1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256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нейронов,</a:t>
            </a:r>
            <a:r>
              <a:rPr sz="1800" spc="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1024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аксона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256х1024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синапса.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 </a:t>
            </a:r>
            <a:r>
              <a:rPr sz="1800" spc="-10" dirty="0">
                <a:latin typeface="Arial"/>
                <a:cs typeface="Arial"/>
              </a:rPr>
              <a:t>рекордной симуляции </a:t>
            </a:r>
            <a:r>
              <a:rPr sz="1800" spc="-5" dirty="0">
                <a:latin typeface="Arial"/>
                <a:cs typeface="Arial"/>
              </a:rPr>
              <a:t>была </a:t>
            </a:r>
            <a:r>
              <a:rPr sz="1800" spc="-15" dirty="0">
                <a:latin typeface="Arial"/>
                <a:cs typeface="Arial"/>
              </a:rPr>
              <a:t>смоделирована работа </a:t>
            </a:r>
            <a:r>
              <a:rPr sz="1800" spc="-5" dirty="0">
                <a:latin typeface="Arial"/>
                <a:cs typeface="Arial"/>
              </a:rPr>
              <a:t>2084 </a:t>
            </a:r>
            <a:r>
              <a:rPr sz="1800" spc="-10" dirty="0">
                <a:latin typeface="Arial"/>
                <a:cs typeface="Arial"/>
              </a:rPr>
              <a:t>миллиардов 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таких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ядер.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2013" y="908050"/>
            <a:ext cx="8865870" cy="5653405"/>
            <a:chOff x="2132013" y="908050"/>
            <a:chExt cx="8865870" cy="5653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8341" y="908050"/>
              <a:ext cx="8319224" cy="56530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35188" y="3713667"/>
              <a:ext cx="1952625" cy="991869"/>
            </a:xfrm>
            <a:custGeom>
              <a:avLst/>
              <a:gdLst/>
              <a:ahLst/>
              <a:cxnLst/>
              <a:rect l="l" t="t" r="r" b="b"/>
              <a:pathLst>
                <a:path w="1952625" h="991870">
                  <a:moveTo>
                    <a:pt x="976045" y="0"/>
                  </a:moveTo>
                  <a:lnTo>
                    <a:pt x="914319" y="975"/>
                  </a:lnTo>
                  <a:lnTo>
                    <a:pt x="853613" y="3863"/>
                  </a:lnTo>
                  <a:lnTo>
                    <a:pt x="794041" y="8604"/>
                  </a:lnTo>
                  <a:lnTo>
                    <a:pt x="735719" y="15142"/>
                  </a:lnTo>
                  <a:lnTo>
                    <a:pt x="678759" y="23418"/>
                  </a:lnTo>
                  <a:lnTo>
                    <a:pt x="623277" y="33373"/>
                  </a:lnTo>
                  <a:lnTo>
                    <a:pt x="569387" y="44951"/>
                  </a:lnTo>
                  <a:lnTo>
                    <a:pt x="517203" y="58092"/>
                  </a:lnTo>
                  <a:lnTo>
                    <a:pt x="466839" y="72738"/>
                  </a:lnTo>
                  <a:lnTo>
                    <a:pt x="418411" y="88832"/>
                  </a:lnTo>
                  <a:lnTo>
                    <a:pt x="372032" y="106316"/>
                  </a:lnTo>
                  <a:lnTo>
                    <a:pt x="327816" y="125131"/>
                  </a:lnTo>
                  <a:lnTo>
                    <a:pt x="285878" y="145219"/>
                  </a:lnTo>
                  <a:lnTo>
                    <a:pt x="246332" y="166523"/>
                  </a:lnTo>
                  <a:lnTo>
                    <a:pt x="209293" y="188983"/>
                  </a:lnTo>
                  <a:lnTo>
                    <a:pt x="174875" y="212543"/>
                  </a:lnTo>
                  <a:lnTo>
                    <a:pt x="143193" y="237143"/>
                  </a:lnTo>
                  <a:lnTo>
                    <a:pt x="114359" y="262727"/>
                  </a:lnTo>
                  <a:lnTo>
                    <a:pt x="65699" y="316610"/>
                  </a:lnTo>
                  <a:lnTo>
                    <a:pt x="29809" y="373727"/>
                  </a:lnTo>
                  <a:lnTo>
                    <a:pt x="7604" y="433615"/>
                  </a:lnTo>
                  <a:lnTo>
                    <a:pt x="0" y="495807"/>
                  </a:lnTo>
                  <a:lnTo>
                    <a:pt x="1920" y="527163"/>
                  </a:lnTo>
                  <a:lnTo>
                    <a:pt x="16939" y="588261"/>
                  </a:lnTo>
                  <a:lnTo>
                    <a:pt x="46101" y="646822"/>
                  </a:lnTo>
                  <a:lnTo>
                    <a:pt x="88490" y="702380"/>
                  </a:lnTo>
                  <a:lnTo>
                    <a:pt x="143193" y="754472"/>
                  </a:lnTo>
                  <a:lnTo>
                    <a:pt x="174875" y="779072"/>
                  </a:lnTo>
                  <a:lnTo>
                    <a:pt x="209293" y="802632"/>
                  </a:lnTo>
                  <a:lnTo>
                    <a:pt x="246332" y="825092"/>
                  </a:lnTo>
                  <a:lnTo>
                    <a:pt x="285878" y="846396"/>
                  </a:lnTo>
                  <a:lnTo>
                    <a:pt x="327816" y="866484"/>
                  </a:lnTo>
                  <a:lnTo>
                    <a:pt x="372032" y="885299"/>
                  </a:lnTo>
                  <a:lnTo>
                    <a:pt x="418411" y="902783"/>
                  </a:lnTo>
                  <a:lnTo>
                    <a:pt x="466839" y="918877"/>
                  </a:lnTo>
                  <a:lnTo>
                    <a:pt x="517203" y="933523"/>
                  </a:lnTo>
                  <a:lnTo>
                    <a:pt x="569387" y="946664"/>
                  </a:lnTo>
                  <a:lnTo>
                    <a:pt x="623277" y="958242"/>
                  </a:lnTo>
                  <a:lnTo>
                    <a:pt x="678759" y="968197"/>
                  </a:lnTo>
                  <a:lnTo>
                    <a:pt x="735719" y="976473"/>
                  </a:lnTo>
                  <a:lnTo>
                    <a:pt x="794041" y="983011"/>
                  </a:lnTo>
                  <a:lnTo>
                    <a:pt x="853613" y="987752"/>
                  </a:lnTo>
                  <a:lnTo>
                    <a:pt x="914319" y="990640"/>
                  </a:lnTo>
                  <a:lnTo>
                    <a:pt x="976045" y="991615"/>
                  </a:lnTo>
                  <a:lnTo>
                    <a:pt x="1037772" y="990640"/>
                  </a:lnTo>
                  <a:lnTo>
                    <a:pt x="1098478" y="987752"/>
                  </a:lnTo>
                  <a:lnTo>
                    <a:pt x="1158049" y="983011"/>
                  </a:lnTo>
                  <a:lnTo>
                    <a:pt x="1216372" y="976473"/>
                  </a:lnTo>
                  <a:lnTo>
                    <a:pt x="1273332" y="968197"/>
                  </a:lnTo>
                  <a:lnTo>
                    <a:pt x="1328814" y="958242"/>
                  </a:lnTo>
                  <a:lnTo>
                    <a:pt x="1382704" y="946664"/>
                  </a:lnTo>
                  <a:lnTo>
                    <a:pt x="1434888" y="933523"/>
                  </a:lnTo>
                  <a:lnTo>
                    <a:pt x="1485251" y="918877"/>
                  </a:lnTo>
                  <a:lnTo>
                    <a:pt x="1533680" y="902783"/>
                  </a:lnTo>
                  <a:lnTo>
                    <a:pt x="1580059" y="885299"/>
                  </a:lnTo>
                  <a:lnTo>
                    <a:pt x="1624275" y="866484"/>
                  </a:lnTo>
                  <a:lnTo>
                    <a:pt x="1666213" y="846396"/>
                  </a:lnTo>
                  <a:lnTo>
                    <a:pt x="1705758" y="825092"/>
                  </a:lnTo>
                  <a:lnTo>
                    <a:pt x="1742797" y="802632"/>
                  </a:lnTo>
                  <a:lnTo>
                    <a:pt x="1777215" y="779072"/>
                  </a:lnTo>
                  <a:lnTo>
                    <a:pt x="1808898" y="754472"/>
                  </a:lnTo>
                  <a:lnTo>
                    <a:pt x="1837731" y="728888"/>
                  </a:lnTo>
                  <a:lnTo>
                    <a:pt x="1886392" y="675005"/>
                  </a:lnTo>
                  <a:lnTo>
                    <a:pt x="1922282" y="617888"/>
                  </a:lnTo>
                  <a:lnTo>
                    <a:pt x="1944486" y="558000"/>
                  </a:lnTo>
                  <a:lnTo>
                    <a:pt x="1952091" y="495807"/>
                  </a:lnTo>
                  <a:lnTo>
                    <a:pt x="1950171" y="464452"/>
                  </a:lnTo>
                  <a:lnTo>
                    <a:pt x="1935152" y="403354"/>
                  </a:lnTo>
                  <a:lnTo>
                    <a:pt x="1905990" y="344793"/>
                  </a:lnTo>
                  <a:lnTo>
                    <a:pt x="1863601" y="289235"/>
                  </a:lnTo>
                  <a:lnTo>
                    <a:pt x="1808898" y="237143"/>
                  </a:lnTo>
                  <a:lnTo>
                    <a:pt x="1777215" y="212543"/>
                  </a:lnTo>
                  <a:lnTo>
                    <a:pt x="1742797" y="188983"/>
                  </a:lnTo>
                  <a:lnTo>
                    <a:pt x="1705758" y="166523"/>
                  </a:lnTo>
                  <a:lnTo>
                    <a:pt x="1666213" y="145219"/>
                  </a:lnTo>
                  <a:lnTo>
                    <a:pt x="1624275" y="125131"/>
                  </a:lnTo>
                  <a:lnTo>
                    <a:pt x="1580059" y="106316"/>
                  </a:lnTo>
                  <a:lnTo>
                    <a:pt x="1533680" y="88832"/>
                  </a:lnTo>
                  <a:lnTo>
                    <a:pt x="1485251" y="72738"/>
                  </a:lnTo>
                  <a:lnTo>
                    <a:pt x="1434888" y="58092"/>
                  </a:lnTo>
                  <a:lnTo>
                    <a:pt x="1382704" y="44951"/>
                  </a:lnTo>
                  <a:lnTo>
                    <a:pt x="1328814" y="33373"/>
                  </a:lnTo>
                  <a:lnTo>
                    <a:pt x="1273332" y="23418"/>
                  </a:lnTo>
                  <a:lnTo>
                    <a:pt x="1216372" y="15142"/>
                  </a:lnTo>
                  <a:lnTo>
                    <a:pt x="1158049" y="8604"/>
                  </a:lnTo>
                  <a:lnTo>
                    <a:pt x="1098478" y="3863"/>
                  </a:lnTo>
                  <a:lnTo>
                    <a:pt x="1037772" y="975"/>
                  </a:lnTo>
                  <a:lnTo>
                    <a:pt x="976045" y="0"/>
                  </a:lnTo>
                  <a:close/>
                </a:path>
              </a:pathLst>
            </a:custGeom>
            <a:solidFill>
              <a:srgbClr val="FC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35188" y="3713667"/>
              <a:ext cx="1952625" cy="991869"/>
            </a:xfrm>
            <a:custGeom>
              <a:avLst/>
              <a:gdLst/>
              <a:ahLst/>
              <a:cxnLst/>
              <a:rect l="l" t="t" r="r" b="b"/>
              <a:pathLst>
                <a:path w="1952625" h="991870">
                  <a:moveTo>
                    <a:pt x="0" y="495807"/>
                  </a:moveTo>
                  <a:lnTo>
                    <a:pt x="7604" y="433615"/>
                  </a:lnTo>
                  <a:lnTo>
                    <a:pt x="29809" y="373727"/>
                  </a:lnTo>
                  <a:lnTo>
                    <a:pt x="65699" y="316610"/>
                  </a:lnTo>
                  <a:lnTo>
                    <a:pt x="114359" y="262727"/>
                  </a:lnTo>
                  <a:lnTo>
                    <a:pt x="143193" y="237143"/>
                  </a:lnTo>
                  <a:lnTo>
                    <a:pt x="174875" y="212543"/>
                  </a:lnTo>
                  <a:lnTo>
                    <a:pt x="209293" y="188983"/>
                  </a:lnTo>
                  <a:lnTo>
                    <a:pt x="246332" y="166523"/>
                  </a:lnTo>
                  <a:lnTo>
                    <a:pt x="285878" y="145219"/>
                  </a:lnTo>
                  <a:lnTo>
                    <a:pt x="327816" y="125131"/>
                  </a:lnTo>
                  <a:lnTo>
                    <a:pt x="372032" y="106316"/>
                  </a:lnTo>
                  <a:lnTo>
                    <a:pt x="418411" y="88832"/>
                  </a:lnTo>
                  <a:lnTo>
                    <a:pt x="466839" y="72738"/>
                  </a:lnTo>
                  <a:lnTo>
                    <a:pt x="517203" y="58092"/>
                  </a:lnTo>
                  <a:lnTo>
                    <a:pt x="569387" y="44951"/>
                  </a:lnTo>
                  <a:lnTo>
                    <a:pt x="623277" y="33373"/>
                  </a:lnTo>
                  <a:lnTo>
                    <a:pt x="678759" y="23418"/>
                  </a:lnTo>
                  <a:lnTo>
                    <a:pt x="735719" y="15142"/>
                  </a:lnTo>
                  <a:lnTo>
                    <a:pt x="794041" y="8604"/>
                  </a:lnTo>
                  <a:lnTo>
                    <a:pt x="853613" y="3863"/>
                  </a:lnTo>
                  <a:lnTo>
                    <a:pt x="914319" y="975"/>
                  </a:lnTo>
                  <a:lnTo>
                    <a:pt x="976045" y="0"/>
                  </a:lnTo>
                  <a:lnTo>
                    <a:pt x="1037772" y="975"/>
                  </a:lnTo>
                  <a:lnTo>
                    <a:pt x="1098478" y="3863"/>
                  </a:lnTo>
                  <a:lnTo>
                    <a:pt x="1158049" y="8604"/>
                  </a:lnTo>
                  <a:lnTo>
                    <a:pt x="1216372" y="15142"/>
                  </a:lnTo>
                  <a:lnTo>
                    <a:pt x="1273332" y="23418"/>
                  </a:lnTo>
                  <a:lnTo>
                    <a:pt x="1328814" y="33373"/>
                  </a:lnTo>
                  <a:lnTo>
                    <a:pt x="1382704" y="44951"/>
                  </a:lnTo>
                  <a:lnTo>
                    <a:pt x="1434888" y="58092"/>
                  </a:lnTo>
                  <a:lnTo>
                    <a:pt x="1485251" y="72738"/>
                  </a:lnTo>
                  <a:lnTo>
                    <a:pt x="1533680" y="88832"/>
                  </a:lnTo>
                  <a:lnTo>
                    <a:pt x="1580059" y="106316"/>
                  </a:lnTo>
                  <a:lnTo>
                    <a:pt x="1624275" y="125131"/>
                  </a:lnTo>
                  <a:lnTo>
                    <a:pt x="1666213" y="145219"/>
                  </a:lnTo>
                  <a:lnTo>
                    <a:pt x="1705758" y="166523"/>
                  </a:lnTo>
                  <a:lnTo>
                    <a:pt x="1742797" y="188983"/>
                  </a:lnTo>
                  <a:lnTo>
                    <a:pt x="1777215" y="212543"/>
                  </a:lnTo>
                  <a:lnTo>
                    <a:pt x="1808898" y="237143"/>
                  </a:lnTo>
                  <a:lnTo>
                    <a:pt x="1837731" y="262727"/>
                  </a:lnTo>
                  <a:lnTo>
                    <a:pt x="1886392" y="316610"/>
                  </a:lnTo>
                  <a:lnTo>
                    <a:pt x="1922282" y="373727"/>
                  </a:lnTo>
                  <a:lnTo>
                    <a:pt x="1944486" y="433615"/>
                  </a:lnTo>
                  <a:lnTo>
                    <a:pt x="1952091" y="495807"/>
                  </a:lnTo>
                  <a:lnTo>
                    <a:pt x="1950171" y="527163"/>
                  </a:lnTo>
                  <a:lnTo>
                    <a:pt x="1935152" y="588261"/>
                  </a:lnTo>
                  <a:lnTo>
                    <a:pt x="1905990" y="646822"/>
                  </a:lnTo>
                  <a:lnTo>
                    <a:pt x="1863601" y="702380"/>
                  </a:lnTo>
                  <a:lnTo>
                    <a:pt x="1808898" y="754472"/>
                  </a:lnTo>
                  <a:lnTo>
                    <a:pt x="1777215" y="779072"/>
                  </a:lnTo>
                  <a:lnTo>
                    <a:pt x="1742797" y="802632"/>
                  </a:lnTo>
                  <a:lnTo>
                    <a:pt x="1705758" y="825092"/>
                  </a:lnTo>
                  <a:lnTo>
                    <a:pt x="1666213" y="846396"/>
                  </a:lnTo>
                  <a:lnTo>
                    <a:pt x="1624275" y="866484"/>
                  </a:lnTo>
                  <a:lnTo>
                    <a:pt x="1580059" y="885299"/>
                  </a:lnTo>
                  <a:lnTo>
                    <a:pt x="1533680" y="902783"/>
                  </a:lnTo>
                  <a:lnTo>
                    <a:pt x="1485251" y="918877"/>
                  </a:lnTo>
                  <a:lnTo>
                    <a:pt x="1434888" y="933523"/>
                  </a:lnTo>
                  <a:lnTo>
                    <a:pt x="1382704" y="946664"/>
                  </a:lnTo>
                  <a:lnTo>
                    <a:pt x="1328814" y="958242"/>
                  </a:lnTo>
                  <a:lnTo>
                    <a:pt x="1273332" y="968197"/>
                  </a:lnTo>
                  <a:lnTo>
                    <a:pt x="1216372" y="976473"/>
                  </a:lnTo>
                  <a:lnTo>
                    <a:pt x="1158049" y="983011"/>
                  </a:lnTo>
                  <a:lnTo>
                    <a:pt x="1098478" y="987752"/>
                  </a:lnTo>
                  <a:lnTo>
                    <a:pt x="1037772" y="990640"/>
                  </a:lnTo>
                  <a:lnTo>
                    <a:pt x="976045" y="991615"/>
                  </a:lnTo>
                  <a:lnTo>
                    <a:pt x="914319" y="990640"/>
                  </a:lnTo>
                  <a:lnTo>
                    <a:pt x="853613" y="987752"/>
                  </a:lnTo>
                  <a:lnTo>
                    <a:pt x="794041" y="983011"/>
                  </a:lnTo>
                  <a:lnTo>
                    <a:pt x="735719" y="976473"/>
                  </a:lnTo>
                  <a:lnTo>
                    <a:pt x="678759" y="968197"/>
                  </a:lnTo>
                  <a:lnTo>
                    <a:pt x="623277" y="958242"/>
                  </a:lnTo>
                  <a:lnTo>
                    <a:pt x="569387" y="946664"/>
                  </a:lnTo>
                  <a:lnTo>
                    <a:pt x="517203" y="933523"/>
                  </a:lnTo>
                  <a:lnTo>
                    <a:pt x="466839" y="918877"/>
                  </a:lnTo>
                  <a:lnTo>
                    <a:pt x="418411" y="902783"/>
                  </a:lnTo>
                  <a:lnTo>
                    <a:pt x="372032" y="885299"/>
                  </a:lnTo>
                  <a:lnTo>
                    <a:pt x="327816" y="866484"/>
                  </a:lnTo>
                  <a:lnTo>
                    <a:pt x="285878" y="846396"/>
                  </a:lnTo>
                  <a:lnTo>
                    <a:pt x="246332" y="825092"/>
                  </a:lnTo>
                  <a:lnTo>
                    <a:pt x="209293" y="802632"/>
                  </a:lnTo>
                  <a:lnTo>
                    <a:pt x="174875" y="779072"/>
                  </a:lnTo>
                  <a:lnTo>
                    <a:pt x="143193" y="754472"/>
                  </a:lnTo>
                  <a:lnTo>
                    <a:pt x="114359" y="728888"/>
                  </a:lnTo>
                  <a:lnTo>
                    <a:pt x="65699" y="675005"/>
                  </a:lnTo>
                  <a:lnTo>
                    <a:pt x="29809" y="617888"/>
                  </a:lnTo>
                  <a:lnTo>
                    <a:pt x="7604" y="558000"/>
                  </a:lnTo>
                  <a:lnTo>
                    <a:pt x="0" y="495807"/>
                  </a:lnTo>
                  <a:close/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96057" y="3917882"/>
            <a:ext cx="1030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Модуль </a:t>
            </a:r>
            <a:r>
              <a:rPr sz="1200" b="1" spc="-5" dirty="0">
                <a:latin typeface="Arial"/>
                <a:cs typeface="Arial"/>
              </a:rPr>
              <a:t> о</a:t>
            </a:r>
            <a:r>
              <a:rPr sz="1200" b="1" dirty="0">
                <a:latin typeface="Arial"/>
                <a:cs typeface="Arial"/>
              </a:rPr>
              <a:t>б</a:t>
            </a:r>
            <a:r>
              <a:rPr sz="1200" b="1" spc="-5" dirty="0">
                <a:latin typeface="Arial"/>
                <a:cs typeface="Arial"/>
              </a:rPr>
              <a:t>н</a:t>
            </a:r>
            <a:r>
              <a:rPr sz="1200" b="1" dirty="0">
                <a:latin typeface="Arial"/>
                <a:cs typeface="Arial"/>
              </a:rPr>
              <a:t>а</a:t>
            </a:r>
            <a:r>
              <a:rPr sz="1200" b="1" spc="-15" dirty="0">
                <a:latin typeface="Arial"/>
                <a:cs typeface="Arial"/>
              </a:rPr>
              <a:t>р</a:t>
            </a:r>
            <a:r>
              <a:rPr sz="1200" b="1" spc="-20" dirty="0">
                <a:latin typeface="Arial"/>
                <a:cs typeface="Arial"/>
              </a:rPr>
              <a:t>у</a:t>
            </a:r>
            <a:r>
              <a:rPr sz="1200" b="1" dirty="0">
                <a:latin typeface="Arial"/>
                <a:cs typeface="Arial"/>
              </a:rPr>
              <a:t>же</a:t>
            </a:r>
            <a:r>
              <a:rPr sz="1200" b="1" spc="-5" dirty="0">
                <a:latin typeface="Arial"/>
                <a:cs typeface="Arial"/>
              </a:rPr>
              <a:t>н</a:t>
            </a:r>
            <a:r>
              <a:rPr sz="1200" b="1" spc="-10" dirty="0">
                <a:latin typeface="Arial"/>
                <a:cs typeface="Arial"/>
              </a:rPr>
              <a:t>и</a:t>
            </a:r>
            <a:r>
              <a:rPr sz="1200" b="1" dirty="0">
                <a:latin typeface="Arial"/>
                <a:cs typeface="Arial"/>
              </a:rPr>
              <a:t>я  </a:t>
            </a:r>
            <a:r>
              <a:rPr sz="1200" b="1" spc="-10" dirty="0">
                <a:latin typeface="Arial"/>
                <a:cs typeface="Arial"/>
              </a:rPr>
              <a:t>движения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35460" y="1128664"/>
            <a:ext cx="1867535" cy="583565"/>
            <a:chOff x="3035460" y="1128664"/>
            <a:chExt cx="1867535" cy="583565"/>
          </a:xfrm>
        </p:grpSpPr>
        <p:sp>
          <p:nvSpPr>
            <p:cNvPr id="8" name="object 8"/>
            <p:cNvSpPr/>
            <p:nvPr/>
          </p:nvSpPr>
          <p:spPr>
            <a:xfrm>
              <a:off x="3038635" y="1131839"/>
              <a:ext cx="1861185" cy="577215"/>
            </a:xfrm>
            <a:custGeom>
              <a:avLst/>
              <a:gdLst/>
              <a:ahLst/>
              <a:cxnLst/>
              <a:rect l="l" t="t" r="r" b="b"/>
              <a:pathLst>
                <a:path w="1861185" h="577214">
                  <a:moveTo>
                    <a:pt x="930338" y="0"/>
                  </a:moveTo>
                  <a:lnTo>
                    <a:pt x="860905" y="791"/>
                  </a:lnTo>
                  <a:lnTo>
                    <a:pt x="792858" y="3126"/>
                  </a:lnTo>
                  <a:lnTo>
                    <a:pt x="726377" y="6952"/>
                  </a:lnTo>
                  <a:lnTo>
                    <a:pt x="661642" y="12210"/>
                  </a:lnTo>
                  <a:lnTo>
                    <a:pt x="598833" y="18846"/>
                  </a:lnTo>
                  <a:lnTo>
                    <a:pt x="538129" y="26804"/>
                  </a:lnTo>
                  <a:lnTo>
                    <a:pt x="479710" y="36028"/>
                  </a:lnTo>
                  <a:lnTo>
                    <a:pt x="423757" y="46462"/>
                  </a:lnTo>
                  <a:lnTo>
                    <a:pt x="370449" y="58051"/>
                  </a:lnTo>
                  <a:lnTo>
                    <a:pt x="319966" y="70738"/>
                  </a:lnTo>
                  <a:lnTo>
                    <a:pt x="272488" y="84469"/>
                  </a:lnTo>
                  <a:lnTo>
                    <a:pt x="228194" y="99186"/>
                  </a:lnTo>
                  <a:lnTo>
                    <a:pt x="187266" y="114836"/>
                  </a:lnTo>
                  <a:lnTo>
                    <a:pt x="149882" y="131360"/>
                  </a:lnTo>
                  <a:lnTo>
                    <a:pt x="86467" y="166814"/>
                  </a:lnTo>
                  <a:lnTo>
                    <a:pt x="39389" y="205101"/>
                  </a:lnTo>
                  <a:lnTo>
                    <a:pt x="10087" y="245776"/>
                  </a:lnTo>
                  <a:lnTo>
                    <a:pt x="0" y="288391"/>
                  </a:lnTo>
                  <a:lnTo>
                    <a:pt x="2551" y="309914"/>
                  </a:lnTo>
                  <a:lnTo>
                    <a:pt x="22426" y="351614"/>
                  </a:lnTo>
                  <a:lnTo>
                    <a:pt x="60796" y="391151"/>
                  </a:lnTo>
                  <a:lnTo>
                    <a:pt x="116222" y="428077"/>
                  </a:lnTo>
                  <a:lnTo>
                    <a:pt x="187266" y="461947"/>
                  </a:lnTo>
                  <a:lnTo>
                    <a:pt x="228194" y="477596"/>
                  </a:lnTo>
                  <a:lnTo>
                    <a:pt x="272488" y="492313"/>
                  </a:lnTo>
                  <a:lnTo>
                    <a:pt x="319966" y="506044"/>
                  </a:lnTo>
                  <a:lnTo>
                    <a:pt x="370449" y="518731"/>
                  </a:lnTo>
                  <a:lnTo>
                    <a:pt x="423757" y="530320"/>
                  </a:lnTo>
                  <a:lnTo>
                    <a:pt x="479710" y="540754"/>
                  </a:lnTo>
                  <a:lnTo>
                    <a:pt x="538129" y="549978"/>
                  </a:lnTo>
                  <a:lnTo>
                    <a:pt x="598833" y="557936"/>
                  </a:lnTo>
                  <a:lnTo>
                    <a:pt x="661642" y="564572"/>
                  </a:lnTo>
                  <a:lnTo>
                    <a:pt x="726377" y="569831"/>
                  </a:lnTo>
                  <a:lnTo>
                    <a:pt x="792858" y="573656"/>
                  </a:lnTo>
                  <a:lnTo>
                    <a:pt x="860905" y="575992"/>
                  </a:lnTo>
                  <a:lnTo>
                    <a:pt x="930338" y="576783"/>
                  </a:lnTo>
                  <a:lnTo>
                    <a:pt x="999769" y="575992"/>
                  </a:lnTo>
                  <a:lnTo>
                    <a:pt x="1067815" y="573656"/>
                  </a:lnTo>
                  <a:lnTo>
                    <a:pt x="1134294" y="569831"/>
                  </a:lnTo>
                  <a:lnTo>
                    <a:pt x="1199028" y="564572"/>
                  </a:lnTo>
                  <a:lnTo>
                    <a:pt x="1261836" y="557936"/>
                  </a:lnTo>
                  <a:lnTo>
                    <a:pt x="1322540" y="549978"/>
                  </a:lnTo>
                  <a:lnTo>
                    <a:pt x="1380957" y="540754"/>
                  </a:lnTo>
                  <a:lnTo>
                    <a:pt x="1436910" y="530320"/>
                  </a:lnTo>
                  <a:lnTo>
                    <a:pt x="1490217" y="518731"/>
                  </a:lnTo>
                  <a:lnTo>
                    <a:pt x="1540700" y="506044"/>
                  </a:lnTo>
                  <a:lnTo>
                    <a:pt x="1588177" y="492313"/>
                  </a:lnTo>
                  <a:lnTo>
                    <a:pt x="1632470" y="477596"/>
                  </a:lnTo>
                  <a:lnTo>
                    <a:pt x="1673399" y="461947"/>
                  </a:lnTo>
                  <a:lnTo>
                    <a:pt x="1710782" y="445422"/>
                  </a:lnTo>
                  <a:lnTo>
                    <a:pt x="1774197" y="409968"/>
                  </a:lnTo>
                  <a:lnTo>
                    <a:pt x="1821275" y="371681"/>
                  </a:lnTo>
                  <a:lnTo>
                    <a:pt x="1850577" y="331007"/>
                  </a:lnTo>
                  <a:lnTo>
                    <a:pt x="1860664" y="288391"/>
                  </a:lnTo>
                  <a:lnTo>
                    <a:pt x="1858112" y="266869"/>
                  </a:lnTo>
                  <a:lnTo>
                    <a:pt x="1838238" y="225168"/>
                  </a:lnTo>
                  <a:lnTo>
                    <a:pt x="1799868" y="185631"/>
                  </a:lnTo>
                  <a:lnTo>
                    <a:pt x="1744442" y="148705"/>
                  </a:lnTo>
                  <a:lnTo>
                    <a:pt x="1673399" y="114836"/>
                  </a:lnTo>
                  <a:lnTo>
                    <a:pt x="1632470" y="99186"/>
                  </a:lnTo>
                  <a:lnTo>
                    <a:pt x="1588177" y="84469"/>
                  </a:lnTo>
                  <a:lnTo>
                    <a:pt x="1540700" y="70738"/>
                  </a:lnTo>
                  <a:lnTo>
                    <a:pt x="1490217" y="58051"/>
                  </a:lnTo>
                  <a:lnTo>
                    <a:pt x="1436910" y="46462"/>
                  </a:lnTo>
                  <a:lnTo>
                    <a:pt x="1380957" y="36028"/>
                  </a:lnTo>
                  <a:lnTo>
                    <a:pt x="1322540" y="26804"/>
                  </a:lnTo>
                  <a:lnTo>
                    <a:pt x="1261836" y="18846"/>
                  </a:lnTo>
                  <a:lnTo>
                    <a:pt x="1199028" y="12210"/>
                  </a:lnTo>
                  <a:lnTo>
                    <a:pt x="1134294" y="6952"/>
                  </a:lnTo>
                  <a:lnTo>
                    <a:pt x="1067815" y="3126"/>
                  </a:lnTo>
                  <a:lnTo>
                    <a:pt x="999769" y="791"/>
                  </a:lnTo>
                  <a:lnTo>
                    <a:pt x="930338" y="0"/>
                  </a:lnTo>
                  <a:close/>
                </a:path>
              </a:pathLst>
            </a:custGeom>
            <a:solidFill>
              <a:srgbClr val="FC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8635" y="1131839"/>
              <a:ext cx="1861185" cy="577215"/>
            </a:xfrm>
            <a:custGeom>
              <a:avLst/>
              <a:gdLst/>
              <a:ahLst/>
              <a:cxnLst/>
              <a:rect l="l" t="t" r="r" b="b"/>
              <a:pathLst>
                <a:path w="1861185" h="577214">
                  <a:moveTo>
                    <a:pt x="0" y="288391"/>
                  </a:moveTo>
                  <a:lnTo>
                    <a:pt x="10087" y="245776"/>
                  </a:lnTo>
                  <a:lnTo>
                    <a:pt x="39389" y="205101"/>
                  </a:lnTo>
                  <a:lnTo>
                    <a:pt x="86467" y="166814"/>
                  </a:lnTo>
                  <a:lnTo>
                    <a:pt x="149882" y="131360"/>
                  </a:lnTo>
                  <a:lnTo>
                    <a:pt x="187266" y="114836"/>
                  </a:lnTo>
                  <a:lnTo>
                    <a:pt x="228194" y="99186"/>
                  </a:lnTo>
                  <a:lnTo>
                    <a:pt x="272488" y="84469"/>
                  </a:lnTo>
                  <a:lnTo>
                    <a:pt x="319966" y="70738"/>
                  </a:lnTo>
                  <a:lnTo>
                    <a:pt x="370449" y="58051"/>
                  </a:lnTo>
                  <a:lnTo>
                    <a:pt x="423757" y="46462"/>
                  </a:lnTo>
                  <a:lnTo>
                    <a:pt x="479710" y="36028"/>
                  </a:lnTo>
                  <a:lnTo>
                    <a:pt x="538129" y="26804"/>
                  </a:lnTo>
                  <a:lnTo>
                    <a:pt x="598833" y="18846"/>
                  </a:lnTo>
                  <a:lnTo>
                    <a:pt x="661642" y="12210"/>
                  </a:lnTo>
                  <a:lnTo>
                    <a:pt x="726377" y="6952"/>
                  </a:lnTo>
                  <a:lnTo>
                    <a:pt x="792858" y="3126"/>
                  </a:lnTo>
                  <a:lnTo>
                    <a:pt x="860905" y="791"/>
                  </a:lnTo>
                  <a:lnTo>
                    <a:pt x="930338" y="0"/>
                  </a:lnTo>
                  <a:lnTo>
                    <a:pt x="999769" y="791"/>
                  </a:lnTo>
                  <a:lnTo>
                    <a:pt x="1067815" y="3126"/>
                  </a:lnTo>
                  <a:lnTo>
                    <a:pt x="1134294" y="6952"/>
                  </a:lnTo>
                  <a:lnTo>
                    <a:pt x="1199028" y="12210"/>
                  </a:lnTo>
                  <a:lnTo>
                    <a:pt x="1261836" y="18846"/>
                  </a:lnTo>
                  <a:lnTo>
                    <a:pt x="1322540" y="26804"/>
                  </a:lnTo>
                  <a:lnTo>
                    <a:pt x="1380957" y="36028"/>
                  </a:lnTo>
                  <a:lnTo>
                    <a:pt x="1436910" y="46462"/>
                  </a:lnTo>
                  <a:lnTo>
                    <a:pt x="1490217" y="58051"/>
                  </a:lnTo>
                  <a:lnTo>
                    <a:pt x="1540700" y="70738"/>
                  </a:lnTo>
                  <a:lnTo>
                    <a:pt x="1588177" y="84469"/>
                  </a:lnTo>
                  <a:lnTo>
                    <a:pt x="1632470" y="99186"/>
                  </a:lnTo>
                  <a:lnTo>
                    <a:pt x="1673399" y="114836"/>
                  </a:lnTo>
                  <a:lnTo>
                    <a:pt x="1710782" y="131360"/>
                  </a:lnTo>
                  <a:lnTo>
                    <a:pt x="1774197" y="166814"/>
                  </a:lnTo>
                  <a:lnTo>
                    <a:pt x="1821275" y="205101"/>
                  </a:lnTo>
                  <a:lnTo>
                    <a:pt x="1850577" y="245776"/>
                  </a:lnTo>
                  <a:lnTo>
                    <a:pt x="1860664" y="288391"/>
                  </a:lnTo>
                  <a:lnTo>
                    <a:pt x="1858112" y="309914"/>
                  </a:lnTo>
                  <a:lnTo>
                    <a:pt x="1838238" y="351614"/>
                  </a:lnTo>
                  <a:lnTo>
                    <a:pt x="1799868" y="391151"/>
                  </a:lnTo>
                  <a:lnTo>
                    <a:pt x="1744442" y="428077"/>
                  </a:lnTo>
                  <a:lnTo>
                    <a:pt x="1673399" y="461947"/>
                  </a:lnTo>
                  <a:lnTo>
                    <a:pt x="1632470" y="477596"/>
                  </a:lnTo>
                  <a:lnTo>
                    <a:pt x="1588177" y="492313"/>
                  </a:lnTo>
                  <a:lnTo>
                    <a:pt x="1540700" y="506044"/>
                  </a:lnTo>
                  <a:lnTo>
                    <a:pt x="1490217" y="518731"/>
                  </a:lnTo>
                  <a:lnTo>
                    <a:pt x="1436910" y="530320"/>
                  </a:lnTo>
                  <a:lnTo>
                    <a:pt x="1380957" y="540754"/>
                  </a:lnTo>
                  <a:lnTo>
                    <a:pt x="1322540" y="549978"/>
                  </a:lnTo>
                  <a:lnTo>
                    <a:pt x="1261836" y="557936"/>
                  </a:lnTo>
                  <a:lnTo>
                    <a:pt x="1199028" y="564572"/>
                  </a:lnTo>
                  <a:lnTo>
                    <a:pt x="1134294" y="569831"/>
                  </a:lnTo>
                  <a:lnTo>
                    <a:pt x="1067815" y="573656"/>
                  </a:lnTo>
                  <a:lnTo>
                    <a:pt x="999769" y="575992"/>
                  </a:lnTo>
                  <a:lnTo>
                    <a:pt x="930338" y="576783"/>
                  </a:lnTo>
                  <a:lnTo>
                    <a:pt x="860905" y="575992"/>
                  </a:lnTo>
                  <a:lnTo>
                    <a:pt x="792858" y="573656"/>
                  </a:lnTo>
                  <a:lnTo>
                    <a:pt x="726377" y="569831"/>
                  </a:lnTo>
                  <a:lnTo>
                    <a:pt x="661642" y="564572"/>
                  </a:lnTo>
                  <a:lnTo>
                    <a:pt x="598833" y="557936"/>
                  </a:lnTo>
                  <a:lnTo>
                    <a:pt x="538129" y="549978"/>
                  </a:lnTo>
                  <a:lnTo>
                    <a:pt x="479710" y="540754"/>
                  </a:lnTo>
                  <a:lnTo>
                    <a:pt x="423757" y="530320"/>
                  </a:lnTo>
                  <a:lnTo>
                    <a:pt x="370449" y="518731"/>
                  </a:lnTo>
                  <a:lnTo>
                    <a:pt x="319966" y="506044"/>
                  </a:lnTo>
                  <a:lnTo>
                    <a:pt x="272488" y="492313"/>
                  </a:lnTo>
                  <a:lnTo>
                    <a:pt x="228194" y="477596"/>
                  </a:lnTo>
                  <a:lnTo>
                    <a:pt x="187266" y="461947"/>
                  </a:lnTo>
                  <a:lnTo>
                    <a:pt x="149882" y="445422"/>
                  </a:lnTo>
                  <a:lnTo>
                    <a:pt x="86467" y="409968"/>
                  </a:lnTo>
                  <a:lnTo>
                    <a:pt x="39389" y="371681"/>
                  </a:lnTo>
                  <a:lnTo>
                    <a:pt x="10087" y="331007"/>
                  </a:lnTo>
                  <a:lnTo>
                    <a:pt x="0" y="28839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38027" y="1220079"/>
            <a:ext cx="86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13462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Р</a:t>
            </a:r>
            <a:r>
              <a:rPr sz="1200" b="1" dirty="0">
                <a:latin typeface="Arial"/>
                <a:cs typeface="Arial"/>
              </a:rPr>
              <a:t>е</a:t>
            </a:r>
            <a:r>
              <a:rPr sz="1200" b="1" spc="-20" dirty="0">
                <a:latin typeface="Arial"/>
                <a:cs typeface="Arial"/>
              </a:rPr>
              <a:t>ш</a:t>
            </a:r>
            <a:r>
              <a:rPr sz="1200" b="1" dirty="0">
                <a:latin typeface="Arial"/>
                <a:cs typeface="Arial"/>
              </a:rPr>
              <a:t>а</a:t>
            </a:r>
            <a:r>
              <a:rPr sz="1200" b="1" spc="-5" dirty="0">
                <a:latin typeface="Arial"/>
                <a:cs typeface="Arial"/>
              </a:rPr>
              <a:t>ю</a:t>
            </a:r>
            <a:r>
              <a:rPr sz="1200" b="1" spc="-20" dirty="0">
                <a:latin typeface="Arial"/>
                <a:cs typeface="Arial"/>
              </a:rPr>
              <a:t>щ</a:t>
            </a:r>
            <a:r>
              <a:rPr sz="1200" b="1" spc="-10" dirty="0">
                <a:latin typeface="Arial"/>
                <a:cs typeface="Arial"/>
              </a:rPr>
              <a:t>и</a:t>
            </a:r>
            <a:r>
              <a:rPr sz="1200" b="1" dirty="0">
                <a:latin typeface="Arial"/>
                <a:cs typeface="Arial"/>
              </a:rPr>
              <a:t>й  </a:t>
            </a:r>
            <a:r>
              <a:rPr sz="1200" b="1" spc="-15" dirty="0">
                <a:latin typeface="Arial"/>
                <a:cs typeface="Arial"/>
              </a:rPr>
              <a:t>модуль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85966" y="3228332"/>
            <a:ext cx="2202815" cy="819785"/>
            <a:chOff x="8785966" y="3228332"/>
            <a:chExt cx="2202815" cy="819785"/>
          </a:xfrm>
        </p:grpSpPr>
        <p:sp>
          <p:nvSpPr>
            <p:cNvPr id="12" name="object 12"/>
            <p:cNvSpPr/>
            <p:nvPr/>
          </p:nvSpPr>
          <p:spPr>
            <a:xfrm>
              <a:off x="8789141" y="3231507"/>
              <a:ext cx="2196465" cy="813435"/>
            </a:xfrm>
            <a:custGeom>
              <a:avLst/>
              <a:gdLst/>
              <a:ahLst/>
              <a:cxnLst/>
              <a:rect l="l" t="t" r="r" b="b"/>
              <a:pathLst>
                <a:path w="2196465" h="813435">
                  <a:moveTo>
                    <a:pt x="1097940" y="0"/>
                  </a:moveTo>
                  <a:lnTo>
                    <a:pt x="1031057" y="742"/>
                  </a:lnTo>
                  <a:lnTo>
                    <a:pt x="965233" y="2940"/>
                  </a:lnTo>
                  <a:lnTo>
                    <a:pt x="900584" y="6551"/>
                  </a:lnTo>
                  <a:lnTo>
                    <a:pt x="837225" y="11534"/>
                  </a:lnTo>
                  <a:lnTo>
                    <a:pt x="775270" y="17844"/>
                  </a:lnTo>
                  <a:lnTo>
                    <a:pt x="714834" y="25441"/>
                  </a:lnTo>
                  <a:lnTo>
                    <a:pt x="656032" y="34281"/>
                  </a:lnTo>
                  <a:lnTo>
                    <a:pt x="598978" y="44321"/>
                  </a:lnTo>
                  <a:lnTo>
                    <a:pt x="543789" y="55520"/>
                  </a:lnTo>
                  <a:lnTo>
                    <a:pt x="490578" y="67835"/>
                  </a:lnTo>
                  <a:lnTo>
                    <a:pt x="439461" y="81222"/>
                  </a:lnTo>
                  <a:lnTo>
                    <a:pt x="390552" y="95640"/>
                  </a:lnTo>
                  <a:lnTo>
                    <a:pt x="343965" y="111046"/>
                  </a:lnTo>
                  <a:lnTo>
                    <a:pt x="299817" y="127398"/>
                  </a:lnTo>
                  <a:lnTo>
                    <a:pt x="258222" y="144652"/>
                  </a:lnTo>
                  <a:lnTo>
                    <a:pt x="219294" y="162767"/>
                  </a:lnTo>
                  <a:lnTo>
                    <a:pt x="183149" y="181700"/>
                  </a:lnTo>
                  <a:lnTo>
                    <a:pt x="149901" y="201408"/>
                  </a:lnTo>
                  <a:lnTo>
                    <a:pt x="92556" y="242981"/>
                  </a:lnTo>
                  <a:lnTo>
                    <a:pt x="48179" y="287144"/>
                  </a:lnTo>
                  <a:lnTo>
                    <a:pt x="17689" y="333557"/>
                  </a:lnTo>
                  <a:lnTo>
                    <a:pt x="2003" y="381881"/>
                  </a:lnTo>
                  <a:lnTo>
                    <a:pt x="0" y="406653"/>
                  </a:lnTo>
                  <a:lnTo>
                    <a:pt x="2003" y="431426"/>
                  </a:lnTo>
                  <a:lnTo>
                    <a:pt x="17689" y="479750"/>
                  </a:lnTo>
                  <a:lnTo>
                    <a:pt x="48179" y="526163"/>
                  </a:lnTo>
                  <a:lnTo>
                    <a:pt x="92556" y="570326"/>
                  </a:lnTo>
                  <a:lnTo>
                    <a:pt x="149901" y="611899"/>
                  </a:lnTo>
                  <a:lnTo>
                    <a:pt x="183149" y="631607"/>
                  </a:lnTo>
                  <a:lnTo>
                    <a:pt x="219294" y="650540"/>
                  </a:lnTo>
                  <a:lnTo>
                    <a:pt x="258222" y="668655"/>
                  </a:lnTo>
                  <a:lnTo>
                    <a:pt x="299817" y="685909"/>
                  </a:lnTo>
                  <a:lnTo>
                    <a:pt x="343965" y="702261"/>
                  </a:lnTo>
                  <a:lnTo>
                    <a:pt x="390552" y="717667"/>
                  </a:lnTo>
                  <a:lnTo>
                    <a:pt x="439461" y="732085"/>
                  </a:lnTo>
                  <a:lnTo>
                    <a:pt x="490578" y="745472"/>
                  </a:lnTo>
                  <a:lnTo>
                    <a:pt x="543789" y="757787"/>
                  </a:lnTo>
                  <a:lnTo>
                    <a:pt x="598978" y="768986"/>
                  </a:lnTo>
                  <a:lnTo>
                    <a:pt x="656032" y="779026"/>
                  </a:lnTo>
                  <a:lnTo>
                    <a:pt x="714834" y="787866"/>
                  </a:lnTo>
                  <a:lnTo>
                    <a:pt x="775270" y="795463"/>
                  </a:lnTo>
                  <a:lnTo>
                    <a:pt x="837225" y="801773"/>
                  </a:lnTo>
                  <a:lnTo>
                    <a:pt x="900584" y="806756"/>
                  </a:lnTo>
                  <a:lnTo>
                    <a:pt x="965233" y="810367"/>
                  </a:lnTo>
                  <a:lnTo>
                    <a:pt x="1031057" y="812565"/>
                  </a:lnTo>
                  <a:lnTo>
                    <a:pt x="1097940" y="813307"/>
                  </a:lnTo>
                  <a:lnTo>
                    <a:pt x="1164823" y="812565"/>
                  </a:lnTo>
                  <a:lnTo>
                    <a:pt x="1230647" y="810367"/>
                  </a:lnTo>
                  <a:lnTo>
                    <a:pt x="1295296" y="806756"/>
                  </a:lnTo>
                  <a:lnTo>
                    <a:pt x="1358655" y="801773"/>
                  </a:lnTo>
                  <a:lnTo>
                    <a:pt x="1420610" y="795463"/>
                  </a:lnTo>
                  <a:lnTo>
                    <a:pt x="1481046" y="787866"/>
                  </a:lnTo>
                  <a:lnTo>
                    <a:pt x="1539848" y="779026"/>
                  </a:lnTo>
                  <a:lnTo>
                    <a:pt x="1596901" y="768986"/>
                  </a:lnTo>
                  <a:lnTo>
                    <a:pt x="1652091" y="757787"/>
                  </a:lnTo>
                  <a:lnTo>
                    <a:pt x="1705302" y="745472"/>
                  </a:lnTo>
                  <a:lnTo>
                    <a:pt x="1756419" y="732085"/>
                  </a:lnTo>
                  <a:lnTo>
                    <a:pt x="1805328" y="717667"/>
                  </a:lnTo>
                  <a:lnTo>
                    <a:pt x="1851914" y="702261"/>
                  </a:lnTo>
                  <a:lnTo>
                    <a:pt x="1896063" y="685909"/>
                  </a:lnTo>
                  <a:lnTo>
                    <a:pt x="1937658" y="668655"/>
                  </a:lnTo>
                  <a:lnTo>
                    <a:pt x="1976586" y="650540"/>
                  </a:lnTo>
                  <a:lnTo>
                    <a:pt x="2012731" y="631607"/>
                  </a:lnTo>
                  <a:lnTo>
                    <a:pt x="2045979" y="611899"/>
                  </a:lnTo>
                  <a:lnTo>
                    <a:pt x="2103323" y="570326"/>
                  </a:lnTo>
                  <a:lnTo>
                    <a:pt x="2147700" y="526163"/>
                  </a:lnTo>
                  <a:lnTo>
                    <a:pt x="2178191" y="479750"/>
                  </a:lnTo>
                  <a:lnTo>
                    <a:pt x="2193877" y="431426"/>
                  </a:lnTo>
                  <a:lnTo>
                    <a:pt x="2195880" y="406653"/>
                  </a:lnTo>
                  <a:lnTo>
                    <a:pt x="2193877" y="381881"/>
                  </a:lnTo>
                  <a:lnTo>
                    <a:pt x="2178191" y="333557"/>
                  </a:lnTo>
                  <a:lnTo>
                    <a:pt x="2147700" y="287144"/>
                  </a:lnTo>
                  <a:lnTo>
                    <a:pt x="2103323" y="242981"/>
                  </a:lnTo>
                  <a:lnTo>
                    <a:pt x="2045979" y="201408"/>
                  </a:lnTo>
                  <a:lnTo>
                    <a:pt x="2012731" y="181700"/>
                  </a:lnTo>
                  <a:lnTo>
                    <a:pt x="1976586" y="162767"/>
                  </a:lnTo>
                  <a:lnTo>
                    <a:pt x="1937658" y="144652"/>
                  </a:lnTo>
                  <a:lnTo>
                    <a:pt x="1896063" y="127398"/>
                  </a:lnTo>
                  <a:lnTo>
                    <a:pt x="1851914" y="111046"/>
                  </a:lnTo>
                  <a:lnTo>
                    <a:pt x="1805328" y="95640"/>
                  </a:lnTo>
                  <a:lnTo>
                    <a:pt x="1756419" y="81222"/>
                  </a:lnTo>
                  <a:lnTo>
                    <a:pt x="1705302" y="67835"/>
                  </a:lnTo>
                  <a:lnTo>
                    <a:pt x="1652091" y="55520"/>
                  </a:lnTo>
                  <a:lnTo>
                    <a:pt x="1596901" y="44321"/>
                  </a:lnTo>
                  <a:lnTo>
                    <a:pt x="1539848" y="34281"/>
                  </a:lnTo>
                  <a:lnTo>
                    <a:pt x="1481046" y="25441"/>
                  </a:lnTo>
                  <a:lnTo>
                    <a:pt x="1420610" y="17844"/>
                  </a:lnTo>
                  <a:lnTo>
                    <a:pt x="1358655" y="11534"/>
                  </a:lnTo>
                  <a:lnTo>
                    <a:pt x="1295296" y="6551"/>
                  </a:lnTo>
                  <a:lnTo>
                    <a:pt x="1230647" y="2940"/>
                  </a:lnTo>
                  <a:lnTo>
                    <a:pt x="1164823" y="742"/>
                  </a:lnTo>
                  <a:lnTo>
                    <a:pt x="1097940" y="0"/>
                  </a:lnTo>
                  <a:close/>
                </a:path>
              </a:pathLst>
            </a:custGeom>
            <a:solidFill>
              <a:srgbClr val="FC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89141" y="3231507"/>
              <a:ext cx="2196465" cy="813435"/>
            </a:xfrm>
            <a:custGeom>
              <a:avLst/>
              <a:gdLst/>
              <a:ahLst/>
              <a:cxnLst/>
              <a:rect l="l" t="t" r="r" b="b"/>
              <a:pathLst>
                <a:path w="2196465" h="813435">
                  <a:moveTo>
                    <a:pt x="0" y="406653"/>
                  </a:moveTo>
                  <a:lnTo>
                    <a:pt x="7938" y="357502"/>
                  </a:lnTo>
                  <a:lnTo>
                    <a:pt x="31141" y="310091"/>
                  </a:lnTo>
                  <a:lnTo>
                    <a:pt x="68690" y="264760"/>
                  </a:lnTo>
                  <a:lnTo>
                    <a:pt x="119665" y="221849"/>
                  </a:lnTo>
                  <a:lnTo>
                    <a:pt x="183149" y="181700"/>
                  </a:lnTo>
                  <a:lnTo>
                    <a:pt x="219294" y="162767"/>
                  </a:lnTo>
                  <a:lnTo>
                    <a:pt x="258222" y="144652"/>
                  </a:lnTo>
                  <a:lnTo>
                    <a:pt x="299817" y="127398"/>
                  </a:lnTo>
                  <a:lnTo>
                    <a:pt x="343965" y="111046"/>
                  </a:lnTo>
                  <a:lnTo>
                    <a:pt x="390552" y="95640"/>
                  </a:lnTo>
                  <a:lnTo>
                    <a:pt x="439461" y="81222"/>
                  </a:lnTo>
                  <a:lnTo>
                    <a:pt x="490578" y="67835"/>
                  </a:lnTo>
                  <a:lnTo>
                    <a:pt x="543789" y="55520"/>
                  </a:lnTo>
                  <a:lnTo>
                    <a:pt x="598978" y="44321"/>
                  </a:lnTo>
                  <a:lnTo>
                    <a:pt x="656032" y="34281"/>
                  </a:lnTo>
                  <a:lnTo>
                    <a:pt x="714834" y="25441"/>
                  </a:lnTo>
                  <a:lnTo>
                    <a:pt x="775270" y="17844"/>
                  </a:lnTo>
                  <a:lnTo>
                    <a:pt x="837225" y="11534"/>
                  </a:lnTo>
                  <a:lnTo>
                    <a:pt x="900584" y="6551"/>
                  </a:lnTo>
                  <a:lnTo>
                    <a:pt x="965233" y="2940"/>
                  </a:lnTo>
                  <a:lnTo>
                    <a:pt x="1031057" y="742"/>
                  </a:lnTo>
                  <a:lnTo>
                    <a:pt x="1097940" y="0"/>
                  </a:lnTo>
                  <a:lnTo>
                    <a:pt x="1164823" y="742"/>
                  </a:lnTo>
                  <a:lnTo>
                    <a:pt x="1230647" y="2940"/>
                  </a:lnTo>
                  <a:lnTo>
                    <a:pt x="1295296" y="6551"/>
                  </a:lnTo>
                  <a:lnTo>
                    <a:pt x="1358655" y="11534"/>
                  </a:lnTo>
                  <a:lnTo>
                    <a:pt x="1420610" y="17844"/>
                  </a:lnTo>
                  <a:lnTo>
                    <a:pt x="1481046" y="25441"/>
                  </a:lnTo>
                  <a:lnTo>
                    <a:pt x="1539848" y="34281"/>
                  </a:lnTo>
                  <a:lnTo>
                    <a:pt x="1596901" y="44321"/>
                  </a:lnTo>
                  <a:lnTo>
                    <a:pt x="1652091" y="55520"/>
                  </a:lnTo>
                  <a:lnTo>
                    <a:pt x="1705302" y="67835"/>
                  </a:lnTo>
                  <a:lnTo>
                    <a:pt x="1756419" y="81222"/>
                  </a:lnTo>
                  <a:lnTo>
                    <a:pt x="1805328" y="95640"/>
                  </a:lnTo>
                  <a:lnTo>
                    <a:pt x="1851914" y="111046"/>
                  </a:lnTo>
                  <a:lnTo>
                    <a:pt x="1896063" y="127398"/>
                  </a:lnTo>
                  <a:lnTo>
                    <a:pt x="1937658" y="144652"/>
                  </a:lnTo>
                  <a:lnTo>
                    <a:pt x="1976586" y="162767"/>
                  </a:lnTo>
                  <a:lnTo>
                    <a:pt x="2012731" y="181700"/>
                  </a:lnTo>
                  <a:lnTo>
                    <a:pt x="2045979" y="201408"/>
                  </a:lnTo>
                  <a:lnTo>
                    <a:pt x="2103323" y="242981"/>
                  </a:lnTo>
                  <a:lnTo>
                    <a:pt x="2147700" y="287144"/>
                  </a:lnTo>
                  <a:lnTo>
                    <a:pt x="2178191" y="333557"/>
                  </a:lnTo>
                  <a:lnTo>
                    <a:pt x="2193877" y="381881"/>
                  </a:lnTo>
                  <a:lnTo>
                    <a:pt x="2195880" y="406653"/>
                  </a:lnTo>
                  <a:lnTo>
                    <a:pt x="2193877" y="431426"/>
                  </a:lnTo>
                  <a:lnTo>
                    <a:pt x="2178191" y="479750"/>
                  </a:lnTo>
                  <a:lnTo>
                    <a:pt x="2147700" y="526163"/>
                  </a:lnTo>
                  <a:lnTo>
                    <a:pt x="2103323" y="570326"/>
                  </a:lnTo>
                  <a:lnTo>
                    <a:pt x="2045979" y="611899"/>
                  </a:lnTo>
                  <a:lnTo>
                    <a:pt x="2012731" y="631607"/>
                  </a:lnTo>
                  <a:lnTo>
                    <a:pt x="1976586" y="650540"/>
                  </a:lnTo>
                  <a:lnTo>
                    <a:pt x="1937658" y="668655"/>
                  </a:lnTo>
                  <a:lnTo>
                    <a:pt x="1896063" y="685909"/>
                  </a:lnTo>
                  <a:lnTo>
                    <a:pt x="1851914" y="702261"/>
                  </a:lnTo>
                  <a:lnTo>
                    <a:pt x="1805328" y="717667"/>
                  </a:lnTo>
                  <a:lnTo>
                    <a:pt x="1756419" y="732085"/>
                  </a:lnTo>
                  <a:lnTo>
                    <a:pt x="1705302" y="745472"/>
                  </a:lnTo>
                  <a:lnTo>
                    <a:pt x="1652091" y="757787"/>
                  </a:lnTo>
                  <a:lnTo>
                    <a:pt x="1596901" y="768986"/>
                  </a:lnTo>
                  <a:lnTo>
                    <a:pt x="1539848" y="779026"/>
                  </a:lnTo>
                  <a:lnTo>
                    <a:pt x="1481046" y="787866"/>
                  </a:lnTo>
                  <a:lnTo>
                    <a:pt x="1420610" y="795463"/>
                  </a:lnTo>
                  <a:lnTo>
                    <a:pt x="1358655" y="801773"/>
                  </a:lnTo>
                  <a:lnTo>
                    <a:pt x="1295296" y="806756"/>
                  </a:lnTo>
                  <a:lnTo>
                    <a:pt x="1230647" y="810367"/>
                  </a:lnTo>
                  <a:lnTo>
                    <a:pt x="1164823" y="812565"/>
                  </a:lnTo>
                  <a:lnTo>
                    <a:pt x="1097940" y="813307"/>
                  </a:lnTo>
                  <a:lnTo>
                    <a:pt x="1031057" y="812565"/>
                  </a:lnTo>
                  <a:lnTo>
                    <a:pt x="965233" y="810367"/>
                  </a:lnTo>
                  <a:lnTo>
                    <a:pt x="900584" y="806756"/>
                  </a:lnTo>
                  <a:lnTo>
                    <a:pt x="837225" y="801773"/>
                  </a:lnTo>
                  <a:lnTo>
                    <a:pt x="775270" y="795463"/>
                  </a:lnTo>
                  <a:lnTo>
                    <a:pt x="714834" y="787866"/>
                  </a:lnTo>
                  <a:lnTo>
                    <a:pt x="656032" y="779026"/>
                  </a:lnTo>
                  <a:lnTo>
                    <a:pt x="598978" y="768986"/>
                  </a:lnTo>
                  <a:lnTo>
                    <a:pt x="543789" y="757787"/>
                  </a:lnTo>
                  <a:lnTo>
                    <a:pt x="490578" y="745472"/>
                  </a:lnTo>
                  <a:lnTo>
                    <a:pt x="439461" y="732085"/>
                  </a:lnTo>
                  <a:lnTo>
                    <a:pt x="390552" y="717667"/>
                  </a:lnTo>
                  <a:lnTo>
                    <a:pt x="343965" y="702261"/>
                  </a:lnTo>
                  <a:lnTo>
                    <a:pt x="299817" y="685909"/>
                  </a:lnTo>
                  <a:lnTo>
                    <a:pt x="258222" y="668655"/>
                  </a:lnTo>
                  <a:lnTo>
                    <a:pt x="219294" y="650540"/>
                  </a:lnTo>
                  <a:lnTo>
                    <a:pt x="183149" y="631607"/>
                  </a:lnTo>
                  <a:lnTo>
                    <a:pt x="149901" y="611899"/>
                  </a:lnTo>
                  <a:lnTo>
                    <a:pt x="92556" y="570326"/>
                  </a:lnTo>
                  <a:lnTo>
                    <a:pt x="48179" y="526163"/>
                  </a:lnTo>
                  <a:lnTo>
                    <a:pt x="17689" y="479750"/>
                  </a:lnTo>
                  <a:lnTo>
                    <a:pt x="2003" y="431426"/>
                  </a:lnTo>
                  <a:lnTo>
                    <a:pt x="0" y="40665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24278" y="3346570"/>
            <a:ext cx="1126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Модуль </a:t>
            </a:r>
            <a:r>
              <a:rPr sz="1200" b="1" spc="-5" dirty="0">
                <a:latin typeface="Arial"/>
                <a:cs typeface="Arial"/>
              </a:rPr>
              <a:t> к</a:t>
            </a:r>
            <a:r>
              <a:rPr sz="1200" b="1" dirty="0">
                <a:latin typeface="Arial"/>
                <a:cs typeface="Arial"/>
              </a:rPr>
              <a:t>а</a:t>
            </a:r>
            <a:r>
              <a:rPr sz="1200" b="1" spc="-15" dirty="0">
                <a:latin typeface="Arial"/>
                <a:cs typeface="Arial"/>
              </a:rPr>
              <a:t>т</a:t>
            </a:r>
            <a:r>
              <a:rPr sz="1200" b="1" dirty="0">
                <a:latin typeface="Arial"/>
                <a:cs typeface="Arial"/>
              </a:rPr>
              <a:t>е</a:t>
            </a:r>
            <a:r>
              <a:rPr sz="1200" b="1" spc="-10" dirty="0">
                <a:latin typeface="Arial"/>
                <a:cs typeface="Arial"/>
              </a:rPr>
              <a:t>г</a:t>
            </a:r>
            <a:r>
              <a:rPr sz="1200" b="1" spc="-5" dirty="0">
                <a:latin typeface="Arial"/>
                <a:cs typeface="Arial"/>
              </a:rPr>
              <a:t>ор</a:t>
            </a:r>
            <a:r>
              <a:rPr sz="1200" b="1" spc="-10" dirty="0">
                <a:latin typeface="Arial"/>
                <a:cs typeface="Arial"/>
              </a:rPr>
              <a:t>из</a:t>
            </a:r>
            <a:r>
              <a:rPr sz="1200" b="1" dirty="0">
                <a:latin typeface="Arial"/>
                <a:cs typeface="Arial"/>
              </a:rPr>
              <a:t>а</a:t>
            </a:r>
            <a:r>
              <a:rPr sz="1200" b="1" spc="-10" dirty="0">
                <a:latin typeface="Arial"/>
                <a:cs typeface="Arial"/>
              </a:rPr>
              <a:t>ции  </a:t>
            </a:r>
            <a:r>
              <a:rPr sz="1200" b="1" spc="-15" dirty="0">
                <a:latin typeface="Arial"/>
                <a:cs typeface="Arial"/>
              </a:rPr>
              <a:t>формы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41" y="5434888"/>
            <a:ext cx="1378585" cy="837565"/>
          </a:xfrm>
          <a:custGeom>
            <a:avLst/>
            <a:gdLst/>
            <a:ahLst/>
            <a:cxnLst/>
            <a:rect l="l" t="t" r="r" b="b"/>
            <a:pathLst>
              <a:path w="1378584" h="837564">
                <a:moveTo>
                  <a:pt x="1378470" y="402094"/>
                </a:moveTo>
                <a:lnTo>
                  <a:pt x="919581" y="402094"/>
                </a:lnTo>
                <a:lnTo>
                  <a:pt x="919581" y="247446"/>
                </a:lnTo>
                <a:lnTo>
                  <a:pt x="1138275" y="247446"/>
                </a:lnTo>
                <a:lnTo>
                  <a:pt x="1138275" y="12738"/>
                </a:lnTo>
                <a:lnTo>
                  <a:pt x="1138275" y="0"/>
                </a:lnTo>
                <a:lnTo>
                  <a:pt x="0" y="0"/>
                </a:lnTo>
                <a:lnTo>
                  <a:pt x="0" y="12738"/>
                </a:lnTo>
                <a:lnTo>
                  <a:pt x="0" y="247446"/>
                </a:lnTo>
                <a:lnTo>
                  <a:pt x="25095" y="247446"/>
                </a:lnTo>
                <a:lnTo>
                  <a:pt x="25095" y="402094"/>
                </a:lnTo>
                <a:lnTo>
                  <a:pt x="5372" y="402094"/>
                </a:lnTo>
                <a:lnTo>
                  <a:pt x="5372" y="647738"/>
                </a:lnTo>
                <a:lnTo>
                  <a:pt x="21501" y="647738"/>
                </a:lnTo>
                <a:lnTo>
                  <a:pt x="21501" y="836955"/>
                </a:lnTo>
                <a:lnTo>
                  <a:pt x="915987" y="836955"/>
                </a:lnTo>
                <a:lnTo>
                  <a:pt x="915987" y="647738"/>
                </a:lnTo>
                <a:lnTo>
                  <a:pt x="1378470" y="647738"/>
                </a:lnTo>
                <a:lnTo>
                  <a:pt x="1378470" y="402094"/>
                </a:lnTo>
                <a:close/>
              </a:path>
            </a:pathLst>
          </a:custGeom>
          <a:solidFill>
            <a:srgbClr val="FC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903975" y="5399981"/>
            <a:ext cx="76962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25400" indent="-25400">
              <a:lnSpc>
                <a:spcPct val="1537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в</a:t>
            </a:r>
            <a:r>
              <a:rPr sz="800" spc="-5" dirty="0">
                <a:latin typeface="Arial"/>
                <a:cs typeface="Arial"/>
              </a:rPr>
              <a:t>о</a:t>
            </a:r>
            <a:r>
              <a:rPr sz="800" dirty="0">
                <a:latin typeface="Arial"/>
                <a:cs typeface="Arial"/>
              </a:rPr>
              <a:t>з</a:t>
            </a:r>
            <a:r>
              <a:rPr sz="800" spc="-5" dirty="0">
                <a:latin typeface="Arial"/>
                <a:cs typeface="Arial"/>
              </a:rPr>
              <a:t>б</a:t>
            </a:r>
            <a:r>
              <a:rPr sz="800" spc="-10" dirty="0">
                <a:latin typeface="Arial"/>
                <a:cs typeface="Arial"/>
              </a:rPr>
              <a:t>у</a:t>
            </a:r>
            <a:r>
              <a:rPr sz="800" dirty="0">
                <a:latin typeface="Arial"/>
                <a:cs typeface="Arial"/>
              </a:rPr>
              <a:t>ж</a:t>
            </a:r>
            <a:r>
              <a:rPr sz="800" spc="-5" dirty="0">
                <a:latin typeface="Arial"/>
                <a:cs typeface="Arial"/>
              </a:rPr>
              <a:t>дающее  тормозящее</a:t>
            </a:r>
            <a:endParaRPr sz="800">
              <a:latin typeface="Arial"/>
              <a:cs typeface="Arial"/>
            </a:endParaRPr>
          </a:p>
          <a:p>
            <a:pPr marL="33655" marR="5080" indent="-16510">
              <a:lnSpc>
                <a:spcPct val="153700"/>
              </a:lnSpc>
              <a:spcBef>
                <a:spcPts val="215"/>
              </a:spcBef>
            </a:pPr>
            <a:r>
              <a:rPr sz="800" spc="-5" dirty="0">
                <a:latin typeface="Arial"/>
                <a:cs typeface="Arial"/>
              </a:rPr>
              <a:t>не</a:t>
            </a:r>
            <a:r>
              <a:rPr sz="800" spc="-10" dirty="0">
                <a:latin typeface="Arial"/>
                <a:cs typeface="Arial"/>
              </a:rPr>
              <a:t>у</a:t>
            </a:r>
            <a:r>
              <a:rPr sz="800" spc="-5" dirty="0">
                <a:latin typeface="Arial"/>
                <a:cs typeface="Arial"/>
              </a:rPr>
              <a:t>пра</a:t>
            </a:r>
            <a:r>
              <a:rPr sz="800" dirty="0">
                <a:latin typeface="Arial"/>
                <a:cs typeface="Arial"/>
              </a:rPr>
              <a:t>в</a:t>
            </a:r>
            <a:r>
              <a:rPr sz="800" spc="-5" dirty="0">
                <a:latin typeface="Arial"/>
                <a:cs typeface="Arial"/>
              </a:rPr>
              <a:t>ляемое  взвешенное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97961" y="5105565"/>
            <a:ext cx="650875" cy="176530"/>
          </a:xfrm>
          <a:custGeom>
            <a:avLst/>
            <a:gdLst/>
            <a:ahLst/>
            <a:cxnLst/>
            <a:rect l="l" t="t" r="r" b="b"/>
            <a:pathLst>
              <a:path w="650875" h="176529">
                <a:moveTo>
                  <a:pt x="0" y="0"/>
                </a:moveTo>
                <a:lnTo>
                  <a:pt x="650697" y="0"/>
                </a:lnTo>
                <a:lnTo>
                  <a:pt x="650697" y="176491"/>
                </a:lnTo>
                <a:lnTo>
                  <a:pt x="0" y="17649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702724" y="5110327"/>
            <a:ext cx="641350" cy="161925"/>
          </a:xfrm>
          <a:prstGeom prst="rect">
            <a:avLst/>
          </a:prstGeom>
          <a:solidFill>
            <a:srgbClr val="A3C9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305"/>
              </a:spcBef>
            </a:pPr>
            <a:r>
              <a:rPr sz="400" spc="-10" dirty="0">
                <a:latin typeface="Arial"/>
                <a:cs typeface="Arial"/>
              </a:rPr>
              <a:t>возбуждение</a:t>
            </a:r>
            <a:endParaRPr sz="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97961" y="5271134"/>
            <a:ext cx="650875" cy="176530"/>
          </a:xfrm>
          <a:custGeom>
            <a:avLst/>
            <a:gdLst/>
            <a:ahLst/>
            <a:cxnLst/>
            <a:rect l="l" t="t" r="r" b="b"/>
            <a:pathLst>
              <a:path w="650875" h="176529">
                <a:moveTo>
                  <a:pt x="0" y="0"/>
                </a:moveTo>
                <a:lnTo>
                  <a:pt x="650697" y="0"/>
                </a:lnTo>
                <a:lnTo>
                  <a:pt x="650697" y="176491"/>
                </a:lnTo>
                <a:lnTo>
                  <a:pt x="0" y="17649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702724" y="5281358"/>
            <a:ext cx="641350" cy="161925"/>
          </a:xfrm>
          <a:prstGeom prst="rect">
            <a:avLst/>
          </a:prstGeom>
          <a:solidFill>
            <a:srgbClr val="EBEEF2"/>
          </a:solidFill>
        </p:spPr>
        <p:txBody>
          <a:bodyPr vert="horz" wrap="square" lIns="0" tIns="3302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260"/>
              </a:spcBef>
            </a:pPr>
            <a:r>
              <a:rPr sz="400" spc="-10" dirty="0">
                <a:latin typeface="Arial"/>
                <a:cs typeface="Arial"/>
              </a:rPr>
              <a:t>торможение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67400" y="134746"/>
            <a:ext cx="5352415" cy="61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5"/>
              </a:lnSpc>
              <a:spcBef>
                <a:spcPts val="100"/>
              </a:spcBef>
            </a:pPr>
            <a:r>
              <a:rPr sz="2400" spc="-10" dirty="0"/>
              <a:t>СИНАПТИЧЕСКАЯ</a:t>
            </a:r>
            <a:r>
              <a:rPr sz="2400" spc="20" dirty="0"/>
              <a:t> </a:t>
            </a:r>
            <a:r>
              <a:rPr sz="2400" spc="-10" dirty="0"/>
              <a:t>СЕТЬ</a:t>
            </a:r>
            <a:r>
              <a:rPr sz="2400" spc="-5" dirty="0"/>
              <a:t> </a:t>
            </a:r>
            <a:r>
              <a:rPr sz="2400" dirty="0"/>
              <a:t>ОТ</a:t>
            </a:r>
            <a:r>
              <a:rPr sz="2400" spc="-20" dirty="0"/>
              <a:t> </a:t>
            </a:r>
            <a:r>
              <a:rPr sz="2400" spc="-45" dirty="0"/>
              <a:t>DARPA</a:t>
            </a:r>
            <a:endParaRPr sz="2400"/>
          </a:p>
          <a:p>
            <a:pPr marL="12700">
              <a:lnSpc>
                <a:spcPts val="1835"/>
              </a:lnSpc>
            </a:pPr>
            <a:r>
              <a:rPr sz="1600" spc="-10" dirty="0"/>
              <a:t>НА</a:t>
            </a:r>
            <a:r>
              <a:rPr sz="1600" spc="-30" dirty="0"/>
              <a:t> </a:t>
            </a:r>
            <a:r>
              <a:rPr sz="1600" spc="-15" dirty="0"/>
              <a:t>НЕЙРОЧИПАХ</a:t>
            </a:r>
            <a:endParaRPr sz="160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90</a:t>
            </a:fld>
            <a:endParaRPr spc="-5" dirty="0"/>
          </a:p>
        </p:txBody>
      </p:sp>
      <p:sp>
        <p:nvSpPr>
          <p:cNvPr id="21" name="object 21"/>
          <p:cNvSpPr txBox="1"/>
          <p:nvPr/>
        </p:nvSpPr>
        <p:spPr>
          <a:xfrm>
            <a:off x="5793790" y="6189967"/>
            <a:ext cx="650875" cy="211454"/>
          </a:xfrm>
          <a:prstGeom prst="rect">
            <a:avLst/>
          </a:prstGeom>
          <a:solidFill>
            <a:srgbClr val="A3C9FF"/>
          </a:solidFill>
          <a:ln w="952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345"/>
              </a:spcBef>
            </a:pPr>
            <a:r>
              <a:rPr sz="600" spc="-5" dirty="0">
                <a:latin typeface="Arial"/>
                <a:cs typeface="Arial"/>
              </a:rPr>
              <a:t>Сетчатка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44269" y="1626616"/>
            <a:ext cx="304800" cy="3089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spc="-10" dirty="0">
                <a:solidFill>
                  <a:srgbClr val="8A8A4C"/>
                </a:solidFill>
                <a:latin typeface="Calibri"/>
                <a:cs typeface="Calibri"/>
              </a:rPr>
              <a:t>Искусственный</a:t>
            </a:r>
            <a:r>
              <a:rPr sz="2200" dirty="0">
                <a:solidFill>
                  <a:srgbClr val="8A8A4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8A8A4C"/>
                </a:solidFill>
                <a:latin typeface="Calibri"/>
                <a:cs typeface="Calibri"/>
              </a:rPr>
              <a:t>интеллект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110364"/>
            <a:ext cx="6891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/>
              <a:t>ЭКСПЕРТНЫЕ</a:t>
            </a:r>
            <a:r>
              <a:rPr sz="2200" spc="-5" dirty="0"/>
              <a:t> </a:t>
            </a:r>
            <a:r>
              <a:rPr sz="2200" spc="-15" dirty="0"/>
              <a:t>(ИНТЕЛЛЕКТУАЛЬНЫЕ)</a:t>
            </a:r>
            <a:r>
              <a:rPr sz="2200" spc="30" dirty="0"/>
              <a:t> </a:t>
            </a:r>
            <a:r>
              <a:rPr sz="2200" spc="-15" dirty="0"/>
              <a:t>СИСТЕМЫ</a:t>
            </a:r>
            <a:endParaRPr sz="22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91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275960" y="412125"/>
            <a:ext cx="10998835" cy="243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36685" algn="l"/>
              </a:tabLst>
            </a:pPr>
            <a:r>
              <a:rPr sz="2200" u="heavy" spc="1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2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(ИСПОЛЬЗУЕМЫЕ</a:t>
            </a:r>
            <a:r>
              <a:rPr sz="2200" b="1" u="heavy" spc="3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ТЕРМИНЫ)	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Arial"/>
              <a:cs typeface="Arial"/>
            </a:endParaRPr>
          </a:p>
          <a:p>
            <a:pPr marL="103505" marR="5080" indent="74295" algn="just">
              <a:lnSpc>
                <a:spcPts val="2590"/>
              </a:lnSpc>
            </a:pPr>
            <a:r>
              <a:rPr sz="2400" b="1" i="1" spc="-5" dirty="0">
                <a:solidFill>
                  <a:srgbClr val="3E3E3E"/>
                </a:solidFill>
                <a:latin typeface="Arial"/>
                <a:cs typeface="Arial"/>
              </a:rPr>
              <a:t>Экспертная </a:t>
            </a:r>
            <a:r>
              <a:rPr sz="2400" b="1" i="1" spc="-10" dirty="0">
                <a:solidFill>
                  <a:srgbClr val="3E3E3E"/>
                </a:solidFill>
                <a:latin typeface="Arial"/>
                <a:cs typeface="Arial"/>
              </a:rPr>
              <a:t>система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интеллектуальная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система,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предназначенная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оказания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консультационной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помощи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специалистам,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работающим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некоторой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области.</a:t>
            </a:r>
            <a:endParaRPr sz="2400">
              <a:latin typeface="Arial"/>
              <a:cs typeface="Arial"/>
            </a:endParaRPr>
          </a:p>
          <a:p>
            <a:pPr marL="104139" marR="5715" algn="just">
              <a:lnSpc>
                <a:spcPts val="2590"/>
              </a:lnSpc>
              <a:spcBef>
                <a:spcPts val="1000"/>
              </a:spcBef>
            </a:pPr>
            <a:r>
              <a:rPr sz="2400" b="1" i="1" spc="-10" dirty="0">
                <a:solidFill>
                  <a:srgbClr val="3E3E3E"/>
                </a:solidFill>
                <a:latin typeface="Arial"/>
                <a:cs typeface="Arial"/>
              </a:rPr>
              <a:t>Интеллектуальная</a:t>
            </a:r>
            <a:r>
              <a:rPr sz="2400" b="1" i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3E3E3E"/>
                </a:solidFill>
                <a:latin typeface="Arial"/>
                <a:cs typeface="Arial"/>
              </a:rPr>
              <a:t>система</a:t>
            </a:r>
            <a:r>
              <a:rPr sz="2400" b="1" i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техническая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программная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система,</a:t>
            </a:r>
            <a:r>
              <a:rPr sz="2400" spc="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способная</a:t>
            </a:r>
            <a:r>
              <a:rPr sz="2400" spc="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решать</a:t>
            </a:r>
            <a:r>
              <a:rPr sz="2400" spc="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задачи,</a:t>
            </a:r>
            <a:r>
              <a:rPr sz="2400" spc="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считающиеся</a:t>
            </a:r>
            <a:r>
              <a:rPr sz="24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творческими</a:t>
            </a:r>
            <a:r>
              <a:rPr sz="2400" spc="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400" y="2784969"/>
            <a:ext cx="10904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9695" algn="l"/>
                <a:tab pos="4523105" algn="l"/>
                <a:tab pos="6511925" algn="l"/>
                <a:tab pos="8033384" algn="l"/>
                <a:tab pos="9311640" algn="l"/>
                <a:tab pos="977836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принадлежащие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конкретной	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предметной	области,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знания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которой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3024236"/>
            <a:ext cx="10907395" cy="15951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05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хранятся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памяти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15" dirty="0">
                <a:solidFill>
                  <a:srgbClr val="3E3E3E"/>
                </a:solidFill>
                <a:latin typeface="Arial"/>
                <a:cs typeface="Arial"/>
              </a:rPr>
              <a:t>интеллектуальной</a:t>
            </a:r>
            <a:r>
              <a:rPr sz="2400" i="1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3E3E3E"/>
                </a:solidFill>
                <a:latin typeface="Arial"/>
                <a:cs typeface="Arial"/>
              </a:rPr>
              <a:t>системы.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ts val="2590"/>
              </a:lnSpc>
              <a:spcBef>
                <a:spcPts val="1040"/>
              </a:spcBef>
            </a:pPr>
            <a:r>
              <a:rPr sz="2400" b="1" i="1" spc="-10" dirty="0">
                <a:solidFill>
                  <a:srgbClr val="3E3E3E"/>
                </a:solidFill>
                <a:latin typeface="Arial"/>
                <a:cs typeface="Arial"/>
              </a:rPr>
              <a:t>Система </a:t>
            </a:r>
            <a:r>
              <a:rPr sz="2400" b="1" i="1" spc="-5" dirty="0">
                <a:solidFill>
                  <a:srgbClr val="3E3E3E"/>
                </a:solidFill>
                <a:latin typeface="Arial"/>
                <a:cs typeface="Arial"/>
              </a:rPr>
              <a:t>баз знаний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интеллектуальная система, функционирование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которой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определяется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совокупностью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области,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которой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она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используется.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42697"/>
            <a:ext cx="11326495" cy="587311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ОСОБЕННОСТИ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ЭКСПЕРТНЫХ</a:t>
            </a:r>
            <a:r>
              <a:rPr sz="24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СИСТЕМ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192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Экспертные системы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искусственного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интеллекта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отличаются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обработки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тем, что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них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основном</a:t>
            </a:r>
            <a:r>
              <a:rPr sz="24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используются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символьный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(а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числовой)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способ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представления,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символьный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вывод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эвристический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поиск решения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(а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исполнение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известного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алгоритма).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E3E3E"/>
              </a:buClr>
              <a:buFont typeface="Arial"/>
              <a:buChar char="•"/>
            </a:pPr>
            <a:endParaRPr sz="3950">
              <a:latin typeface="Arial"/>
              <a:cs typeface="Arial"/>
            </a:endParaRPr>
          </a:p>
          <a:p>
            <a:pPr marL="12700" marR="962025">
              <a:lnSpc>
                <a:spcPts val="2590"/>
              </a:lnSpc>
              <a:buSzPct val="95833"/>
              <a:buChar char="•"/>
              <a:tabLst>
                <a:tab pos="120650" algn="l"/>
              </a:tabLst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Решения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экспертных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обладают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"прозрачностью",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т.е.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могут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быть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объяснены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пользователю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качественном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уровне.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4000">
              <a:latin typeface="Arial"/>
              <a:cs typeface="Arial"/>
            </a:endParaRPr>
          </a:p>
          <a:p>
            <a:pPr marL="12700" marR="1722120">
              <a:lnSpc>
                <a:spcPts val="2590"/>
              </a:lnSpc>
              <a:buSzPct val="95833"/>
              <a:buChar char="•"/>
              <a:tabLst>
                <a:tab pos="12065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качество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экспертных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обеспечивается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способностью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рассуждать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о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своих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знаниях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умозаключениях.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4000">
              <a:latin typeface="Arial"/>
              <a:cs typeface="Arial"/>
            </a:endParaRPr>
          </a:p>
          <a:p>
            <a:pPr marL="12700" marR="2398395">
              <a:lnSpc>
                <a:spcPts val="2590"/>
              </a:lnSpc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Экспертные системы способны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пополнять свои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ходе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взаимодействия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экспертом.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92</a:t>
            </a:fld>
            <a:endParaRPr spc="-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558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ТИПЫ</a:t>
            </a:r>
            <a:r>
              <a:rPr sz="2400" spc="-35" dirty="0"/>
              <a:t> </a:t>
            </a:r>
            <a:r>
              <a:rPr sz="2400" spc="-15" dirty="0"/>
              <a:t>ЭКСПЕРТНЫХ</a:t>
            </a:r>
            <a:r>
              <a:rPr sz="2400" spc="20" dirty="0"/>
              <a:t> </a:t>
            </a:r>
            <a:r>
              <a:rPr sz="2400" spc="-20" dirty="0"/>
              <a:t>СИСТЕМ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42076" y="975981"/>
            <a:ext cx="10833100" cy="78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Существует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3E3E3E"/>
                </a:solidFill>
                <a:latin typeface="Arial"/>
                <a:cs typeface="Arial"/>
              </a:rPr>
              <a:t>два </a:t>
            </a:r>
            <a:r>
              <a:rPr sz="2400" i="1" spc="-5" dirty="0">
                <a:solidFill>
                  <a:srgbClr val="3E3E3E"/>
                </a:solidFill>
                <a:latin typeface="Arial"/>
                <a:cs typeface="Arial"/>
              </a:rPr>
              <a:t>типа</a:t>
            </a:r>
            <a:r>
              <a:rPr sz="2400" i="1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3E3E3E"/>
                </a:solidFill>
                <a:latin typeface="Arial"/>
                <a:cs typeface="Arial"/>
              </a:rPr>
              <a:t>экспертных</a:t>
            </a:r>
            <a:r>
              <a:rPr sz="2400" i="1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3E3E3E"/>
                </a:solidFill>
                <a:latin typeface="Arial"/>
                <a:cs typeface="Arial"/>
              </a:rPr>
              <a:t>систем:</a:t>
            </a:r>
            <a:endParaRPr sz="2400">
              <a:latin typeface="Arial"/>
              <a:cs typeface="Arial"/>
            </a:endParaRPr>
          </a:p>
          <a:p>
            <a:pPr marL="966469" indent="-343535">
              <a:lnSpc>
                <a:spcPts val="2840"/>
              </a:lnSpc>
              <a:buClr>
                <a:srgbClr val="006666"/>
              </a:buClr>
              <a:buSzPct val="168750"/>
              <a:buChar char="•"/>
              <a:tabLst>
                <a:tab pos="967105" algn="l"/>
                <a:tab pos="2635250" algn="l"/>
                <a:tab pos="5287010" algn="l"/>
                <a:tab pos="6730365" algn="l"/>
                <a:tab pos="7809230" algn="l"/>
                <a:tab pos="10321925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сис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ий	(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ля	с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ци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ли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чей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6100" y="1623681"/>
            <a:ext cx="693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профессиональный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слишком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высок);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00" y="1980296"/>
            <a:ext cx="10911205" cy="337057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40765" marR="10160" indent="-342900">
              <a:lnSpc>
                <a:spcPts val="2300"/>
              </a:lnSpc>
              <a:spcBef>
                <a:spcPts val="660"/>
              </a:spcBef>
              <a:buClr>
                <a:srgbClr val="006666"/>
              </a:buClr>
              <a:buSzPct val="168750"/>
              <a:buChar char="•"/>
              <a:tabLst>
                <a:tab pos="1041400" algn="l"/>
                <a:tab pos="2503805" algn="l"/>
                <a:tab pos="4248785" algn="l"/>
                <a:tab pos="5372100" algn="l"/>
                <a:tab pos="6612890" algn="l"/>
                <a:tab pos="7487284" algn="l"/>
                <a:tab pos="9711055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сис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чен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	з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ий	(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дл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я	с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ци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лис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ой 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квалификации).</a:t>
            </a:r>
            <a:endParaRPr sz="2400">
              <a:latin typeface="Arial"/>
              <a:cs typeface="Arial"/>
            </a:endParaRPr>
          </a:p>
          <a:p>
            <a:pPr marL="13970" marR="8255" indent="-1905" algn="just">
              <a:lnSpc>
                <a:spcPts val="2020"/>
              </a:lnSpc>
              <a:spcBef>
                <a:spcPts val="1010"/>
              </a:spcBef>
            </a:pP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1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БЗ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тиражирования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хранятся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знания,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полученные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1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экспертов.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Примером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такой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являться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АСДУ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 (автоматизированная</a:t>
            </a:r>
            <a:r>
              <a:rPr sz="2100" spc="5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система </a:t>
            </a:r>
            <a:r>
              <a:rPr sz="2100" spc="-5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диспетчерского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управления).</a:t>
            </a:r>
            <a:endParaRPr sz="2100">
              <a:latin typeface="Arial"/>
              <a:cs typeface="Arial"/>
            </a:endParaRPr>
          </a:p>
          <a:p>
            <a:pPr marL="15240" marR="5080" indent="-635" algn="just">
              <a:lnSpc>
                <a:spcPct val="80000"/>
              </a:lnSpc>
              <a:spcBef>
                <a:spcPts val="1005"/>
              </a:spcBef>
            </a:pP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Особенностью экспертных систем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получения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новых знаний 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является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наличие 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в них </a:t>
            </a:r>
            <a:r>
              <a:rPr sz="21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подсистемы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объяснений,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объясняющих,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5" dirty="0">
                <a:solidFill>
                  <a:srgbClr val="3E3E3E"/>
                </a:solidFill>
                <a:latin typeface="Arial"/>
                <a:cs typeface="Arial"/>
              </a:rPr>
              <a:t>каким</a:t>
            </a:r>
            <a:r>
              <a:rPr sz="21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образом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был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получен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3E3E3E"/>
                </a:solidFill>
                <a:latin typeface="Arial"/>
                <a:cs typeface="Arial"/>
              </a:rPr>
              <a:t>тот</a:t>
            </a:r>
            <a:r>
              <a:rPr sz="21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иной </a:t>
            </a:r>
            <a:r>
              <a:rPr sz="2100" spc="-5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вывод.</a:t>
            </a:r>
            <a:endParaRPr sz="2100">
              <a:latin typeface="Arial"/>
              <a:cs typeface="Arial"/>
            </a:endParaRPr>
          </a:p>
          <a:p>
            <a:pPr marL="15875" marR="5080" indent="-635" algn="just">
              <a:lnSpc>
                <a:spcPct val="80000"/>
              </a:lnSpc>
              <a:spcBef>
                <a:spcPts val="1005"/>
              </a:spcBef>
            </a:pP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Существуют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третьего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типа 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(нового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поколения),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например, система G2 (ее 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3E3E3E"/>
                </a:solidFill>
                <a:latin typeface="Arial"/>
                <a:cs typeface="Arial"/>
              </a:rPr>
              <a:t>используют </a:t>
            </a:r>
            <a:r>
              <a:rPr sz="21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системах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реального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времени для </a:t>
            </a:r>
            <a:r>
              <a:rPr sz="2100" spc="-15" dirty="0">
                <a:solidFill>
                  <a:srgbClr val="3E3E3E"/>
                </a:solidFill>
                <a:latin typeface="Arial"/>
                <a:cs typeface="Arial"/>
              </a:rPr>
              <a:t>отслеживания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показаний </a:t>
            </a:r>
            <a:r>
              <a:rPr sz="2100" spc="-10" dirty="0">
                <a:solidFill>
                  <a:srgbClr val="3E3E3E"/>
                </a:solidFill>
                <a:latin typeface="Arial"/>
                <a:cs typeface="Arial"/>
              </a:rPr>
              <a:t>технических </a:t>
            </a:r>
            <a:r>
              <a:rPr sz="2100" spc="-5" dirty="0">
                <a:solidFill>
                  <a:srgbClr val="3E3E3E"/>
                </a:solidFill>
                <a:latin typeface="Arial"/>
                <a:cs typeface="Arial"/>
              </a:rPr>
              <a:t> приборов).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61240"/>
            <a:ext cx="87477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/>
              <a:t>НЕОБХОДИМЫЕ</a:t>
            </a:r>
            <a:r>
              <a:rPr sz="2200" spc="35" dirty="0"/>
              <a:t> </a:t>
            </a:r>
            <a:r>
              <a:rPr sz="2200" spc="-15" dirty="0"/>
              <a:t>УСЛОВИЯ</a:t>
            </a:r>
            <a:r>
              <a:rPr sz="2200" spc="20" dirty="0"/>
              <a:t> </a:t>
            </a:r>
            <a:r>
              <a:rPr sz="2200" spc="-15" dirty="0"/>
              <a:t>СОЗДАНИЯ</a:t>
            </a:r>
            <a:r>
              <a:rPr sz="2200" spc="20" dirty="0"/>
              <a:t> </a:t>
            </a:r>
            <a:r>
              <a:rPr sz="2200" spc="-10" dirty="0"/>
              <a:t>ЭКСПЕРТНЫХ </a:t>
            </a:r>
            <a:r>
              <a:rPr sz="2200" spc="-15" dirty="0"/>
              <a:t>СИСТЕМ</a:t>
            </a:r>
            <a:endParaRPr sz="22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13120" y="962265"/>
            <a:ext cx="1059307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1)</a:t>
            </a:r>
            <a:r>
              <a:rPr sz="3000" spc="10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существуют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эксперты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данной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области,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решают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задачу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значительно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лучше,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0320" y="1175542"/>
            <a:ext cx="3749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чем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начинающие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специалисты;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120" y="1515476"/>
            <a:ext cx="1018984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2)</a:t>
            </a:r>
            <a:r>
              <a:rPr sz="3000" spc="10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эксперты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сходятся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оценке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предлагаемого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решения,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иначе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нельзя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будет</a:t>
            </a:r>
            <a:r>
              <a:rPr sz="20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оценить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0320" y="1728754"/>
            <a:ext cx="34213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качество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разработанной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ЭС;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120" y="2070212"/>
            <a:ext cx="1027811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3)</a:t>
            </a:r>
            <a:r>
              <a:rPr sz="3000" spc="10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эксперты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способны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вербализовать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(выразить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естественном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языке)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объяснить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0066" y="2283490"/>
            <a:ext cx="10350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используемые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ими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методы,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противном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случае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трудно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рассчитывать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то,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что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знания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120" y="2496768"/>
            <a:ext cx="77311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>
              <a:lnSpc>
                <a:spcPts val="2039"/>
              </a:lnSpc>
              <a:spcBef>
                <a:spcPts val="105"/>
              </a:spcBef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экспертов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будут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"извлечены"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вложены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ЭС;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240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4)</a:t>
            </a:r>
            <a:r>
              <a:rPr sz="3000" spc="10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задачи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требует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только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рассуждений,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действий;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120" y="3176637"/>
            <a:ext cx="107950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5)</a:t>
            </a:r>
            <a:r>
              <a:rPr sz="3000" spc="1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должна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слишком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трудной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(т.е.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должно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занимать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эксперта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320" y="3389914"/>
            <a:ext cx="4800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несколько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часов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дней,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не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недель);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120" y="3731373"/>
            <a:ext cx="997966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6)</a:t>
            </a:r>
            <a:r>
              <a:rPr sz="3000" spc="9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хотя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выражена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формальном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виде,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все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же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0320" y="3944650"/>
            <a:ext cx="9976485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</a:pP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относиться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к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достаточно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"понятной"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структурированной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области,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т.е.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должны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быть </a:t>
            </a:r>
            <a:r>
              <a:rPr sz="2000" spc="-5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выделены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основные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понятия,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отношения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известные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(хотя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бы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эксперту)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способы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0320" y="4371206"/>
            <a:ext cx="3340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получения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решения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задачи;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120" y="4711305"/>
            <a:ext cx="1035875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05"/>
              </a:lnSpc>
            </a:pPr>
            <a:r>
              <a:rPr sz="3000" spc="-5" dirty="0">
                <a:solidFill>
                  <a:srgbClr val="006666"/>
                </a:solidFill>
                <a:latin typeface="Arial"/>
                <a:cs typeface="Arial"/>
              </a:rPr>
              <a:t>7)</a:t>
            </a:r>
            <a:r>
              <a:rPr sz="3000" spc="10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задачи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должно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значительной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степени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использовать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"здравый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смысл"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0320" y="4924582"/>
            <a:ext cx="1032954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0"/>
              </a:spcBef>
            </a:pP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(т.е.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широкий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спектр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общих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сведений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 мире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способе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его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функционирования,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680"/>
              </a:lnSpc>
            </a:pP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знает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умеет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использовать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любой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нормальный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человек),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так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подобные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70000"/>
              </a:lnSpc>
              <a:spcBef>
                <a:spcPts val="360"/>
              </a:spcBef>
            </a:pP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знания </a:t>
            </a:r>
            <a:r>
              <a:rPr sz="2000" spc="10" dirty="0">
                <a:solidFill>
                  <a:srgbClr val="3E3E3E"/>
                </a:solidFill>
                <a:latin typeface="Arial"/>
                <a:cs typeface="Arial"/>
              </a:rPr>
              <a:t>пока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удается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(в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достаточном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количестве)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вложить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системы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искусственного </a:t>
            </a:r>
            <a:r>
              <a:rPr sz="2000" spc="-5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интеллекта.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110364"/>
            <a:ext cx="78530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/>
              <a:t>ТРЕБОВАНИЯ</a:t>
            </a:r>
            <a:r>
              <a:rPr sz="2200" spc="40" dirty="0"/>
              <a:t> </a:t>
            </a:r>
            <a:r>
              <a:rPr sz="2200" spc="-5" dirty="0"/>
              <a:t>К</a:t>
            </a:r>
            <a:r>
              <a:rPr sz="2200" spc="-10" dirty="0"/>
              <a:t> </a:t>
            </a:r>
            <a:r>
              <a:rPr sz="2200" spc="-20" dirty="0"/>
              <a:t>ЗАДАЧАМ</a:t>
            </a:r>
            <a:r>
              <a:rPr sz="2200" spc="20" dirty="0"/>
              <a:t> </a:t>
            </a:r>
            <a:r>
              <a:rPr sz="2200" spc="-10" dirty="0"/>
              <a:t>РЕШАЕМЫМ</a:t>
            </a:r>
            <a:r>
              <a:rPr sz="2200" spc="30" dirty="0"/>
              <a:t> </a:t>
            </a:r>
            <a:r>
              <a:rPr sz="2200" spc="-10" dirty="0"/>
              <a:t>ЭКСПЕРТНЫМИ</a:t>
            </a:r>
            <a:endParaRPr sz="22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95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275960" y="342975"/>
            <a:ext cx="10869930" cy="44049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9036685" algn="l"/>
              </a:tabLst>
            </a:pPr>
            <a:r>
              <a:rPr sz="2200" u="heavy" spc="1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1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СИСТЕМАМИ	</a:t>
            </a:r>
            <a:endParaRPr sz="2200">
              <a:latin typeface="Arial"/>
              <a:cs typeface="Arial"/>
            </a:endParaRPr>
          </a:p>
          <a:p>
            <a:pPr marL="607060" marR="1070610" indent="-457200">
              <a:lnSpc>
                <a:spcPct val="83100"/>
              </a:lnSpc>
              <a:spcBef>
                <a:spcPts val="1620"/>
              </a:spcBef>
              <a:buClr>
                <a:srgbClr val="006666"/>
              </a:buClr>
              <a:buSzPct val="150000"/>
              <a:buAutoNum type="arabicParenR"/>
              <a:tabLst>
                <a:tab pos="60706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естественным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образом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решена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посредством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манипуляции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символами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;</a:t>
            </a:r>
            <a:endParaRPr sz="2400">
              <a:latin typeface="Arial"/>
              <a:cs typeface="Arial"/>
            </a:endParaRPr>
          </a:p>
          <a:p>
            <a:pPr marL="607060" marR="240029" indent="-457200">
              <a:lnSpc>
                <a:spcPct val="83100"/>
              </a:lnSpc>
              <a:spcBef>
                <a:spcPts val="240"/>
              </a:spcBef>
              <a:buClr>
                <a:srgbClr val="006666"/>
              </a:buClr>
              <a:buSzPct val="150000"/>
              <a:buAutoNum type="arabicParenR"/>
              <a:tabLst>
                <a:tab pos="60706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иметь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эвристическую,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алгоритмическую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природу,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т.е.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решение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требовать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применения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эвристических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правил.</a:t>
            </a:r>
            <a:endParaRPr sz="2400">
              <a:latin typeface="Arial"/>
              <a:cs typeface="Arial"/>
            </a:endParaRPr>
          </a:p>
          <a:p>
            <a:pPr marL="607060" marR="274320" indent="-457200">
              <a:lnSpc>
                <a:spcPct val="87600"/>
              </a:lnSpc>
              <a:spcBef>
                <a:spcPts val="45"/>
              </a:spcBef>
              <a:buClr>
                <a:srgbClr val="006666"/>
              </a:buClr>
              <a:buSzPct val="150000"/>
              <a:buAutoNum type="arabicParenR"/>
              <a:tabLst>
                <a:tab pos="60706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быть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достаточно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сложна,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чтобы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оправдать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затраты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разработку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ЭС.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Однако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она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чрезмерно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сложной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(решение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занимает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эксперта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часы,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недели),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чтобы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ЭС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могла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ее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решать;</a:t>
            </a:r>
            <a:endParaRPr sz="2400">
              <a:latin typeface="Arial"/>
              <a:cs typeface="Arial"/>
            </a:endParaRPr>
          </a:p>
          <a:p>
            <a:pPr marL="607060" marR="5080" indent="-457200">
              <a:lnSpc>
                <a:spcPct val="83100"/>
              </a:lnSpc>
              <a:spcBef>
                <a:spcPts val="250"/>
              </a:spcBef>
              <a:buClr>
                <a:srgbClr val="006666"/>
              </a:buClr>
              <a:buSzPct val="150000"/>
              <a:buAutoNum type="arabicParenR"/>
              <a:tabLst>
                <a:tab pos="60706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задача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быть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достаточно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узкой,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чтобы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решаться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методами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ЭС,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и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практически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значимой.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078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/>
              <a:t>АРХИТЕКТУРА</a:t>
            </a:r>
            <a:r>
              <a:rPr sz="2400" spc="5" dirty="0"/>
              <a:t> </a:t>
            </a:r>
            <a:r>
              <a:rPr sz="2400" spc="-15" dirty="0"/>
              <a:t>ЭКСПЕРТНОЙ</a:t>
            </a:r>
            <a:r>
              <a:rPr sz="2400" spc="15" dirty="0"/>
              <a:t> </a:t>
            </a:r>
            <a:r>
              <a:rPr sz="2400" spc="-15" dirty="0"/>
              <a:t>СИСТЕМЫ</a:t>
            </a:r>
            <a:endParaRPr sz="240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96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2956847" y="1479556"/>
            <a:ext cx="1912620" cy="697230"/>
            <a:chOff x="2956847" y="1479556"/>
            <a:chExt cx="1912620" cy="697230"/>
          </a:xfrm>
        </p:grpSpPr>
        <p:sp>
          <p:nvSpPr>
            <p:cNvPr id="4" name="object 4"/>
            <p:cNvSpPr/>
            <p:nvPr/>
          </p:nvSpPr>
          <p:spPr>
            <a:xfrm>
              <a:off x="2961609" y="1484318"/>
              <a:ext cx="1903095" cy="687705"/>
            </a:xfrm>
            <a:custGeom>
              <a:avLst/>
              <a:gdLst/>
              <a:ahLst/>
              <a:cxnLst/>
              <a:rect l="l" t="t" r="r" b="b"/>
              <a:pathLst>
                <a:path w="1903095" h="687705">
                  <a:moveTo>
                    <a:pt x="951268" y="0"/>
                  </a:moveTo>
                  <a:lnTo>
                    <a:pt x="883332" y="863"/>
                  </a:lnTo>
                  <a:lnTo>
                    <a:pt x="816685" y="3413"/>
                  </a:lnTo>
                  <a:lnTo>
                    <a:pt x="751488" y="7592"/>
                  </a:lnTo>
                  <a:lnTo>
                    <a:pt x="687903" y="13342"/>
                  </a:lnTo>
                  <a:lnTo>
                    <a:pt x="626090" y="20605"/>
                  </a:lnTo>
                  <a:lnTo>
                    <a:pt x="566210" y="29323"/>
                  </a:lnTo>
                  <a:lnTo>
                    <a:pt x="508424" y="39437"/>
                  </a:lnTo>
                  <a:lnTo>
                    <a:pt x="452893" y="50889"/>
                  </a:lnTo>
                  <a:lnTo>
                    <a:pt x="399779" y="63621"/>
                  </a:lnTo>
                  <a:lnTo>
                    <a:pt x="349241" y="77576"/>
                  </a:lnTo>
                  <a:lnTo>
                    <a:pt x="301441" y="92694"/>
                  </a:lnTo>
                  <a:lnTo>
                    <a:pt x="256540" y="108917"/>
                  </a:lnTo>
                  <a:lnTo>
                    <a:pt x="214700" y="126188"/>
                  </a:lnTo>
                  <a:lnTo>
                    <a:pt x="176080" y="144449"/>
                  </a:lnTo>
                  <a:lnTo>
                    <a:pt x="140842" y="163640"/>
                  </a:lnTo>
                  <a:lnTo>
                    <a:pt x="81155" y="204584"/>
                  </a:lnTo>
                  <a:lnTo>
                    <a:pt x="36927" y="248554"/>
                  </a:lnTo>
                  <a:lnTo>
                    <a:pt x="9446" y="295085"/>
                  </a:lnTo>
                  <a:lnTo>
                    <a:pt x="0" y="343712"/>
                  </a:lnTo>
                  <a:lnTo>
                    <a:pt x="2388" y="368259"/>
                  </a:lnTo>
                  <a:lnTo>
                    <a:pt x="21013" y="415896"/>
                  </a:lnTo>
                  <a:lnTo>
                    <a:pt x="57028" y="461205"/>
                  </a:lnTo>
                  <a:lnTo>
                    <a:pt x="109146" y="503720"/>
                  </a:lnTo>
                  <a:lnTo>
                    <a:pt x="176080" y="542976"/>
                  </a:lnTo>
                  <a:lnTo>
                    <a:pt x="214700" y="561236"/>
                  </a:lnTo>
                  <a:lnTo>
                    <a:pt x="256540" y="578507"/>
                  </a:lnTo>
                  <a:lnTo>
                    <a:pt x="301441" y="594731"/>
                  </a:lnTo>
                  <a:lnTo>
                    <a:pt x="349241" y="609849"/>
                  </a:lnTo>
                  <a:lnTo>
                    <a:pt x="399779" y="623803"/>
                  </a:lnTo>
                  <a:lnTo>
                    <a:pt x="452893" y="636536"/>
                  </a:lnTo>
                  <a:lnTo>
                    <a:pt x="508424" y="647988"/>
                  </a:lnTo>
                  <a:lnTo>
                    <a:pt x="566210" y="658102"/>
                  </a:lnTo>
                  <a:lnTo>
                    <a:pt x="626090" y="666819"/>
                  </a:lnTo>
                  <a:lnTo>
                    <a:pt x="687903" y="674082"/>
                  </a:lnTo>
                  <a:lnTo>
                    <a:pt x="751488" y="679833"/>
                  </a:lnTo>
                  <a:lnTo>
                    <a:pt x="816685" y="684012"/>
                  </a:lnTo>
                  <a:lnTo>
                    <a:pt x="883332" y="686562"/>
                  </a:lnTo>
                  <a:lnTo>
                    <a:pt x="951268" y="687425"/>
                  </a:lnTo>
                  <a:lnTo>
                    <a:pt x="1019204" y="686562"/>
                  </a:lnTo>
                  <a:lnTo>
                    <a:pt x="1085850" y="684012"/>
                  </a:lnTo>
                  <a:lnTo>
                    <a:pt x="1151047" y="679833"/>
                  </a:lnTo>
                  <a:lnTo>
                    <a:pt x="1214632" y="674082"/>
                  </a:lnTo>
                  <a:lnTo>
                    <a:pt x="1276445" y="666819"/>
                  </a:lnTo>
                  <a:lnTo>
                    <a:pt x="1336325" y="658102"/>
                  </a:lnTo>
                  <a:lnTo>
                    <a:pt x="1394111" y="647988"/>
                  </a:lnTo>
                  <a:lnTo>
                    <a:pt x="1449642" y="636536"/>
                  </a:lnTo>
                  <a:lnTo>
                    <a:pt x="1502757" y="623803"/>
                  </a:lnTo>
                  <a:lnTo>
                    <a:pt x="1553294" y="609849"/>
                  </a:lnTo>
                  <a:lnTo>
                    <a:pt x="1601094" y="594731"/>
                  </a:lnTo>
                  <a:lnTo>
                    <a:pt x="1645995" y="578507"/>
                  </a:lnTo>
                  <a:lnTo>
                    <a:pt x="1687836" y="561236"/>
                  </a:lnTo>
                  <a:lnTo>
                    <a:pt x="1726456" y="542976"/>
                  </a:lnTo>
                  <a:lnTo>
                    <a:pt x="1761694" y="523785"/>
                  </a:lnTo>
                  <a:lnTo>
                    <a:pt x="1821380" y="482841"/>
                  </a:lnTo>
                  <a:lnTo>
                    <a:pt x="1865608" y="438871"/>
                  </a:lnTo>
                  <a:lnTo>
                    <a:pt x="1893089" y="392340"/>
                  </a:lnTo>
                  <a:lnTo>
                    <a:pt x="1902536" y="343712"/>
                  </a:lnTo>
                  <a:lnTo>
                    <a:pt x="1900147" y="319166"/>
                  </a:lnTo>
                  <a:lnTo>
                    <a:pt x="1881523" y="271528"/>
                  </a:lnTo>
                  <a:lnTo>
                    <a:pt x="1845507" y="226219"/>
                  </a:lnTo>
                  <a:lnTo>
                    <a:pt x="1793389" y="183704"/>
                  </a:lnTo>
                  <a:lnTo>
                    <a:pt x="1726456" y="144449"/>
                  </a:lnTo>
                  <a:lnTo>
                    <a:pt x="1687836" y="126188"/>
                  </a:lnTo>
                  <a:lnTo>
                    <a:pt x="1645995" y="108917"/>
                  </a:lnTo>
                  <a:lnTo>
                    <a:pt x="1601094" y="92694"/>
                  </a:lnTo>
                  <a:lnTo>
                    <a:pt x="1553294" y="77576"/>
                  </a:lnTo>
                  <a:lnTo>
                    <a:pt x="1502757" y="63621"/>
                  </a:lnTo>
                  <a:lnTo>
                    <a:pt x="1449642" y="50889"/>
                  </a:lnTo>
                  <a:lnTo>
                    <a:pt x="1394111" y="39437"/>
                  </a:lnTo>
                  <a:lnTo>
                    <a:pt x="1336325" y="29323"/>
                  </a:lnTo>
                  <a:lnTo>
                    <a:pt x="1276445" y="20605"/>
                  </a:lnTo>
                  <a:lnTo>
                    <a:pt x="1214632" y="13342"/>
                  </a:lnTo>
                  <a:lnTo>
                    <a:pt x="1151047" y="7592"/>
                  </a:lnTo>
                  <a:lnTo>
                    <a:pt x="1085850" y="3413"/>
                  </a:lnTo>
                  <a:lnTo>
                    <a:pt x="1019204" y="863"/>
                  </a:lnTo>
                  <a:lnTo>
                    <a:pt x="951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61609" y="1484318"/>
              <a:ext cx="1903095" cy="687705"/>
            </a:xfrm>
            <a:custGeom>
              <a:avLst/>
              <a:gdLst/>
              <a:ahLst/>
              <a:cxnLst/>
              <a:rect l="l" t="t" r="r" b="b"/>
              <a:pathLst>
                <a:path w="1903095" h="687705">
                  <a:moveTo>
                    <a:pt x="0" y="343712"/>
                  </a:moveTo>
                  <a:lnTo>
                    <a:pt x="9446" y="295085"/>
                  </a:lnTo>
                  <a:lnTo>
                    <a:pt x="36927" y="248554"/>
                  </a:lnTo>
                  <a:lnTo>
                    <a:pt x="81155" y="204584"/>
                  </a:lnTo>
                  <a:lnTo>
                    <a:pt x="140842" y="163640"/>
                  </a:lnTo>
                  <a:lnTo>
                    <a:pt x="176080" y="144449"/>
                  </a:lnTo>
                  <a:lnTo>
                    <a:pt x="214700" y="126188"/>
                  </a:lnTo>
                  <a:lnTo>
                    <a:pt x="256540" y="108917"/>
                  </a:lnTo>
                  <a:lnTo>
                    <a:pt x="301441" y="92694"/>
                  </a:lnTo>
                  <a:lnTo>
                    <a:pt x="349241" y="77576"/>
                  </a:lnTo>
                  <a:lnTo>
                    <a:pt x="399779" y="63621"/>
                  </a:lnTo>
                  <a:lnTo>
                    <a:pt x="452893" y="50889"/>
                  </a:lnTo>
                  <a:lnTo>
                    <a:pt x="508424" y="39437"/>
                  </a:lnTo>
                  <a:lnTo>
                    <a:pt x="566210" y="29323"/>
                  </a:lnTo>
                  <a:lnTo>
                    <a:pt x="626090" y="20605"/>
                  </a:lnTo>
                  <a:lnTo>
                    <a:pt x="687903" y="13342"/>
                  </a:lnTo>
                  <a:lnTo>
                    <a:pt x="751488" y="7592"/>
                  </a:lnTo>
                  <a:lnTo>
                    <a:pt x="816685" y="3413"/>
                  </a:lnTo>
                  <a:lnTo>
                    <a:pt x="883332" y="863"/>
                  </a:lnTo>
                  <a:lnTo>
                    <a:pt x="951268" y="0"/>
                  </a:lnTo>
                  <a:lnTo>
                    <a:pt x="1019204" y="863"/>
                  </a:lnTo>
                  <a:lnTo>
                    <a:pt x="1085850" y="3413"/>
                  </a:lnTo>
                  <a:lnTo>
                    <a:pt x="1151047" y="7592"/>
                  </a:lnTo>
                  <a:lnTo>
                    <a:pt x="1214632" y="13342"/>
                  </a:lnTo>
                  <a:lnTo>
                    <a:pt x="1276445" y="20605"/>
                  </a:lnTo>
                  <a:lnTo>
                    <a:pt x="1336325" y="29323"/>
                  </a:lnTo>
                  <a:lnTo>
                    <a:pt x="1394111" y="39437"/>
                  </a:lnTo>
                  <a:lnTo>
                    <a:pt x="1449642" y="50889"/>
                  </a:lnTo>
                  <a:lnTo>
                    <a:pt x="1502757" y="63621"/>
                  </a:lnTo>
                  <a:lnTo>
                    <a:pt x="1553294" y="77576"/>
                  </a:lnTo>
                  <a:lnTo>
                    <a:pt x="1601094" y="92694"/>
                  </a:lnTo>
                  <a:lnTo>
                    <a:pt x="1645995" y="108917"/>
                  </a:lnTo>
                  <a:lnTo>
                    <a:pt x="1687836" y="126188"/>
                  </a:lnTo>
                  <a:lnTo>
                    <a:pt x="1726456" y="144449"/>
                  </a:lnTo>
                  <a:lnTo>
                    <a:pt x="1761694" y="163640"/>
                  </a:lnTo>
                  <a:lnTo>
                    <a:pt x="1821380" y="204584"/>
                  </a:lnTo>
                  <a:lnTo>
                    <a:pt x="1865608" y="248554"/>
                  </a:lnTo>
                  <a:lnTo>
                    <a:pt x="1893089" y="295085"/>
                  </a:lnTo>
                  <a:lnTo>
                    <a:pt x="1902536" y="343712"/>
                  </a:lnTo>
                  <a:lnTo>
                    <a:pt x="1900147" y="368259"/>
                  </a:lnTo>
                  <a:lnTo>
                    <a:pt x="1881523" y="415896"/>
                  </a:lnTo>
                  <a:lnTo>
                    <a:pt x="1845507" y="461205"/>
                  </a:lnTo>
                  <a:lnTo>
                    <a:pt x="1793389" y="503720"/>
                  </a:lnTo>
                  <a:lnTo>
                    <a:pt x="1726456" y="542976"/>
                  </a:lnTo>
                  <a:lnTo>
                    <a:pt x="1687836" y="561236"/>
                  </a:lnTo>
                  <a:lnTo>
                    <a:pt x="1645995" y="578507"/>
                  </a:lnTo>
                  <a:lnTo>
                    <a:pt x="1601094" y="594731"/>
                  </a:lnTo>
                  <a:lnTo>
                    <a:pt x="1553294" y="609849"/>
                  </a:lnTo>
                  <a:lnTo>
                    <a:pt x="1502757" y="623803"/>
                  </a:lnTo>
                  <a:lnTo>
                    <a:pt x="1449642" y="636536"/>
                  </a:lnTo>
                  <a:lnTo>
                    <a:pt x="1394111" y="647988"/>
                  </a:lnTo>
                  <a:lnTo>
                    <a:pt x="1336325" y="658102"/>
                  </a:lnTo>
                  <a:lnTo>
                    <a:pt x="1276445" y="666819"/>
                  </a:lnTo>
                  <a:lnTo>
                    <a:pt x="1214632" y="674082"/>
                  </a:lnTo>
                  <a:lnTo>
                    <a:pt x="1151047" y="679833"/>
                  </a:lnTo>
                  <a:lnTo>
                    <a:pt x="1085850" y="684012"/>
                  </a:lnTo>
                  <a:lnTo>
                    <a:pt x="1019204" y="686562"/>
                  </a:lnTo>
                  <a:lnTo>
                    <a:pt x="951268" y="687425"/>
                  </a:lnTo>
                  <a:lnTo>
                    <a:pt x="883332" y="686562"/>
                  </a:lnTo>
                  <a:lnTo>
                    <a:pt x="816685" y="684012"/>
                  </a:lnTo>
                  <a:lnTo>
                    <a:pt x="751488" y="679833"/>
                  </a:lnTo>
                  <a:lnTo>
                    <a:pt x="687903" y="674082"/>
                  </a:lnTo>
                  <a:lnTo>
                    <a:pt x="626090" y="666819"/>
                  </a:lnTo>
                  <a:lnTo>
                    <a:pt x="566210" y="658102"/>
                  </a:lnTo>
                  <a:lnTo>
                    <a:pt x="508424" y="647988"/>
                  </a:lnTo>
                  <a:lnTo>
                    <a:pt x="452893" y="636536"/>
                  </a:lnTo>
                  <a:lnTo>
                    <a:pt x="399779" y="623803"/>
                  </a:lnTo>
                  <a:lnTo>
                    <a:pt x="349241" y="609849"/>
                  </a:lnTo>
                  <a:lnTo>
                    <a:pt x="301441" y="594731"/>
                  </a:lnTo>
                  <a:lnTo>
                    <a:pt x="256540" y="578507"/>
                  </a:lnTo>
                  <a:lnTo>
                    <a:pt x="214700" y="561236"/>
                  </a:lnTo>
                  <a:lnTo>
                    <a:pt x="176080" y="542976"/>
                  </a:lnTo>
                  <a:lnTo>
                    <a:pt x="140842" y="523785"/>
                  </a:lnTo>
                  <a:lnTo>
                    <a:pt x="81155" y="482841"/>
                  </a:lnTo>
                  <a:lnTo>
                    <a:pt x="36927" y="438871"/>
                  </a:lnTo>
                  <a:lnTo>
                    <a:pt x="9446" y="392340"/>
                  </a:lnTo>
                  <a:lnTo>
                    <a:pt x="0" y="3437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18971" y="1605814"/>
            <a:ext cx="10712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Пользователь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70782" y="1479557"/>
            <a:ext cx="1278255" cy="560070"/>
            <a:chOff x="5070782" y="1479557"/>
            <a:chExt cx="1278255" cy="560070"/>
          </a:xfrm>
        </p:grpSpPr>
        <p:sp>
          <p:nvSpPr>
            <p:cNvPr id="8" name="object 8"/>
            <p:cNvSpPr/>
            <p:nvPr/>
          </p:nvSpPr>
          <p:spPr>
            <a:xfrm>
              <a:off x="5075544" y="1484320"/>
              <a:ext cx="1268730" cy="550545"/>
            </a:xfrm>
            <a:custGeom>
              <a:avLst/>
              <a:gdLst/>
              <a:ahLst/>
              <a:cxnLst/>
              <a:rect l="l" t="t" r="r" b="b"/>
              <a:pathLst>
                <a:path w="1268729" h="550544">
                  <a:moveTo>
                    <a:pt x="634187" y="0"/>
                  </a:moveTo>
                  <a:lnTo>
                    <a:pt x="569345" y="1419"/>
                  </a:lnTo>
                  <a:lnTo>
                    <a:pt x="506375" y="5586"/>
                  </a:lnTo>
                  <a:lnTo>
                    <a:pt x="445598" y="12361"/>
                  </a:lnTo>
                  <a:lnTo>
                    <a:pt x="387332" y="21607"/>
                  </a:lnTo>
                  <a:lnTo>
                    <a:pt x="331895" y="33185"/>
                  </a:lnTo>
                  <a:lnTo>
                    <a:pt x="279606" y="46958"/>
                  </a:lnTo>
                  <a:lnTo>
                    <a:pt x="230784" y="62787"/>
                  </a:lnTo>
                  <a:lnTo>
                    <a:pt x="185748" y="80533"/>
                  </a:lnTo>
                  <a:lnTo>
                    <a:pt x="144817" y="100060"/>
                  </a:lnTo>
                  <a:lnTo>
                    <a:pt x="108308" y="121227"/>
                  </a:lnTo>
                  <a:lnTo>
                    <a:pt x="76542" y="143899"/>
                  </a:lnTo>
                  <a:lnTo>
                    <a:pt x="28511" y="193198"/>
                  </a:lnTo>
                  <a:lnTo>
                    <a:pt x="3274" y="246852"/>
                  </a:lnTo>
                  <a:lnTo>
                    <a:pt x="0" y="274967"/>
                  </a:lnTo>
                  <a:lnTo>
                    <a:pt x="3274" y="303082"/>
                  </a:lnTo>
                  <a:lnTo>
                    <a:pt x="28511" y="356736"/>
                  </a:lnTo>
                  <a:lnTo>
                    <a:pt x="76542" y="406036"/>
                  </a:lnTo>
                  <a:lnTo>
                    <a:pt x="108308" y="428707"/>
                  </a:lnTo>
                  <a:lnTo>
                    <a:pt x="144817" y="449875"/>
                  </a:lnTo>
                  <a:lnTo>
                    <a:pt x="185748" y="469401"/>
                  </a:lnTo>
                  <a:lnTo>
                    <a:pt x="230784" y="487148"/>
                  </a:lnTo>
                  <a:lnTo>
                    <a:pt x="279606" y="502976"/>
                  </a:lnTo>
                  <a:lnTo>
                    <a:pt x="331895" y="516749"/>
                  </a:lnTo>
                  <a:lnTo>
                    <a:pt x="387332" y="528327"/>
                  </a:lnTo>
                  <a:lnTo>
                    <a:pt x="445598" y="537573"/>
                  </a:lnTo>
                  <a:lnTo>
                    <a:pt x="506375" y="544349"/>
                  </a:lnTo>
                  <a:lnTo>
                    <a:pt x="569345" y="548515"/>
                  </a:lnTo>
                  <a:lnTo>
                    <a:pt x="634187" y="549935"/>
                  </a:lnTo>
                  <a:lnTo>
                    <a:pt x="699027" y="548515"/>
                  </a:lnTo>
                  <a:lnTo>
                    <a:pt x="761994" y="544349"/>
                  </a:lnTo>
                  <a:lnTo>
                    <a:pt x="822769" y="537573"/>
                  </a:lnTo>
                  <a:lnTo>
                    <a:pt x="881034" y="528327"/>
                  </a:lnTo>
                  <a:lnTo>
                    <a:pt x="936470" y="516749"/>
                  </a:lnTo>
                  <a:lnTo>
                    <a:pt x="988758" y="502976"/>
                  </a:lnTo>
                  <a:lnTo>
                    <a:pt x="1037579" y="487148"/>
                  </a:lnTo>
                  <a:lnTo>
                    <a:pt x="1082614" y="469401"/>
                  </a:lnTo>
                  <a:lnTo>
                    <a:pt x="1123545" y="449875"/>
                  </a:lnTo>
                  <a:lnTo>
                    <a:pt x="1160053" y="428707"/>
                  </a:lnTo>
                  <a:lnTo>
                    <a:pt x="1191819" y="406036"/>
                  </a:lnTo>
                  <a:lnTo>
                    <a:pt x="1239850" y="356736"/>
                  </a:lnTo>
                  <a:lnTo>
                    <a:pt x="1265087" y="303082"/>
                  </a:lnTo>
                  <a:lnTo>
                    <a:pt x="1268361" y="274967"/>
                  </a:lnTo>
                  <a:lnTo>
                    <a:pt x="1265087" y="246852"/>
                  </a:lnTo>
                  <a:lnTo>
                    <a:pt x="1239850" y="193198"/>
                  </a:lnTo>
                  <a:lnTo>
                    <a:pt x="1191819" y="143899"/>
                  </a:lnTo>
                  <a:lnTo>
                    <a:pt x="1160053" y="121227"/>
                  </a:lnTo>
                  <a:lnTo>
                    <a:pt x="1123545" y="100060"/>
                  </a:lnTo>
                  <a:lnTo>
                    <a:pt x="1082614" y="80533"/>
                  </a:lnTo>
                  <a:lnTo>
                    <a:pt x="1037579" y="62787"/>
                  </a:lnTo>
                  <a:lnTo>
                    <a:pt x="988758" y="46958"/>
                  </a:lnTo>
                  <a:lnTo>
                    <a:pt x="936470" y="33185"/>
                  </a:lnTo>
                  <a:lnTo>
                    <a:pt x="881034" y="21607"/>
                  </a:lnTo>
                  <a:lnTo>
                    <a:pt x="822769" y="12361"/>
                  </a:lnTo>
                  <a:lnTo>
                    <a:pt x="761994" y="5586"/>
                  </a:lnTo>
                  <a:lnTo>
                    <a:pt x="699027" y="1419"/>
                  </a:lnTo>
                  <a:lnTo>
                    <a:pt x="634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75544" y="1484320"/>
              <a:ext cx="1268730" cy="550545"/>
            </a:xfrm>
            <a:custGeom>
              <a:avLst/>
              <a:gdLst/>
              <a:ahLst/>
              <a:cxnLst/>
              <a:rect l="l" t="t" r="r" b="b"/>
              <a:pathLst>
                <a:path w="1268729" h="550544">
                  <a:moveTo>
                    <a:pt x="0" y="274967"/>
                  </a:moveTo>
                  <a:lnTo>
                    <a:pt x="12884" y="219550"/>
                  </a:lnTo>
                  <a:lnTo>
                    <a:pt x="49837" y="167935"/>
                  </a:lnTo>
                  <a:lnTo>
                    <a:pt x="108308" y="121227"/>
                  </a:lnTo>
                  <a:lnTo>
                    <a:pt x="144817" y="100060"/>
                  </a:lnTo>
                  <a:lnTo>
                    <a:pt x="185748" y="80533"/>
                  </a:lnTo>
                  <a:lnTo>
                    <a:pt x="230784" y="62787"/>
                  </a:lnTo>
                  <a:lnTo>
                    <a:pt x="279606" y="46958"/>
                  </a:lnTo>
                  <a:lnTo>
                    <a:pt x="331895" y="33185"/>
                  </a:lnTo>
                  <a:lnTo>
                    <a:pt x="387332" y="21607"/>
                  </a:lnTo>
                  <a:lnTo>
                    <a:pt x="445598" y="12361"/>
                  </a:lnTo>
                  <a:lnTo>
                    <a:pt x="506375" y="5586"/>
                  </a:lnTo>
                  <a:lnTo>
                    <a:pt x="569345" y="1419"/>
                  </a:lnTo>
                  <a:lnTo>
                    <a:pt x="634187" y="0"/>
                  </a:lnTo>
                  <a:lnTo>
                    <a:pt x="699027" y="1419"/>
                  </a:lnTo>
                  <a:lnTo>
                    <a:pt x="761994" y="5586"/>
                  </a:lnTo>
                  <a:lnTo>
                    <a:pt x="822769" y="12361"/>
                  </a:lnTo>
                  <a:lnTo>
                    <a:pt x="881034" y="21607"/>
                  </a:lnTo>
                  <a:lnTo>
                    <a:pt x="936470" y="33185"/>
                  </a:lnTo>
                  <a:lnTo>
                    <a:pt x="988758" y="46958"/>
                  </a:lnTo>
                  <a:lnTo>
                    <a:pt x="1037579" y="62787"/>
                  </a:lnTo>
                  <a:lnTo>
                    <a:pt x="1082614" y="80533"/>
                  </a:lnTo>
                  <a:lnTo>
                    <a:pt x="1123545" y="100060"/>
                  </a:lnTo>
                  <a:lnTo>
                    <a:pt x="1160053" y="121227"/>
                  </a:lnTo>
                  <a:lnTo>
                    <a:pt x="1191819" y="143899"/>
                  </a:lnTo>
                  <a:lnTo>
                    <a:pt x="1239850" y="193198"/>
                  </a:lnTo>
                  <a:lnTo>
                    <a:pt x="1265087" y="246852"/>
                  </a:lnTo>
                  <a:lnTo>
                    <a:pt x="1268361" y="274967"/>
                  </a:lnTo>
                  <a:lnTo>
                    <a:pt x="1265087" y="303082"/>
                  </a:lnTo>
                  <a:lnTo>
                    <a:pt x="1239850" y="356736"/>
                  </a:lnTo>
                  <a:lnTo>
                    <a:pt x="1191819" y="406036"/>
                  </a:lnTo>
                  <a:lnTo>
                    <a:pt x="1160053" y="428707"/>
                  </a:lnTo>
                  <a:lnTo>
                    <a:pt x="1123545" y="449875"/>
                  </a:lnTo>
                  <a:lnTo>
                    <a:pt x="1082614" y="469401"/>
                  </a:lnTo>
                  <a:lnTo>
                    <a:pt x="1037579" y="487148"/>
                  </a:lnTo>
                  <a:lnTo>
                    <a:pt x="988758" y="502976"/>
                  </a:lnTo>
                  <a:lnTo>
                    <a:pt x="936470" y="516749"/>
                  </a:lnTo>
                  <a:lnTo>
                    <a:pt x="881034" y="528327"/>
                  </a:lnTo>
                  <a:lnTo>
                    <a:pt x="822769" y="537573"/>
                  </a:lnTo>
                  <a:lnTo>
                    <a:pt x="761994" y="544349"/>
                  </a:lnTo>
                  <a:lnTo>
                    <a:pt x="699027" y="548515"/>
                  </a:lnTo>
                  <a:lnTo>
                    <a:pt x="634187" y="549935"/>
                  </a:lnTo>
                  <a:lnTo>
                    <a:pt x="569345" y="548515"/>
                  </a:lnTo>
                  <a:lnTo>
                    <a:pt x="506375" y="544349"/>
                  </a:lnTo>
                  <a:lnTo>
                    <a:pt x="445598" y="537573"/>
                  </a:lnTo>
                  <a:lnTo>
                    <a:pt x="387332" y="528327"/>
                  </a:lnTo>
                  <a:lnTo>
                    <a:pt x="331895" y="516749"/>
                  </a:lnTo>
                  <a:lnTo>
                    <a:pt x="279606" y="502976"/>
                  </a:lnTo>
                  <a:lnTo>
                    <a:pt x="230784" y="487148"/>
                  </a:lnTo>
                  <a:lnTo>
                    <a:pt x="185748" y="469401"/>
                  </a:lnTo>
                  <a:lnTo>
                    <a:pt x="144817" y="449875"/>
                  </a:lnTo>
                  <a:lnTo>
                    <a:pt x="108308" y="428707"/>
                  </a:lnTo>
                  <a:lnTo>
                    <a:pt x="76542" y="406036"/>
                  </a:lnTo>
                  <a:lnTo>
                    <a:pt x="28511" y="356736"/>
                  </a:lnTo>
                  <a:lnTo>
                    <a:pt x="3274" y="303082"/>
                  </a:lnTo>
                  <a:lnTo>
                    <a:pt x="0" y="27496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0031" y="1585680"/>
            <a:ext cx="6210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Эксперт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50536" y="1479556"/>
            <a:ext cx="2863850" cy="697230"/>
            <a:chOff x="6550536" y="1479556"/>
            <a:chExt cx="2863850" cy="697230"/>
          </a:xfrm>
        </p:grpSpPr>
        <p:sp>
          <p:nvSpPr>
            <p:cNvPr id="12" name="object 12"/>
            <p:cNvSpPr/>
            <p:nvPr/>
          </p:nvSpPr>
          <p:spPr>
            <a:xfrm>
              <a:off x="6555299" y="1484318"/>
              <a:ext cx="2854325" cy="687705"/>
            </a:xfrm>
            <a:custGeom>
              <a:avLst/>
              <a:gdLst/>
              <a:ahLst/>
              <a:cxnLst/>
              <a:rect l="l" t="t" r="r" b="b"/>
              <a:pathLst>
                <a:path w="2854325" h="687705">
                  <a:moveTo>
                    <a:pt x="1426908" y="0"/>
                  </a:moveTo>
                  <a:lnTo>
                    <a:pt x="1353479" y="447"/>
                  </a:lnTo>
                  <a:lnTo>
                    <a:pt x="1281015" y="1774"/>
                  </a:lnTo>
                  <a:lnTo>
                    <a:pt x="1209604" y="3960"/>
                  </a:lnTo>
                  <a:lnTo>
                    <a:pt x="1139336" y="6983"/>
                  </a:lnTo>
                  <a:lnTo>
                    <a:pt x="1070301" y="10821"/>
                  </a:lnTo>
                  <a:lnTo>
                    <a:pt x="1002589" y="15452"/>
                  </a:lnTo>
                  <a:lnTo>
                    <a:pt x="936289" y="20856"/>
                  </a:lnTo>
                  <a:lnTo>
                    <a:pt x="871491" y="27010"/>
                  </a:lnTo>
                  <a:lnTo>
                    <a:pt x="808284" y="33893"/>
                  </a:lnTo>
                  <a:lnTo>
                    <a:pt x="746758" y="41484"/>
                  </a:lnTo>
                  <a:lnTo>
                    <a:pt x="687004" y="49760"/>
                  </a:lnTo>
                  <a:lnTo>
                    <a:pt x="629110" y="58700"/>
                  </a:lnTo>
                  <a:lnTo>
                    <a:pt x="573166" y="68283"/>
                  </a:lnTo>
                  <a:lnTo>
                    <a:pt x="519261" y="78487"/>
                  </a:lnTo>
                  <a:lnTo>
                    <a:pt x="467487" y="89290"/>
                  </a:lnTo>
                  <a:lnTo>
                    <a:pt x="417931" y="100671"/>
                  </a:lnTo>
                  <a:lnTo>
                    <a:pt x="370684" y="112608"/>
                  </a:lnTo>
                  <a:lnTo>
                    <a:pt x="325836" y="125079"/>
                  </a:lnTo>
                  <a:lnTo>
                    <a:pt x="283476" y="138064"/>
                  </a:lnTo>
                  <a:lnTo>
                    <a:pt x="243693" y="151539"/>
                  </a:lnTo>
                  <a:lnTo>
                    <a:pt x="206578" y="165485"/>
                  </a:lnTo>
                  <a:lnTo>
                    <a:pt x="140708" y="194699"/>
                  </a:lnTo>
                  <a:lnTo>
                    <a:pt x="86584" y="225532"/>
                  </a:lnTo>
                  <a:lnTo>
                    <a:pt x="44922" y="257813"/>
                  </a:lnTo>
                  <a:lnTo>
                    <a:pt x="16441" y="291368"/>
                  </a:lnTo>
                  <a:lnTo>
                    <a:pt x="0" y="343712"/>
                  </a:lnTo>
                  <a:lnTo>
                    <a:pt x="1856" y="361400"/>
                  </a:lnTo>
                  <a:lnTo>
                    <a:pt x="28989" y="412982"/>
                  </a:lnTo>
                  <a:lnTo>
                    <a:pt x="64150" y="445922"/>
                  </a:lnTo>
                  <a:lnTo>
                    <a:pt x="112133" y="477501"/>
                  </a:lnTo>
                  <a:lnTo>
                    <a:pt x="172220" y="507546"/>
                  </a:lnTo>
                  <a:lnTo>
                    <a:pt x="243693" y="535885"/>
                  </a:lnTo>
                  <a:lnTo>
                    <a:pt x="283476" y="549361"/>
                  </a:lnTo>
                  <a:lnTo>
                    <a:pt x="325836" y="562345"/>
                  </a:lnTo>
                  <a:lnTo>
                    <a:pt x="370684" y="574817"/>
                  </a:lnTo>
                  <a:lnTo>
                    <a:pt x="417931" y="586754"/>
                  </a:lnTo>
                  <a:lnTo>
                    <a:pt x="467487" y="598135"/>
                  </a:lnTo>
                  <a:lnTo>
                    <a:pt x="519261" y="608938"/>
                  </a:lnTo>
                  <a:lnTo>
                    <a:pt x="573166" y="619141"/>
                  </a:lnTo>
                  <a:lnTo>
                    <a:pt x="629110" y="628724"/>
                  </a:lnTo>
                  <a:lnTo>
                    <a:pt x="687004" y="637665"/>
                  </a:lnTo>
                  <a:lnTo>
                    <a:pt x="746758" y="645941"/>
                  </a:lnTo>
                  <a:lnTo>
                    <a:pt x="808284" y="653531"/>
                  </a:lnTo>
                  <a:lnTo>
                    <a:pt x="871491" y="660414"/>
                  </a:lnTo>
                  <a:lnTo>
                    <a:pt x="936289" y="666569"/>
                  </a:lnTo>
                  <a:lnTo>
                    <a:pt x="1002589" y="671972"/>
                  </a:lnTo>
                  <a:lnTo>
                    <a:pt x="1070301" y="676604"/>
                  </a:lnTo>
                  <a:lnTo>
                    <a:pt x="1139336" y="680442"/>
                  </a:lnTo>
                  <a:lnTo>
                    <a:pt x="1209604" y="683465"/>
                  </a:lnTo>
                  <a:lnTo>
                    <a:pt x="1281015" y="685651"/>
                  </a:lnTo>
                  <a:lnTo>
                    <a:pt x="1353479" y="686978"/>
                  </a:lnTo>
                  <a:lnTo>
                    <a:pt x="1426908" y="687425"/>
                  </a:lnTo>
                  <a:lnTo>
                    <a:pt x="1500337" y="686978"/>
                  </a:lnTo>
                  <a:lnTo>
                    <a:pt x="1572801" y="685651"/>
                  </a:lnTo>
                  <a:lnTo>
                    <a:pt x="1644212" y="683465"/>
                  </a:lnTo>
                  <a:lnTo>
                    <a:pt x="1714480" y="680442"/>
                  </a:lnTo>
                  <a:lnTo>
                    <a:pt x="1783515" y="676604"/>
                  </a:lnTo>
                  <a:lnTo>
                    <a:pt x="1851227" y="671972"/>
                  </a:lnTo>
                  <a:lnTo>
                    <a:pt x="1917527" y="666569"/>
                  </a:lnTo>
                  <a:lnTo>
                    <a:pt x="1982325" y="660414"/>
                  </a:lnTo>
                  <a:lnTo>
                    <a:pt x="2045532" y="653531"/>
                  </a:lnTo>
                  <a:lnTo>
                    <a:pt x="2107058" y="645941"/>
                  </a:lnTo>
                  <a:lnTo>
                    <a:pt x="2166812" y="637665"/>
                  </a:lnTo>
                  <a:lnTo>
                    <a:pt x="2224706" y="628724"/>
                  </a:lnTo>
                  <a:lnTo>
                    <a:pt x="2280650" y="619141"/>
                  </a:lnTo>
                  <a:lnTo>
                    <a:pt x="2334555" y="608938"/>
                  </a:lnTo>
                  <a:lnTo>
                    <a:pt x="2386329" y="598135"/>
                  </a:lnTo>
                  <a:lnTo>
                    <a:pt x="2435885" y="586754"/>
                  </a:lnTo>
                  <a:lnTo>
                    <a:pt x="2483132" y="574817"/>
                  </a:lnTo>
                  <a:lnTo>
                    <a:pt x="2527980" y="562345"/>
                  </a:lnTo>
                  <a:lnTo>
                    <a:pt x="2570340" y="549361"/>
                  </a:lnTo>
                  <a:lnTo>
                    <a:pt x="2610123" y="535885"/>
                  </a:lnTo>
                  <a:lnTo>
                    <a:pt x="2647238" y="521940"/>
                  </a:lnTo>
                  <a:lnTo>
                    <a:pt x="2713108" y="492726"/>
                  </a:lnTo>
                  <a:lnTo>
                    <a:pt x="2767232" y="461892"/>
                  </a:lnTo>
                  <a:lnTo>
                    <a:pt x="2808894" y="429611"/>
                  </a:lnTo>
                  <a:lnTo>
                    <a:pt x="2837375" y="396056"/>
                  </a:lnTo>
                  <a:lnTo>
                    <a:pt x="2853817" y="343712"/>
                  </a:lnTo>
                  <a:lnTo>
                    <a:pt x="2851960" y="326025"/>
                  </a:lnTo>
                  <a:lnTo>
                    <a:pt x="2824827" y="274442"/>
                  </a:lnTo>
                  <a:lnTo>
                    <a:pt x="2789666" y="241503"/>
                  </a:lnTo>
                  <a:lnTo>
                    <a:pt x="2741683" y="209924"/>
                  </a:lnTo>
                  <a:lnTo>
                    <a:pt x="2681596" y="179879"/>
                  </a:lnTo>
                  <a:lnTo>
                    <a:pt x="2610123" y="151539"/>
                  </a:lnTo>
                  <a:lnTo>
                    <a:pt x="2570340" y="138064"/>
                  </a:lnTo>
                  <a:lnTo>
                    <a:pt x="2527980" y="125079"/>
                  </a:lnTo>
                  <a:lnTo>
                    <a:pt x="2483132" y="112608"/>
                  </a:lnTo>
                  <a:lnTo>
                    <a:pt x="2435885" y="100671"/>
                  </a:lnTo>
                  <a:lnTo>
                    <a:pt x="2386329" y="89290"/>
                  </a:lnTo>
                  <a:lnTo>
                    <a:pt x="2334555" y="78487"/>
                  </a:lnTo>
                  <a:lnTo>
                    <a:pt x="2280650" y="68283"/>
                  </a:lnTo>
                  <a:lnTo>
                    <a:pt x="2224706" y="58700"/>
                  </a:lnTo>
                  <a:lnTo>
                    <a:pt x="2166812" y="49760"/>
                  </a:lnTo>
                  <a:lnTo>
                    <a:pt x="2107058" y="41484"/>
                  </a:lnTo>
                  <a:lnTo>
                    <a:pt x="2045532" y="33893"/>
                  </a:lnTo>
                  <a:lnTo>
                    <a:pt x="1982325" y="27010"/>
                  </a:lnTo>
                  <a:lnTo>
                    <a:pt x="1917527" y="20856"/>
                  </a:lnTo>
                  <a:lnTo>
                    <a:pt x="1851227" y="15452"/>
                  </a:lnTo>
                  <a:lnTo>
                    <a:pt x="1783515" y="10821"/>
                  </a:lnTo>
                  <a:lnTo>
                    <a:pt x="1714480" y="6983"/>
                  </a:lnTo>
                  <a:lnTo>
                    <a:pt x="1644212" y="3960"/>
                  </a:lnTo>
                  <a:lnTo>
                    <a:pt x="1572801" y="1774"/>
                  </a:lnTo>
                  <a:lnTo>
                    <a:pt x="1500337" y="447"/>
                  </a:lnTo>
                  <a:lnTo>
                    <a:pt x="1426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55299" y="1484318"/>
              <a:ext cx="2854325" cy="687705"/>
            </a:xfrm>
            <a:custGeom>
              <a:avLst/>
              <a:gdLst/>
              <a:ahLst/>
              <a:cxnLst/>
              <a:rect l="l" t="t" r="r" b="b"/>
              <a:pathLst>
                <a:path w="2854325" h="687705">
                  <a:moveTo>
                    <a:pt x="0" y="343712"/>
                  </a:moveTo>
                  <a:lnTo>
                    <a:pt x="16441" y="291368"/>
                  </a:lnTo>
                  <a:lnTo>
                    <a:pt x="44922" y="257813"/>
                  </a:lnTo>
                  <a:lnTo>
                    <a:pt x="86584" y="225532"/>
                  </a:lnTo>
                  <a:lnTo>
                    <a:pt x="140708" y="194699"/>
                  </a:lnTo>
                  <a:lnTo>
                    <a:pt x="206578" y="165485"/>
                  </a:lnTo>
                  <a:lnTo>
                    <a:pt x="243693" y="151539"/>
                  </a:lnTo>
                  <a:lnTo>
                    <a:pt x="283476" y="138064"/>
                  </a:lnTo>
                  <a:lnTo>
                    <a:pt x="325836" y="125079"/>
                  </a:lnTo>
                  <a:lnTo>
                    <a:pt x="370684" y="112608"/>
                  </a:lnTo>
                  <a:lnTo>
                    <a:pt x="417931" y="100671"/>
                  </a:lnTo>
                  <a:lnTo>
                    <a:pt x="467487" y="89290"/>
                  </a:lnTo>
                  <a:lnTo>
                    <a:pt x="519261" y="78487"/>
                  </a:lnTo>
                  <a:lnTo>
                    <a:pt x="573166" y="68283"/>
                  </a:lnTo>
                  <a:lnTo>
                    <a:pt x="629110" y="58700"/>
                  </a:lnTo>
                  <a:lnTo>
                    <a:pt x="687004" y="49760"/>
                  </a:lnTo>
                  <a:lnTo>
                    <a:pt x="746758" y="41484"/>
                  </a:lnTo>
                  <a:lnTo>
                    <a:pt x="808284" y="33893"/>
                  </a:lnTo>
                  <a:lnTo>
                    <a:pt x="871491" y="27010"/>
                  </a:lnTo>
                  <a:lnTo>
                    <a:pt x="936289" y="20856"/>
                  </a:lnTo>
                  <a:lnTo>
                    <a:pt x="1002589" y="15452"/>
                  </a:lnTo>
                  <a:lnTo>
                    <a:pt x="1070301" y="10821"/>
                  </a:lnTo>
                  <a:lnTo>
                    <a:pt x="1139336" y="6983"/>
                  </a:lnTo>
                  <a:lnTo>
                    <a:pt x="1209604" y="3960"/>
                  </a:lnTo>
                  <a:lnTo>
                    <a:pt x="1281015" y="1774"/>
                  </a:lnTo>
                  <a:lnTo>
                    <a:pt x="1353479" y="447"/>
                  </a:lnTo>
                  <a:lnTo>
                    <a:pt x="1426908" y="0"/>
                  </a:lnTo>
                  <a:lnTo>
                    <a:pt x="1500337" y="447"/>
                  </a:lnTo>
                  <a:lnTo>
                    <a:pt x="1572801" y="1774"/>
                  </a:lnTo>
                  <a:lnTo>
                    <a:pt x="1644212" y="3960"/>
                  </a:lnTo>
                  <a:lnTo>
                    <a:pt x="1714480" y="6983"/>
                  </a:lnTo>
                  <a:lnTo>
                    <a:pt x="1783515" y="10821"/>
                  </a:lnTo>
                  <a:lnTo>
                    <a:pt x="1851227" y="15452"/>
                  </a:lnTo>
                  <a:lnTo>
                    <a:pt x="1917527" y="20856"/>
                  </a:lnTo>
                  <a:lnTo>
                    <a:pt x="1982325" y="27010"/>
                  </a:lnTo>
                  <a:lnTo>
                    <a:pt x="2045532" y="33893"/>
                  </a:lnTo>
                  <a:lnTo>
                    <a:pt x="2107058" y="41484"/>
                  </a:lnTo>
                  <a:lnTo>
                    <a:pt x="2166812" y="49760"/>
                  </a:lnTo>
                  <a:lnTo>
                    <a:pt x="2224706" y="58700"/>
                  </a:lnTo>
                  <a:lnTo>
                    <a:pt x="2280650" y="68283"/>
                  </a:lnTo>
                  <a:lnTo>
                    <a:pt x="2334555" y="78487"/>
                  </a:lnTo>
                  <a:lnTo>
                    <a:pt x="2386329" y="89290"/>
                  </a:lnTo>
                  <a:lnTo>
                    <a:pt x="2435885" y="100671"/>
                  </a:lnTo>
                  <a:lnTo>
                    <a:pt x="2483132" y="112608"/>
                  </a:lnTo>
                  <a:lnTo>
                    <a:pt x="2527980" y="125079"/>
                  </a:lnTo>
                  <a:lnTo>
                    <a:pt x="2570340" y="138064"/>
                  </a:lnTo>
                  <a:lnTo>
                    <a:pt x="2610123" y="151539"/>
                  </a:lnTo>
                  <a:lnTo>
                    <a:pt x="2647238" y="165485"/>
                  </a:lnTo>
                  <a:lnTo>
                    <a:pt x="2713108" y="194699"/>
                  </a:lnTo>
                  <a:lnTo>
                    <a:pt x="2767232" y="225532"/>
                  </a:lnTo>
                  <a:lnTo>
                    <a:pt x="2808894" y="257813"/>
                  </a:lnTo>
                  <a:lnTo>
                    <a:pt x="2837375" y="291368"/>
                  </a:lnTo>
                  <a:lnTo>
                    <a:pt x="2853817" y="343712"/>
                  </a:lnTo>
                  <a:lnTo>
                    <a:pt x="2851960" y="361400"/>
                  </a:lnTo>
                  <a:lnTo>
                    <a:pt x="2824827" y="412982"/>
                  </a:lnTo>
                  <a:lnTo>
                    <a:pt x="2789666" y="445922"/>
                  </a:lnTo>
                  <a:lnTo>
                    <a:pt x="2741683" y="477501"/>
                  </a:lnTo>
                  <a:lnTo>
                    <a:pt x="2681596" y="507546"/>
                  </a:lnTo>
                  <a:lnTo>
                    <a:pt x="2610123" y="535885"/>
                  </a:lnTo>
                  <a:lnTo>
                    <a:pt x="2570340" y="549361"/>
                  </a:lnTo>
                  <a:lnTo>
                    <a:pt x="2527980" y="562345"/>
                  </a:lnTo>
                  <a:lnTo>
                    <a:pt x="2483132" y="574817"/>
                  </a:lnTo>
                  <a:lnTo>
                    <a:pt x="2435885" y="586754"/>
                  </a:lnTo>
                  <a:lnTo>
                    <a:pt x="2386329" y="598135"/>
                  </a:lnTo>
                  <a:lnTo>
                    <a:pt x="2334555" y="608938"/>
                  </a:lnTo>
                  <a:lnTo>
                    <a:pt x="2280650" y="619141"/>
                  </a:lnTo>
                  <a:lnTo>
                    <a:pt x="2224706" y="628724"/>
                  </a:lnTo>
                  <a:lnTo>
                    <a:pt x="2166812" y="637665"/>
                  </a:lnTo>
                  <a:lnTo>
                    <a:pt x="2107058" y="645941"/>
                  </a:lnTo>
                  <a:lnTo>
                    <a:pt x="2045532" y="653531"/>
                  </a:lnTo>
                  <a:lnTo>
                    <a:pt x="1982325" y="660414"/>
                  </a:lnTo>
                  <a:lnTo>
                    <a:pt x="1917527" y="666569"/>
                  </a:lnTo>
                  <a:lnTo>
                    <a:pt x="1851227" y="671972"/>
                  </a:lnTo>
                  <a:lnTo>
                    <a:pt x="1783515" y="676604"/>
                  </a:lnTo>
                  <a:lnTo>
                    <a:pt x="1714480" y="680442"/>
                  </a:lnTo>
                  <a:lnTo>
                    <a:pt x="1644212" y="683465"/>
                  </a:lnTo>
                  <a:lnTo>
                    <a:pt x="1572801" y="685651"/>
                  </a:lnTo>
                  <a:lnTo>
                    <a:pt x="1500337" y="686978"/>
                  </a:lnTo>
                  <a:lnTo>
                    <a:pt x="1426908" y="687425"/>
                  </a:lnTo>
                  <a:lnTo>
                    <a:pt x="1353479" y="686978"/>
                  </a:lnTo>
                  <a:lnTo>
                    <a:pt x="1281015" y="685651"/>
                  </a:lnTo>
                  <a:lnTo>
                    <a:pt x="1209604" y="683465"/>
                  </a:lnTo>
                  <a:lnTo>
                    <a:pt x="1139336" y="680442"/>
                  </a:lnTo>
                  <a:lnTo>
                    <a:pt x="1070301" y="676604"/>
                  </a:lnTo>
                  <a:lnTo>
                    <a:pt x="1002589" y="671972"/>
                  </a:lnTo>
                  <a:lnTo>
                    <a:pt x="936289" y="666569"/>
                  </a:lnTo>
                  <a:lnTo>
                    <a:pt x="871491" y="660414"/>
                  </a:lnTo>
                  <a:lnTo>
                    <a:pt x="808284" y="653531"/>
                  </a:lnTo>
                  <a:lnTo>
                    <a:pt x="746758" y="645941"/>
                  </a:lnTo>
                  <a:lnTo>
                    <a:pt x="687004" y="637665"/>
                  </a:lnTo>
                  <a:lnTo>
                    <a:pt x="629110" y="628724"/>
                  </a:lnTo>
                  <a:lnTo>
                    <a:pt x="573166" y="619141"/>
                  </a:lnTo>
                  <a:lnTo>
                    <a:pt x="519261" y="608938"/>
                  </a:lnTo>
                  <a:lnTo>
                    <a:pt x="467487" y="598135"/>
                  </a:lnTo>
                  <a:lnTo>
                    <a:pt x="417931" y="586754"/>
                  </a:lnTo>
                  <a:lnTo>
                    <a:pt x="370684" y="574817"/>
                  </a:lnTo>
                  <a:lnTo>
                    <a:pt x="325836" y="562345"/>
                  </a:lnTo>
                  <a:lnTo>
                    <a:pt x="283476" y="549361"/>
                  </a:lnTo>
                  <a:lnTo>
                    <a:pt x="243693" y="535885"/>
                  </a:lnTo>
                  <a:lnTo>
                    <a:pt x="206578" y="521940"/>
                  </a:lnTo>
                  <a:lnTo>
                    <a:pt x="140708" y="492726"/>
                  </a:lnTo>
                  <a:lnTo>
                    <a:pt x="86584" y="461892"/>
                  </a:lnTo>
                  <a:lnTo>
                    <a:pt x="44922" y="429611"/>
                  </a:lnTo>
                  <a:lnTo>
                    <a:pt x="16441" y="396056"/>
                  </a:lnTo>
                  <a:lnTo>
                    <a:pt x="0" y="3437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51971" y="1605814"/>
            <a:ext cx="1639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Инженер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по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знаниям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2759" y="3134156"/>
            <a:ext cx="2536825" cy="5505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265"/>
              </a:spcBef>
            </a:pPr>
            <a:r>
              <a:rPr sz="1500" spc="-5" dirty="0">
                <a:latin typeface="Calibri"/>
                <a:cs typeface="Calibri"/>
              </a:rPr>
              <a:t>Интерфейс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пользователя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32174" y="2171745"/>
            <a:ext cx="3166745" cy="687705"/>
            <a:chOff x="4232174" y="2171745"/>
            <a:chExt cx="3166745" cy="687705"/>
          </a:xfrm>
        </p:grpSpPr>
        <p:sp>
          <p:nvSpPr>
            <p:cNvPr id="17" name="object 17"/>
            <p:cNvSpPr/>
            <p:nvPr/>
          </p:nvSpPr>
          <p:spPr>
            <a:xfrm>
              <a:off x="6384296" y="2199446"/>
              <a:ext cx="972185" cy="632460"/>
            </a:xfrm>
            <a:custGeom>
              <a:avLst/>
              <a:gdLst/>
              <a:ahLst/>
              <a:cxnLst/>
              <a:rect l="l" t="t" r="r" b="b"/>
              <a:pathLst>
                <a:path w="972184" h="632460">
                  <a:moveTo>
                    <a:pt x="971791" y="0"/>
                  </a:moveTo>
                  <a:lnTo>
                    <a:pt x="0" y="63204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41707" y="2171750"/>
              <a:ext cx="1057275" cy="687705"/>
            </a:xfrm>
            <a:custGeom>
              <a:avLst/>
              <a:gdLst/>
              <a:ahLst/>
              <a:cxnLst/>
              <a:rect l="l" t="t" r="r" b="b"/>
              <a:pathLst>
                <a:path w="1057275" h="687705">
                  <a:moveTo>
                    <a:pt x="84645" y="677824"/>
                  </a:moveTo>
                  <a:lnTo>
                    <a:pt x="42583" y="659739"/>
                  </a:lnTo>
                  <a:lnTo>
                    <a:pt x="43103" y="613956"/>
                  </a:lnTo>
                  <a:lnTo>
                    <a:pt x="0" y="687438"/>
                  </a:lnTo>
                  <a:lnTo>
                    <a:pt x="84645" y="677824"/>
                  </a:lnTo>
                  <a:close/>
                </a:path>
                <a:path w="1057275" h="687705">
                  <a:moveTo>
                    <a:pt x="1056957" y="0"/>
                  </a:moveTo>
                  <a:lnTo>
                    <a:pt x="972312" y="9601"/>
                  </a:lnTo>
                  <a:lnTo>
                    <a:pt x="1014374" y="27698"/>
                  </a:lnTo>
                  <a:lnTo>
                    <a:pt x="1013853" y="73482"/>
                  </a:lnTo>
                  <a:lnTo>
                    <a:pt x="1056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09725" y="2222549"/>
              <a:ext cx="0" cy="586105"/>
            </a:xfrm>
            <a:custGeom>
              <a:avLst/>
              <a:gdLst/>
              <a:ahLst/>
              <a:cxnLst/>
              <a:rect l="l" t="t" r="r" b="b"/>
              <a:pathLst>
                <a:path h="586105">
                  <a:moveTo>
                    <a:pt x="0" y="0"/>
                  </a:moveTo>
                  <a:lnTo>
                    <a:pt x="0" y="5858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71616" y="2171750"/>
              <a:ext cx="76835" cy="687705"/>
            </a:xfrm>
            <a:custGeom>
              <a:avLst/>
              <a:gdLst/>
              <a:ahLst/>
              <a:cxnLst/>
              <a:rect l="l" t="t" r="r" b="b"/>
              <a:pathLst>
                <a:path w="76835" h="687705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38100" y="50800"/>
                  </a:lnTo>
                  <a:lnTo>
                    <a:pt x="76200" y="76200"/>
                  </a:lnTo>
                  <a:close/>
                </a:path>
                <a:path w="76835" h="687705">
                  <a:moveTo>
                    <a:pt x="76212" y="611238"/>
                  </a:moveTo>
                  <a:lnTo>
                    <a:pt x="38112" y="636638"/>
                  </a:lnTo>
                  <a:lnTo>
                    <a:pt x="12" y="611238"/>
                  </a:lnTo>
                  <a:lnTo>
                    <a:pt x="38112" y="687438"/>
                  </a:lnTo>
                  <a:lnTo>
                    <a:pt x="76212" y="6112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74761" y="2336937"/>
              <a:ext cx="760730" cy="494665"/>
            </a:xfrm>
            <a:custGeom>
              <a:avLst/>
              <a:gdLst/>
              <a:ahLst/>
              <a:cxnLst/>
              <a:rect l="l" t="t" r="r" b="b"/>
              <a:pathLst>
                <a:path w="760729" h="494664">
                  <a:moveTo>
                    <a:pt x="760399" y="4945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32173" y="2309240"/>
              <a:ext cx="845819" cy="550545"/>
            </a:xfrm>
            <a:custGeom>
              <a:avLst/>
              <a:gdLst/>
              <a:ahLst/>
              <a:cxnLst/>
              <a:rect l="l" t="t" r="r" b="b"/>
              <a:pathLst>
                <a:path w="845820" h="550544">
                  <a:moveTo>
                    <a:pt x="84645" y="9613"/>
                  </a:moveTo>
                  <a:lnTo>
                    <a:pt x="0" y="0"/>
                  </a:lnTo>
                  <a:lnTo>
                    <a:pt x="43103" y="73482"/>
                  </a:lnTo>
                  <a:lnTo>
                    <a:pt x="42583" y="27698"/>
                  </a:lnTo>
                  <a:lnTo>
                    <a:pt x="84645" y="9613"/>
                  </a:lnTo>
                  <a:close/>
                </a:path>
                <a:path w="845820" h="550544">
                  <a:moveTo>
                    <a:pt x="845566" y="549948"/>
                  </a:moveTo>
                  <a:lnTo>
                    <a:pt x="802462" y="476465"/>
                  </a:lnTo>
                  <a:lnTo>
                    <a:pt x="802982" y="522249"/>
                  </a:lnTo>
                  <a:lnTo>
                    <a:pt x="760920" y="540346"/>
                  </a:lnTo>
                  <a:lnTo>
                    <a:pt x="845566" y="5499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55912" y="3959085"/>
            <a:ext cx="1374140" cy="13754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170815" marR="165100" algn="ct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П</a:t>
            </a:r>
            <a:r>
              <a:rPr sz="1600" spc="-55" dirty="0">
                <a:latin typeface="Calibri"/>
                <a:cs typeface="Calibri"/>
              </a:rPr>
              <a:t>о</a:t>
            </a:r>
            <a:r>
              <a:rPr sz="1600" spc="-20" dirty="0">
                <a:latin typeface="Calibri"/>
                <a:cs typeface="Calibri"/>
              </a:rPr>
              <a:t>д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-5" dirty="0">
                <a:latin typeface="Calibri"/>
                <a:cs typeface="Calibri"/>
              </a:rPr>
              <a:t>и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-15" dirty="0">
                <a:latin typeface="Calibri"/>
                <a:cs typeface="Calibri"/>
              </a:rPr>
              <a:t>т</a:t>
            </a:r>
            <a:r>
              <a:rPr sz="1600" spc="-20" dirty="0">
                <a:latin typeface="Calibri"/>
                <a:cs typeface="Calibri"/>
              </a:rPr>
              <a:t>е</a:t>
            </a:r>
            <a:r>
              <a:rPr sz="1600" spc="-5" dirty="0">
                <a:latin typeface="Calibri"/>
                <a:cs typeface="Calibri"/>
              </a:rPr>
              <a:t>ма  </a:t>
            </a:r>
            <a:r>
              <a:rPr sz="1600" spc="-10" dirty="0">
                <a:latin typeface="Calibri"/>
                <a:cs typeface="Calibri"/>
              </a:rPr>
              <a:t>о</a:t>
            </a:r>
            <a:r>
              <a:rPr sz="1600" spc="-5" dirty="0">
                <a:latin typeface="Calibri"/>
                <a:cs typeface="Calibri"/>
              </a:rPr>
              <a:t>б</a:t>
            </a:r>
            <a:r>
              <a:rPr sz="1600" spc="-10" dirty="0">
                <a:latin typeface="Calibri"/>
                <a:cs typeface="Calibri"/>
              </a:rPr>
              <a:t>ъяснен</a:t>
            </a:r>
            <a:r>
              <a:rPr sz="1600" spc="-5" dirty="0">
                <a:latin typeface="Calibri"/>
                <a:cs typeface="Calibri"/>
              </a:rPr>
              <a:t>ия  знания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7967" y="3959085"/>
            <a:ext cx="1480185" cy="13754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247650" marR="217170" indent="-23495" algn="just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П</a:t>
            </a:r>
            <a:r>
              <a:rPr sz="1600" spc="-55" dirty="0">
                <a:latin typeface="Calibri"/>
                <a:cs typeface="Calibri"/>
              </a:rPr>
              <a:t>о</a:t>
            </a:r>
            <a:r>
              <a:rPr sz="1600" spc="-20" dirty="0">
                <a:latin typeface="Calibri"/>
                <a:cs typeface="Calibri"/>
              </a:rPr>
              <a:t>д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-5" dirty="0">
                <a:latin typeface="Calibri"/>
                <a:cs typeface="Calibri"/>
              </a:rPr>
              <a:t>и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-15" dirty="0">
                <a:latin typeface="Calibri"/>
                <a:cs typeface="Calibri"/>
              </a:rPr>
              <a:t>т</a:t>
            </a:r>
            <a:r>
              <a:rPr sz="1600" spc="-20" dirty="0">
                <a:latin typeface="Calibri"/>
                <a:cs typeface="Calibri"/>
              </a:rPr>
              <a:t>е</a:t>
            </a:r>
            <a:r>
              <a:rPr sz="1600" spc="-5" dirty="0">
                <a:latin typeface="Calibri"/>
                <a:cs typeface="Calibri"/>
              </a:rPr>
              <a:t>ма  </a:t>
            </a:r>
            <a:r>
              <a:rPr sz="1600" spc="-10" dirty="0">
                <a:latin typeface="Calibri"/>
                <a:cs typeface="Calibri"/>
              </a:rPr>
              <a:t>приобрете-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ния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знания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58448" y="4234053"/>
            <a:ext cx="2431415" cy="1787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265"/>
              </a:spcBef>
            </a:pPr>
            <a:r>
              <a:rPr sz="1400" spc="-5" dirty="0">
                <a:latin typeface="Calibri"/>
                <a:cs typeface="Calibri"/>
              </a:rPr>
              <a:t>Ядро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экспертной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системы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5542" y="4646523"/>
            <a:ext cx="1903095" cy="5505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259"/>
              </a:spcBef>
            </a:pPr>
            <a:r>
              <a:rPr sz="1600" spc="-5" dirty="0">
                <a:latin typeface="Calibri"/>
                <a:cs typeface="Calibri"/>
              </a:rPr>
              <a:t>Машина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вывода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1244" y="5333949"/>
            <a:ext cx="1585595" cy="5505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60"/>
              </a:spcBef>
            </a:pPr>
            <a:r>
              <a:rPr sz="1600" spc="-5" dirty="0">
                <a:latin typeface="Calibri"/>
                <a:cs typeface="Calibri"/>
              </a:rPr>
              <a:t>База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знаний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87550" y="2703512"/>
            <a:ext cx="8001000" cy="3683000"/>
            <a:chOff x="1987550" y="2703512"/>
            <a:chExt cx="8001000" cy="3683000"/>
          </a:xfrm>
        </p:grpSpPr>
        <p:sp>
          <p:nvSpPr>
            <p:cNvPr id="29" name="object 29"/>
            <p:cNvSpPr/>
            <p:nvPr/>
          </p:nvSpPr>
          <p:spPr>
            <a:xfrm>
              <a:off x="3490093" y="3409134"/>
              <a:ext cx="1006475" cy="0"/>
            </a:xfrm>
            <a:custGeom>
              <a:avLst/>
              <a:gdLst/>
              <a:ahLst/>
              <a:cxnLst/>
              <a:rect l="l" t="t" r="r" b="b"/>
              <a:pathLst>
                <a:path w="1006475">
                  <a:moveTo>
                    <a:pt x="0" y="0"/>
                  </a:moveTo>
                  <a:lnTo>
                    <a:pt x="100617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0862" y="33710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2540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0093" y="3409134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65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51997" y="37453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45983" y="3409134"/>
              <a:ext cx="1111885" cy="0"/>
            </a:xfrm>
            <a:custGeom>
              <a:avLst/>
              <a:gdLst/>
              <a:ahLst/>
              <a:cxnLst/>
              <a:rect l="l" t="t" r="r" b="b"/>
              <a:pathLst>
                <a:path w="1111884">
                  <a:moveTo>
                    <a:pt x="111185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95177" y="33710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50800" y="381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57840" y="3409134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65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19743" y="37453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90092" y="5746414"/>
              <a:ext cx="1111885" cy="0"/>
            </a:xfrm>
            <a:custGeom>
              <a:avLst/>
              <a:gdLst/>
              <a:ahLst/>
              <a:cxnLst/>
              <a:rect l="l" t="t" r="r" b="b"/>
              <a:pathLst>
                <a:path w="1111885">
                  <a:moveTo>
                    <a:pt x="0" y="0"/>
                  </a:moveTo>
                  <a:lnTo>
                    <a:pt x="111185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76556" y="57083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2540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90092" y="5522247"/>
              <a:ext cx="0" cy="224790"/>
            </a:xfrm>
            <a:custGeom>
              <a:avLst/>
              <a:gdLst/>
              <a:ahLst/>
              <a:cxnLst/>
              <a:rect l="l" t="t" r="r" b="b"/>
              <a:pathLst>
                <a:path h="224789">
                  <a:moveTo>
                    <a:pt x="0" y="22416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51994" y="54714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38100" y="508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45981" y="5746414"/>
              <a:ext cx="1111885" cy="0"/>
            </a:xfrm>
            <a:custGeom>
              <a:avLst/>
              <a:gdLst/>
              <a:ahLst/>
              <a:cxnLst/>
              <a:rect l="l" t="t" r="r" b="b"/>
              <a:pathLst>
                <a:path w="1111884">
                  <a:moveTo>
                    <a:pt x="111185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95174" y="57083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50800" y="381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57838" y="5522247"/>
              <a:ext cx="0" cy="224790"/>
            </a:xfrm>
            <a:custGeom>
              <a:avLst/>
              <a:gdLst/>
              <a:ahLst/>
              <a:cxnLst/>
              <a:rect l="l" t="t" r="r" b="b"/>
              <a:pathLst>
                <a:path h="224789">
                  <a:moveTo>
                    <a:pt x="0" y="22416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19740" y="54714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38100" y="508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35183" y="34290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92312" y="2708275"/>
              <a:ext cx="7991475" cy="3673475"/>
            </a:xfrm>
            <a:custGeom>
              <a:avLst/>
              <a:gdLst/>
              <a:ahLst/>
              <a:cxnLst/>
              <a:rect l="l" t="t" r="r" b="b"/>
              <a:pathLst>
                <a:path w="7991475" h="3673475">
                  <a:moveTo>
                    <a:pt x="0" y="0"/>
                  </a:moveTo>
                  <a:lnTo>
                    <a:pt x="7991475" y="0"/>
                  </a:lnTo>
                  <a:lnTo>
                    <a:pt x="7991475" y="3673475"/>
                  </a:lnTo>
                  <a:lnTo>
                    <a:pt x="0" y="36734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463028" y="2896425"/>
            <a:ext cx="1905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latin typeface="Calibri"/>
                <a:cs typeface="Calibri"/>
              </a:rPr>
              <a:t>Экспертная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система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10908030" cy="4173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006666"/>
                </a:solidFill>
                <a:latin typeface="Arial"/>
                <a:cs typeface="Arial"/>
              </a:rPr>
              <a:t>АРХИТЕКТУРА</a:t>
            </a:r>
            <a:r>
              <a:rPr sz="24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ЭКСПЕРТНОЙ</a:t>
            </a:r>
            <a:r>
              <a:rPr sz="24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СИСТЕМЫ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Комментарии:</a:t>
            </a:r>
            <a:endParaRPr sz="2400">
              <a:latin typeface="Arial"/>
              <a:cs typeface="Arial"/>
            </a:endParaRPr>
          </a:p>
          <a:p>
            <a:pPr marL="354965" marR="6350" indent="-342900" algn="just">
              <a:lnSpc>
                <a:spcPts val="2590"/>
              </a:lnSpc>
              <a:spcBef>
                <a:spcPts val="103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Инженер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знаниям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(или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инженер-когнитолог)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специалист,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извлекающий знания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проектирования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заполнения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базы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знаний.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Он 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же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быть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разработчиком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экспертной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системы.</a:t>
            </a:r>
            <a:endParaRPr sz="2400">
              <a:latin typeface="Arial"/>
              <a:cs typeface="Arial"/>
            </a:endParaRPr>
          </a:p>
          <a:p>
            <a:pPr marL="354965" marR="5080" indent="-342900" algn="just">
              <a:lnSpc>
                <a:spcPts val="2590"/>
              </a:lnSpc>
              <a:spcBef>
                <a:spcPts val="100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Ядро экспертной системы –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база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машина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вывода.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Последнюю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считают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аналогом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СУБД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иногда называют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Системой управления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базой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(СУБЗ)</a:t>
            </a:r>
            <a:endParaRPr sz="2400">
              <a:latin typeface="Arial"/>
              <a:cs typeface="Arial"/>
            </a:endParaRPr>
          </a:p>
          <a:p>
            <a:pPr marL="354965" marR="8255" indent="-342900" algn="just">
              <a:lnSpc>
                <a:spcPts val="2590"/>
              </a:lnSpc>
              <a:spcBef>
                <a:spcPts val="101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Подсистема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приобретения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вводить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базу</a:t>
            </a:r>
            <a:r>
              <a:rPr sz="2400" spc="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новые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понятия,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ранее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ней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отсутствовали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97</a:t>
            </a:fld>
            <a:endParaRPr spc="-5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49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ИЗВЛЕЧЕНИЕ</a:t>
            </a:r>
            <a:r>
              <a:rPr sz="2400" spc="-45" dirty="0"/>
              <a:t> </a:t>
            </a:r>
            <a:r>
              <a:rPr sz="2400" spc="-10" dirty="0"/>
              <a:t>ЗНАНИЙ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982077"/>
            <a:ext cx="10909935" cy="48641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indent="913765" algn="just">
              <a:lnSpc>
                <a:spcPts val="2110"/>
              </a:lnSpc>
              <a:spcBef>
                <a:spcPts val="605"/>
              </a:spcBef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Большинство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разработчиков ЭС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считают,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что процесс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извлечения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остается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самым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“узким”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местом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при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построении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промышленных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ЭС.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этом </a:t>
            </a:r>
            <a:r>
              <a:rPr sz="2200" spc="-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часто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приходится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самостоятельно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разрабатывать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методы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извлечения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сталкиваясь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со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следующими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трудностями: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организационные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неувязки,</a:t>
            </a:r>
            <a:endParaRPr sz="2200">
              <a:latin typeface="Arial"/>
              <a:cs typeface="Arial"/>
            </a:endParaRPr>
          </a:p>
          <a:p>
            <a:pPr marL="354965" marR="9525" indent="-342900">
              <a:lnSpc>
                <a:spcPts val="2110"/>
              </a:lnSpc>
              <a:spcBef>
                <a:spcPts val="98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  <a:tab pos="1939925" algn="l"/>
                <a:tab pos="3023870" algn="l"/>
                <a:tab pos="4701540" algn="l"/>
                <a:tab pos="5861050" algn="l"/>
                <a:tab pos="6350000" algn="l"/>
                <a:tab pos="8352790" algn="l"/>
                <a:tab pos="8670925" algn="l"/>
                <a:tab pos="9143365" algn="l"/>
                <a:tab pos="107442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ый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с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об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ч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ний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вп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ад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щ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х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с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рой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  данной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области,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9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неадекватная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(язык)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представления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знаний,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неумение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наладить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контакт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экспертом,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65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терминологический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разнобой,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Clr>
                <a:srgbClr val="006666"/>
              </a:buClr>
              <a:buSzPct val="150000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нарушение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целостной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картины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извлечении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фрагментов.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Arial"/>
              <a:cs typeface="Arial"/>
            </a:endParaRPr>
          </a:p>
          <a:p>
            <a:pPr marL="12700" marR="8890" indent="913765" algn="just">
              <a:lnSpc>
                <a:spcPts val="2110"/>
              </a:lnSpc>
            </a:pP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Метод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извлечения</a:t>
            </a:r>
            <a:r>
              <a:rPr sz="2200" spc="5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определяется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инженером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знаниям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зависимости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конкретной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ситуации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задачи.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49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ИЗВЛЕЧЕНИЕ</a:t>
            </a:r>
            <a:r>
              <a:rPr sz="2400" spc="-45" dirty="0"/>
              <a:t> </a:t>
            </a:r>
            <a:r>
              <a:rPr sz="2400" spc="-10" dirty="0"/>
              <a:t>ЗНАНИЙ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07985"/>
            <a:ext cx="10625455" cy="42951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313690">
              <a:lnSpc>
                <a:spcPts val="2810"/>
              </a:lnSpc>
              <a:spcBef>
                <a:spcPts val="455"/>
              </a:spcBef>
            </a:pP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Методы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извлечения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делят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две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группы,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зависимости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от </a:t>
            </a:r>
            <a:r>
              <a:rPr sz="2600" spc="-7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источника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знаний:</a:t>
            </a:r>
            <a:endParaRPr sz="2600">
              <a:latin typeface="Arial"/>
              <a:cs typeface="Arial"/>
            </a:endParaRPr>
          </a:p>
          <a:p>
            <a:pPr marL="12700" marR="6540500">
              <a:lnSpc>
                <a:spcPts val="3800"/>
              </a:lnSpc>
              <a:spcBef>
                <a:spcPts val="200"/>
              </a:spcBef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Коммуникативные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методы </a:t>
            </a:r>
            <a:r>
              <a:rPr sz="2600" spc="-7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Текстологические</a:t>
            </a:r>
            <a:r>
              <a:rPr sz="2600" spc="-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методы:</a:t>
            </a:r>
            <a:endParaRPr sz="260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0"/>
              </a:spcBef>
              <a:buClr>
                <a:srgbClr val="006666"/>
              </a:buClr>
              <a:buSzPct val="170454"/>
              <a:buChar char="•"/>
              <a:tabLst>
                <a:tab pos="6985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Анализ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учебников</a:t>
            </a:r>
            <a:endParaRPr sz="220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29"/>
              </a:spcBef>
              <a:buClr>
                <a:srgbClr val="006666"/>
              </a:buClr>
              <a:buSzPct val="170454"/>
              <a:buChar char="•"/>
              <a:tabLst>
                <a:tab pos="6985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Анализ</a:t>
            </a:r>
            <a:r>
              <a:rPr sz="22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литературы</a:t>
            </a:r>
            <a:endParaRPr sz="220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35"/>
              </a:spcBef>
              <a:buClr>
                <a:srgbClr val="006666"/>
              </a:buClr>
              <a:buSzPct val="170454"/>
              <a:buChar char="•"/>
              <a:tabLst>
                <a:tab pos="6985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Анализ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документов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04"/>
              </a:spcBef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Извлечение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начинают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с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применения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текстологических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методов.</a:t>
            </a:r>
            <a:endParaRPr sz="2400">
              <a:latin typeface="Arial"/>
              <a:cs typeface="Arial"/>
            </a:endParaRPr>
          </a:p>
          <a:p>
            <a:pPr marL="697865" marR="415290" indent="-228600">
              <a:lnSpc>
                <a:spcPts val="2380"/>
              </a:lnSpc>
              <a:spcBef>
                <a:spcPts val="535"/>
              </a:spcBef>
            </a:pP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Цель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применения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сформировать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тезаурус,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т.е.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освоить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терминологию </a:t>
            </a:r>
            <a:r>
              <a:rPr sz="2200" spc="-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49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ИЗВЛЕЧЕНИЕ</a:t>
            </a:r>
            <a:r>
              <a:rPr sz="2400" spc="-45" dirty="0"/>
              <a:t> </a:t>
            </a:r>
            <a:r>
              <a:rPr sz="2400" spc="-10" dirty="0"/>
              <a:t>ЗНАНИЙ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07985"/>
            <a:ext cx="10520680" cy="44316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412750">
              <a:lnSpc>
                <a:spcPts val="2810"/>
              </a:lnSpc>
              <a:spcBef>
                <a:spcPts val="455"/>
              </a:spcBef>
            </a:pP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Коммуникативные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методы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(основанные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общении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экспертом) </a:t>
            </a:r>
            <a:r>
              <a:rPr sz="2600" spc="-7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делятся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на:</a:t>
            </a:r>
            <a:endParaRPr sz="2600">
              <a:latin typeface="Arial"/>
              <a:cs typeface="Arial"/>
            </a:endParaRPr>
          </a:p>
          <a:p>
            <a:pPr marL="927100">
              <a:lnSpc>
                <a:spcPts val="3050"/>
              </a:lnSpc>
            </a:pPr>
            <a:r>
              <a:rPr sz="3350" spc="-95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Активные</a:t>
            </a:r>
            <a:endParaRPr sz="2600">
              <a:latin typeface="Arial"/>
              <a:cs typeface="Arial"/>
            </a:endParaRPr>
          </a:p>
          <a:p>
            <a:pPr marL="927100">
              <a:lnSpc>
                <a:spcPts val="3435"/>
              </a:lnSpc>
            </a:pPr>
            <a:r>
              <a:rPr sz="3350" spc="-75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600" spc="-75" dirty="0">
                <a:solidFill>
                  <a:srgbClr val="3E3E3E"/>
                </a:solidFill>
                <a:latin typeface="Arial"/>
                <a:cs typeface="Arial"/>
              </a:rPr>
              <a:t>Пассивные:</a:t>
            </a:r>
            <a:endParaRPr sz="2600">
              <a:latin typeface="Arial"/>
              <a:cs typeface="Arial"/>
            </a:endParaRPr>
          </a:p>
          <a:p>
            <a:pPr marL="1612900" indent="-228600">
              <a:lnSpc>
                <a:spcPts val="3279"/>
              </a:lnSpc>
              <a:buClr>
                <a:srgbClr val="006666"/>
              </a:buClr>
              <a:buSzPct val="119230"/>
              <a:buFont typeface="Wingdings"/>
              <a:buChar char=""/>
              <a:tabLst>
                <a:tab pos="1612900" algn="l"/>
              </a:tabLst>
            </a:pP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Наблюдение</a:t>
            </a:r>
            <a:endParaRPr sz="2600">
              <a:latin typeface="Arial"/>
              <a:cs typeface="Arial"/>
            </a:endParaRPr>
          </a:p>
          <a:p>
            <a:pPr marL="1612900" indent="-228600">
              <a:lnSpc>
                <a:spcPts val="3304"/>
              </a:lnSpc>
              <a:buClr>
                <a:srgbClr val="006666"/>
              </a:buClr>
              <a:buSzPct val="119230"/>
              <a:buFont typeface="Wingdings"/>
              <a:buChar char=""/>
              <a:tabLst>
                <a:tab pos="1612900" algn="l"/>
              </a:tabLst>
            </a:pP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Протокол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мыслей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вслух</a:t>
            </a:r>
            <a:endParaRPr sz="2600">
              <a:latin typeface="Arial"/>
              <a:cs typeface="Arial"/>
            </a:endParaRPr>
          </a:p>
          <a:p>
            <a:pPr marL="1612900" indent="-228600">
              <a:lnSpc>
                <a:spcPts val="3515"/>
              </a:lnSpc>
              <a:buClr>
                <a:srgbClr val="006666"/>
              </a:buClr>
              <a:buSzPct val="119230"/>
              <a:buFont typeface="Wingdings"/>
              <a:buChar char=""/>
              <a:tabLst>
                <a:tab pos="1612900" algn="l"/>
              </a:tabLst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Лекция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ts val="2810"/>
              </a:lnSpc>
              <a:spcBef>
                <a:spcPts val="935"/>
              </a:spcBef>
            </a:pP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Часто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извлечение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знаний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сравнивают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с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умением 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«сделать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осознанными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неосознаваемые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экспертом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знания»,</a:t>
            </a:r>
            <a:r>
              <a:rPr sz="2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75" dirty="0">
                <a:solidFill>
                  <a:srgbClr val="3E3E3E"/>
                </a:solidFill>
                <a:latin typeface="Arial"/>
                <a:cs typeface="Arial"/>
              </a:rPr>
              <a:t>т.е.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описать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алгоритм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принятия решений, 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которые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эксперт часто 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принимает,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«не </a:t>
            </a:r>
            <a:r>
              <a:rPr sz="2600" spc="-7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задумываясь",</a:t>
            </a:r>
            <a:r>
              <a:rPr sz="26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6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основе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своего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опыта,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эрудиции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интуиции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49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ИЗВЛЕЧЕНИЕ</a:t>
            </a:r>
            <a:r>
              <a:rPr sz="2400" spc="-45" dirty="0"/>
              <a:t> </a:t>
            </a:r>
            <a:r>
              <a:rPr sz="2400" spc="-10" dirty="0"/>
              <a:t>ЗНАНИЙ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12571"/>
            <a:ext cx="5504180" cy="443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55"/>
              </a:lnSpc>
              <a:spcBef>
                <a:spcPts val="100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Активные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методы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делятся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два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типа</a:t>
            </a:r>
            <a:endParaRPr sz="2400">
              <a:latin typeface="Arial"/>
              <a:cs typeface="Arial"/>
            </a:endParaRPr>
          </a:p>
          <a:p>
            <a:pPr marR="1374140" algn="r">
              <a:lnSpc>
                <a:spcPts val="3720"/>
              </a:lnSpc>
            </a:pPr>
            <a:r>
              <a:rPr sz="3600" spc="-70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Индивидуальные:</a:t>
            </a:r>
            <a:endParaRPr sz="2800">
              <a:latin typeface="Arial"/>
              <a:cs typeface="Arial"/>
            </a:endParaRPr>
          </a:p>
          <a:p>
            <a:pPr marL="228600" marR="1371600" indent="-228600" algn="r">
              <a:lnSpc>
                <a:spcPts val="3495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228600" algn="l"/>
              </a:tabLst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529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Интервью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395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Диалог</a:t>
            </a:r>
            <a:endParaRPr sz="2800">
              <a:latin typeface="Arial"/>
              <a:cs typeface="Arial"/>
            </a:endParaRPr>
          </a:p>
          <a:p>
            <a:pPr marL="927100">
              <a:lnSpc>
                <a:spcPts val="3670"/>
              </a:lnSpc>
            </a:pPr>
            <a:r>
              <a:rPr sz="3600" spc="-114" dirty="0">
                <a:solidFill>
                  <a:srgbClr val="006666"/>
                </a:solidFill>
                <a:latin typeface="Wingdings"/>
                <a:cs typeface="Wingdings"/>
              </a:rPr>
              <a:t></a:t>
            </a:r>
            <a:r>
              <a:rPr sz="2800" spc="-114" dirty="0">
                <a:solidFill>
                  <a:srgbClr val="3E3E3E"/>
                </a:solidFill>
                <a:latin typeface="Arial"/>
                <a:cs typeface="Arial"/>
              </a:rPr>
              <a:t>Групповые: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504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Мозговой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штурм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520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Круглый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 стол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520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Ролевые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игры</a:t>
            </a:r>
            <a:endParaRPr sz="2800">
              <a:latin typeface="Arial"/>
              <a:cs typeface="Arial"/>
            </a:endParaRPr>
          </a:p>
          <a:p>
            <a:pPr marL="1612900" indent="-228600">
              <a:lnSpc>
                <a:spcPts val="3775"/>
              </a:lnSpc>
              <a:buClr>
                <a:srgbClr val="006666"/>
              </a:buClr>
              <a:buSzPct val="119642"/>
              <a:buFont typeface="Wingdings"/>
              <a:buChar char=""/>
              <a:tabLst>
                <a:tab pos="1612900" algn="l"/>
              </a:tabLst>
            </a:pP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Экспертные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игры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044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КЛАССИФИКАЦИЯ</a:t>
            </a:r>
            <a:r>
              <a:rPr sz="2400" spc="10" dirty="0"/>
              <a:t> </a:t>
            </a:r>
            <a:r>
              <a:rPr sz="2400" spc="-20" dirty="0"/>
              <a:t>МЕТОДОВ</a:t>
            </a:r>
            <a:r>
              <a:rPr sz="2400" spc="-15" dirty="0"/>
              <a:t> </a:t>
            </a:r>
            <a:r>
              <a:rPr sz="2400" spc="-10" dirty="0"/>
              <a:t>ИЗВЛЕЧЕНИЯ</a:t>
            </a:r>
            <a:r>
              <a:rPr sz="2400" spc="15" dirty="0"/>
              <a:t> </a:t>
            </a:r>
            <a:r>
              <a:rPr sz="2400" spc="-10" dirty="0"/>
              <a:t>ЗНАНИЙ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102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913" y="1125537"/>
            <a:ext cx="7245862" cy="5262574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5960" y="110364"/>
            <a:ext cx="10976610" cy="5861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ПЕРЕХОД</a:t>
            </a:r>
            <a:r>
              <a:rPr sz="22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ОТ</a:t>
            </a:r>
            <a:r>
              <a:rPr sz="2200" b="1" spc="2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ИНФОЛОГИЧЕСКОГО</a:t>
            </a:r>
            <a:r>
              <a:rPr sz="2200" b="1" spc="4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МОДЕЛИРОВАНИЯ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u="heavy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38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К</a:t>
            </a:r>
            <a:r>
              <a:rPr sz="2200" b="1" u="heavy" spc="-1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МОДЕЛЯМ</a:t>
            </a:r>
            <a:r>
              <a:rPr sz="2200" b="1" u="heavy" spc="3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ДАННЫХ</a:t>
            </a:r>
            <a:r>
              <a:rPr sz="2200" b="1" u="heavy" spc="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И</a:t>
            </a:r>
            <a:r>
              <a:rPr sz="2200" b="1" u="heavy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ЗНАНИЙ	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 dirty="0">
              <a:latin typeface="Arial"/>
              <a:cs typeface="Arial"/>
            </a:endParaRPr>
          </a:p>
          <a:p>
            <a:pPr marL="103505" marR="2132965" indent="74295">
              <a:lnSpc>
                <a:spcPts val="2110"/>
              </a:lnSpc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построения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можно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использовать,</a:t>
            </a:r>
            <a:r>
              <a:rPr sz="2200" spc="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базовую, </a:t>
            </a:r>
            <a:r>
              <a:rPr sz="2200" spc="-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инфологическую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области.</a:t>
            </a:r>
            <a:endParaRPr sz="2200" dirty="0">
              <a:latin typeface="Arial"/>
              <a:cs typeface="Arial"/>
            </a:endParaRPr>
          </a:p>
          <a:p>
            <a:pPr marL="103505">
              <a:lnSpc>
                <a:spcPct val="100000"/>
              </a:lnSpc>
              <a:spcBef>
                <a:spcPts val="505"/>
              </a:spcBef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Представим:</a:t>
            </a:r>
            <a:endParaRPr sz="2200" dirty="0">
              <a:latin typeface="Arial"/>
              <a:cs typeface="Arial"/>
            </a:endParaRPr>
          </a:p>
          <a:p>
            <a:pPr marL="103505">
              <a:lnSpc>
                <a:spcPct val="100000"/>
              </a:lnSpc>
              <a:spcBef>
                <a:spcPts val="465"/>
              </a:spcBef>
            </a:pP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Инфологическую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i="1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виде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множества</a:t>
            </a:r>
            <a:endParaRPr sz="2200" dirty="0">
              <a:latin typeface="Arial"/>
              <a:cs typeface="Arial"/>
            </a:endParaRPr>
          </a:p>
          <a:p>
            <a:pPr marL="103505" marR="1096010" indent="233679">
              <a:lnSpc>
                <a:spcPts val="2110"/>
              </a:lnSpc>
              <a:spcBef>
                <a:spcPts val="980"/>
              </a:spcBef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{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E,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}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где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объектов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области,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 </a:t>
            </a:r>
            <a:r>
              <a:rPr sz="2200" spc="-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отношений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объектами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области;</a:t>
            </a:r>
            <a:endParaRPr sz="2200" dirty="0">
              <a:latin typeface="Arial"/>
              <a:cs typeface="Arial"/>
            </a:endParaRPr>
          </a:p>
          <a:p>
            <a:pPr marL="103505">
              <a:lnSpc>
                <a:spcPct val="100000"/>
              </a:lnSpc>
              <a:spcBef>
                <a:spcPts val="500"/>
              </a:spcBef>
            </a:pPr>
            <a:r>
              <a:rPr sz="2200" i="1" spc="-15" dirty="0">
                <a:solidFill>
                  <a:srgbClr val="3E3E3E"/>
                </a:solidFill>
                <a:latin typeface="Arial"/>
                <a:cs typeface="Arial"/>
              </a:rPr>
              <a:t>Датологическую</a:t>
            </a:r>
            <a:r>
              <a:rPr sz="2200" i="1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i="1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виде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множества</a:t>
            </a:r>
            <a:endParaRPr sz="2200" dirty="0">
              <a:latin typeface="Arial"/>
              <a:cs typeface="Arial"/>
            </a:endParaRPr>
          </a:p>
          <a:p>
            <a:pPr marL="414655">
              <a:lnSpc>
                <a:spcPct val="100000"/>
              </a:lnSpc>
              <a:spcBef>
                <a:spcPts val="470"/>
              </a:spcBef>
              <a:tabLst>
                <a:tab pos="1581785" algn="l"/>
              </a:tabLst>
            </a:pP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{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D,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}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где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D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описания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данных,</a:t>
            </a:r>
            <a:endParaRPr sz="2200" dirty="0">
              <a:latin typeface="Arial"/>
              <a:cs typeface="Arial"/>
            </a:endParaRPr>
          </a:p>
          <a:p>
            <a:pPr marL="414655">
              <a:lnSpc>
                <a:spcPct val="100000"/>
              </a:lnSpc>
              <a:spcBef>
                <a:spcPts val="465"/>
              </a:spcBef>
              <a:tabLst>
                <a:tab pos="4267200" algn="l"/>
              </a:tabLst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22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операторов	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манипулирования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данными;</a:t>
            </a:r>
            <a:endParaRPr sz="2200" dirty="0">
              <a:latin typeface="Arial"/>
              <a:cs typeface="Arial"/>
            </a:endParaRPr>
          </a:p>
          <a:p>
            <a:pPr marL="103505">
              <a:lnSpc>
                <a:spcPct val="100000"/>
              </a:lnSpc>
              <a:spcBef>
                <a:spcPts val="480"/>
              </a:spcBef>
            </a:pP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i="1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виде </a:t>
            </a:r>
            <a:r>
              <a:rPr sz="2200" i="1" spc="-20" dirty="0">
                <a:solidFill>
                  <a:srgbClr val="3E3E3E"/>
                </a:solidFill>
                <a:latin typeface="Arial"/>
                <a:cs typeface="Arial"/>
              </a:rPr>
              <a:t>множества</a:t>
            </a:r>
            <a:r>
              <a:rPr sz="2200" i="1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{ C,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2200" i="1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},</a:t>
            </a:r>
            <a:endParaRPr sz="2200" dirty="0">
              <a:latin typeface="Arial"/>
              <a:cs typeface="Arial"/>
            </a:endParaRPr>
          </a:p>
          <a:p>
            <a:pPr marL="103505" marR="5080" indent="311150">
              <a:lnSpc>
                <a:spcPts val="2110"/>
              </a:lnSpc>
              <a:spcBef>
                <a:spcPts val="980"/>
              </a:spcBef>
            </a:pP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где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C 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описания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описаний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знаний,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операторов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манипулирования </a:t>
            </a:r>
            <a:r>
              <a:rPr sz="2200" spc="-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знаниями.</a:t>
            </a:r>
            <a:endParaRPr sz="2200" dirty="0">
              <a:latin typeface="Arial"/>
              <a:cs typeface="Arial"/>
            </a:endParaRPr>
          </a:p>
          <a:p>
            <a:pPr marL="103505" marR="1468120">
              <a:lnSpc>
                <a:spcPts val="2110"/>
              </a:lnSpc>
              <a:spcBef>
                <a:spcPts val="1000"/>
              </a:spcBef>
              <a:tabLst>
                <a:tab pos="8928735" algn="l"/>
              </a:tabLst>
            </a:pP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сс</a:t>
            </a:r>
            <a:r>
              <a:rPr sz="2200" i="1" spc="-1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i="1" spc="-5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рим</a:t>
            </a:r>
            <a:r>
              <a:rPr sz="2200" i="1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i="1" spc="-5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ражения</a:t>
            </a:r>
            <a:r>
              <a:rPr sz="2200" i="1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1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i="1" spc="-7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ей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анных</a:t>
            </a:r>
            <a:r>
              <a:rPr sz="2200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наний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дл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я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ной</a:t>
            </a:r>
            <a:r>
              <a:rPr sz="2200" i="1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200" i="1" spc="-7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i="1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200" i="1" spc="-5" dirty="0">
                <a:solidFill>
                  <a:srgbClr val="3E3E3E"/>
                </a:solidFill>
                <a:latin typeface="Arial"/>
                <a:cs typeface="Arial"/>
              </a:rPr>
              <a:t>х  </a:t>
            </a:r>
            <a:r>
              <a:rPr sz="2200" i="1" spc="-15" dirty="0">
                <a:solidFill>
                  <a:srgbClr val="3E3E3E"/>
                </a:solidFill>
                <a:latin typeface="Arial"/>
                <a:cs typeface="Arial"/>
              </a:rPr>
              <a:t>предметных</a:t>
            </a:r>
            <a:r>
              <a:rPr sz="2200" i="1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3E3E3E"/>
                </a:solidFill>
                <a:latin typeface="Arial"/>
                <a:cs typeface="Arial"/>
              </a:rPr>
              <a:t>областей.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103</a:t>
            </a:fld>
            <a:endParaRPr spc="-5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20" dirty="0"/>
              <a:t>ПЕРЕХОД</a:t>
            </a:r>
            <a:r>
              <a:rPr sz="2200" spc="5" dirty="0"/>
              <a:t> </a:t>
            </a:r>
            <a:r>
              <a:rPr sz="2200" spc="-10" dirty="0"/>
              <a:t>ОТ</a:t>
            </a:r>
            <a:r>
              <a:rPr sz="2200" spc="20" dirty="0"/>
              <a:t> </a:t>
            </a:r>
            <a:r>
              <a:rPr sz="2200" spc="-15" dirty="0"/>
              <a:t>ИНФОЛОГИЧЕСКОГО</a:t>
            </a:r>
            <a:r>
              <a:rPr sz="2200" spc="45" dirty="0"/>
              <a:t> </a:t>
            </a:r>
            <a:r>
              <a:rPr sz="2200" spc="-20" dirty="0"/>
              <a:t>МОДЕЛИРОВАНИЯ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b="0" u="heavy" spc="-5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0" u="heavy" spc="-380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К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 МОДЕЛЯМ</a:t>
            </a:r>
            <a:r>
              <a:rPr sz="2200" u="heavy" spc="3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ДАННЫХ</a:t>
            </a:r>
            <a:r>
              <a:rPr sz="2200" u="heavy" spc="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И</a:t>
            </a:r>
            <a:r>
              <a:rPr sz="2200" u="heavy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ЗНАНИЙ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104</a:t>
            </a:fld>
            <a:endParaRPr spc="-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912" y="1125537"/>
            <a:ext cx="7017918" cy="525993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140843"/>
            <a:ext cx="6904990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5" dirty="0"/>
              <a:t>ПЕРЕХОД</a:t>
            </a:r>
            <a:r>
              <a:rPr sz="2000" spc="-30" dirty="0"/>
              <a:t> </a:t>
            </a:r>
            <a:r>
              <a:rPr sz="2000" dirty="0"/>
              <a:t>ОТ</a:t>
            </a:r>
            <a:r>
              <a:rPr sz="2000" spc="-35" dirty="0"/>
              <a:t> </a:t>
            </a:r>
            <a:r>
              <a:rPr sz="2000" spc="-5" dirty="0"/>
              <a:t>ИНФОЛОГИЧЕСКОГО</a:t>
            </a:r>
            <a:r>
              <a:rPr sz="2000" spc="-70" dirty="0"/>
              <a:t> </a:t>
            </a:r>
            <a:r>
              <a:rPr sz="2000" spc="-10" dirty="0"/>
              <a:t>МОДЕЛИРОВАНИЯ </a:t>
            </a:r>
            <a:r>
              <a:rPr sz="2000" spc="-540" dirty="0"/>
              <a:t> </a:t>
            </a:r>
            <a:r>
              <a:rPr sz="2000" dirty="0"/>
              <a:t>К</a:t>
            </a:r>
            <a:r>
              <a:rPr sz="2000" spc="-10" dirty="0"/>
              <a:t> </a:t>
            </a:r>
            <a:r>
              <a:rPr sz="2000" spc="-5" dirty="0"/>
              <a:t>МОДЕЛЯМ</a:t>
            </a:r>
            <a:r>
              <a:rPr sz="2000" spc="-45" dirty="0"/>
              <a:t> </a:t>
            </a:r>
            <a:r>
              <a:rPr sz="2000" dirty="0"/>
              <a:t>ДАННЫХ И</a:t>
            </a:r>
            <a:r>
              <a:rPr sz="2000" spc="-25" dirty="0"/>
              <a:t> </a:t>
            </a:r>
            <a:r>
              <a:rPr sz="2000" spc="5" dirty="0"/>
              <a:t>ЗНАНИЙ</a:t>
            </a:r>
            <a:endParaRPr sz="2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6843" y="920502"/>
            <a:ext cx="10774680" cy="410908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Комментарии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к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рисункам:</a:t>
            </a:r>
            <a:endParaRPr sz="2200">
              <a:latin typeface="Arial"/>
              <a:cs typeface="Arial"/>
            </a:endParaRPr>
          </a:p>
          <a:p>
            <a:pPr marL="12700" marR="398780">
              <a:lnSpc>
                <a:spcPts val="2380"/>
              </a:lnSpc>
              <a:spcBef>
                <a:spcPts val="1040"/>
              </a:spcBef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Fd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отображение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инфологической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данных;</a:t>
            </a:r>
            <a:r>
              <a:rPr sz="22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Fc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отображение </a:t>
            </a:r>
            <a:r>
              <a:rPr sz="2200" spc="-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инфологической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знаний;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Fdc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Fcd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взаимные</a:t>
            </a:r>
            <a:r>
              <a:rPr sz="22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отображения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моделей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 знаний;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Ft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отображение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моделей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 в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транзитную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область.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ts val="2380"/>
              </a:lnSpc>
              <a:spcBef>
                <a:spcPts val="980"/>
              </a:spcBef>
              <a:tabLst>
                <a:tab pos="3232150" algn="l"/>
              </a:tabLst>
            </a:pP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Индекс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j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относится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описаниям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данных,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инфологической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j-й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области;	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индекс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k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к описаниям данных,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 инфологической </a:t>
            </a:r>
            <a:r>
              <a:rPr sz="2200" spc="-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k-й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области.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{D,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T,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 C}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 гибридная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знаний;</a:t>
            </a:r>
            <a:endParaRPr sz="2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745"/>
              </a:spcBef>
            </a:pP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операторов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преобразования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Транзитная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область</a:t>
            </a:r>
            <a:r>
              <a:rPr sz="22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область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временного</a:t>
            </a:r>
            <a:r>
              <a:rPr sz="22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хранения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знаний.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399" y="140843"/>
            <a:ext cx="9489440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4779010" algn="l"/>
                <a:tab pos="5962650" algn="l"/>
              </a:tabLst>
            </a:pPr>
            <a:r>
              <a:rPr sz="2000" spc="-20" dirty="0"/>
              <a:t>АРХИТЕКТУРА</a:t>
            </a:r>
            <a:r>
              <a:rPr sz="2000" spc="40" dirty="0"/>
              <a:t> </a:t>
            </a:r>
            <a:r>
              <a:rPr sz="2000" spc="-20" dirty="0"/>
              <a:t>ПРОГРАММНОГО</a:t>
            </a:r>
            <a:r>
              <a:rPr sz="2000" spc="-35" dirty="0"/>
              <a:t> </a:t>
            </a:r>
            <a:r>
              <a:rPr sz="2000" spc="-10" dirty="0"/>
              <a:t>КОМПЛЕКСА,	</a:t>
            </a:r>
            <a:r>
              <a:rPr sz="2000" spc="-15" dirty="0"/>
              <a:t>ПОДДЕРЖИВАЮЩЕГО </a:t>
            </a:r>
            <a:r>
              <a:rPr sz="2000" spc="-10" dirty="0"/>
              <a:t> </a:t>
            </a:r>
            <a:r>
              <a:rPr sz="2000" spc="-20" dirty="0"/>
              <a:t>ОТОБРАЖЕНИЯ</a:t>
            </a:r>
            <a:r>
              <a:rPr sz="2000" spc="-25" dirty="0"/>
              <a:t> </a:t>
            </a:r>
            <a:r>
              <a:rPr sz="2000" dirty="0"/>
              <a:t>ДАННЫХ</a:t>
            </a:r>
            <a:r>
              <a:rPr sz="2000" spc="15" dirty="0"/>
              <a:t> </a:t>
            </a:r>
            <a:r>
              <a:rPr sz="2000" dirty="0"/>
              <a:t>И</a:t>
            </a:r>
            <a:r>
              <a:rPr sz="2000" spc="-10" dirty="0"/>
              <a:t> </a:t>
            </a:r>
            <a:r>
              <a:rPr sz="2000" dirty="0"/>
              <a:t>ЗНАНИЙ	ДЛЯ</a:t>
            </a:r>
            <a:r>
              <a:rPr sz="2000" spc="-25" dirty="0"/>
              <a:t> </a:t>
            </a:r>
            <a:r>
              <a:rPr sz="2000" spc="-15" dirty="0"/>
              <a:t>ДВУХ </a:t>
            </a:r>
            <a:r>
              <a:rPr sz="2000" spc="-5" dirty="0"/>
              <a:t>ПРЕДМЕТНЫХ</a:t>
            </a:r>
            <a:r>
              <a:rPr sz="2000" dirty="0"/>
              <a:t> </a:t>
            </a:r>
            <a:r>
              <a:rPr sz="2000" spc="-20" dirty="0"/>
              <a:t>ОБЛАСТЕЙ</a:t>
            </a:r>
            <a:endParaRPr sz="2000"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106</a:t>
            </a:fld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5440311" y="1341437"/>
            <a:ext cx="1661160" cy="325120"/>
          </a:xfrm>
          <a:custGeom>
            <a:avLst/>
            <a:gdLst/>
            <a:ahLst/>
            <a:cxnLst/>
            <a:rect l="l" t="t" r="r" b="b"/>
            <a:pathLst>
              <a:path w="1661159" h="325119">
                <a:moveTo>
                  <a:pt x="1661045" y="0"/>
                </a:moveTo>
                <a:lnTo>
                  <a:pt x="0" y="0"/>
                </a:lnTo>
                <a:lnTo>
                  <a:pt x="0" y="324573"/>
                </a:lnTo>
                <a:lnTo>
                  <a:pt x="1661045" y="324573"/>
                </a:lnTo>
                <a:lnTo>
                  <a:pt x="16610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40311" y="1341437"/>
            <a:ext cx="1661160" cy="2603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35585">
              <a:lnSpc>
                <a:spcPts val="1789"/>
              </a:lnSpc>
              <a:spcBef>
                <a:spcPts val="260"/>
              </a:spcBef>
            </a:pPr>
            <a:r>
              <a:rPr sz="1600" spc="-10" dirty="0">
                <a:latin typeface="Calibri"/>
                <a:cs typeface="Calibri"/>
              </a:rPr>
              <a:t>Пользователь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40311" y="1601774"/>
            <a:ext cx="1661160" cy="568325"/>
          </a:xfrm>
          <a:custGeom>
            <a:avLst/>
            <a:gdLst/>
            <a:ahLst/>
            <a:cxnLst/>
            <a:rect l="l" t="t" r="r" b="b"/>
            <a:pathLst>
              <a:path w="1661159" h="568325">
                <a:moveTo>
                  <a:pt x="1661045" y="0"/>
                </a:moveTo>
                <a:lnTo>
                  <a:pt x="0" y="0"/>
                </a:lnTo>
                <a:lnTo>
                  <a:pt x="0" y="568007"/>
                </a:lnTo>
                <a:lnTo>
                  <a:pt x="1661045" y="568007"/>
                </a:lnTo>
                <a:lnTo>
                  <a:pt x="16610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40311" y="1601774"/>
            <a:ext cx="1661160" cy="568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45110" marR="239395" indent="112395">
              <a:lnSpc>
                <a:spcPct val="100000"/>
              </a:lnSpc>
              <a:spcBef>
                <a:spcPts val="260"/>
              </a:spcBef>
            </a:pPr>
            <a:r>
              <a:rPr sz="1600" spc="-10" dirty="0">
                <a:latin typeface="Calibri"/>
                <a:cs typeface="Calibri"/>
              </a:rPr>
              <a:t>Интерфейс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</a:t>
            </a:r>
            <a:r>
              <a:rPr sz="1600" spc="-35" dirty="0">
                <a:latin typeface="Calibri"/>
                <a:cs typeface="Calibri"/>
              </a:rPr>
              <a:t>о</a:t>
            </a:r>
            <a:r>
              <a:rPr sz="1600" spc="-5" dirty="0">
                <a:latin typeface="Calibri"/>
                <a:cs typeface="Calibri"/>
              </a:rPr>
              <a:t>л</a:t>
            </a:r>
            <a:r>
              <a:rPr sz="1600" spc="-15" dirty="0">
                <a:latin typeface="Calibri"/>
                <a:cs typeface="Calibri"/>
              </a:rPr>
              <a:t>ь</a:t>
            </a:r>
            <a:r>
              <a:rPr sz="1600" spc="-10" dirty="0">
                <a:latin typeface="Calibri"/>
                <a:cs typeface="Calibri"/>
              </a:rPr>
              <a:t>зо</a:t>
            </a:r>
            <a:r>
              <a:rPr sz="1600" spc="-5" dirty="0">
                <a:latin typeface="Calibri"/>
                <a:cs typeface="Calibri"/>
              </a:rPr>
              <a:t>ва</a:t>
            </a:r>
            <a:r>
              <a:rPr sz="1600" spc="-15" dirty="0">
                <a:latin typeface="Calibri"/>
                <a:cs typeface="Calibri"/>
              </a:rPr>
              <a:t>т</a:t>
            </a:r>
            <a:r>
              <a:rPr sz="1600" spc="-35" dirty="0">
                <a:latin typeface="Calibri"/>
                <a:cs typeface="Calibri"/>
              </a:rPr>
              <a:t>е</a:t>
            </a:r>
            <a:r>
              <a:rPr sz="1600" spc="-5" dirty="0">
                <a:latin typeface="Calibri"/>
                <a:cs typeface="Calibri"/>
              </a:rPr>
              <a:t>ля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0093" y="1579232"/>
            <a:ext cx="1542415" cy="568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600" spc="-10" dirty="0">
                <a:latin typeface="Calibri"/>
                <a:cs typeface="Calibri"/>
              </a:rPr>
              <a:t>Эксперт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j-ой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0530" y="1579232"/>
            <a:ext cx="1661160" cy="568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600" spc="-10" dirty="0">
                <a:latin typeface="Calibri"/>
                <a:cs typeface="Calibri"/>
              </a:rPr>
              <a:t>Эксперт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k-ой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4368" y="2575509"/>
            <a:ext cx="2372995" cy="243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41959">
              <a:lnSpc>
                <a:spcPts val="1650"/>
              </a:lnSpc>
              <a:spcBef>
                <a:spcPts val="265"/>
              </a:spcBef>
            </a:pPr>
            <a:r>
              <a:rPr sz="1400" dirty="0">
                <a:latin typeface="Calibri"/>
                <a:cs typeface="Calibri"/>
              </a:rPr>
              <a:t>Машина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вывода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(Р)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1450" y="3224669"/>
            <a:ext cx="1898650" cy="81153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БЗ</a:t>
            </a:r>
            <a:endParaRPr sz="1600">
              <a:latin typeface="Calibri"/>
              <a:cs typeface="Calibri"/>
            </a:endParaRPr>
          </a:p>
          <a:p>
            <a:pPr marL="230504" marR="223520" algn="ct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j-ой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предметной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1873" y="3224669"/>
            <a:ext cx="2017395" cy="81153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Calibri"/>
                <a:cs typeface="Calibri"/>
              </a:rPr>
              <a:t>БЗ</a:t>
            </a:r>
            <a:endParaRPr sz="1600">
              <a:latin typeface="Calibri"/>
              <a:cs typeface="Calibri"/>
            </a:endParaRPr>
          </a:p>
          <a:p>
            <a:pPr marL="267970" marR="261620"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k-ой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предметной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8736" y="4361256"/>
            <a:ext cx="1542415" cy="8928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239395" marR="215900" indent="-17145" algn="just">
              <a:lnSpc>
                <a:spcPct val="100000"/>
              </a:lnSpc>
              <a:spcBef>
                <a:spcPts val="259"/>
              </a:spcBef>
            </a:pPr>
            <a:r>
              <a:rPr sz="1600" spc="-5" dirty="0">
                <a:latin typeface="Calibri"/>
                <a:cs typeface="Calibri"/>
              </a:rPr>
              <a:t>Пр</a:t>
            </a:r>
            <a:r>
              <a:rPr sz="1600" spc="-10" dirty="0">
                <a:latin typeface="Calibri"/>
                <a:cs typeface="Calibri"/>
              </a:rPr>
              <a:t>и</a:t>
            </a:r>
            <a:r>
              <a:rPr sz="1600" spc="-5" dirty="0">
                <a:latin typeface="Calibri"/>
                <a:cs typeface="Calibri"/>
              </a:rPr>
              <a:t>кла</a:t>
            </a:r>
            <a:r>
              <a:rPr sz="1600" spc="-10" dirty="0">
                <a:latin typeface="Calibri"/>
                <a:cs typeface="Calibri"/>
              </a:rPr>
              <a:t>дн</a:t>
            </a:r>
            <a:r>
              <a:rPr sz="1600" spc="-5" dirty="0">
                <a:latin typeface="Calibri"/>
                <a:cs typeface="Calibri"/>
              </a:rPr>
              <a:t>ые  программы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j-ой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9173" y="4361256"/>
            <a:ext cx="1542415" cy="8928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217804" marR="212090" indent="4445" algn="just">
              <a:lnSpc>
                <a:spcPct val="100000"/>
              </a:lnSpc>
              <a:spcBef>
                <a:spcPts val="259"/>
              </a:spcBef>
            </a:pPr>
            <a:r>
              <a:rPr sz="1600" spc="-5" dirty="0">
                <a:latin typeface="Calibri"/>
                <a:cs typeface="Calibri"/>
              </a:rPr>
              <a:t>Пр</a:t>
            </a:r>
            <a:r>
              <a:rPr sz="1600" spc="-10" dirty="0">
                <a:latin typeface="Calibri"/>
                <a:cs typeface="Calibri"/>
              </a:rPr>
              <a:t>и</a:t>
            </a:r>
            <a:r>
              <a:rPr sz="1600" spc="-5" dirty="0">
                <a:latin typeface="Calibri"/>
                <a:cs typeface="Calibri"/>
              </a:rPr>
              <a:t>кла</a:t>
            </a:r>
            <a:r>
              <a:rPr sz="1600" spc="-10" dirty="0">
                <a:latin typeface="Calibri"/>
                <a:cs typeface="Calibri"/>
              </a:rPr>
              <a:t>дн</a:t>
            </a:r>
            <a:r>
              <a:rPr sz="1600" spc="-5" dirty="0">
                <a:latin typeface="Calibri"/>
                <a:cs typeface="Calibri"/>
              </a:rPr>
              <a:t>ые  программы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k-ой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области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60963" y="4355934"/>
            <a:ext cx="2738755" cy="1064895"/>
            <a:chOff x="4960963" y="4355934"/>
            <a:chExt cx="2738755" cy="1064895"/>
          </a:xfrm>
        </p:grpSpPr>
        <p:sp>
          <p:nvSpPr>
            <p:cNvPr id="15" name="object 15"/>
            <p:cNvSpPr/>
            <p:nvPr/>
          </p:nvSpPr>
          <p:spPr>
            <a:xfrm>
              <a:off x="4965725" y="4360697"/>
              <a:ext cx="2729230" cy="1055370"/>
            </a:xfrm>
            <a:custGeom>
              <a:avLst/>
              <a:gdLst/>
              <a:ahLst/>
              <a:cxnLst/>
              <a:rect l="l" t="t" r="r" b="b"/>
              <a:pathLst>
                <a:path w="2729229" h="1055370">
                  <a:moveTo>
                    <a:pt x="2728861" y="0"/>
                  </a:moveTo>
                  <a:lnTo>
                    <a:pt x="0" y="0"/>
                  </a:lnTo>
                  <a:lnTo>
                    <a:pt x="0" y="1054874"/>
                  </a:lnTo>
                  <a:lnTo>
                    <a:pt x="2728861" y="1054874"/>
                  </a:lnTo>
                  <a:lnTo>
                    <a:pt x="27288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5725" y="4360697"/>
              <a:ext cx="2729230" cy="1055370"/>
            </a:xfrm>
            <a:custGeom>
              <a:avLst/>
              <a:gdLst/>
              <a:ahLst/>
              <a:cxnLst/>
              <a:rect l="l" t="t" r="r" b="b"/>
              <a:pathLst>
                <a:path w="2729229" h="1055370">
                  <a:moveTo>
                    <a:pt x="0" y="0"/>
                  </a:moveTo>
                  <a:lnTo>
                    <a:pt x="2728861" y="0"/>
                  </a:lnTo>
                  <a:lnTo>
                    <a:pt x="2728861" y="1054874"/>
                  </a:lnTo>
                  <a:lnTo>
                    <a:pt x="0" y="105487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70488" y="4365459"/>
            <a:ext cx="2719705" cy="5575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209" rIns="0" bIns="0" rtlCol="0">
            <a:spAutoFit/>
          </a:bodyPr>
          <a:lstStyle/>
          <a:p>
            <a:pPr marL="883919" marR="118745" indent="-759460">
              <a:lnSpc>
                <a:spcPct val="100000"/>
              </a:lnSpc>
              <a:spcBef>
                <a:spcPts val="229"/>
              </a:spcBef>
            </a:pPr>
            <a:r>
              <a:rPr sz="1400" spc="-10" dirty="0">
                <a:latin typeface="Calibri"/>
                <a:cs typeface="Calibri"/>
              </a:rPr>
              <a:t>Система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управления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транзитной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областью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(Т)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70488" y="4935617"/>
            <a:ext cx="2719705" cy="4756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5880" rIns="0" bIns="0" rtlCol="0">
            <a:spAutoFit/>
          </a:bodyPr>
          <a:lstStyle/>
          <a:p>
            <a:pPr marL="1161415" marR="610870" indent="-544195">
              <a:lnSpc>
                <a:spcPct val="100000"/>
              </a:lnSpc>
              <a:spcBef>
                <a:spcPts val="440"/>
              </a:spcBef>
            </a:pPr>
            <a:r>
              <a:rPr sz="1400" spc="-100" dirty="0">
                <a:latin typeface="Calibri"/>
                <a:cs typeface="Calibri"/>
              </a:rPr>
              <a:t>Т</a:t>
            </a:r>
            <a:r>
              <a:rPr sz="1400" spc="-10" dirty="0">
                <a:latin typeface="Calibri"/>
                <a:cs typeface="Calibri"/>
              </a:rPr>
              <a:t>р</a:t>
            </a:r>
            <a:r>
              <a:rPr sz="1400" spc="-5" dirty="0">
                <a:latin typeface="Calibri"/>
                <a:cs typeface="Calibri"/>
              </a:rPr>
              <a:t>а</a:t>
            </a:r>
            <a:r>
              <a:rPr sz="1400" dirty="0">
                <a:latin typeface="Calibri"/>
                <a:cs typeface="Calibri"/>
              </a:rPr>
              <a:t>н</a:t>
            </a:r>
            <a:r>
              <a:rPr sz="1400" spc="-10" dirty="0">
                <a:latin typeface="Calibri"/>
                <a:cs typeface="Calibri"/>
              </a:rPr>
              <a:t>з</a:t>
            </a:r>
            <a:r>
              <a:rPr sz="1400" spc="-5" dirty="0">
                <a:latin typeface="Calibri"/>
                <a:cs typeface="Calibri"/>
              </a:rPr>
              <a:t>ит</a:t>
            </a:r>
            <a:r>
              <a:rPr sz="1400" dirty="0">
                <a:latin typeface="Calibri"/>
                <a:cs typeface="Calibri"/>
              </a:rPr>
              <a:t>ная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о</a:t>
            </a:r>
            <a:r>
              <a:rPr sz="1400" spc="-30" dirty="0">
                <a:latin typeface="Calibri"/>
                <a:cs typeface="Calibri"/>
              </a:rPr>
              <a:t>б</a:t>
            </a:r>
            <a:r>
              <a:rPr sz="1400" dirty="0">
                <a:latin typeface="Calibri"/>
                <a:cs typeface="Calibri"/>
              </a:rPr>
              <a:t>ла</a:t>
            </a:r>
            <a:r>
              <a:rPr sz="1400" spc="-10" dirty="0">
                <a:latin typeface="Calibri"/>
                <a:cs typeface="Calibri"/>
              </a:rPr>
              <a:t>с</a:t>
            </a:r>
            <a:r>
              <a:rPr sz="1400" spc="-5" dirty="0">
                <a:latin typeface="Calibri"/>
                <a:cs typeface="Calibri"/>
              </a:rPr>
              <a:t>т</a:t>
            </a:r>
            <a:r>
              <a:rPr sz="1400" dirty="0">
                <a:latin typeface="Calibri"/>
                <a:cs typeface="Calibri"/>
              </a:rPr>
              <a:t>ь  </a:t>
            </a:r>
            <a:r>
              <a:rPr sz="1400" spc="-5" dirty="0">
                <a:latin typeface="Calibri"/>
                <a:cs typeface="Calibri"/>
              </a:rPr>
              <a:t>(C, 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7082" y="5740717"/>
            <a:ext cx="3084830" cy="568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170940" marR="480695" indent="-683260">
              <a:lnSpc>
                <a:spcPct val="100000"/>
              </a:lnSpc>
              <a:spcBef>
                <a:spcPts val="265"/>
              </a:spcBef>
            </a:pPr>
            <a:r>
              <a:rPr sz="1400" spc="-10" dirty="0">
                <a:latin typeface="Calibri"/>
                <a:cs typeface="Calibri"/>
              </a:rPr>
              <a:t>Система </a:t>
            </a:r>
            <a:r>
              <a:rPr sz="1400" spc="-5" dirty="0">
                <a:latin typeface="Calibri"/>
                <a:cs typeface="Calibri"/>
              </a:rPr>
              <a:t>управления </a:t>
            </a:r>
            <a:r>
              <a:rPr sz="1400" dirty="0">
                <a:latin typeface="Calibri"/>
                <a:cs typeface="Calibri"/>
              </a:rPr>
              <a:t>БД </a:t>
            </a:r>
            <a:r>
              <a:rPr sz="1400" spc="-5" dirty="0">
                <a:latin typeface="Calibri"/>
                <a:cs typeface="Calibri"/>
              </a:rPr>
              <a:t>(М)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БД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(D</a:t>
            </a:r>
            <a:r>
              <a:rPr sz="1350" baseline="-21604" dirty="0">
                <a:latin typeface="Calibri"/>
                <a:cs typeface="Calibri"/>
              </a:rPr>
              <a:t>j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</a:t>
            </a:r>
            <a:r>
              <a:rPr sz="1350" baseline="-21604" dirty="0">
                <a:latin typeface="Calibri"/>
                <a:cs typeface="Calibri"/>
              </a:rPr>
              <a:t>k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28436" y="2812596"/>
            <a:ext cx="1193165" cy="655955"/>
            <a:chOff x="4728436" y="2812596"/>
            <a:chExt cx="1193165" cy="655955"/>
          </a:xfrm>
        </p:grpSpPr>
        <p:sp>
          <p:nvSpPr>
            <p:cNvPr id="21" name="object 21"/>
            <p:cNvSpPr/>
            <p:nvPr/>
          </p:nvSpPr>
          <p:spPr>
            <a:xfrm>
              <a:off x="4773003" y="2818946"/>
              <a:ext cx="1142365" cy="624840"/>
            </a:xfrm>
            <a:custGeom>
              <a:avLst/>
              <a:gdLst/>
              <a:ahLst/>
              <a:cxnLst/>
              <a:rect l="l" t="t" r="r" b="b"/>
              <a:pathLst>
                <a:path w="1142364" h="624839">
                  <a:moveTo>
                    <a:pt x="1141895" y="0"/>
                  </a:moveTo>
                  <a:lnTo>
                    <a:pt x="0" y="6247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28436" y="3398099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48552" y="0"/>
                  </a:moveTo>
                  <a:lnTo>
                    <a:pt x="0" y="70002"/>
                  </a:lnTo>
                  <a:lnTo>
                    <a:pt x="85140" y="66852"/>
                  </a:lnTo>
                  <a:lnTo>
                    <a:pt x="44564" y="45618"/>
                  </a:lnTo>
                  <a:lnTo>
                    <a:pt x="48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624997" y="2143305"/>
            <a:ext cx="76200" cy="1055370"/>
            <a:chOff x="3624997" y="2143305"/>
            <a:chExt cx="76200" cy="1055370"/>
          </a:xfrm>
        </p:grpSpPr>
        <p:sp>
          <p:nvSpPr>
            <p:cNvPr id="24" name="object 24"/>
            <p:cNvSpPr/>
            <p:nvPr/>
          </p:nvSpPr>
          <p:spPr>
            <a:xfrm>
              <a:off x="3663093" y="2143305"/>
              <a:ext cx="0" cy="1004569"/>
            </a:xfrm>
            <a:custGeom>
              <a:avLst/>
              <a:gdLst/>
              <a:ahLst/>
              <a:cxnLst/>
              <a:rect l="l" t="t" r="r" b="b"/>
              <a:pathLst>
                <a:path h="1004569">
                  <a:moveTo>
                    <a:pt x="0" y="0"/>
                  </a:moveTo>
                  <a:lnTo>
                    <a:pt x="0" y="10040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4997" y="31219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961600" y="2143304"/>
            <a:ext cx="76200" cy="1055370"/>
            <a:chOff x="8961600" y="2143304"/>
            <a:chExt cx="76200" cy="1055370"/>
          </a:xfrm>
        </p:grpSpPr>
        <p:sp>
          <p:nvSpPr>
            <p:cNvPr id="27" name="object 27"/>
            <p:cNvSpPr/>
            <p:nvPr/>
          </p:nvSpPr>
          <p:spPr>
            <a:xfrm>
              <a:off x="8999697" y="2143304"/>
              <a:ext cx="0" cy="1004569"/>
            </a:xfrm>
            <a:custGeom>
              <a:avLst/>
              <a:gdLst/>
              <a:ahLst/>
              <a:cxnLst/>
              <a:rect l="l" t="t" r="r" b="b"/>
              <a:pathLst>
                <a:path h="1004569">
                  <a:moveTo>
                    <a:pt x="0" y="0"/>
                  </a:moveTo>
                  <a:lnTo>
                    <a:pt x="0" y="10040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61600" y="31219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6270835" y="1392716"/>
            <a:ext cx="0" cy="113664"/>
          </a:xfrm>
          <a:custGeom>
            <a:avLst/>
            <a:gdLst/>
            <a:ahLst/>
            <a:cxnLst/>
            <a:rect l="l" t="t" r="r" b="b"/>
            <a:pathLst>
              <a:path h="113665">
                <a:moveTo>
                  <a:pt x="0" y="0"/>
                </a:moveTo>
                <a:lnTo>
                  <a:pt x="0" y="11318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232739" y="1480496"/>
            <a:ext cx="76200" cy="1095375"/>
            <a:chOff x="6232739" y="1480496"/>
            <a:chExt cx="76200" cy="1095375"/>
          </a:xfrm>
        </p:grpSpPr>
        <p:sp>
          <p:nvSpPr>
            <p:cNvPr id="31" name="object 31"/>
            <p:cNvSpPr/>
            <p:nvPr/>
          </p:nvSpPr>
          <p:spPr>
            <a:xfrm>
              <a:off x="6270835" y="2169789"/>
              <a:ext cx="0" cy="354965"/>
            </a:xfrm>
            <a:custGeom>
              <a:avLst/>
              <a:gdLst/>
              <a:ahLst/>
              <a:cxnLst/>
              <a:rect l="l" t="t" r="r" b="b"/>
              <a:pathLst>
                <a:path h="354964">
                  <a:moveTo>
                    <a:pt x="0" y="0"/>
                  </a:moveTo>
                  <a:lnTo>
                    <a:pt x="0" y="35492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32728" y="1480502"/>
              <a:ext cx="76200" cy="1095375"/>
            </a:xfrm>
            <a:custGeom>
              <a:avLst/>
              <a:gdLst/>
              <a:ahLst/>
              <a:cxnLst/>
              <a:rect l="l" t="t" r="r" b="b"/>
              <a:pathLst>
                <a:path w="76200" h="1095375">
                  <a:moveTo>
                    <a:pt x="76200" y="1018819"/>
                  </a:moveTo>
                  <a:lnTo>
                    <a:pt x="38100" y="1044219"/>
                  </a:lnTo>
                  <a:lnTo>
                    <a:pt x="0" y="1018819"/>
                  </a:lnTo>
                  <a:lnTo>
                    <a:pt x="38100" y="1095019"/>
                  </a:lnTo>
                  <a:lnTo>
                    <a:pt x="76200" y="1018819"/>
                  </a:lnTo>
                  <a:close/>
                </a:path>
                <a:path w="76200" h="1095375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571181" y="1341437"/>
            <a:ext cx="9525" cy="643890"/>
            <a:chOff x="7571181" y="1341437"/>
            <a:chExt cx="9525" cy="643890"/>
          </a:xfrm>
        </p:grpSpPr>
        <p:sp>
          <p:nvSpPr>
            <p:cNvPr id="34" name="object 34"/>
            <p:cNvSpPr/>
            <p:nvPr/>
          </p:nvSpPr>
          <p:spPr>
            <a:xfrm>
              <a:off x="7575943" y="1341437"/>
              <a:ext cx="0" cy="405765"/>
            </a:xfrm>
            <a:custGeom>
              <a:avLst/>
              <a:gdLst/>
              <a:ahLst/>
              <a:cxnLst/>
              <a:rect l="l" t="t" r="r" b="b"/>
              <a:pathLst>
                <a:path h="405764">
                  <a:moveTo>
                    <a:pt x="0" y="0"/>
                  </a:moveTo>
                  <a:lnTo>
                    <a:pt x="0" y="40572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75943" y="1579236"/>
              <a:ext cx="0" cy="405765"/>
            </a:xfrm>
            <a:custGeom>
              <a:avLst/>
              <a:gdLst/>
              <a:ahLst/>
              <a:cxnLst/>
              <a:rect l="l" t="t" r="r" b="b"/>
              <a:pathLst>
                <a:path h="405764">
                  <a:moveTo>
                    <a:pt x="0" y="0"/>
                  </a:moveTo>
                  <a:lnTo>
                    <a:pt x="0" y="40572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7575943" y="2088643"/>
            <a:ext cx="0" cy="405765"/>
          </a:xfrm>
          <a:custGeom>
            <a:avLst/>
            <a:gdLst/>
            <a:ahLst/>
            <a:cxnLst/>
            <a:rect l="l" t="t" r="r" b="b"/>
            <a:pathLst>
              <a:path h="405764">
                <a:moveTo>
                  <a:pt x="0" y="0"/>
                </a:moveTo>
                <a:lnTo>
                  <a:pt x="0" y="4057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11452" y="4198401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>
                <a:moveTo>
                  <a:pt x="0" y="0"/>
                </a:moveTo>
                <a:lnTo>
                  <a:pt x="59322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41975" y="4198401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>
                <a:moveTo>
                  <a:pt x="0" y="0"/>
                </a:moveTo>
                <a:lnTo>
                  <a:pt x="59322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4372499" y="3625629"/>
            <a:ext cx="3797300" cy="2115185"/>
            <a:chOff x="4372499" y="3625629"/>
            <a:chExt cx="3797300" cy="2115185"/>
          </a:xfrm>
        </p:grpSpPr>
        <p:sp>
          <p:nvSpPr>
            <p:cNvPr id="40" name="object 40"/>
            <p:cNvSpPr/>
            <p:nvPr/>
          </p:nvSpPr>
          <p:spPr>
            <a:xfrm>
              <a:off x="6270834" y="5416136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20">
                  <a:moveTo>
                    <a:pt x="0" y="0"/>
                  </a:moveTo>
                  <a:lnTo>
                    <a:pt x="0" y="273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32738" y="56645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38100" y="25400"/>
                  </a:ln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41944" y="4929267"/>
              <a:ext cx="3576954" cy="0"/>
            </a:xfrm>
            <a:custGeom>
              <a:avLst/>
              <a:gdLst/>
              <a:ahLst/>
              <a:cxnLst/>
              <a:rect l="l" t="t" r="r" b="b"/>
              <a:pathLst>
                <a:path w="3576954">
                  <a:moveTo>
                    <a:pt x="0" y="0"/>
                  </a:moveTo>
                  <a:lnTo>
                    <a:pt x="357643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91139" y="4891176"/>
              <a:ext cx="3678554" cy="76200"/>
            </a:xfrm>
            <a:custGeom>
              <a:avLst/>
              <a:gdLst/>
              <a:ahLst/>
              <a:cxnLst/>
              <a:rect l="l" t="t" r="r" b="b"/>
              <a:pathLst>
                <a:path w="367855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50800" y="38100"/>
                  </a:lnTo>
                  <a:lnTo>
                    <a:pt x="76200" y="0"/>
                  </a:lnTo>
                  <a:close/>
                </a:path>
                <a:path w="3678554" h="76200">
                  <a:moveTo>
                    <a:pt x="3678034" y="38100"/>
                  </a:moveTo>
                  <a:lnTo>
                    <a:pt x="3601834" y="0"/>
                  </a:lnTo>
                  <a:lnTo>
                    <a:pt x="3627234" y="38100"/>
                  </a:lnTo>
                  <a:lnTo>
                    <a:pt x="3601834" y="76200"/>
                  </a:lnTo>
                  <a:lnTo>
                    <a:pt x="367803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24302" y="3814617"/>
              <a:ext cx="1141095" cy="546100"/>
            </a:xfrm>
            <a:custGeom>
              <a:avLst/>
              <a:gdLst/>
              <a:ahLst/>
              <a:cxnLst/>
              <a:rect l="l" t="t" r="r" b="b"/>
              <a:pathLst>
                <a:path w="1141095" h="546100">
                  <a:moveTo>
                    <a:pt x="0" y="546074"/>
                  </a:moveTo>
                  <a:lnTo>
                    <a:pt x="11406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25586" y="3791225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0" y="0"/>
                  </a:moveTo>
                  <a:lnTo>
                    <a:pt x="39357" y="23393"/>
                  </a:lnTo>
                  <a:lnTo>
                    <a:pt x="32905" y="68732"/>
                  </a:lnTo>
                  <a:lnTo>
                    <a:pt x="85178" y="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75010" y="3812954"/>
              <a:ext cx="1258570" cy="548005"/>
            </a:xfrm>
            <a:custGeom>
              <a:avLst/>
              <a:gdLst/>
              <a:ahLst/>
              <a:cxnLst/>
              <a:rect l="l" t="t" r="r" b="b"/>
              <a:pathLst>
                <a:path w="1258570" h="548004">
                  <a:moveTo>
                    <a:pt x="1258531" y="54773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28430" y="3788164"/>
              <a:ext cx="85090" cy="70485"/>
            </a:xfrm>
            <a:custGeom>
              <a:avLst/>
              <a:gdLst/>
              <a:ahLst/>
              <a:cxnLst/>
              <a:rect l="l" t="t" r="r" b="b"/>
              <a:pathLst>
                <a:path w="85089" h="70485">
                  <a:moveTo>
                    <a:pt x="85077" y="0"/>
                  </a:moveTo>
                  <a:lnTo>
                    <a:pt x="0" y="4521"/>
                  </a:lnTo>
                  <a:lnTo>
                    <a:pt x="54660" y="69862"/>
                  </a:lnTo>
                  <a:lnTo>
                    <a:pt x="46583" y="24790"/>
                  </a:lnTo>
                  <a:lnTo>
                    <a:pt x="850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372499" y="4198401"/>
              <a:ext cx="593725" cy="0"/>
            </a:xfrm>
            <a:custGeom>
              <a:avLst/>
              <a:gdLst/>
              <a:ahLst/>
              <a:cxnLst/>
              <a:rect l="l" t="t" r="r" b="b"/>
              <a:pathLst>
                <a:path w="593725">
                  <a:moveTo>
                    <a:pt x="0" y="0"/>
                  </a:moveTo>
                  <a:lnTo>
                    <a:pt x="5932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965729" y="3954969"/>
              <a:ext cx="593725" cy="243840"/>
            </a:xfrm>
            <a:custGeom>
              <a:avLst/>
              <a:gdLst/>
              <a:ahLst/>
              <a:cxnLst/>
              <a:rect l="l" t="t" r="r" b="b"/>
              <a:pathLst>
                <a:path w="593725" h="243839">
                  <a:moveTo>
                    <a:pt x="0" y="243433"/>
                  </a:moveTo>
                  <a:lnTo>
                    <a:pt x="5932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77605" y="3630391"/>
              <a:ext cx="593725" cy="243840"/>
            </a:xfrm>
            <a:custGeom>
              <a:avLst/>
              <a:gdLst/>
              <a:ahLst/>
              <a:cxnLst/>
              <a:rect l="l" t="t" r="r" b="b"/>
              <a:pathLst>
                <a:path w="593725" h="243839">
                  <a:moveTo>
                    <a:pt x="0" y="243433"/>
                  </a:moveTo>
                  <a:lnTo>
                    <a:pt x="5932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6501777" y="2656654"/>
            <a:ext cx="1311910" cy="897890"/>
            <a:chOff x="6501777" y="2656654"/>
            <a:chExt cx="1311910" cy="897890"/>
          </a:xfrm>
        </p:grpSpPr>
        <p:sp>
          <p:nvSpPr>
            <p:cNvPr id="52" name="object 52"/>
            <p:cNvSpPr/>
            <p:nvPr/>
          </p:nvSpPr>
          <p:spPr>
            <a:xfrm>
              <a:off x="6508127" y="2818946"/>
              <a:ext cx="1259840" cy="626745"/>
            </a:xfrm>
            <a:custGeom>
              <a:avLst/>
              <a:gdLst/>
              <a:ahLst/>
              <a:cxnLst/>
              <a:rect l="l" t="t" r="r" b="b"/>
              <a:pathLst>
                <a:path w="1259840" h="626745">
                  <a:moveTo>
                    <a:pt x="0" y="0"/>
                  </a:moveTo>
                  <a:lnTo>
                    <a:pt x="1259624" y="62652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28038" y="340004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79">
                  <a:moveTo>
                    <a:pt x="33947" y="0"/>
                  </a:moveTo>
                  <a:lnTo>
                    <a:pt x="39712" y="45427"/>
                  </a:lnTo>
                  <a:lnTo>
                    <a:pt x="0" y="68224"/>
                  </a:lnTo>
                  <a:lnTo>
                    <a:pt x="85191" y="68059"/>
                  </a:lnTo>
                  <a:lnTo>
                    <a:pt x="33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75943" y="2656654"/>
              <a:ext cx="0" cy="405765"/>
            </a:xfrm>
            <a:custGeom>
              <a:avLst/>
              <a:gdLst/>
              <a:ahLst/>
              <a:cxnLst/>
              <a:rect l="l" t="t" r="r" b="b"/>
              <a:pathLst>
                <a:path h="405764">
                  <a:moveTo>
                    <a:pt x="0" y="0"/>
                  </a:moveTo>
                  <a:lnTo>
                    <a:pt x="0" y="40572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08128" y="3305812"/>
              <a:ext cx="593725" cy="243840"/>
            </a:xfrm>
            <a:custGeom>
              <a:avLst/>
              <a:gdLst/>
              <a:ahLst/>
              <a:cxnLst/>
              <a:rect l="l" t="t" r="r" b="b"/>
              <a:pathLst>
                <a:path w="593725" h="243839">
                  <a:moveTo>
                    <a:pt x="0" y="243433"/>
                  </a:moveTo>
                  <a:lnTo>
                    <a:pt x="5932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19999" y="3062377"/>
              <a:ext cx="356235" cy="162560"/>
            </a:xfrm>
            <a:custGeom>
              <a:avLst/>
              <a:gdLst/>
              <a:ahLst/>
              <a:cxnLst/>
              <a:rect l="l" t="t" r="r" b="b"/>
              <a:pathLst>
                <a:path w="356234" h="162560">
                  <a:moveTo>
                    <a:pt x="355942" y="0"/>
                  </a:moveTo>
                  <a:lnTo>
                    <a:pt x="0" y="16229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535540" y="1017606"/>
            <a:ext cx="35667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Calibri"/>
                <a:cs typeface="Calibri"/>
              </a:rPr>
              <a:t>Эта</a:t>
            </a:r>
            <a:r>
              <a:rPr sz="1600" b="1" i="1" dirty="0">
                <a:latin typeface="Calibri"/>
                <a:cs typeface="Calibri"/>
              </a:rPr>
              <a:t> </a:t>
            </a:r>
            <a:r>
              <a:rPr sz="1600" b="1" i="1" spc="-5" dirty="0">
                <a:latin typeface="Calibri"/>
                <a:cs typeface="Calibri"/>
              </a:rPr>
              <a:t>часть</a:t>
            </a:r>
            <a:r>
              <a:rPr sz="1600" b="1" i="1" spc="2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схемы</a:t>
            </a:r>
            <a:r>
              <a:rPr sz="1600" b="1" i="1" spc="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совпадает</a:t>
            </a:r>
            <a:r>
              <a:rPr sz="1600" b="1" i="1" spc="40" dirty="0">
                <a:latin typeface="Calibri"/>
                <a:cs typeface="Calibri"/>
              </a:rPr>
              <a:t> </a:t>
            </a:r>
            <a:r>
              <a:rPr sz="1600" b="1" i="1" spc="-5" dirty="0">
                <a:latin typeface="Calibri"/>
                <a:cs typeface="Calibri"/>
              </a:rPr>
              <a:t>со</a:t>
            </a:r>
            <a:r>
              <a:rPr sz="1600" b="1" i="1" spc="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схемой </a:t>
            </a:r>
            <a:r>
              <a:rPr sz="1600" b="1" i="1" spc="-35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экспертной</a:t>
            </a:r>
            <a:r>
              <a:rPr sz="1600" b="1" i="1" spc="35" dirty="0">
                <a:latin typeface="Calibri"/>
                <a:cs typeface="Calibri"/>
              </a:rPr>
              <a:t> </a:t>
            </a:r>
            <a:r>
              <a:rPr sz="1600" b="1" i="1" spc="-5" dirty="0">
                <a:latin typeface="Calibri"/>
                <a:cs typeface="Calibri"/>
              </a:rPr>
              <a:t>системы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10095865" cy="318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6666"/>
                </a:solidFill>
                <a:latin typeface="Arial"/>
                <a:cs typeface="Arial"/>
              </a:rPr>
              <a:t>ГИБРИДНЫЕ</a:t>
            </a:r>
            <a:r>
              <a:rPr sz="2400" spc="-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6666"/>
                </a:solidFill>
                <a:latin typeface="Arial"/>
                <a:cs typeface="Arial"/>
              </a:rPr>
              <a:t>ЭКСПЕРТНЫЕ</a:t>
            </a:r>
            <a:r>
              <a:rPr sz="2400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6666"/>
                </a:solidFill>
                <a:latin typeface="Arial"/>
                <a:cs typeface="Arial"/>
              </a:rPr>
              <a:t>СИСТЕМЫ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общем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случае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представленный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выше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программный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комплекс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можно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назвать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гибридной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экспертной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системой.</a:t>
            </a:r>
            <a:endParaRPr sz="2400">
              <a:latin typeface="Arial"/>
              <a:cs typeface="Arial"/>
            </a:endParaRPr>
          </a:p>
          <a:p>
            <a:pPr marL="12700" marR="2340610">
              <a:lnSpc>
                <a:spcPts val="3590"/>
              </a:lnSpc>
              <a:spcBef>
                <a:spcPts val="200"/>
              </a:spcBef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Существует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два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типа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гибридных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экспертных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систем: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использующие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разные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представления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знаний;</a:t>
            </a:r>
            <a:endParaRPr sz="2400">
              <a:latin typeface="Arial"/>
              <a:cs typeface="Arial"/>
            </a:endParaRPr>
          </a:p>
          <a:p>
            <a:pPr marL="12700" marR="522605">
              <a:lnSpc>
                <a:spcPts val="2590"/>
              </a:lnSpc>
              <a:spcBef>
                <a:spcPts val="81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такие,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которые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кроме БД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БЗ,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включают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прикладные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программы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конкретной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предметной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области.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107</a:t>
            </a:fld>
            <a:endParaRPr spc="-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696" y="879652"/>
            <a:ext cx="10172052" cy="53873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455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КЛАССИФИКАЦИЯ</a:t>
            </a:r>
            <a:r>
              <a:rPr sz="2400" spc="5" dirty="0"/>
              <a:t> </a:t>
            </a:r>
            <a:r>
              <a:rPr sz="2400" spc="-15" dirty="0"/>
              <a:t>ЭКСПЕРТНЫХ</a:t>
            </a:r>
            <a:r>
              <a:rPr sz="2400" spc="20" dirty="0"/>
              <a:t> </a:t>
            </a:r>
            <a:r>
              <a:rPr sz="2400" spc="-20" dirty="0"/>
              <a:t>СИСТЕМ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108</a:t>
            </a:fld>
            <a:endParaRPr spc="-5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77031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НАИБОЛЕЕ</a:t>
            </a:r>
            <a:r>
              <a:rPr sz="2400" spc="10" dirty="0"/>
              <a:t> </a:t>
            </a:r>
            <a:r>
              <a:rPr sz="2400" spc="-15" dirty="0"/>
              <a:t>ИЗВЕСТНЫЕ</a:t>
            </a:r>
            <a:r>
              <a:rPr sz="2400" spc="20" dirty="0"/>
              <a:t> </a:t>
            </a:r>
            <a:r>
              <a:rPr sz="2400" spc="-15" dirty="0"/>
              <a:t>ЭКСПЕРТНЫЕ</a:t>
            </a:r>
            <a:r>
              <a:rPr sz="2400" spc="25" dirty="0"/>
              <a:t> </a:t>
            </a:r>
            <a:r>
              <a:rPr sz="2400" spc="-15" dirty="0"/>
              <a:t>СИСТЕМЫ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09048" y="1018653"/>
            <a:ext cx="10868025" cy="385635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7780" marR="5080" indent="-1270" algn="just">
              <a:lnSpc>
                <a:spcPts val="2160"/>
              </a:lnSpc>
              <a:spcBef>
                <a:spcPts val="375"/>
              </a:spcBef>
            </a:pPr>
            <a:r>
              <a:rPr sz="2000" b="1" i="1" spc="-5" dirty="0">
                <a:solidFill>
                  <a:srgbClr val="3E3E3E"/>
                </a:solidFill>
                <a:latin typeface="Arial"/>
                <a:cs typeface="Arial"/>
              </a:rPr>
              <a:t>MYCIN</a:t>
            </a:r>
            <a:r>
              <a:rPr sz="2000" b="1" i="1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наиболее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известная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диагностическая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система,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которая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предназначена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для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диагностики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наблюдения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состоянием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больного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менингите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бактериальных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инфекциях.</a:t>
            </a:r>
            <a:endParaRPr sz="2000">
              <a:latin typeface="Arial"/>
              <a:cs typeface="Arial"/>
            </a:endParaRPr>
          </a:p>
          <a:p>
            <a:pPr marL="18415" marR="7620" algn="just">
              <a:lnSpc>
                <a:spcPts val="2160"/>
              </a:lnSpc>
              <a:spcBef>
                <a:spcPts val="994"/>
              </a:spcBef>
            </a:pPr>
            <a:r>
              <a:rPr sz="2000" b="1" i="1" spc="-5" dirty="0">
                <a:solidFill>
                  <a:srgbClr val="3E3E3E"/>
                </a:solidFill>
                <a:latin typeface="Arial"/>
                <a:cs typeface="Arial"/>
              </a:rPr>
              <a:t>HASP/SIAP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-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интерпретирующая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система,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которая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определяет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местоположение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типы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судов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Тихом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океане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по данным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акустических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систем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слежения.</a:t>
            </a:r>
            <a:endParaRPr sz="2000">
              <a:latin typeface="Arial"/>
              <a:cs typeface="Arial"/>
            </a:endParaRPr>
          </a:p>
          <a:p>
            <a:pPr marL="15240" marR="5715" indent="1905" algn="just">
              <a:lnSpc>
                <a:spcPts val="2160"/>
              </a:lnSpc>
              <a:spcBef>
                <a:spcPts val="1010"/>
              </a:spcBef>
            </a:pPr>
            <a:r>
              <a:rPr sz="2000" b="1" i="1" spc="-5" dirty="0">
                <a:solidFill>
                  <a:srgbClr val="3E3E3E"/>
                </a:solidFill>
                <a:latin typeface="Arial"/>
                <a:cs typeface="Arial"/>
              </a:rPr>
              <a:t>Акинатор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-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интернет-игра.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Игрок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должен загадать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любого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персонажа, а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Акинатор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должен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его</a:t>
            </a:r>
            <a:r>
              <a:rPr sz="2000" spc="5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отгадать,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задавая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вопросы.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База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знаний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автоматически</a:t>
            </a:r>
            <a:r>
              <a:rPr sz="2000" spc="5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пополняется,</a:t>
            </a:r>
            <a:r>
              <a:rPr sz="2000" spc="5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поэтому </a:t>
            </a:r>
            <a:r>
              <a:rPr sz="2000" spc="-5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программа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отгадать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практически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любого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известного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персонажа.</a:t>
            </a:r>
            <a:endParaRPr sz="2000">
              <a:latin typeface="Arial"/>
              <a:cs typeface="Arial"/>
            </a:endParaRPr>
          </a:p>
          <a:p>
            <a:pPr marL="13970" marR="8890" indent="635" algn="just">
              <a:lnSpc>
                <a:spcPts val="2160"/>
              </a:lnSpc>
              <a:spcBef>
                <a:spcPts val="994"/>
              </a:spcBef>
            </a:pPr>
            <a:r>
              <a:rPr sz="2000" b="1" i="1" spc="-5" dirty="0">
                <a:solidFill>
                  <a:srgbClr val="3E3E3E"/>
                </a:solidFill>
                <a:latin typeface="Arial"/>
                <a:cs typeface="Arial"/>
              </a:rPr>
              <a:t>Simptomus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сервис онлайн-диагностики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заболеваний.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Пациенты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указывают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симптомы,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а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Simptomus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основе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экспертной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выводит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список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возможных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диагнозов.</a:t>
            </a:r>
            <a:endParaRPr sz="2000">
              <a:latin typeface="Arial"/>
              <a:cs typeface="Arial"/>
            </a:endParaRPr>
          </a:p>
          <a:p>
            <a:pPr marL="12700" marR="10795" indent="635" algn="just">
              <a:lnSpc>
                <a:spcPts val="2160"/>
              </a:lnSpc>
              <a:spcBef>
                <a:spcPts val="1000"/>
              </a:spcBef>
            </a:pPr>
            <a:r>
              <a:rPr sz="2000" b="1" i="1" dirty="0">
                <a:solidFill>
                  <a:srgbClr val="3E3E3E"/>
                </a:solidFill>
                <a:latin typeface="Arial"/>
                <a:cs typeface="Arial"/>
              </a:rPr>
              <a:t>IBM</a:t>
            </a:r>
            <a:r>
              <a:rPr sz="2000" b="1" i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3E3E3E"/>
                </a:solidFill>
                <a:latin typeface="Arial"/>
                <a:cs typeface="Arial"/>
              </a:rPr>
              <a:t>Watson</a:t>
            </a:r>
            <a:r>
              <a:rPr sz="2000" b="1" i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-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суперкомпьютер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 фирмы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IBM,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способный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понимать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вопросы,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сформулированные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естественном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3E3E3E"/>
                </a:solidFill>
                <a:latin typeface="Arial"/>
                <a:cs typeface="Arial"/>
              </a:rPr>
              <a:t>языке,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находить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них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ответы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 в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базе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7724"/>
            <a:ext cx="9060815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spc="-10" dirty="0"/>
              <a:t>ВЕДЕНИЕ</a:t>
            </a:r>
            <a:r>
              <a:rPr sz="2200" spc="15" dirty="0"/>
              <a:t> </a:t>
            </a:r>
            <a:r>
              <a:rPr sz="2200" spc="-30" dirty="0"/>
              <a:t>РАСПРЕДЕЛЁННОГО</a:t>
            </a:r>
            <a:r>
              <a:rPr sz="2200" spc="35" dirty="0"/>
              <a:t> </a:t>
            </a:r>
            <a:r>
              <a:rPr sz="2200" spc="-40" dirty="0"/>
              <a:t>РЕЕСТРА</a:t>
            </a:r>
            <a:r>
              <a:rPr sz="2200" spc="10" dirty="0"/>
              <a:t> </a:t>
            </a:r>
            <a:r>
              <a:rPr sz="2200" spc="-5" dirty="0"/>
              <a:t>В</a:t>
            </a:r>
            <a:r>
              <a:rPr sz="2200" spc="10" dirty="0"/>
              <a:t> </a:t>
            </a:r>
            <a:r>
              <a:rPr sz="2200" spc="-15" dirty="0"/>
              <a:t>УСЛОВИЯХ</a:t>
            </a:r>
            <a:r>
              <a:rPr sz="2200" spc="30" dirty="0"/>
              <a:t> </a:t>
            </a:r>
            <a:r>
              <a:rPr sz="2200" spc="-10" dirty="0"/>
              <a:t>НИЗКОГО </a:t>
            </a:r>
            <a:r>
              <a:rPr sz="2200" spc="-595" dirty="0"/>
              <a:t> </a:t>
            </a:r>
            <a:r>
              <a:rPr sz="2200" spc="-10" dirty="0"/>
              <a:t>УРОВНЯ</a:t>
            </a:r>
            <a:r>
              <a:rPr sz="2200" spc="10" dirty="0"/>
              <a:t> </a:t>
            </a:r>
            <a:r>
              <a:rPr sz="2200" spc="-10" dirty="0"/>
              <a:t>ДОВЕРИЯ</a:t>
            </a:r>
            <a:endParaRPr sz="22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922641"/>
            <a:ext cx="6228715" cy="21793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Право</a:t>
            </a:r>
            <a:r>
              <a:rPr sz="2400" b="1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владения </a:t>
            </a:r>
            <a:r>
              <a:rPr sz="2400" b="1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b="1" spc="-10" dirty="0">
                <a:solidFill>
                  <a:srgbClr val="3E3E3E"/>
                </a:solidFill>
                <a:latin typeface="Arial"/>
                <a:cs typeface="Arial"/>
              </a:rPr>
              <a:t> доказательство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165"/>
              </a:lnSpc>
              <a:spcBef>
                <a:spcPts val="710"/>
              </a:spcBef>
            </a:pPr>
            <a:r>
              <a:rPr sz="2400" b="1" i="1" spc="-15" dirty="0">
                <a:solidFill>
                  <a:srgbClr val="3E3E3E"/>
                </a:solidFill>
                <a:latin typeface="Arial"/>
                <a:cs typeface="Arial"/>
              </a:rPr>
              <a:t>Право</a:t>
            </a:r>
            <a:r>
              <a:rPr sz="2400" b="1" i="1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3E3E3E"/>
                </a:solidFill>
                <a:latin typeface="Arial"/>
                <a:cs typeface="Arial"/>
              </a:rPr>
              <a:t>владения:</a:t>
            </a:r>
            <a:endParaRPr sz="2400">
              <a:latin typeface="Arial"/>
              <a:cs typeface="Arial"/>
            </a:endParaRPr>
          </a:p>
          <a:p>
            <a:pPr marL="698500" indent="-228600">
              <a:lnSpc>
                <a:spcPts val="3254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Идентификация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владельца;</a:t>
            </a:r>
            <a:endParaRPr sz="2400">
              <a:latin typeface="Arial"/>
              <a:cs typeface="Arial"/>
            </a:endParaRPr>
          </a:p>
          <a:p>
            <a:pPr marL="698500" indent="-228600">
              <a:lnSpc>
                <a:spcPts val="397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Идентификация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объекта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владения;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Установление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связи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объекта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владельцем.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3200" y="3101961"/>
            <a:ext cx="8834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8285" algn="l"/>
                <a:tab pos="3450590" algn="l"/>
                <a:tab pos="4901565" algn="l"/>
                <a:tab pos="6449695" algn="l"/>
                <a:tab pos="783209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Паспорт	владельца,	паспорт	объекта,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реестр.	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Реестр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3200" y="3431144"/>
            <a:ext cx="874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7675" algn="l"/>
                <a:tab pos="2840990" algn="l"/>
                <a:tab pos="4705985" algn="l"/>
                <a:tab pos="6235065" algn="l"/>
                <a:tab pos="6608445" algn="l"/>
                <a:tab pos="8252459" algn="l"/>
              </a:tabLst>
            </a:pP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ж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с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мые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кт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ьн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ые	с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ия	о	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ии.	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ак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6220" y="3101961"/>
            <a:ext cx="12985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21336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лж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н 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прав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о,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3200" y="3760329"/>
            <a:ext cx="7061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реестром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управляют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государственном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уровне.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90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/>
              <a:t>ПРАВО</a:t>
            </a:r>
            <a:r>
              <a:rPr sz="2400" spc="-55" dirty="0"/>
              <a:t> </a:t>
            </a:r>
            <a:r>
              <a:rPr sz="2400" spc="-5" dirty="0"/>
              <a:t>ВЛАДЕНИЯ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111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728419"/>
            <a:ext cx="10972800" cy="4269531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1532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РЕЕ</a:t>
            </a:r>
            <a:r>
              <a:rPr sz="2400" spc="-65" dirty="0"/>
              <a:t>С</a:t>
            </a:r>
            <a:r>
              <a:rPr sz="2400" spc="-5" dirty="0"/>
              <a:t>ТРЫ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112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520032" y="901280"/>
            <a:ext cx="11292840" cy="5440680"/>
            <a:chOff x="520032" y="901280"/>
            <a:chExt cx="11292840" cy="5440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032" y="901280"/>
              <a:ext cx="6610509" cy="54403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8059" y="2165852"/>
              <a:ext cx="5384795" cy="3684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471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ЦЕЛИ</a:t>
            </a:r>
            <a:r>
              <a:rPr sz="2400" spc="-25" dirty="0"/>
              <a:t> </a:t>
            </a:r>
            <a:r>
              <a:rPr sz="2400" dirty="0"/>
              <a:t>И</a:t>
            </a:r>
            <a:r>
              <a:rPr sz="2400" spc="-35" dirty="0"/>
              <a:t> СВОЙСТВА</a:t>
            </a:r>
            <a:r>
              <a:rPr sz="2400" spc="-10" dirty="0"/>
              <a:t> </a:t>
            </a:r>
            <a:r>
              <a:rPr sz="2400" spc="-45" dirty="0"/>
              <a:t>РЕЕСТРА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113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195" y="1299121"/>
            <a:ext cx="4838694" cy="45259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4298" y="1388325"/>
            <a:ext cx="2965447" cy="3049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4848" y="4847474"/>
            <a:ext cx="4901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Реестр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представляет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хронологию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транзакций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(минимальная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логически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осмысленная операция,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которая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имеет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смысл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может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быть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совершена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только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полностью)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7355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/>
              <a:t>АРХИТЕКТУРА</a:t>
            </a:r>
            <a:r>
              <a:rPr sz="2400" spc="10" dirty="0"/>
              <a:t> </a:t>
            </a:r>
            <a:r>
              <a:rPr sz="2400" spc="-30" dirty="0"/>
              <a:t>ПРОГРАММНОГО</a:t>
            </a:r>
            <a:r>
              <a:rPr sz="2400" spc="15" dirty="0"/>
              <a:t> </a:t>
            </a:r>
            <a:r>
              <a:rPr sz="2400" spc="-5" dirty="0"/>
              <a:t>ОБЕСПЕЧЕНИЯ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114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597" y="1108229"/>
            <a:ext cx="6605585" cy="28813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8233" y="4274706"/>
            <a:ext cx="3635370" cy="15938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11701" y="4977974"/>
            <a:ext cx="3449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Объединение централизованной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распределённой</a:t>
            </a:r>
            <a:r>
              <a:rPr sz="1800" spc="-5" dirty="0">
                <a:latin typeface="Calibri"/>
                <a:cs typeface="Calibri"/>
              </a:rPr>
              <a:t> архитектур.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1701" y="1538001"/>
            <a:ext cx="4046854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03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Распределённая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5" dirty="0">
                <a:latin typeface="Calibri"/>
                <a:cs typeface="Calibri"/>
              </a:rPr>
              <a:t>централизованная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архитектуры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Если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существует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отдельный </a:t>
            </a:r>
            <a:r>
              <a:rPr sz="1800" spc="-15" dirty="0">
                <a:latin typeface="Calibri"/>
                <a:cs typeface="Calibri"/>
              </a:rPr>
              <a:t>компонент,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например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кнопка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выключения, </a:t>
            </a:r>
            <a:r>
              <a:rPr sz="1800" spc="-10" dirty="0">
                <a:latin typeface="Calibri"/>
                <a:cs typeface="Calibri"/>
              </a:rPr>
              <a:t>который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может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остановить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работу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всей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системы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целом,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то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такая</a:t>
            </a:r>
            <a:r>
              <a:rPr sz="1800" spc="-10" dirty="0">
                <a:latin typeface="Calibri"/>
                <a:cs typeface="Calibri"/>
              </a:rPr>
              <a:t> система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не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является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распределённой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075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ПЛЮСЫ</a:t>
            </a:r>
            <a:r>
              <a:rPr sz="2400" spc="-20" dirty="0"/>
              <a:t> </a:t>
            </a:r>
            <a:r>
              <a:rPr sz="2400" dirty="0"/>
              <a:t>И</a:t>
            </a:r>
            <a:r>
              <a:rPr sz="2400" spc="-30" dirty="0"/>
              <a:t> </a:t>
            </a:r>
            <a:r>
              <a:rPr sz="2400" spc="-10" dirty="0"/>
              <a:t>МИНУСЫ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115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496" y="2609616"/>
            <a:ext cx="5384796" cy="32877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8066" y="1046010"/>
            <a:ext cx="5384792" cy="371633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719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РАСПРЕДЕЛЁННЫЕ</a:t>
            </a:r>
            <a:r>
              <a:rPr sz="2400" spc="-30" dirty="0"/>
              <a:t> </a:t>
            </a:r>
            <a:r>
              <a:rPr sz="2400" spc="-15" dirty="0"/>
              <a:t>СИСТЕМЫ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03930" y="1543066"/>
            <a:ext cx="4516755" cy="37350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Calibri"/>
                <a:cs typeface="Calibri"/>
              </a:rPr>
              <a:t>Достоинства:</a:t>
            </a:r>
            <a:endParaRPr sz="2800">
              <a:latin typeface="Calibri"/>
              <a:cs typeface="Calibri"/>
            </a:endParaRPr>
          </a:p>
          <a:p>
            <a:pPr marL="241300" marR="939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Более </a:t>
            </a:r>
            <a:r>
              <a:rPr sz="2800" spc="-10" dirty="0">
                <a:latin typeface="Calibri"/>
                <a:cs typeface="Calibri"/>
              </a:rPr>
              <a:t>высокая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вычислительная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мощность;</a:t>
            </a:r>
            <a:endParaRPr sz="2800">
              <a:latin typeface="Calibri"/>
              <a:cs typeface="Calibri"/>
            </a:endParaRPr>
          </a:p>
          <a:p>
            <a:pPr marL="241300" marR="983615" indent="-228600">
              <a:lnSpc>
                <a:spcPts val="303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Снижение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накладных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расходов;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Надёжность;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Возможность </a:t>
            </a:r>
            <a:r>
              <a:rPr sz="2800" spc="-10" dirty="0">
                <a:latin typeface="Calibri"/>
                <a:cs typeface="Calibri"/>
              </a:rPr>
              <a:t>естественного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роста.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4268" y="1554565"/>
            <a:ext cx="4415155" cy="4200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spc="-15" dirty="0">
                <a:latin typeface="Calibri"/>
                <a:cs typeface="Calibri"/>
              </a:rPr>
              <a:t>Недостатки: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Издержки </a:t>
            </a:r>
            <a:r>
              <a:rPr sz="2800" spc="-5" dirty="0">
                <a:latin typeface="Calibri"/>
                <a:cs typeface="Calibri"/>
              </a:rPr>
              <a:t>на </a:t>
            </a:r>
            <a:r>
              <a:rPr sz="2800" spc="-15" dirty="0">
                <a:latin typeface="Calibri"/>
                <a:cs typeface="Calibri"/>
              </a:rPr>
              <a:t>координацию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работы;</a:t>
            </a:r>
            <a:endParaRPr sz="2800">
              <a:latin typeface="Calibri"/>
              <a:cs typeface="Calibri"/>
            </a:endParaRPr>
          </a:p>
          <a:p>
            <a:pPr marL="241300" marR="98425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Издержки </a:t>
            </a:r>
            <a:r>
              <a:rPr sz="2800" spc="-5" dirty="0">
                <a:latin typeface="Calibri"/>
                <a:cs typeface="Calibri"/>
              </a:rPr>
              <a:t>на организацию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обмена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информацией;</a:t>
            </a:r>
            <a:endParaRPr sz="2800">
              <a:latin typeface="Calibri"/>
              <a:cs typeface="Calibri"/>
            </a:endParaRPr>
          </a:p>
          <a:p>
            <a:pPr marL="241300" marR="56705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Зависимость </a:t>
            </a:r>
            <a:r>
              <a:rPr sz="2800" spc="-15" dirty="0">
                <a:latin typeface="Calibri"/>
                <a:cs typeface="Calibri"/>
              </a:rPr>
              <a:t>от </a:t>
            </a:r>
            <a:r>
              <a:rPr sz="2800" spc="-10" dirty="0">
                <a:latin typeface="Calibri"/>
                <a:cs typeface="Calibri"/>
              </a:rPr>
              <a:t>сетевой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среды;</a:t>
            </a:r>
            <a:endParaRPr sz="2800">
              <a:latin typeface="Calibri"/>
              <a:cs typeface="Calibri"/>
            </a:endParaRPr>
          </a:p>
          <a:p>
            <a:pPr marL="241300" marR="65722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Сложное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программное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обеспечение;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Проблемы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безопасности.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25" dirty="0"/>
              <a:t>РАСПРЕДЕЛЁННЫЕ</a:t>
            </a:r>
            <a:r>
              <a:rPr sz="2200" dirty="0"/>
              <a:t> </a:t>
            </a:r>
            <a:r>
              <a:rPr sz="2200" spc="-10" dirty="0"/>
              <a:t>ПИРИНГОВЫЕ</a:t>
            </a:r>
            <a:r>
              <a:rPr sz="2200" spc="-20" dirty="0"/>
              <a:t> </a:t>
            </a:r>
            <a:r>
              <a:rPr sz="2200" spc="-15" dirty="0"/>
              <a:t>СИСТЕМЫ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u="heavy" spc="10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PEER</a:t>
            </a:r>
            <a:r>
              <a:rPr sz="2200" u="heavy" spc="-2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–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20" dirty="0">
                <a:uFill>
                  <a:solidFill>
                    <a:srgbClr val="006666"/>
                  </a:solidFill>
                </a:uFill>
              </a:rPr>
              <a:t>TO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 –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PEER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(P2P)	</a:t>
            </a:r>
            <a:endParaRPr sz="22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117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6467809" y="1890938"/>
            <a:ext cx="4642485" cy="17030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Примером </a:t>
            </a:r>
            <a:r>
              <a:rPr sz="2000" spc="-5" dirty="0">
                <a:latin typeface="Calibri"/>
                <a:cs typeface="Calibri"/>
              </a:rPr>
              <a:t>централизованной пиринговой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системы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является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сеть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Napster, 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обеспечивающая сопровождение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центральной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базы </a:t>
            </a:r>
            <a:r>
              <a:rPr sz="2000" spc="-5" dirty="0">
                <a:latin typeface="Calibri"/>
                <a:cs typeface="Calibri"/>
              </a:rPr>
              <a:t>данных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всех </a:t>
            </a:r>
            <a:r>
              <a:rPr sz="2000" spc="-10" dirty="0">
                <a:latin typeface="Calibri"/>
                <a:cs typeface="Calibri"/>
              </a:rPr>
              <a:t>узлов, </a:t>
            </a:r>
            <a:r>
              <a:rPr sz="2000" spc="-5" dirty="0">
                <a:latin typeface="Calibri"/>
                <a:cs typeface="Calibri"/>
              </a:rPr>
              <a:t> соединенных </a:t>
            </a:r>
            <a:r>
              <a:rPr sz="2000" dirty="0">
                <a:latin typeface="Calibri"/>
                <a:cs typeface="Calibri"/>
              </a:rPr>
              <a:t>с </a:t>
            </a:r>
            <a:r>
              <a:rPr sz="2000" spc="-5" dirty="0">
                <a:latin typeface="Calibri"/>
                <a:cs typeface="Calibri"/>
              </a:rPr>
              <a:t>системой, </a:t>
            </a:r>
            <a:r>
              <a:rPr sz="2000" dirty="0">
                <a:latin typeface="Calibri"/>
                <a:cs typeface="Calibri"/>
              </a:rPr>
              <a:t>и </a:t>
            </a:r>
            <a:r>
              <a:rPr sz="2000" spc="-5" dirty="0">
                <a:latin typeface="Calibri"/>
                <a:cs typeface="Calibri"/>
              </a:rPr>
              <a:t>музыкальных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композиций,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доступных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всем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этим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узлам.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359" y="2016156"/>
            <a:ext cx="4784725" cy="23729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5" dirty="0">
                <a:latin typeface="Calibri"/>
                <a:cs typeface="Calibri"/>
              </a:rPr>
              <a:t>В </a:t>
            </a:r>
            <a:r>
              <a:rPr sz="2800" spc="-10" dirty="0">
                <a:latin typeface="Calibri"/>
                <a:cs typeface="Calibri"/>
              </a:rPr>
              <a:t>пиринговой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системе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все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узлы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имеют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равные права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одинаковые роли.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800"/>
              </a:lnSpc>
            </a:pPr>
            <a:r>
              <a:rPr sz="2800" spc="-10" dirty="0">
                <a:latin typeface="Calibri"/>
                <a:cs typeface="Calibri"/>
              </a:rPr>
              <a:t>Вычислительные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ресурсы</a:t>
            </a:r>
            <a:endParaRPr sz="2800">
              <a:latin typeface="Calibri"/>
              <a:cs typeface="Calibri"/>
            </a:endParaRPr>
          </a:p>
          <a:p>
            <a:pPr marL="12700" marR="521970">
              <a:lnSpc>
                <a:spcPts val="3030"/>
              </a:lnSpc>
              <a:spcBef>
                <a:spcPts val="210"/>
              </a:spcBef>
            </a:pPr>
            <a:r>
              <a:rPr sz="2800" spc="-20" dirty="0">
                <a:latin typeface="Calibri"/>
                <a:cs typeface="Calibri"/>
              </a:rPr>
              <a:t>каждого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узла, </a:t>
            </a:r>
            <a:r>
              <a:rPr sz="2800" spc="-10" dirty="0">
                <a:latin typeface="Calibri"/>
                <a:cs typeface="Calibri"/>
              </a:rPr>
              <a:t>доступны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для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других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узлов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системы.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4222" y="4041306"/>
            <a:ext cx="5276837" cy="1952624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301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ПОДКЛЮЧЕНИЕ</a:t>
            </a:r>
            <a:r>
              <a:rPr sz="2400" spc="-15" dirty="0"/>
              <a:t> </a:t>
            </a:r>
            <a:r>
              <a:rPr sz="2400" dirty="0"/>
              <a:t>К</a:t>
            </a:r>
            <a:r>
              <a:rPr sz="2400" spc="-35" dirty="0"/>
              <a:t> </a:t>
            </a:r>
            <a:r>
              <a:rPr sz="2400" spc="-5" dirty="0"/>
              <a:t>P2P</a:t>
            </a:r>
            <a:r>
              <a:rPr sz="2400" spc="-65" dirty="0"/>
              <a:t> </a:t>
            </a:r>
            <a:r>
              <a:rPr sz="2400" spc="-10" dirty="0"/>
              <a:t>СЕТИ</a:t>
            </a:r>
            <a:endParaRPr sz="2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118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462749" y="1770091"/>
            <a:ext cx="9845040" cy="1825625"/>
            <a:chOff x="462749" y="1770091"/>
            <a:chExt cx="9845040" cy="1825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749" y="1774247"/>
              <a:ext cx="6628003" cy="18214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0756" y="1770091"/>
              <a:ext cx="3217020" cy="178340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3568" y="3950942"/>
            <a:ext cx="3938665" cy="21242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9765" y="4100820"/>
            <a:ext cx="3516274" cy="18245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8340" y="3612111"/>
            <a:ext cx="2221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Присоединение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сети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0812" y="3612111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Сообщение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“getaddr()”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0063" y="2121867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Си</a:t>
            </a:r>
            <a:r>
              <a:rPr sz="1800" dirty="0">
                <a:latin typeface="Calibri"/>
                <a:cs typeface="Calibri"/>
              </a:rPr>
              <a:t>д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4769" y="3636799"/>
            <a:ext cx="1111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Ответ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Сида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5857" y="1012557"/>
            <a:ext cx="34499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1625" algn="l"/>
                <a:tab pos="228282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ча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г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ав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77860"/>
            <a:ext cx="7250430" cy="165544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ЦЕЛОСТНОСТЬ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006666"/>
                </a:solidFill>
                <a:latin typeface="Arial"/>
                <a:cs typeface="Arial"/>
              </a:rPr>
              <a:t>ПРОГРАММНОЙ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СИСТЕМЫ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Arial"/>
              <a:cs typeface="Arial"/>
            </a:endParaRPr>
          </a:p>
          <a:p>
            <a:pPr marL="354965" marR="5080" indent="-342900">
              <a:lnSpc>
                <a:spcPts val="2590"/>
              </a:lnSpc>
              <a:buClr>
                <a:srgbClr val="006666"/>
              </a:buClr>
              <a:buSzPct val="150000"/>
              <a:buChar char="•"/>
              <a:tabLst>
                <a:tab pos="355600" algn="l"/>
                <a:tab pos="2406650" algn="l"/>
                <a:tab pos="3910965" algn="l"/>
                <a:tab pos="6027420" algn="l"/>
              </a:tabLst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(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eg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ty)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прог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рамм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й	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 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компонента: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300" y="2126601"/>
            <a:ext cx="1015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1135" algn="l"/>
                <a:tab pos="4389120" algn="l"/>
                <a:tab pos="5742305" algn="l"/>
                <a:tab pos="6678295" algn="l"/>
                <a:tab pos="827849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сопровождаемые	системой,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должны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быть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полными,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корректными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00" y="1797417"/>
            <a:ext cx="1090676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35"/>
              </a:lnSpc>
              <a:spcBef>
                <a:spcPts val="10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  <a:tab pos="2519045" algn="l"/>
                <a:tab pos="3973195" algn="l"/>
                <a:tab pos="5070475" algn="l"/>
                <a:tab pos="6725284" algn="l"/>
                <a:tab pos="8282940" algn="l"/>
                <a:tab pos="10723245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ц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ть	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ых	(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da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eg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y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):	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ис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з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мые	и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2735"/>
              </a:lnSpc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00" y="2455784"/>
            <a:ext cx="10908030" cy="229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непротиворечивыми;</a:t>
            </a:r>
            <a:endParaRPr sz="2400">
              <a:latin typeface="Arial"/>
              <a:cs typeface="Arial"/>
            </a:endParaRPr>
          </a:p>
          <a:p>
            <a:pPr marL="355600" marR="8255" indent="-342900" algn="just">
              <a:lnSpc>
                <a:spcPts val="2590"/>
              </a:lnSpc>
              <a:spcBef>
                <a:spcPts val="103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целостность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поведения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(behavioral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integrity):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система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ведет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себя,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как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предполагается,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не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допускает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логических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ошибок;</a:t>
            </a:r>
            <a:endParaRPr sz="2400">
              <a:latin typeface="Arial"/>
              <a:cs typeface="Arial"/>
            </a:endParaRPr>
          </a:p>
          <a:p>
            <a:pPr marL="354965" marR="5080" indent="-342900" algn="just">
              <a:lnSpc>
                <a:spcPts val="2590"/>
              </a:lnSpc>
              <a:spcBef>
                <a:spcPts val="10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безопасность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(защита)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(security): система способна ограничить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доступ к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своим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данным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функциональным возможностям, разрешая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его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только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авторизованным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пользователям.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61240"/>
            <a:ext cx="84404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/>
              <a:t>БЛОКЧЕЙН</a:t>
            </a:r>
            <a:r>
              <a:rPr sz="2200" spc="-10" dirty="0"/>
              <a:t> </a:t>
            </a:r>
            <a:r>
              <a:rPr sz="2200" spc="-5" dirty="0"/>
              <a:t>И</a:t>
            </a:r>
            <a:r>
              <a:rPr sz="2200" spc="5" dirty="0"/>
              <a:t> </a:t>
            </a:r>
            <a:r>
              <a:rPr sz="2200" spc="-20" dirty="0"/>
              <a:t>ЦЕЛОСТНОСТЬ</a:t>
            </a:r>
            <a:r>
              <a:rPr sz="2200" spc="40" dirty="0"/>
              <a:t> </a:t>
            </a:r>
            <a:r>
              <a:rPr sz="2200" spc="-25" dirty="0"/>
              <a:t>РАСПРЕДЕЛЁННОЙ</a:t>
            </a:r>
            <a:r>
              <a:rPr sz="2200" spc="35" dirty="0"/>
              <a:t> </a:t>
            </a:r>
            <a:r>
              <a:rPr sz="2200" spc="-15" dirty="0"/>
              <a:t>СИСТЕМЫ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6690" y="1004937"/>
            <a:ext cx="10906760" cy="37795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635" algn="just">
              <a:lnSpc>
                <a:spcPts val="3030"/>
              </a:lnSpc>
              <a:spcBef>
                <a:spcPts val="470"/>
              </a:spcBef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Tехнология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блокчейна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рассматриваться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как 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инструментальное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средство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достижения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поддержки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целостности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распределенных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системах.</a:t>
            </a:r>
            <a:endParaRPr sz="2800">
              <a:latin typeface="Arial"/>
              <a:cs typeface="Arial"/>
            </a:endParaRPr>
          </a:p>
          <a:p>
            <a:pPr marL="12700" marR="5715" algn="just">
              <a:lnSpc>
                <a:spcPts val="3030"/>
              </a:lnSpc>
              <a:spcBef>
                <a:spcPts val="980"/>
              </a:spcBef>
            </a:pP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Распределенные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пиринговые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могут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использовать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блокчейн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обеспечения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целостности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системы.</a:t>
            </a:r>
            <a:endParaRPr sz="2800">
              <a:latin typeface="Arial"/>
              <a:cs typeface="Arial"/>
            </a:endParaRPr>
          </a:p>
          <a:p>
            <a:pPr marL="12700" marR="5080" algn="just">
              <a:lnSpc>
                <a:spcPts val="3030"/>
              </a:lnSpc>
              <a:spcBef>
                <a:spcPts val="1000"/>
              </a:spcBef>
            </a:pP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Следовательно,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связь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полностью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распределенными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пиринговыми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системами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технологией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блокчейна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означает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использование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последней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обеспечения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целостности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таких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систем.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955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ЦЕЛОСТНОСТЬ </a:t>
            </a:r>
            <a:r>
              <a:rPr sz="2400" dirty="0"/>
              <a:t>И</a:t>
            </a:r>
            <a:r>
              <a:rPr sz="2400" spc="-25" dirty="0"/>
              <a:t> </a:t>
            </a:r>
            <a:r>
              <a:rPr sz="2400" spc="-10" dirty="0"/>
              <a:t>ДОВЕРИТЕЛЬНОСТЬ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48535" y="1378116"/>
            <a:ext cx="4959985" cy="44215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6667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Доверительность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целостность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это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две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стороны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одной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монеты.</a:t>
            </a:r>
            <a:endParaRPr sz="2800">
              <a:latin typeface="Calibri"/>
              <a:cs typeface="Calibri"/>
            </a:endParaRPr>
          </a:p>
          <a:p>
            <a:pPr marL="240665" marR="5080" indent="-228600">
              <a:lnSpc>
                <a:spcPts val="303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Осознание важности </a:t>
            </a:r>
            <a:r>
              <a:rPr sz="2800" spc="-10" dirty="0">
                <a:latin typeface="Calibri"/>
                <a:cs typeface="Calibri"/>
              </a:rPr>
              <a:t>доверия </a:t>
            </a:r>
            <a:r>
              <a:rPr sz="2800" spc="-5" dirty="0">
                <a:latin typeface="Calibri"/>
                <a:cs typeface="Calibri"/>
              </a:rPr>
              <a:t> для существования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пиринговых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</a:t>
            </a:r>
            <a:r>
              <a:rPr sz="2800" spc="-15" dirty="0">
                <a:latin typeface="Calibri"/>
                <a:cs typeface="Calibri"/>
              </a:rPr>
              <a:t> приводит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к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ключевому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вопросу: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как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обеспечить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</a:t>
            </a:r>
            <a:r>
              <a:rPr sz="2800" spc="-10" dirty="0">
                <a:latin typeface="Calibri"/>
                <a:cs typeface="Calibri"/>
              </a:rPr>
              <a:t> поддерживать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целостность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</a:t>
            </a:r>
            <a:r>
              <a:rPr sz="2800" spc="-10" dirty="0">
                <a:latin typeface="Calibri"/>
                <a:cs typeface="Calibri"/>
              </a:rPr>
              <a:t> полностью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распределенной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пиринговой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системе?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4835" y="1345857"/>
            <a:ext cx="5220335" cy="41186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205104">
              <a:lnSpc>
                <a:spcPct val="80000"/>
              </a:lnSpc>
              <a:spcBef>
                <a:spcPts val="765"/>
              </a:spcBef>
            </a:pPr>
            <a:r>
              <a:rPr sz="2800" spc="-5" dirty="0">
                <a:latin typeface="Calibri"/>
                <a:cs typeface="Calibri"/>
              </a:rPr>
              <a:t>Обеспечение и </a:t>
            </a:r>
            <a:r>
              <a:rPr sz="2800" spc="-15" dirty="0">
                <a:latin typeface="Calibri"/>
                <a:cs typeface="Calibri"/>
              </a:rPr>
              <a:t>поддержка </a:t>
            </a:r>
            <a:r>
              <a:rPr sz="2800" spc="-10" dirty="0">
                <a:latin typeface="Calibri"/>
                <a:cs typeface="Calibri"/>
              </a:rPr>
              <a:t> целостности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</a:t>
            </a:r>
            <a:r>
              <a:rPr sz="2800" spc="-10" dirty="0">
                <a:latin typeface="Calibri"/>
                <a:cs typeface="Calibri"/>
              </a:rPr>
              <a:t> полностью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распределенных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пиринговых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системах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зависят </a:t>
            </a:r>
            <a:r>
              <a:rPr sz="2800" spc="-15" dirty="0">
                <a:latin typeface="Calibri"/>
                <a:cs typeface="Calibri"/>
              </a:rPr>
              <a:t>от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множества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факторов, наиболее </a:t>
            </a:r>
            <a:r>
              <a:rPr sz="2800" spc="-5" dirty="0">
                <a:latin typeface="Calibri"/>
                <a:cs typeface="Calibri"/>
              </a:rPr>
              <a:t>важными из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которых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являются:</a:t>
            </a:r>
            <a:endParaRPr sz="2800">
              <a:latin typeface="Calibri"/>
              <a:cs typeface="Calibri"/>
            </a:endParaRPr>
          </a:p>
          <a:p>
            <a:pPr marL="241300" marR="562610" indent="-228600">
              <a:lnSpc>
                <a:spcPct val="80000"/>
              </a:lnSpc>
              <a:spcBef>
                <a:spcPts val="9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знание</a:t>
            </a:r>
            <a:r>
              <a:rPr sz="2800" spc="-15" dirty="0">
                <a:latin typeface="Calibri"/>
                <a:cs typeface="Calibri"/>
              </a:rPr>
              <a:t> количества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узлов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или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партнеров;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знание</a:t>
            </a:r>
            <a:r>
              <a:rPr sz="2800" spc="-10" dirty="0">
                <a:latin typeface="Calibri"/>
                <a:cs typeface="Calibri"/>
              </a:rPr>
              <a:t> степени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доверия</a:t>
            </a:r>
            <a:r>
              <a:rPr sz="2800" spc="-5" dirty="0">
                <a:latin typeface="Calibri"/>
                <a:cs typeface="Calibri"/>
              </a:rPr>
              <a:t> (уровня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надежности)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между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партнерами.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964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ТИПЫ</a:t>
            </a:r>
            <a:r>
              <a:rPr sz="2400" spc="-70" dirty="0"/>
              <a:t> </a:t>
            </a:r>
            <a:r>
              <a:rPr sz="2400" spc="-5" dirty="0"/>
              <a:t>БЛОКЧЕЙНА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122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5454" y="1075317"/>
          <a:ext cx="11080749" cy="5040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2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776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50101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Описание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Тип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блокчейна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Открытый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Закрытый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Комбинированный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369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Отсутствует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и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нти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ф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ци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911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Идентификация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участников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сети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Идентификация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сети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09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Отсутствует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ограничение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участия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пользователей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Доступ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к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участию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сети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узкого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круга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лиц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(доступ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данным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ограничен)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2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Доступ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к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участию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сети,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оговорённый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определёнными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правилами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39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23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Статус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процесса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не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закреплён за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участниками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Статус валидаторов закреплён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за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определёнными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контрагентами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74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Статус валидаторов закреплён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за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определёнными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контрагентами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Отсутствует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надзор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Есть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контролирующий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орган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Есть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контролирующий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орган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743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УГРОЗЫ</a:t>
            </a:r>
            <a:r>
              <a:rPr sz="2400" spc="-55" dirty="0"/>
              <a:t> </a:t>
            </a:r>
            <a:r>
              <a:rPr sz="2400" spc="-20" dirty="0"/>
              <a:t>ЦЕЛОСТНОСТИ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36662" y="1567686"/>
            <a:ext cx="4587875" cy="3010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172720">
              <a:lnSpc>
                <a:spcPts val="3030"/>
              </a:lnSpc>
              <a:spcBef>
                <a:spcPts val="470"/>
              </a:spcBef>
            </a:pPr>
            <a:r>
              <a:rPr sz="2800" spc="-5" dirty="0">
                <a:latin typeface="Calibri"/>
                <a:cs typeface="Calibri"/>
              </a:rPr>
              <a:t>Для</a:t>
            </a:r>
            <a:r>
              <a:rPr sz="2800" spc="-10" dirty="0">
                <a:latin typeface="Calibri"/>
                <a:cs typeface="Calibri"/>
              </a:rPr>
              <a:t> упрощения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можно </a:t>
            </a:r>
            <a:r>
              <a:rPr sz="2800" spc="-5" dirty="0">
                <a:latin typeface="Calibri"/>
                <a:cs typeface="Calibri"/>
              </a:rPr>
              <a:t> рассматривать два основных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источника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опасности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для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целостности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</a:t>
            </a:r>
            <a:r>
              <a:rPr sz="2800" spc="-10" dirty="0">
                <a:latin typeface="Calibri"/>
                <a:cs typeface="Calibri"/>
              </a:rPr>
              <a:t> пиринговых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системах: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технические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отказы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(сбои);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злоумышленники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системе.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5549" y="1550958"/>
            <a:ext cx="4672965" cy="35255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665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Главная </a:t>
            </a:r>
            <a:r>
              <a:rPr sz="2800" spc="-5" dirty="0">
                <a:latin typeface="Calibri"/>
                <a:cs typeface="Calibri"/>
              </a:rPr>
              <a:t>задача </a:t>
            </a:r>
            <a:r>
              <a:rPr sz="2800" spc="-10" dirty="0">
                <a:latin typeface="Calibri"/>
                <a:cs typeface="Calibri"/>
              </a:rPr>
              <a:t>блокчейна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обеспечение и </a:t>
            </a:r>
            <a:r>
              <a:rPr sz="2800" spc="-15" dirty="0">
                <a:latin typeface="Calibri"/>
                <a:cs typeface="Calibri"/>
              </a:rPr>
              <a:t>поддержка </a:t>
            </a:r>
            <a:r>
              <a:rPr sz="2800" spc="-10" dirty="0">
                <a:latin typeface="Calibri"/>
                <a:cs typeface="Calibri"/>
              </a:rPr>
              <a:t> целостности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полностью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распределенной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пиринговой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системе,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состоящей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из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неизвестного </a:t>
            </a:r>
            <a:r>
              <a:rPr sz="2800" spc="-15" dirty="0">
                <a:latin typeface="Calibri"/>
                <a:cs typeface="Calibri"/>
              </a:rPr>
              <a:t>количества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партнеров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неизвестным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уровнем </a:t>
            </a:r>
            <a:r>
              <a:rPr sz="2800" spc="-10" dirty="0">
                <a:latin typeface="Calibri"/>
                <a:cs typeface="Calibri"/>
              </a:rPr>
              <a:t>надежности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доверительности.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277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/>
              <a:t>ЗНАЧЕНИЕ </a:t>
            </a:r>
            <a:r>
              <a:rPr sz="2400" spc="-15" dirty="0"/>
              <a:t>ТЕРМИНА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47812" y="1336769"/>
            <a:ext cx="4693920" cy="3735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latin typeface="Calibri"/>
                <a:cs typeface="Calibri"/>
              </a:rPr>
              <a:t>Термин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Блокчейн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означает: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структуру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данных;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алгоритм;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набор</a:t>
            </a:r>
            <a:r>
              <a:rPr sz="2800" spc="-10" dirty="0">
                <a:latin typeface="Calibri"/>
                <a:cs typeface="Calibri"/>
              </a:rPr>
              <a:t> (стек)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технологий;</a:t>
            </a:r>
            <a:endParaRPr sz="2800">
              <a:latin typeface="Calibri"/>
              <a:cs typeface="Calibri"/>
            </a:endParaRPr>
          </a:p>
          <a:p>
            <a:pPr marL="240665" marR="508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группу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полностью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распределенных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пиринговых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 </a:t>
            </a:r>
            <a:r>
              <a:rPr sz="2800" spc="-5" dirty="0">
                <a:latin typeface="Calibri"/>
                <a:cs typeface="Calibri"/>
              </a:rPr>
              <a:t>с </a:t>
            </a:r>
            <a:r>
              <a:rPr sz="2800" spc="-10" dirty="0">
                <a:latin typeface="Calibri"/>
                <a:cs typeface="Calibri"/>
              </a:rPr>
              <a:t>общей </a:t>
            </a:r>
            <a:r>
              <a:rPr sz="2800" spc="-5" dirty="0">
                <a:latin typeface="Calibri"/>
                <a:cs typeface="Calibri"/>
              </a:rPr>
              <a:t>прикладной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областью.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2095" y="1422722"/>
            <a:ext cx="4799965" cy="27571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Управление </a:t>
            </a:r>
            <a:r>
              <a:rPr sz="2800" spc="-5" dirty="0">
                <a:latin typeface="Calibri"/>
                <a:cs typeface="Calibri"/>
              </a:rPr>
              <a:t>правом </a:t>
            </a:r>
            <a:r>
              <a:rPr sz="2800" spc="-10" dirty="0">
                <a:latin typeface="Calibri"/>
                <a:cs typeface="Calibri"/>
              </a:rPr>
              <a:t>владения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собственностью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spc="-15" dirty="0">
                <a:latin typeface="Calibri"/>
                <a:cs typeface="Calibri"/>
              </a:rPr>
              <a:t>его </a:t>
            </a:r>
            <a:r>
              <a:rPr sz="2800" spc="-10" dirty="0">
                <a:latin typeface="Calibri"/>
                <a:cs typeface="Calibri"/>
              </a:rPr>
              <a:t> осуществление </a:t>
            </a:r>
            <a:r>
              <a:rPr sz="2800" spc="-15" dirty="0">
                <a:latin typeface="Calibri"/>
                <a:cs typeface="Calibri"/>
              </a:rPr>
              <a:t>являются </a:t>
            </a:r>
            <a:r>
              <a:rPr sz="2800" spc="-10" dirty="0">
                <a:latin typeface="Calibri"/>
                <a:cs typeface="Calibri"/>
              </a:rPr>
              <a:t> наиболее </a:t>
            </a:r>
            <a:r>
              <a:rPr sz="2800" spc="-5" dirty="0">
                <a:latin typeface="Calibri"/>
                <a:cs typeface="Calibri"/>
              </a:rPr>
              <a:t>распространенным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вариантом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практического </a:t>
            </a:r>
            <a:r>
              <a:rPr sz="2800" spc="-5" dirty="0">
                <a:latin typeface="Calibri"/>
                <a:cs typeface="Calibri"/>
              </a:rPr>
              <a:t> применения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блокчейна,</a:t>
            </a:r>
            <a:r>
              <a:rPr sz="2800" spc="-5" dirty="0">
                <a:latin typeface="Calibri"/>
                <a:cs typeface="Calibri"/>
              </a:rPr>
              <a:t> но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далеко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не </a:t>
            </a:r>
            <a:r>
              <a:rPr sz="2800" spc="-10" dirty="0">
                <a:latin typeface="Calibri"/>
                <a:cs typeface="Calibri"/>
              </a:rPr>
              <a:t>единственным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008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БЛОКЧЕЙН</a:t>
            </a:r>
            <a:r>
              <a:rPr sz="2400" spc="-25" dirty="0"/>
              <a:t> </a:t>
            </a:r>
            <a:r>
              <a:rPr sz="2400" dirty="0"/>
              <a:t>И</a:t>
            </a:r>
            <a:r>
              <a:rPr sz="2400" spc="-15" dirty="0"/>
              <a:t> </a:t>
            </a:r>
            <a:r>
              <a:rPr sz="2400" spc="-65" dirty="0"/>
              <a:t>ПРАВО</a:t>
            </a:r>
            <a:r>
              <a:rPr sz="2400" spc="10" dirty="0"/>
              <a:t> </a:t>
            </a:r>
            <a:r>
              <a:rPr sz="2400" spc="-5" dirty="0"/>
              <a:t>ВЛАДЕНИЯ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25149" y="1035997"/>
            <a:ext cx="3648075" cy="40125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Доказательство </a:t>
            </a:r>
            <a:r>
              <a:rPr sz="2400" dirty="0">
                <a:latin typeface="Calibri"/>
                <a:cs typeface="Calibri"/>
              </a:rPr>
              <a:t>в </a:t>
            </a:r>
            <a:r>
              <a:rPr sz="2400" spc="-5" dirty="0">
                <a:latin typeface="Calibri"/>
                <a:cs typeface="Calibri"/>
              </a:rPr>
              <a:t>форме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реестра </a:t>
            </a:r>
            <a:r>
              <a:rPr sz="2400" spc="-10" dirty="0">
                <a:latin typeface="Calibri"/>
                <a:cs typeface="Calibri"/>
              </a:rPr>
              <a:t>является </a:t>
            </a:r>
            <a:r>
              <a:rPr sz="2400" spc="-20" dirty="0">
                <a:latin typeface="Calibri"/>
                <a:cs typeface="Calibri"/>
              </a:rPr>
              <a:t>главным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действующим </a:t>
            </a:r>
            <a:r>
              <a:rPr sz="2400" spc="-10" dirty="0">
                <a:latin typeface="Calibri"/>
                <a:cs typeface="Calibri"/>
              </a:rPr>
              <a:t>фактором </a:t>
            </a:r>
            <a:r>
              <a:rPr sz="2400" spc="-5" dirty="0">
                <a:latin typeface="Calibri"/>
                <a:cs typeface="Calibri"/>
              </a:rPr>
              <a:t> при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определении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права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владения. </a:t>
            </a:r>
            <a:r>
              <a:rPr sz="2400" dirty="0">
                <a:latin typeface="Calibri"/>
                <a:cs typeface="Calibri"/>
              </a:rPr>
              <a:t>Но </a:t>
            </a:r>
            <a:r>
              <a:rPr sz="2400" spc="-10" dirty="0">
                <a:latin typeface="Calibri"/>
                <a:cs typeface="Calibri"/>
              </a:rPr>
              <a:t>что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произойдет, </a:t>
            </a:r>
            <a:r>
              <a:rPr sz="2400" dirty="0">
                <a:latin typeface="Calibri"/>
                <a:cs typeface="Calibri"/>
              </a:rPr>
              <a:t>если реестр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поврежден</a:t>
            </a:r>
            <a:r>
              <a:rPr sz="2400" spc="-5" dirty="0">
                <a:latin typeface="Calibri"/>
                <a:cs typeface="Calibri"/>
              </a:rPr>
              <a:t> или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уничтожен?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этом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случае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реестр </a:t>
            </a:r>
            <a:r>
              <a:rPr sz="2400" spc="-5" dirty="0">
                <a:latin typeface="Calibri"/>
                <a:cs typeface="Calibri"/>
              </a:rPr>
              <a:t>перестает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соответствовать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действительности. Это </a:t>
            </a:r>
            <a:r>
              <a:rPr sz="2400" spc="-5" dirty="0">
                <a:latin typeface="Calibri"/>
                <a:cs typeface="Calibri"/>
              </a:rPr>
              <a:t> настоящая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катастрофа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8902" y="1035997"/>
            <a:ext cx="6008370" cy="47224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2352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отдельные </a:t>
            </a:r>
            <a:r>
              <a:rPr sz="2400" spc="-5" dirty="0">
                <a:latin typeface="Calibri"/>
                <a:cs typeface="Calibri"/>
              </a:rPr>
              <a:t>реестры хранятся </a:t>
            </a:r>
            <a:r>
              <a:rPr sz="2400" dirty="0">
                <a:latin typeface="Calibri"/>
                <a:cs typeface="Calibri"/>
              </a:rPr>
              <a:t>на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компьютерах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(узлах)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пиринговой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системы;</a:t>
            </a:r>
            <a:endParaRPr sz="2400">
              <a:latin typeface="Calibri"/>
              <a:cs typeface="Calibri"/>
            </a:endParaRPr>
          </a:p>
          <a:p>
            <a:pPr marL="241300" marR="348615" indent="-228600">
              <a:lnSpc>
                <a:spcPts val="259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алгоритм блокчейна </a:t>
            </a:r>
            <a:r>
              <a:rPr sz="2400" spc="-5" dirty="0">
                <a:latin typeface="Calibri"/>
                <a:cs typeface="Calibri"/>
              </a:rPr>
              <a:t>отвечает </a:t>
            </a:r>
            <a:r>
              <a:rPr sz="2400" dirty="0">
                <a:latin typeface="Calibri"/>
                <a:cs typeface="Calibri"/>
              </a:rPr>
              <a:t>за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объединение </a:t>
            </a:r>
            <a:r>
              <a:rPr sz="2400" spc="-25" dirty="0">
                <a:latin typeface="Calibri"/>
                <a:cs typeface="Calibri"/>
              </a:rPr>
              <a:t>отдельных </a:t>
            </a:r>
            <a:r>
              <a:rPr sz="2400" spc="-10" dirty="0">
                <a:latin typeface="Calibri"/>
                <a:cs typeface="Calibri"/>
              </a:rPr>
              <a:t>узлов </a:t>
            </a:r>
            <a:r>
              <a:rPr sz="2400" dirty="0">
                <a:latin typeface="Calibri"/>
                <a:cs typeface="Calibri"/>
              </a:rPr>
              <a:t>в </a:t>
            </a:r>
            <a:r>
              <a:rPr sz="2400" spc="-10" dirty="0">
                <a:latin typeface="Calibri"/>
                <a:cs typeface="Calibri"/>
              </a:rPr>
              <a:t>единую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согласованную </a:t>
            </a:r>
            <a:r>
              <a:rPr sz="2400" spc="-5" dirty="0">
                <a:latin typeface="Calibri"/>
                <a:cs typeface="Calibri"/>
              </a:rPr>
              <a:t>версию, </a:t>
            </a:r>
            <a:r>
              <a:rPr sz="2400" spc="-10" dirty="0">
                <a:latin typeface="Calibri"/>
                <a:cs typeface="Calibri"/>
              </a:rPr>
              <a:t>представляющую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состояние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прав </a:t>
            </a:r>
            <a:r>
              <a:rPr sz="2400" spc="-10" dirty="0">
                <a:latin typeface="Calibri"/>
                <a:cs typeface="Calibri"/>
              </a:rPr>
              <a:t>владения;</a:t>
            </a:r>
            <a:endParaRPr sz="2400">
              <a:latin typeface="Calibri"/>
              <a:cs typeface="Calibri"/>
            </a:endParaRPr>
          </a:p>
          <a:p>
            <a:pPr marL="241300" marR="396875" indent="-228600">
              <a:lnSpc>
                <a:spcPts val="25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целостность системы </a:t>
            </a:r>
            <a:r>
              <a:rPr sz="2400" spc="-5" dirty="0">
                <a:latin typeface="Calibri"/>
                <a:cs typeface="Calibri"/>
              </a:rPr>
              <a:t>основывается </a:t>
            </a:r>
            <a:r>
              <a:rPr sz="2400" dirty="0">
                <a:latin typeface="Calibri"/>
                <a:cs typeface="Calibri"/>
              </a:rPr>
              <a:t>на </a:t>
            </a:r>
            <a:r>
              <a:rPr sz="2400" spc="5" dirty="0">
                <a:latin typeface="Calibri"/>
                <a:cs typeface="Calibri"/>
              </a:rPr>
              <a:t>её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способности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формировать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истинные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утверждения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о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праве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владения;</a:t>
            </a: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ts val="259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криптография </a:t>
            </a:r>
            <a:r>
              <a:rPr sz="2400" spc="-15" dirty="0">
                <a:latin typeface="Calibri"/>
                <a:cs typeface="Calibri"/>
              </a:rPr>
              <a:t>необходима </a:t>
            </a:r>
            <a:r>
              <a:rPr sz="2400" spc="-5" dirty="0">
                <a:latin typeface="Calibri"/>
                <a:cs typeface="Calibri"/>
              </a:rPr>
              <a:t>для создания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надежных средств идентификации,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аутентификации </a:t>
            </a:r>
            <a:r>
              <a:rPr sz="2400" dirty="0">
                <a:latin typeface="Calibri"/>
                <a:cs typeface="Calibri"/>
              </a:rPr>
              <a:t>и </a:t>
            </a:r>
            <a:r>
              <a:rPr sz="2400" spc="-5" dirty="0">
                <a:latin typeface="Calibri"/>
                <a:cs typeface="Calibri"/>
              </a:rPr>
              <a:t>авторизации, </a:t>
            </a:r>
            <a:r>
              <a:rPr sz="2400" dirty="0">
                <a:latin typeface="Calibri"/>
                <a:cs typeface="Calibri"/>
              </a:rPr>
              <a:t>а </a:t>
            </a:r>
            <a:r>
              <a:rPr sz="2400" spc="-10" dirty="0">
                <a:latin typeface="Calibri"/>
                <a:cs typeface="Calibri"/>
              </a:rPr>
              <a:t>также </a:t>
            </a:r>
            <a:r>
              <a:rPr sz="2400" spc="-5" dirty="0">
                <a:latin typeface="Calibri"/>
                <a:cs typeface="Calibri"/>
              </a:rPr>
              <a:t>для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обеспечения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защиты данных.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413" y="966486"/>
            <a:ext cx="4817565" cy="28439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198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ДВОЙНОЕ</a:t>
            </a:r>
            <a:r>
              <a:rPr sz="2400" spc="-80" dirty="0"/>
              <a:t> </a:t>
            </a:r>
            <a:r>
              <a:rPr sz="2400" spc="-55" dirty="0"/>
              <a:t>РАСХОДОВАНИЕ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126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58205" y="2598750"/>
            <a:ext cx="3581400" cy="36099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75"/>
              </a:spcBef>
            </a:pPr>
            <a:r>
              <a:rPr sz="2400" spc="-5" dirty="0">
                <a:latin typeface="Calibri"/>
                <a:cs typeface="Calibri"/>
              </a:rPr>
              <a:t>Передача информации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всем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компонентам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системы требует </a:t>
            </a:r>
            <a:r>
              <a:rPr sz="2400" spc="-5" dirty="0">
                <a:latin typeface="Calibri"/>
                <a:cs typeface="Calibri"/>
              </a:rPr>
              <a:t>времени.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Поскольку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не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все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партнеры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обладают </a:t>
            </a:r>
            <a:r>
              <a:rPr sz="2400" spc="-5" dirty="0">
                <a:latin typeface="Calibri"/>
                <a:cs typeface="Calibri"/>
              </a:rPr>
              <a:t>актуальной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информацией,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появляется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возможность </a:t>
            </a:r>
            <a:r>
              <a:rPr sz="2400" spc="-5" dirty="0">
                <a:latin typeface="Calibri"/>
                <a:cs typeface="Calibri"/>
              </a:rPr>
              <a:t>их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некорректного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использования </a:t>
            </a:r>
            <a:r>
              <a:rPr sz="2400" dirty="0">
                <a:latin typeface="Calibri"/>
                <a:cs typeface="Calibri"/>
              </a:rPr>
              <a:t>неким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лицом,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уже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обладающим </a:t>
            </a:r>
            <a:r>
              <a:rPr sz="2400" spc="-5" dirty="0">
                <a:latin typeface="Calibri"/>
                <a:cs typeface="Calibri"/>
              </a:rPr>
              <a:t> самой </a:t>
            </a:r>
            <a:r>
              <a:rPr sz="2400" spc="-10" dirty="0">
                <a:latin typeface="Calibri"/>
                <a:cs typeface="Calibri"/>
              </a:rPr>
              <a:t>свежей </a:t>
            </a:r>
            <a:r>
              <a:rPr sz="2400" spc="-5" dirty="0">
                <a:latin typeface="Calibri"/>
                <a:cs typeface="Calibri"/>
              </a:rPr>
              <a:t> информацией.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57377" y="2623185"/>
            <a:ext cx="4762500" cy="363092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z="2600" spc="-10" dirty="0">
                <a:latin typeface="Calibri"/>
                <a:cs typeface="Calibri"/>
              </a:rPr>
              <a:t>Проблему двойного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расходования </a:t>
            </a:r>
            <a:r>
              <a:rPr sz="2600" spc="-5" dirty="0">
                <a:latin typeface="Calibri"/>
                <a:cs typeface="Calibri"/>
              </a:rPr>
              <a:t>можно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рассматривать </a:t>
            </a:r>
            <a:r>
              <a:rPr sz="2600" spc="-10" dirty="0">
                <a:latin typeface="Calibri"/>
                <a:cs typeface="Calibri"/>
              </a:rPr>
              <a:t>как проблему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обеспечения </a:t>
            </a:r>
            <a:r>
              <a:rPr sz="2600" spc="-5" dirty="0">
                <a:latin typeface="Calibri"/>
                <a:cs typeface="Calibri"/>
              </a:rPr>
              <a:t>логической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согласованности </a:t>
            </a:r>
            <a:r>
              <a:rPr sz="2600" dirty="0">
                <a:latin typeface="Calibri"/>
                <a:cs typeface="Calibri"/>
              </a:rPr>
              <a:t>данных в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распределенных </a:t>
            </a:r>
            <a:r>
              <a:rPr sz="2600" spc="-5" dirty="0">
                <a:latin typeface="Calibri"/>
                <a:cs typeface="Calibri"/>
              </a:rPr>
              <a:t>пиринговых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системах. Проблема двойного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расходования </a:t>
            </a:r>
            <a:r>
              <a:rPr sz="2600" spc="-10" dirty="0">
                <a:latin typeface="Calibri"/>
                <a:cs typeface="Calibri"/>
              </a:rPr>
              <a:t>представляет </a:t>
            </a:r>
            <a:r>
              <a:rPr sz="2600" spc="-5" dirty="0">
                <a:latin typeface="Calibri"/>
                <a:cs typeface="Calibri"/>
              </a:rPr>
              <a:t> собой </a:t>
            </a:r>
            <a:r>
              <a:rPr sz="2600" dirty="0">
                <a:latin typeface="Calibri"/>
                <a:cs typeface="Calibri"/>
              </a:rPr>
              <a:t>частный пример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нарушения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целостности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системы.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77860"/>
            <a:ext cx="10906760" cy="472186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ЗАДАЧИ,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РЕШАЕМЫЕ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БЛОКЧЕЙН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описание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права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владения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(хронология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транзакций);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защита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права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владения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(идентификация,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аутентификация);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хранение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данных транзакций;</a:t>
            </a:r>
            <a:endParaRPr sz="2400">
              <a:latin typeface="Arial"/>
              <a:cs typeface="Arial"/>
            </a:endParaRPr>
          </a:p>
          <a:p>
            <a:pPr marL="354965" marR="5080" indent="-342900">
              <a:lnSpc>
                <a:spcPts val="2590"/>
              </a:lnSpc>
              <a:spcBef>
                <a:spcPts val="105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подготовка</a:t>
            </a:r>
            <a:r>
              <a:rPr sz="2400" spc="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реестров</a:t>
            </a:r>
            <a:r>
              <a:rPr sz="2400" spc="2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2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распространению</a:t>
            </a:r>
            <a:r>
              <a:rPr sz="2400" spc="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ненадежной</a:t>
            </a:r>
            <a:r>
              <a:rPr sz="2400" spc="2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среде</a:t>
            </a:r>
            <a:r>
              <a:rPr sz="24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(запрет</a:t>
            </a:r>
            <a:r>
              <a:rPr sz="2400" spc="2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изменение);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распространение реестров;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добавление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новых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реестры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(каждый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участник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контролёр);</a:t>
            </a:r>
            <a:endParaRPr sz="2400">
              <a:latin typeface="Arial"/>
              <a:cs typeface="Arial"/>
            </a:endParaRPr>
          </a:p>
          <a:p>
            <a:pPr marL="354965" marR="5715" indent="-342900">
              <a:lnSpc>
                <a:spcPts val="2590"/>
              </a:lnSpc>
              <a:spcBef>
                <a:spcPts val="105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  <a:tab pos="2559050" algn="l"/>
                <a:tab pos="2978150" algn="l"/>
                <a:tab pos="4000500" algn="l"/>
                <a:tab pos="5550535" algn="l"/>
                <a:tab pos="7833359" algn="l"/>
                <a:tab pos="982091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в	</a:t>
            </a:r>
            <a:r>
              <a:rPr sz="2400" spc="5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их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реес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р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х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дс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	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ьн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е	д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ые 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(распределённый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консенсус).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127</a:t>
            </a:fld>
            <a:endParaRPr spc="-5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720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ОПИСАНИЕ</a:t>
            </a:r>
            <a:r>
              <a:rPr sz="2400" spc="-20" dirty="0"/>
              <a:t> </a:t>
            </a:r>
            <a:r>
              <a:rPr sz="2400" spc="-75" dirty="0"/>
              <a:t>ПРАВА</a:t>
            </a:r>
            <a:r>
              <a:rPr sz="2400" spc="15" dirty="0"/>
              <a:t> </a:t>
            </a:r>
            <a:r>
              <a:rPr sz="2400" spc="-5" dirty="0"/>
              <a:t>ВЛАДЕНИЯ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04937"/>
            <a:ext cx="10909300" cy="3651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algn="just">
              <a:lnSpc>
                <a:spcPts val="3030"/>
              </a:lnSpc>
              <a:spcBef>
                <a:spcPts val="470"/>
              </a:spcBef>
            </a:pP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Вместо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описания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текущего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состояния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прав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владения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инвентаризационным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данным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(то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есть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по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списку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имеющихся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настоящее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время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объектов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собственности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всех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владельцев)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обслуживается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список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всех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фактов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передачи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права владения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реестре.</a:t>
            </a:r>
            <a:endParaRPr sz="2800">
              <a:latin typeface="Arial"/>
              <a:cs typeface="Arial"/>
            </a:endParaRPr>
          </a:p>
          <a:p>
            <a:pPr marL="12700" marR="5715" indent="635" algn="just">
              <a:lnSpc>
                <a:spcPts val="3030"/>
              </a:lnSpc>
              <a:spcBef>
                <a:spcPts val="969"/>
              </a:spcBef>
            </a:pP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Полная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хронологическая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запись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данных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транзакции,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сохраняемая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реестре,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становится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контрольной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журнальной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записью,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которая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свидетельствует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о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том,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каким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образом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то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или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иное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лицо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получило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объект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8815705" cy="346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ХЕШИРОВАНИЕ</a:t>
            </a:r>
            <a:r>
              <a:rPr sz="2400" b="1" spc="-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ДАННЫХ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Криптографические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Хеш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(Hash)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функции: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быстрая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генерация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хэш-значений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любого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типа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данных;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детерминированность;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обеспечение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псевдослучайности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хэш-значений;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односторонние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функции;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устойчивость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коллизиям.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2656" y="3077737"/>
            <a:ext cx="6374978" cy="32271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129</a:t>
            </a:fld>
            <a:endParaRPr spc="-5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2435" y="907474"/>
            <a:ext cx="9227125" cy="53428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130</a:t>
            </a:fld>
            <a:endParaRPr spc="-5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890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ПРИМЕР</a:t>
            </a:r>
            <a:r>
              <a:rPr sz="2400" spc="-40" dirty="0"/>
              <a:t> </a:t>
            </a:r>
            <a:r>
              <a:rPr sz="2400" spc="-5" dirty="0"/>
              <a:t>ХЕШ</a:t>
            </a:r>
            <a:r>
              <a:rPr sz="2400" spc="-15" dirty="0"/>
              <a:t> </a:t>
            </a:r>
            <a:r>
              <a:rPr sz="2400" spc="-30" dirty="0"/>
              <a:t>ЗНАЧЕНИЙ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131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47" y="1483731"/>
            <a:ext cx="11634784" cy="4403721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89515" y="1600200"/>
            <a:ext cx="5504815" cy="4789170"/>
            <a:chOff x="4789515" y="1600200"/>
            <a:chExt cx="5504815" cy="4789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0801" y="4126244"/>
              <a:ext cx="2809809" cy="2263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9515" y="1600200"/>
              <a:ext cx="1981197" cy="14620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0340" y="3062289"/>
              <a:ext cx="2139098" cy="1473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4784" y="2869958"/>
              <a:ext cx="2139098" cy="166593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184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ШАБЛОНЫ</a:t>
            </a:r>
            <a:r>
              <a:rPr sz="2400" spc="5" dirty="0"/>
              <a:t> </a:t>
            </a:r>
            <a:r>
              <a:rPr sz="2400" spc="-5" dirty="0"/>
              <a:t>ПРИМЕНЕНИЯ</a:t>
            </a:r>
            <a:r>
              <a:rPr sz="2400" spc="25" dirty="0"/>
              <a:t> </a:t>
            </a:r>
            <a:r>
              <a:rPr sz="2400" spc="-15" dirty="0"/>
              <a:t>ХЕШ-ФУНКЦИЙ</a:t>
            </a:r>
            <a:r>
              <a:rPr sz="2400" spc="-5" dirty="0"/>
              <a:t> </a:t>
            </a:r>
            <a:r>
              <a:rPr sz="2400" dirty="0"/>
              <a:t>К</a:t>
            </a:r>
            <a:r>
              <a:rPr sz="2400" spc="5" dirty="0"/>
              <a:t> </a:t>
            </a:r>
            <a:r>
              <a:rPr sz="2400" spc="-10" dirty="0"/>
              <a:t>ДАННЫМ</a:t>
            </a:r>
            <a:endParaRPr sz="2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132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1167687" y="1138077"/>
            <a:ext cx="2867025" cy="41395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63754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независимое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хэшир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ва</a:t>
            </a:r>
            <a:r>
              <a:rPr sz="2600" spc="-5" dirty="0">
                <a:latin typeface="Calibri"/>
                <a:cs typeface="Calibri"/>
              </a:rPr>
              <a:t>ни</a:t>
            </a:r>
            <a:r>
              <a:rPr sz="2600" dirty="0">
                <a:latin typeface="Calibri"/>
                <a:cs typeface="Calibri"/>
              </a:rPr>
              <a:t>е;</a:t>
            </a:r>
            <a:endParaRPr sz="2600">
              <a:latin typeface="Calibri"/>
              <a:cs typeface="Calibri"/>
            </a:endParaRPr>
          </a:p>
          <a:p>
            <a:pPr marL="241300" marR="372745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п</a:t>
            </a:r>
            <a:r>
              <a:rPr sz="2600" spc="-5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в</a:t>
            </a:r>
            <a:r>
              <a:rPr sz="2600" spc="-25" dirty="0">
                <a:latin typeface="Calibri"/>
                <a:cs typeface="Calibri"/>
              </a:rPr>
              <a:t>т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spc="-5" dirty="0">
                <a:latin typeface="Calibri"/>
                <a:cs typeface="Calibri"/>
              </a:rPr>
              <a:t>р</a:t>
            </a:r>
            <a:r>
              <a:rPr sz="2600" dirty="0">
                <a:latin typeface="Calibri"/>
                <a:cs typeface="Calibri"/>
              </a:rPr>
              <a:t>яю</a:t>
            </a:r>
            <a:r>
              <a:rPr sz="2600" spc="-20" dirty="0">
                <a:latin typeface="Calibri"/>
                <a:cs typeface="Calibri"/>
              </a:rPr>
              <a:t>щ</a:t>
            </a:r>
            <a:r>
              <a:rPr sz="2600" dirty="0">
                <a:latin typeface="Calibri"/>
                <a:cs typeface="Calibri"/>
              </a:rPr>
              <a:t>ееся  </a:t>
            </a:r>
            <a:r>
              <a:rPr sz="2600" spc="-5" dirty="0">
                <a:latin typeface="Calibri"/>
                <a:cs typeface="Calibri"/>
              </a:rPr>
              <a:t>хэширование;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к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мб</a:t>
            </a:r>
            <a:r>
              <a:rPr sz="2600" spc="-5" dirty="0">
                <a:latin typeface="Calibri"/>
                <a:cs typeface="Calibri"/>
              </a:rPr>
              <a:t>и</a:t>
            </a:r>
            <a:r>
              <a:rPr sz="2600" dirty="0">
                <a:latin typeface="Calibri"/>
                <a:cs typeface="Calibri"/>
              </a:rPr>
              <a:t>н</a:t>
            </a:r>
            <a:r>
              <a:rPr sz="2600" spc="-5" dirty="0">
                <a:latin typeface="Calibri"/>
                <a:cs typeface="Calibri"/>
              </a:rPr>
              <a:t>ир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ва</a:t>
            </a:r>
            <a:r>
              <a:rPr sz="2600" spc="-5" dirty="0">
                <a:latin typeface="Calibri"/>
                <a:cs typeface="Calibri"/>
              </a:rPr>
              <a:t>н</a:t>
            </a:r>
            <a:r>
              <a:rPr sz="2600" dirty="0">
                <a:latin typeface="Calibri"/>
                <a:cs typeface="Calibri"/>
              </a:rPr>
              <a:t>н</a:t>
            </a:r>
            <a:r>
              <a:rPr sz="2600" spc="-5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е  </a:t>
            </a:r>
            <a:r>
              <a:rPr sz="2600" spc="-5" dirty="0">
                <a:latin typeface="Calibri"/>
                <a:cs typeface="Calibri"/>
              </a:rPr>
              <a:t>хэширование;</a:t>
            </a:r>
            <a:endParaRPr sz="2600">
              <a:latin typeface="Calibri"/>
              <a:cs typeface="Calibri"/>
            </a:endParaRPr>
          </a:p>
          <a:p>
            <a:pPr marL="241300" marR="889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п</a:t>
            </a:r>
            <a:r>
              <a:rPr sz="2600" spc="-5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сл</a:t>
            </a:r>
            <a:r>
              <a:rPr sz="2600" spc="-40" dirty="0">
                <a:latin typeface="Calibri"/>
                <a:cs typeface="Calibri"/>
              </a:rPr>
              <a:t>е</a:t>
            </a:r>
            <a:r>
              <a:rPr sz="2600" spc="-30" dirty="0">
                <a:latin typeface="Calibri"/>
                <a:cs typeface="Calibri"/>
              </a:rPr>
              <a:t>д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в</a:t>
            </a:r>
            <a:r>
              <a:rPr sz="2600" spc="-15" dirty="0">
                <a:latin typeface="Calibri"/>
                <a:cs typeface="Calibri"/>
              </a:rPr>
              <a:t>а</a:t>
            </a:r>
            <a:r>
              <a:rPr sz="2600" spc="-25" dirty="0">
                <a:latin typeface="Calibri"/>
                <a:cs typeface="Calibri"/>
              </a:rPr>
              <a:t>т</a:t>
            </a:r>
            <a:r>
              <a:rPr sz="2600" spc="-50" dirty="0">
                <a:latin typeface="Calibri"/>
                <a:cs typeface="Calibri"/>
              </a:rPr>
              <a:t>е</a:t>
            </a:r>
            <a:r>
              <a:rPr sz="2600" dirty="0">
                <a:latin typeface="Calibri"/>
                <a:cs typeface="Calibri"/>
              </a:rPr>
              <a:t>льн</a:t>
            </a:r>
            <a:r>
              <a:rPr sz="2600" spc="-5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е  </a:t>
            </a:r>
            <a:r>
              <a:rPr sz="2600" spc="-5" dirty="0">
                <a:latin typeface="Calibri"/>
                <a:cs typeface="Calibri"/>
              </a:rPr>
              <a:t>хэширование;</a:t>
            </a:r>
            <a:endParaRPr sz="2600">
              <a:latin typeface="Calibri"/>
              <a:cs typeface="Calibri"/>
            </a:endParaRPr>
          </a:p>
          <a:p>
            <a:pPr marL="241300" marR="505459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и</a:t>
            </a:r>
            <a:r>
              <a:rPr sz="2600" dirty="0">
                <a:latin typeface="Calibri"/>
                <a:cs typeface="Calibri"/>
              </a:rPr>
              <a:t>ера</a:t>
            </a:r>
            <a:r>
              <a:rPr sz="2600" spc="-25" dirty="0">
                <a:latin typeface="Calibri"/>
                <a:cs typeface="Calibri"/>
              </a:rPr>
              <a:t>р</a:t>
            </a:r>
            <a:r>
              <a:rPr sz="2600" spc="-5" dirty="0">
                <a:latin typeface="Calibri"/>
                <a:cs typeface="Calibri"/>
              </a:rPr>
              <a:t>х</a:t>
            </a:r>
            <a:r>
              <a:rPr sz="2600" spc="-10" dirty="0">
                <a:latin typeface="Calibri"/>
                <a:cs typeface="Calibri"/>
              </a:rPr>
              <a:t>и</a:t>
            </a:r>
            <a:r>
              <a:rPr sz="2600" dirty="0">
                <a:latin typeface="Calibri"/>
                <a:cs typeface="Calibri"/>
              </a:rPr>
              <a:t>че</a:t>
            </a:r>
            <a:r>
              <a:rPr sz="2600" spc="-10" dirty="0">
                <a:latin typeface="Calibri"/>
                <a:cs typeface="Calibri"/>
              </a:rPr>
              <a:t>с</a:t>
            </a:r>
            <a:r>
              <a:rPr sz="2600" spc="-45" dirty="0">
                <a:latin typeface="Calibri"/>
                <a:cs typeface="Calibri"/>
              </a:rPr>
              <a:t>к</a:t>
            </a:r>
            <a:r>
              <a:rPr sz="2600" spc="-10" dirty="0">
                <a:latin typeface="Calibri"/>
                <a:cs typeface="Calibri"/>
              </a:rPr>
              <a:t>о</a:t>
            </a:r>
            <a:r>
              <a:rPr sz="2600" dirty="0">
                <a:latin typeface="Calibri"/>
                <a:cs typeface="Calibri"/>
              </a:rPr>
              <a:t>е  </a:t>
            </a:r>
            <a:r>
              <a:rPr sz="2600" spc="-5" dirty="0">
                <a:latin typeface="Calibri"/>
                <a:cs typeface="Calibri"/>
              </a:rPr>
              <a:t>хэширование.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7780" y="1728812"/>
            <a:ext cx="3904200" cy="1019321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649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ХЕ</a:t>
            </a:r>
            <a:r>
              <a:rPr sz="2400" dirty="0"/>
              <a:t>Ш-</a:t>
            </a:r>
            <a:r>
              <a:rPr sz="2400" spc="-5" dirty="0"/>
              <a:t>УК</a:t>
            </a:r>
            <a:r>
              <a:rPr sz="2400" spc="-10" dirty="0"/>
              <a:t>А</a:t>
            </a:r>
            <a:r>
              <a:rPr sz="2400" spc="-5" dirty="0"/>
              <a:t>З</a:t>
            </a:r>
            <a:r>
              <a:rPr sz="2400" spc="-130" dirty="0"/>
              <a:t>А</a:t>
            </a:r>
            <a:r>
              <a:rPr sz="2400" spc="-5" dirty="0"/>
              <a:t>ТЕЛЬ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409440" marR="142240">
              <a:lnSpc>
                <a:spcPts val="3030"/>
              </a:lnSpc>
              <a:spcBef>
                <a:spcPts val="470"/>
              </a:spcBef>
            </a:pPr>
            <a:r>
              <a:rPr spc="-20" dirty="0"/>
              <a:t>Хеш-указатель</a:t>
            </a:r>
            <a:r>
              <a:rPr spc="-10" dirty="0"/>
              <a:t> </a:t>
            </a:r>
            <a:r>
              <a:rPr spc="-5" dirty="0"/>
              <a:t>(рис.</a:t>
            </a:r>
            <a:r>
              <a:rPr spc="15" dirty="0"/>
              <a:t> </a:t>
            </a:r>
            <a:r>
              <a:rPr spc="-5" dirty="0"/>
              <a:t>1.5)</a:t>
            </a:r>
            <a:r>
              <a:rPr spc="20" dirty="0"/>
              <a:t> </a:t>
            </a:r>
            <a:r>
              <a:rPr spc="-5" dirty="0"/>
              <a:t>–</a:t>
            </a:r>
            <a:r>
              <a:rPr spc="10" dirty="0"/>
              <a:t> </a:t>
            </a:r>
            <a:r>
              <a:rPr spc="-40" dirty="0"/>
              <a:t>это </a:t>
            </a:r>
            <a:r>
              <a:rPr spc="-35" dirty="0"/>
              <a:t> </a:t>
            </a:r>
            <a:r>
              <a:rPr spc="-20" dirty="0"/>
              <a:t>указатель</a:t>
            </a:r>
            <a:r>
              <a:rPr spc="-10" dirty="0"/>
              <a:t> </a:t>
            </a:r>
            <a:r>
              <a:rPr spc="-5" dirty="0"/>
              <a:t>на</a:t>
            </a:r>
            <a:r>
              <a:rPr spc="5" dirty="0"/>
              <a:t> </a:t>
            </a:r>
            <a:r>
              <a:rPr spc="-10" dirty="0"/>
              <a:t>место</a:t>
            </a:r>
            <a:r>
              <a:rPr spc="-15" dirty="0"/>
              <a:t> </a:t>
            </a:r>
            <a:r>
              <a:rPr spc="-5" dirty="0"/>
              <a:t>хранения </a:t>
            </a:r>
            <a:r>
              <a:rPr dirty="0"/>
              <a:t> </a:t>
            </a:r>
            <a:r>
              <a:rPr spc="-5" dirty="0"/>
              <a:t>информации</a:t>
            </a:r>
            <a:r>
              <a:rPr spc="15" dirty="0"/>
              <a:t> </a:t>
            </a:r>
            <a:r>
              <a:rPr spc="-5" dirty="0"/>
              <a:t>и</a:t>
            </a:r>
            <a:r>
              <a:rPr dirty="0"/>
              <a:t> </a:t>
            </a:r>
            <a:r>
              <a:rPr spc="-10" dirty="0"/>
              <a:t>(криптографический</a:t>
            </a:r>
            <a:r>
              <a:rPr spc="50" dirty="0"/>
              <a:t> </a:t>
            </a:r>
            <a:r>
              <a:rPr spc="-5" dirty="0"/>
              <a:t>) </a:t>
            </a:r>
            <a:r>
              <a:rPr spc="-615" dirty="0"/>
              <a:t> </a:t>
            </a:r>
            <a:r>
              <a:rPr spc="-25" dirty="0"/>
              <a:t>хеш</a:t>
            </a:r>
            <a:r>
              <a:rPr dirty="0"/>
              <a:t> </a:t>
            </a:r>
            <a:r>
              <a:rPr spc="-20" dirty="0"/>
              <a:t>этой</a:t>
            </a:r>
            <a:r>
              <a:rPr spc="15" dirty="0"/>
              <a:t> </a:t>
            </a:r>
            <a:r>
              <a:rPr spc="-5" dirty="0"/>
              <a:t>информации</a:t>
            </a:r>
          </a:p>
          <a:p>
            <a:pPr marL="4489450">
              <a:lnSpc>
                <a:spcPct val="100000"/>
              </a:lnSpc>
              <a:spcBef>
                <a:spcPts val="610"/>
              </a:spcBef>
            </a:pPr>
            <a:r>
              <a:rPr dirty="0"/>
              <a:t>Имея</a:t>
            </a:r>
            <a:r>
              <a:rPr spc="-35" dirty="0"/>
              <a:t> </a:t>
            </a:r>
            <a:r>
              <a:rPr spc="-15" dirty="0"/>
              <a:t>хеш-указатель, </a:t>
            </a:r>
            <a:r>
              <a:rPr spc="-10" dirty="0"/>
              <a:t>можно</a:t>
            </a:r>
          </a:p>
          <a:p>
            <a:pPr marL="4638040" marR="5080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4638040" algn="l"/>
              </a:tabLst>
            </a:pPr>
            <a:r>
              <a:rPr spc="-5" dirty="0"/>
              <a:t>запросить</a:t>
            </a:r>
            <a:r>
              <a:rPr spc="5" dirty="0"/>
              <a:t> </a:t>
            </a:r>
            <a:r>
              <a:rPr spc="-5" dirty="0"/>
              <a:t>информацию,</a:t>
            </a:r>
            <a:r>
              <a:rPr spc="10" dirty="0"/>
              <a:t> </a:t>
            </a:r>
            <a:r>
              <a:rPr spc="-5" dirty="0"/>
              <a:t>на</a:t>
            </a:r>
            <a:r>
              <a:rPr spc="-10" dirty="0"/>
              <a:t> </a:t>
            </a:r>
            <a:r>
              <a:rPr spc="-25" dirty="0"/>
              <a:t>которую </a:t>
            </a:r>
            <a:r>
              <a:rPr spc="-620" dirty="0"/>
              <a:t> </a:t>
            </a:r>
            <a:r>
              <a:rPr spc="-5" dirty="0"/>
              <a:t>он</a:t>
            </a:r>
            <a:r>
              <a:rPr dirty="0"/>
              <a:t> </a:t>
            </a:r>
            <a:r>
              <a:rPr spc="-10" dirty="0"/>
              <a:t>указывает</a:t>
            </a:r>
            <a:r>
              <a:rPr spc="-15" dirty="0"/>
              <a:t> </a:t>
            </a:r>
            <a:r>
              <a:rPr spc="-5" dirty="0"/>
              <a:t>;</a:t>
            </a:r>
          </a:p>
          <a:p>
            <a:pPr marL="4637405" marR="805180" indent="-228600">
              <a:lnSpc>
                <a:spcPts val="3030"/>
              </a:lnSpc>
              <a:spcBef>
                <a:spcPts val="985"/>
              </a:spcBef>
              <a:buFont typeface="Arial"/>
              <a:buChar char="•"/>
              <a:tabLst>
                <a:tab pos="4638040" algn="l"/>
              </a:tabLst>
            </a:pPr>
            <a:r>
              <a:rPr spc="-5" dirty="0"/>
              <a:t>верифицировать</a:t>
            </a:r>
            <a:r>
              <a:rPr dirty="0"/>
              <a:t> </a:t>
            </a:r>
            <a:r>
              <a:rPr spc="-15" dirty="0"/>
              <a:t>то,</a:t>
            </a:r>
            <a:r>
              <a:rPr spc="10" dirty="0"/>
              <a:t> </a:t>
            </a:r>
            <a:r>
              <a:rPr spc="-20" dirty="0"/>
              <a:t>что</a:t>
            </a:r>
            <a:r>
              <a:rPr spc="-5" dirty="0"/>
              <a:t> </a:t>
            </a:r>
            <a:r>
              <a:rPr spc="-25" dirty="0"/>
              <a:t>хеш</a:t>
            </a:r>
            <a:r>
              <a:rPr spc="-10" dirty="0"/>
              <a:t> </a:t>
            </a:r>
            <a:r>
              <a:rPr spc="-5" dirty="0"/>
              <a:t>не </a:t>
            </a:r>
            <a:r>
              <a:rPr spc="-620" dirty="0"/>
              <a:t> </a:t>
            </a:r>
            <a:r>
              <a:rPr spc="-5" dirty="0"/>
              <a:t>изменился,</a:t>
            </a:r>
            <a:r>
              <a:rPr spc="-10" dirty="0"/>
              <a:t> </a:t>
            </a:r>
            <a:r>
              <a:rPr spc="-15" dirty="0"/>
              <a:t>как </a:t>
            </a:r>
            <a:r>
              <a:rPr spc="-10" dirty="0"/>
              <a:t>следствие,</a:t>
            </a:r>
            <a:r>
              <a:rPr spc="-5" dirty="0"/>
              <a:t> не </a:t>
            </a:r>
            <a:r>
              <a:rPr dirty="0"/>
              <a:t> изменилась</a:t>
            </a:r>
            <a:r>
              <a:rPr spc="-30" dirty="0"/>
              <a:t> </a:t>
            </a:r>
            <a:r>
              <a:rPr spc="-5" dirty="0"/>
              <a:t>информация.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133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145" y="1050538"/>
            <a:ext cx="4427029" cy="21449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935" y="3572674"/>
            <a:ext cx="4622564" cy="2262974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2648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ДЕРЕВО</a:t>
            </a:r>
            <a:r>
              <a:rPr sz="2400" spc="-55" dirty="0"/>
              <a:t> </a:t>
            </a:r>
            <a:r>
              <a:rPr sz="2400" spc="-5" dirty="0"/>
              <a:t>МЕРКЛЕ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134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855" y="948563"/>
            <a:ext cx="9024296" cy="522839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73666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ИДЕНТИФИКАЦИЯ</a:t>
            </a:r>
            <a:r>
              <a:rPr sz="2400" spc="-20" dirty="0"/>
              <a:t> </a:t>
            </a:r>
            <a:r>
              <a:rPr sz="2400" dirty="0"/>
              <a:t>И</a:t>
            </a:r>
            <a:r>
              <a:rPr sz="2400" spc="-30" dirty="0"/>
              <a:t> ЗАЩИТА</a:t>
            </a:r>
            <a:r>
              <a:rPr sz="2400" spc="-10" dirty="0"/>
              <a:t> </a:t>
            </a:r>
            <a:r>
              <a:rPr sz="2400" spc="-35" dirty="0"/>
              <a:t>ПОЛЬЗОВАТЕЛЕЙ</a:t>
            </a:r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119441" y="1597056"/>
            <a:ext cx="4691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Симметричная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криптография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5940" y="1567687"/>
            <a:ext cx="4857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Асимметричная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криптография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33" y="2502130"/>
            <a:ext cx="4695215" cy="923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0596" y="2296071"/>
            <a:ext cx="3858006" cy="37853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7582" y="3723978"/>
            <a:ext cx="547306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Существуют </a:t>
            </a:r>
            <a:r>
              <a:rPr sz="2400" dirty="0">
                <a:latin typeface="Calibri"/>
                <a:cs typeface="Calibri"/>
              </a:rPr>
              <a:t>два </a:t>
            </a:r>
            <a:r>
              <a:rPr sz="2400" spc="-5" dirty="0">
                <a:latin typeface="Calibri"/>
                <a:cs typeface="Calibri"/>
              </a:rPr>
              <a:t>способа </a:t>
            </a:r>
            <a:r>
              <a:rPr sz="2400" spc="-10" dirty="0">
                <a:latin typeface="Calibri"/>
                <a:cs typeface="Calibri"/>
              </a:rPr>
              <a:t>практического </a:t>
            </a:r>
            <a:r>
              <a:rPr sz="2400" spc="-5" dirty="0">
                <a:latin typeface="Calibri"/>
                <a:cs typeface="Calibri"/>
              </a:rPr>
              <a:t> применения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пары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ключей,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отличающихся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направлением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потока</a:t>
            </a:r>
            <a:r>
              <a:rPr sz="2400" spc="-5" dirty="0">
                <a:latin typeface="Calibri"/>
                <a:cs typeface="Calibri"/>
              </a:rPr>
              <a:t> данных:</a:t>
            </a:r>
            <a:endParaRPr sz="24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10" dirty="0">
                <a:latin typeface="Calibri"/>
                <a:cs typeface="Calibri"/>
              </a:rPr>
              <a:t>от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открытого </a:t>
            </a:r>
            <a:r>
              <a:rPr sz="2400" spc="-5" dirty="0">
                <a:latin typeface="Calibri"/>
                <a:cs typeface="Calibri"/>
              </a:rPr>
              <a:t>ключа</a:t>
            </a:r>
            <a:r>
              <a:rPr sz="2400" dirty="0">
                <a:latin typeface="Calibri"/>
                <a:cs typeface="Calibri"/>
              </a:rPr>
              <a:t> к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закрытому </a:t>
            </a:r>
            <a:r>
              <a:rPr sz="2400" dirty="0">
                <a:latin typeface="Calibri"/>
                <a:cs typeface="Calibri"/>
              </a:rPr>
              <a:t>ключу;</a:t>
            </a:r>
            <a:endParaRPr sz="24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buChar char="•"/>
              <a:tabLst>
                <a:tab pos="233679" algn="l"/>
              </a:tabLst>
            </a:pPr>
            <a:r>
              <a:rPr sz="2400" spc="-10" dirty="0">
                <a:latin typeface="Calibri"/>
                <a:cs typeface="Calibri"/>
              </a:rPr>
              <a:t>от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закрытого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ключа </a:t>
            </a:r>
            <a:r>
              <a:rPr sz="2400" dirty="0">
                <a:latin typeface="Calibri"/>
                <a:cs typeface="Calibri"/>
              </a:rPr>
              <a:t>к</a:t>
            </a:r>
            <a:r>
              <a:rPr sz="2400" spc="-10" dirty="0">
                <a:latin typeface="Calibri"/>
                <a:cs typeface="Calibri"/>
              </a:rPr>
              <a:t> открытому</a:t>
            </a:r>
            <a:r>
              <a:rPr sz="2400" spc="-5" dirty="0">
                <a:latin typeface="Calibri"/>
                <a:cs typeface="Calibri"/>
              </a:rPr>
              <a:t> ключу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8351" y="4835274"/>
            <a:ext cx="661670" cy="307975"/>
            <a:chOff x="6858351" y="4835274"/>
            <a:chExt cx="661670" cy="307975"/>
          </a:xfrm>
        </p:grpSpPr>
        <p:sp>
          <p:nvSpPr>
            <p:cNvPr id="9" name="object 9"/>
            <p:cNvSpPr/>
            <p:nvPr/>
          </p:nvSpPr>
          <p:spPr>
            <a:xfrm>
              <a:off x="6864701" y="4841624"/>
              <a:ext cx="648970" cy="295275"/>
            </a:xfrm>
            <a:custGeom>
              <a:avLst/>
              <a:gdLst/>
              <a:ahLst/>
              <a:cxnLst/>
              <a:rect l="l" t="t" r="r" b="b"/>
              <a:pathLst>
                <a:path w="648970" h="295275">
                  <a:moveTo>
                    <a:pt x="500837" y="0"/>
                  </a:moveTo>
                  <a:lnTo>
                    <a:pt x="500837" y="73774"/>
                  </a:lnTo>
                  <a:lnTo>
                    <a:pt x="0" y="73774"/>
                  </a:lnTo>
                  <a:lnTo>
                    <a:pt x="0" y="221322"/>
                  </a:lnTo>
                  <a:lnTo>
                    <a:pt x="500837" y="221322"/>
                  </a:lnTo>
                  <a:lnTo>
                    <a:pt x="500837" y="295097"/>
                  </a:lnTo>
                  <a:lnTo>
                    <a:pt x="648398" y="147548"/>
                  </a:lnTo>
                  <a:lnTo>
                    <a:pt x="500837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64701" y="4841624"/>
              <a:ext cx="648970" cy="295275"/>
            </a:xfrm>
            <a:custGeom>
              <a:avLst/>
              <a:gdLst/>
              <a:ahLst/>
              <a:cxnLst/>
              <a:rect l="l" t="t" r="r" b="b"/>
              <a:pathLst>
                <a:path w="648970" h="295275">
                  <a:moveTo>
                    <a:pt x="0" y="73774"/>
                  </a:moveTo>
                  <a:lnTo>
                    <a:pt x="500837" y="73774"/>
                  </a:lnTo>
                  <a:lnTo>
                    <a:pt x="500837" y="0"/>
                  </a:lnTo>
                  <a:lnTo>
                    <a:pt x="648398" y="147548"/>
                  </a:lnTo>
                  <a:lnTo>
                    <a:pt x="500837" y="295097"/>
                  </a:lnTo>
                  <a:lnTo>
                    <a:pt x="500837" y="221322"/>
                  </a:lnTo>
                  <a:lnTo>
                    <a:pt x="0" y="221322"/>
                  </a:lnTo>
                  <a:lnTo>
                    <a:pt x="0" y="7377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43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ЦИФРОВАЯ</a:t>
            </a:r>
            <a:r>
              <a:rPr sz="2400" spc="-60" dirty="0"/>
              <a:t> </a:t>
            </a:r>
            <a:r>
              <a:rPr sz="2400" spc="-10" dirty="0"/>
              <a:t>ПОДПИСЬ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51246" y="1521147"/>
            <a:ext cx="1706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Создание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74875"/>
            <a:ext cx="5386387" cy="39322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81177" y="1502600"/>
            <a:ext cx="2586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Ис</a:t>
            </a:r>
            <a:r>
              <a:rPr sz="2800" spc="-10" dirty="0">
                <a:latin typeface="Calibri"/>
                <a:cs typeface="Calibri"/>
              </a:rPr>
              <a:t>п</a:t>
            </a:r>
            <a:r>
              <a:rPr sz="2800" spc="-55" dirty="0">
                <a:latin typeface="Calibri"/>
                <a:cs typeface="Calibri"/>
              </a:rPr>
              <a:t>о</a:t>
            </a:r>
            <a:r>
              <a:rPr sz="2800" spc="-5" dirty="0">
                <a:latin typeface="Calibri"/>
                <a:cs typeface="Calibri"/>
              </a:rPr>
              <a:t>л</a:t>
            </a:r>
            <a:r>
              <a:rPr sz="2800" spc="-10" dirty="0">
                <a:latin typeface="Calibri"/>
                <a:cs typeface="Calibri"/>
              </a:rPr>
              <a:t>ь</a:t>
            </a:r>
            <a:r>
              <a:rPr sz="2800" dirty="0">
                <a:latin typeface="Calibri"/>
                <a:cs typeface="Calibri"/>
              </a:rPr>
              <a:t>з</a:t>
            </a:r>
            <a:r>
              <a:rPr sz="2800" spc="-5" dirty="0">
                <a:latin typeface="Calibri"/>
                <a:cs typeface="Calibri"/>
              </a:rPr>
              <a:t>о</a:t>
            </a:r>
            <a:r>
              <a:rPr sz="2800" dirty="0">
                <a:latin typeface="Calibri"/>
                <a:cs typeface="Calibri"/>
              </a:rPr>
              <a:t>ва</a:t>
            </a:r>
            <a:r>
              <a:rPr sz="2800" spc="-5" dirty="0">
                <a:latin typeface="Calibri"/>
                <a:cs typeface="Calibri"/>
              </a:rPr>
              <a:t>ние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8894" y="2184400"/>
            <a:ext cx="5297483" cy="3951287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4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ДАННЫЕ</a:t>
            </a:r>
            <a:r>
              <a:rPr sz="2400" spc="-35" dirty="0"/>
              <a:t> </a:t>
            </a:r>
            <a:r>
              <a:rPr sz="2400" spc="-30" dirty="0"/>
              <a:t>ТРАНЗАКЦИИ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88355" y="1588947"/>
            <a:ext cx="10625455" cy="36588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44145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идентификатор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учётной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записи,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которой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владения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передаётся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другую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учётную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запись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(открытый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ключ);</a:t>
            </a:r>
            <a:endParaRPr sz="2400">
              <a:latin typeface="Arial"/>
              <a:cs typeface="Arial"/>
            </a:endParaRPr>
          </a:p>
          <a:p>
            <a:pPr marL="12700" marR="823594">
              <a:lnSpc>
                <a:spcPts val="3590"/>
              </a:lnSpc>
              <a:spcBef>
                <a:spcPts val="20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идентификатор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учётной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записи,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которая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принимает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право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владения;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количество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передаваемых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объектов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владения;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время,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которое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выполняется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данная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транзакция;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денежный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взнос,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выплачиваемый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выполнение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транзакции;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1035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подтверждение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того,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что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владелец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учётной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записи,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которой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передается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владения,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действительно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согласен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фактом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передачи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(подпись).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259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СТРУКТУРА</a:t>
            </a:r>
            <a:r>
              <a:rPr sz="2400" spc="-5" dirty="0"/>
              <a:t> </a:t>
            </a:r>
            <a:r>
              <a:rPr sz="2400" spc="-10" dirty="0"/>
              <a:t>ДАННЫХ</a:t>
            </a:r>
            <a:r>
              <a:rPr sz="2400" spc="-5" dirty="0"/>
              <a:t> БЛОКЧЕЙНА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138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636" y="2009561"/>
            <a:ext cx="7547949" cy="38425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42695" y="2502513"/>
            <a:ext cx="331724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Цель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блокчейн-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системы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поддержание полной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хронологии </a:t>
            </a:r>
            <a:r>
              <a:rPr sz="2800" spc="-5" dirty="0">
                <a:latin typeface="Calibri"/>
                <a:cs typeface="Calibri"/>
              </a:rPr>
              <a:t>данных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транзакций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упорядоченном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виде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586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ДОБАВЛЕНИЕ</a:t>
            </a:r>
            <a:r>
              <a:rPr sz="2400" spc="-5" dirty="0"/>
              <a:t> НОВЫХ</a:t>
            </a:r>
            <a:r>
              <a:rPr sz="2400" spc="-30" dirty="0"/>
              <a:t> ТРАНЗАКЦИЙ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048895" y="1026779"/>
            <a:ext cx="4544695" cy="50152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20955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Создать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новое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дерево </a:t>
            </a:r>
            <a:r>
              <a:rPr sz="2800" spc="-5" dirty="0">
                <a:latin typeface="Calibri"/>
                <a:cs typeface="Calibri"/>
              </a:rPr>
              <a:t> Меркле, </a:t>
            </a:r>
            <a:r>
              <a:rPr sz="2800" spc="-20" dirty="0">
                <a:latin typeface="Calibri"/>
                <a:cs typeface="Calibri"/>
              </a:rPr>
              <a:t>содержащее </a:t>
            </a:r>
            <a:r>
              <a:rPr sz="2800" dirty="0">
                <a:latin typeface="Calibri"/>
                <a:cs typeface="Calibri"/>
              </a:rPr>
              <a:t>все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данные новой транзакции,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которую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нужно </a:t>
            </a:r>
            <a:r>
              <a:rPr sz="2800" spc="-10" dirty="0">
                <a:latin typeface="Calibri"/>
                <a:cs typeface="Calibri"/>
              </a:rPr>
              <a:t>добавить;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Создать заголовок нового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блока </a:t>
            </a:r>
            <a:r>
              <a:rPr sz="2800" spc="-10" dirty="0">
                <a:latin typeface="Calibri"/>
                <a:cs typeface="Calibri"/>
              </a:rPr>
              <a:t>(Заголовок </a:t>
            </a:r>
            <a:r>
              <a:rPr sz="2800" spc="-20" dirty="0">
                <a:latin typeface="Calibri"/>
                <a:cs typeface="Calibri"/>
              </a:rPr>
              <a:t>блока </a:t>
            </a:r>
            <a:r>
              <a:rPr sz="2800" spc="-5" dirty="0">
                <a:latin typeface="Calibri"/>
                <a:cs typeface="Calibri"/>
              </a:rPr>
              <a:t>2),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содержащий </a:t>
            </a:r>
            <a:r>
              <a:rPr sz="2800" spc="-10" dirty="0">
                <a:latin typeface="Calibri"/>
                <a:cs typeface="Calibri"/>
              </a:rPr>
              <a:t>хэш-ссылку </a:t>
            </a:r>
            <a:r>
              <a:rPr sz="2800" spc="-5" dirty="0">
                <a:latin typeface="Calibri"/>
                <a:cs typeface="Calibri"/>
              </a:rPr>
              <a:t> (B1),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указывающую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на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заголовок </a:t>
            </a:r>
            <a:r>
              <a:rPr sz="2800" spc="-20" dirty="0">
                <a:latin typeface="Calibri"/>
                <a:cs typeface="Calibri"/>
              </a:rPr>
              <a:t>предыдущего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блока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(Заголовок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блока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1),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корень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дерева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Меркле,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содержащий </a:t>
            </a:r>
            <a:r>
              <a:rPr sz="2800" spc="-5" dirty="0">
                <a:latin typeface="Calibri"/>
                <a:cs typeface="Calibri"/>
              </a:rPr>
              <a:t>данные новой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транзакции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(R34),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как </a:t>
            </a:r>
            <a:r>
              <a:rPr sz="2800" spc="-10" dirty="0">
                <a:latin typeface="Calibri"/>
                <a:cs typeface="Calibri"/>
              </a:rPr>
              <a:t> показано</a:t>
            </a:r>
            <a:r>
              <a:rPr sz="2800" spc="-5" dirty="0">
                <a:latin typeface="Calibri"/>
                <a:cs typeface="Calibri"/>
              </a:rPr>
              <a:t> на</a:t>
            </a:r>
            <a:r>
              <a:rPr sz="2800" spc="-10" dirty="0">
                <a:latin typeface="Calibri"/>
                <a:cs typeface="Calibri"/>
              </a:rPr>
              <a:t> рисунке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7403" y="2877016"/>
            <a:ext cx="6044094" cy="3045209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586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ДОБАВЛЕНИЕ</a:t>
            </a:r>
            <a:r>
              <a:rPr sz="2400" spc="-5" dirty="0"/>
              <a:t> НОВЫХ</a:t>
            </a:r>
            <a:r>
              <a:rPr sz="2400" spc="-30" dirty="0"/>
              <a:t> ТРАНЗАКЦИЙ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140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5317" y="2152184"/>
            <a:ext cx="6567844" cy="3258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5080" y="1020618"/>
            <a:ext cx="10654030" cy="51657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661479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Создать </a:t>
            </a:r>
            <a:r>
              <a:rPr sz="2600" spc="-5" dirty="0">
                <a:latin typeface="Calibri"/>
                <a:cs typeface="Calibri"/>
              </a:rPr>
              <a:t>новую хэш-ссылку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(B2) </a:t>
            </a:r>
            <a:r>
              <a:rPr sz="2600" spc="-5" dirty="0">
                <a:latin typeface="Calibri"/>
                <a:cs typeface="Calibri"/>
              </a:rPr>
              <a:t>на </a:t>
            </a:r>
            <a:r>
              <a:rPr sz="2600" spc="-10" dirty="0">
                <a:latin typeface="Calibri"/>
                <a:cs typeface="Calibri"/>
              </a:rPr>
              <a:t>заголовок нового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блока </a:t>
            </a:r>
            <a:r>
              <a:rPr sz="2600" dirty="0">
                <a:latin typeface="Calibri"/>
                <a:cs typeface="Calibri"/>
              </a:rPr>
              <a:t>и </a:t>
            </a:r>
            <a:r>
              <a:rPr sz="2600" spc="-5" dirty="0">
                <a:latin typeface="Calibri"/>
                <a:cs typeface="Calibri"/>
              </a:rPr>
              <a:t>объявить </a:t>
            </a:r>
            <a:r>
              <a:rPr sz="2600" dirty="0">
                <a:latin typeface="Calibri"/>
                <a:cs typeface="Calibri"/>
              </a:rPr>
              <a:t>её </a:t>
            </a:r>
            <a:r>
              <a:rPr sz="2600" spc="-5" dirty="0">
                <a:latin typeface="Calibri"/>
                <a:cs typeface="Calibri"/>
              </a:rPr>
              <a:t>новой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головой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обновлённой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структуры </a:t>
            </a:r>
            <a:r>
              <a:rPr sz="2600" dirty="0">
                <a:latin typeface="Calibri"/>
                <a:cs typeface="Calibri"/>
              </a:rPr>
              <a:t>данных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блокчейна. </a:t>
            </a:r>
            <a:r>
              <a:rPr sz="2600" spc="-15" dirty="0">
                <a:latin typeface="Calibri"/>
                <a:cs typeface="Calibri"/>
              </a:rPr>
              <a:t>Следует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помнить, </a:t>
            </a:r>
            <a:r>
              <a:rPr sz="2600" spc="-10" dirty="0">
                <a:latin typeface="Calibri"/>
                <a:cs typeface="Calibri"/>
              </a:rPr>
              <a:t>что </a:t>
            </a:r>
            <a:r>
              <a:rPr sz="2600" spc="-5" dirty="0">
                <a:latin typeface="Calibri"/>
                <a:cs typeface="Calibri"/>
              </a:rPr>
              <a:t>ссылка,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которая </a:t>
            </a:r>
            <a:r>
              <a:rPr sz="2600" spc="-5" dirty="0">
                <a:latin typeface="Calibri"/>
                <a:cs typeface="Calibri"/>
              </a:rPr>
              <a:t>указывает </a:t>
            </a:r>
            <a:r>
              <a:rPr sz="2600" dirty="0">
                <a:latin typeface="Calibri"/>
                <a:cs typeface="Calibri"/>
              </a:rPr>
              <a:t>на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самый </a:t>
            </a:r>
            <a:r>
              <a:rPr sz="2600" spc="-5" dirty="0">
                <a:latin typeface="Calibri"/>
                <a:cs typeface="Calibri"/>
              </a:rPr>
              <a:t>последний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добавленный </a:t>
            </a:r>
            <a:r>
              <a:rPr sz="2600" spc="-10" dirty="0">
                <a:latin typeface="Calibri"/>
                <a:cs typeface="Calibri"/>
              </a:rPr>
              <a:t>элемент </a:t>
            </a:r>
            <a:r>
              <a:rPr sz="2600" spc="-5" dirty="0">
                <a:latin typeface="Calibri"/>
                <a:cs typeface="Calibri"/>
              </a:rPr>
              <a:t> данных, называется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головой </a:t>
            </a:r>
            <a:r>
              <a:rPr sz="2600" dirty="0">
                <a:latin typeface="Calibri"/>
                <a:cs typeface="Calibri"/>
              </a:rPr>
              <a:t>(head) всей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цепочки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в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целом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Calibri"/>
              <a:cs typeface="Calibri"/>
            </a:endParaRPr>
          </a:p>
          <a:p>
            <a:pPr marL="1170940">
              <a:lnSpc>
                <a:spcPct val="100000"/>
              </a:lnSpc>
              <a:spcBef>
                <a:spcPts val="2035"/>
              </a:spcBef>
            </a:pPr>
            <a:r>
              <a:rPr sz="1800" spc="-5" dirty="0">
                <a:latin typeface="Calibri"/>
                <a:cs typeface="Calibri"/>
              </a:rPr>
              <a:t>Изменение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данных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невозможно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или </a:t>
            </a:r>
            <a:r>
              <a:rPr sz="1800" spc="-5" dirty="0">
                <a:latin typeface="Calibri"/>
                <a:cs typeface="Calibri"/>
              </a:rPr>
              <a:t>чрезвычайно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затруднено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(экономически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нецелесообразно)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971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ЗАГОЛОВОК</a:t>
            </a:r>
            <a:r>
              <a:rPr sz="2400" spc="-15" dirty="0"/>
              <a:t> БЛОКА</a:t>
            </a:r>
            <a:r>
              <a:rPr sz="2400" spc="-30" dirty="0"/>
              <a:t> </a:t>
            </a:r>
            <a:r>
              <a:rPr sz="2400" spc="-5" dirty="0"/>
              <a:t>(ОТКРЫТЫЙ</a:t>
            </a:r>
            <a:r>
              <a:rPr sz="2400" spc="-30" dirty="0"/>
              <a:t> </a:t>
            </a:r>
            <a:r>
              <a:rPr sz="2400" spc="-5" dirty="0"/>
              <a:t>БЛОКЧЕЙН)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534160"/>
            <a:ext cx="5459730" cy="43726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корень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дерева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Меркле,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содержащего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данные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транзакции;</a:t>
            </a:r>
            <a:endParaRPr sz="2800">
              <a:latin typeface="Calibri"/>
              <a:cs typeface="Calibri"/>
            </a:endParaRPr>
          </a:p>
          <a:p>
            <a:pPr marL="240665" marR="144589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хэш-ссылка </a:t>
            </a:r>
            <a:r>
              <a:rPr sz="2800" spc="-5" dirty="0">
                <a:latin typeface="Calibri"/>
                <a:cs typeface="Calibri"/>
              </a:rPr>
              <a:t>на </a:t>
            </a:r>
            <a:r>
              <a:rPr sz="2800" spc="-10" dirty="0">
                <a:latin typeface="Calibri"/>
                <a:cs typeface="Calibri"/>
              </a:rPr>
              <a:t>заголовок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предыдущего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блока;</a:t>
            </a:r>
            <a:endParaRPr sz="2800">
              <a:latin typeface="Calibri"/>
              <a:cs typeface="Calibri"/>
            </a:endParaRPr>
          </a:p>
          <a:p>
            <a:pPr marL="240665" marR="151257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уровень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сложности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хэш-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головоломки;</a:t>
            </a:r>
            <a:endParaRPr sz="2800">
              <a:latin typeface="Calibri"/>
              <a:cs typeface="Calibri"/>
            </a:endParaRPr>
          </a:p>
          <a:p>
            <a:pPr marL="240665" marR="95123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время </a:t>
            </a:r>
            <a:r>
              <a:rPr sz="2800" spc="-5" dirty="0">
                <a:latin typeface="Calibri"/>
                <a:cs typeface="Calibri"/>
              </a:rPr>
              <a:t>начала решения хэш-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головоломки;</a:t>
            </a:r>
            <a:endParaRPr sz="2800">
              <a:latin typeface="Calibri"/>
              <a:cs typeface="Calibri"/>
            </a:endParaRPr>
          </a:p>
          <a:p>
            <a:pPr marL="241300" marR="22034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одноразовый </a:t>
            </a:r>
            <a:r>
              <a:rPr sz="2800" spc="-5" dirty="0">
                <a:latin typeface="Calibri"/>
                <a:cs typeface="Calibri"/>
              </a:rPr>
              <a:t>случайный </a:t>
            </a:r>
            <a:r>
              <a:rPr sz="2800" spc="-45" dirty="0">
                <a:latin typeface="Calibri"/>
                <a:cs typeface="Calibri"/>
              </a:rPr>
              <a:t>код 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(nonce),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который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решает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данную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хэш-головоломку.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3934" y="2231974"/>
            <a:ext cx="5337784" cy="3025823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63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/>
              <a:t>РАСПРОСТРАНЕНИЕ РЕЕСТРА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88355" y="1198186"/>
            <a:ext cx="9884410" cy="272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431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Главная</a:t>
            </a:r>
            <a:r>
              <a:rPr sz="1800" spc="-5" dirty="0">
                <a:latin typeface="Calibri"/>
                <a:cs typeface="Calibri"/>
              </a:rPr>
              <a:t> задача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состоит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том,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чтобы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все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узлы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системы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получали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полную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информацию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обо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всех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транзакциях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без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обращений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какому-либо центральному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компоненту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libri"/>
              <a:cs typeface="Calibri"/>
            </a:endParaRPr>
          </a:p>
          <a:p>
            <a:pPr marL="12700" marR="4164329">
              <a:lnSpc>
                <a:spcPts val="2590"/>
              </a:lnSpc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Сохранение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существующих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соединений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(ping-pong);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Установление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новых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соединений;</a:t>
            </a:r>
            <a:endParaRPr sz="2400">
              <a:latin typeface="Arial"/>
              <a:cs typeface="Arial"/>
            </a:endParaRPr>
          </a:p>
          <a:p>
            <a:pPr marL="12700" marR="4538980">
              <a:lnSpc>
                <a:spcPts val="2590"/>
              </a:lnSpc>
              <a:spcBef>
                <a:spcPts val="1035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Распространение</a:t>
            </a:r>
            <a:r>
              <a:rPr sz="24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новой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информации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(gossip).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0558" y="2498496"/>
            <a:ext cx="4957149" cy="2609026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73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ДОБАВЛЕНИЕ</a:t>
            </a:r>
            <a:r>
              <a:rPr sz="2400" spc="-65" dirty="0"/>
              <a:t> </a:t>
            </a:r>
            <a:r>
              <a:rPr sz="2400" spc="-10" dirty="0"/>
              <a:t>БЛОКОВ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69112" y="951247"/>
            <a:ext cx="5539740" cy="48596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marR="243840">
              <a:lnSpc>
                <a:spcPct val="70000"/>
              </a:lnSpc>
              <a:spcBef>
                <a:spcPts val="885"/>
              </a:spcBef>
              <a:buAutoNum type="arabicPeriod"/>
              <a:tabLst>
                <a:tab pos="287655" algn="l"/>
              </a:tabLst>
            </a:pPr>
            <a:r>
              <a:rPr sz="2200" spc="-5" dirty="0">
                <a:latin typeface="Calibri"/>
                <a:cs typeface="Calibri"/>
              </a:rPr>
              <a:t>Новые данные транзакций и новые </a:t>
            </a:r>
            <a:r>
              <a:rPr sz="2200" spc="-15" dirty="0">
                <a:latin typeface="Calibri"/>
                <a:cs typeface="Calibri"/>
              </a:rPr>
              <a:t>блоки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передаются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всем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узлам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стиле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протокола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gossip.</a:t>
            </a:r>
            <a:endParaRPr sz="2200">
              <a:latin typeface="Calibri"/>
              <a:cs typeface="Calibri"/>
            </a:endParaRPr>
          </a:p>
          <a:p>
            <a:pPr marL="12700" marR="459740">
              <a:lnSpc>
                <a:spcPct val="70000"/>
              </a:lnSpc>
              <a:spcBef>
                <a:spcPts val="994"/>
              </a:spcBef>
              <a:buAutoNum type="arabicPeriod"/>
              <a:tabLst>
                <a:tab pos="287655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собирает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новые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данные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транзакций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почтовом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ящике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для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приёма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сообщений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выбирает </a:t>
            </a:r>
            <a:r>
              <a:rPr sz="2200" spc="-15" dirty="0">
                <a:latin typeface="Calibri"/>
                <a:cs typeface="Calibri"/>
              </a:rPr>
              <a:t>необходимые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для </a:t>
            </a:r>
            <a:r>
              <a:rPr sz="2200" spc="-5" dirty="0">
                <a:latin typeface="Calibri"/>
                <a:cs typeface="Calibri"/>
              </a:rPr>
              <a:t> обработки.</a:t>
            </a:r>
            <a:endParaRPr sz="2200">
              <a:latin typeface="Calibri"/>
              <a:cs typeface="Calibri"/>
            </a:endParaRPr>
          </a:p>
          <a:p>
            <a:pPr marL="12700" marR="367665">
              <a:lnSpc>
                <a:spcPct val="70000"/>
              </a:lnSpc>
              <a:spcBef>
                <a:spcPts val="1000"/>
              </a:spcBef>
              <a:buAutoNum type="arabicPeriod"/>
              <a:tabLst>
                <a:tab pos="287655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обрабатывает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новые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блоки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немедленно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с наивысшим</a:t>
            </a:r>
            <a:r>
              <a:rPr sz="2200" spc="-10" dirty="0">
                <a:latin typeface="Calibri"/>
                <a:cs typeface="Calibri"/>
              </a:rPr>
              <a:t> приоритетом.</a:t>
            </a:r>
            <a:endParaRPr sz="2200">
              <a:latin typeface="Calibri"/>
              <a:cs typeface="Calibri"/>
            </a:endParaRPr>
          </a:p>
          <a:p>
            <a:pPr marL="12700" marR="167640">
              <a:lnSpc>
                <a:spcPct val="70000"/>
              </a:lnSpc>
              <a:spcBef>
                <a:spcPts val="1005"/>
              </a:spcBef>
              <a:buAutoNum type="arabicPeriod"/>
              <a:tabLst>
                <a:tab pos="287655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обрабатывает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новые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данные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транзакций, проверяя их </a:t>
            </a:r>
            <a:r>
              <a:rPr sz="2200" spc="-10" dirty="0">
                <a:latin typeface="Calibri"/>
                <a:cs typeface="Calibri"/>
              </a:rPr>
              <a:t>авторизацию, </a:t>
            </a:r>
            <a:r>
              <a:rPr sz="2200" spc="-5" dirty="0">
                <a:latin typeface="Calibri"/>
                <a:cs typeface="Calibri"/>
              </a:rPr>
              <a:t>а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также</a:t>
            </a:r>
            <a:r>
              <a:rPr sz="2200" spc="-5" dirty="0">
                <a:latin typeface="Calibri"/>
                <a:cs typeface="Calibri"/>
              </a:rPr>
              <a:t> формальную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семантическую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корректность.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  <a:buAutoNum type="arabicPeriod"/>
              <a:tabLst>
                <a:tab pos="287655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объединяет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только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проверенные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корректные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данные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транзакций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</a:t>
            </a:r>
            <a:r>
              <a:rPr sz="2200" spc="-10" dirty="0">
                <a:latin typeface="Calibri"/>
                <a:cs typeface="Calibri"/>
              </a:rPr>
              <a:t> дерево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Меркле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начинает </a:t>
            </a:r>
            <a:r>
              <a:rPr sz="2200" spc="-15" dirty="0">
                <a:latin typeface="Calibri"/>
                <a:cs typeface="Calibri"/>
              </a:rPr>
              <a:t>процесс </a:t>
            </a:r>
            <a:r>
              <a:rPr sz="2200" spc="-10" dirty="0">
                <a:latin typeface="Calibri"/>
                <a:cs typeface="Calibri"/>
              </a:rPr>
              <a:t> создания нового </a:t>
            </a:r>
            <a:r>
              <a:rPr sz="2200" spc="-20" dirty="0">
                <a:latin typeface="Calibri"/>
                <a:cs typeface="Calibri"/>
              </a:rPr>
              <a:t>блока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посредством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решения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соответствующей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хэш-головоломки.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6206" y="869253"/>
            <a:ext cx="5086985" cy="49682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marR="29845">
              <a:lnSpc>
                <a:spcPct val="70000"/>
              </a:lnSpc>
              <a:spcBef>
                <a:spcPts val="885"/>
              </a:spcBef>
              <a:buAutoNum type="arabicPeriod" startAt="6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После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того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как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завершает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решение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хэш-головоломки,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он </a:t>
            </a:r>
            <a:r>
              <a:rPr sz="2200" spc="-10" dirty="0">
                <a:latin typeface="Calibri"/>
                <a:cs typeface="Calibri"/>
              </a:rPr>
              <a:t>рассылает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только </a:t>
            </a:r>
            <a:r>
              <a:rPr sz="2200" spc="-15" dirty="0">
                <a:latin typeface="Calibri"/>
                <a:cs typeface="Calibri"/>
              </a:rPr>
              <a:t> что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созданный </a:t>
            </a:r>
            <a:r>
              <a:rPr sz="2200" spc="-15" dirty="0">
                <a:latin typeface="Calibri"/>
                <a:cs typeface="Calibri"/>
              </a:rPr>
              <a:t>блок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всем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прочим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узлам.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994"/>
              </a:spcBef>
              <a:buAutoNum type="arabicPeriod" startAt="6"/>
              <a:tabLst>
                <a:tab pos="287020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обрабатывает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новые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блоки,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проверяя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решение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соответствующей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хэш-головоломки,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а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также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проверяя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все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содержащиеся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блоке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данные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транзакции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на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формальную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корректность,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семантическую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корректность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авторизацию.</a:t>
            </a:r>
            <a:endParaRPr sz="2200">
              <a:latin typeface="Calibri"/>
              <a:cs typeface="Calibri"/>
            </a:endParaRPr>
          </a:p>
          <a:p>
            <a:pPr marL="12700" marR="31115">
              <a:lnSpc>
                <a:spcPct val="70000"/>
              </a:lnSpc>
              <a:spcBef>
                <a:spcPts val="1000"/>
              </a:spcBef>
              <a:buAutoNum type="arabicPeriod" startAt="6"/>
              <a:tabLst>
                <a:tab pos="287020" algn="l"/>
              </a:tabLst>
            </a:pPr>
            <a:r>
              <a:rPr sz="2200" spc="-10" dirty="0">
                <a:latin typeface="Calibri"/>
                <a:cs typeface="Calibri"/>
              </a:rPr>
              <a:t>Каждый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узел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добавляет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корректные </a:t>
            </a:r>
            <a:r>
              <a:rPr sz="2200" spc="-5" dirty="0">
                <a:latin typeface="Calibri"/>
                <a:cs typeface="Calibri"/>
              </a:rPr>
              <a:t> проверенные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блоки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в собственную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копию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структуры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данных</a:t>
            </a:r>
            <a:r>
              <a:rPr sz="2200" spc="-10" dirty="0">
                <a:latin typeface="Calibri"/>
                <a:cs typeface="Calibri"/>
              </a:rPr>
              <a:t> блокчейна.</a:t>
            </a:r>
            <a:endParaRPr sz="2200">
              <a:latin typeface="Calibri"/>
              <a:cs typeface="Calibri"/>
            </a:endParaRPr>
          </a:p>
          <a:p>
            <a:pPr marL="12700" marR="257175">
              <a:lnSpc>
                <a:spcPct val="70000"/>
              </a:lnSpc>
              <a:spcBef>
                <a:spcPts val="1005"/>
              </a:spcBef>
              <a:buAutoNum type="arabicPeriod" startAt="6"/>
              <a:tabLst>
                <a:tab pos="287020" algn="l"/>
              </a:tabLst>
            </a:pPr>
            <a:r>
              <a:rPr sz="2200" spc="-20" dirty="0">
                <a:latin typeface="Calibri"/>
                <a:cs typeface="Calibri"/>
              </a:rPr>
              <a:t>Если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новый</a:t>
            </a:r>
            <a:r>
              <a:rPr sz="2200" spc="-10" dirty="0">
                <a:latin typeface="Calibri"/>
                <a:cs typeface="Calibri"/>
              </a:rPr>
              <a:t> полученный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блок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идентифицирован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как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некорректный,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то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он</a:t>
            </a:r>
            <a:r>
              <a:rPr sz="2200" spc="-10" dirty="0">
                <a:latin typeface="Calibri"/>
                <a:cs typeface="Calibri"/>
              </a:rPr>
              <a:t> отвергается,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узлы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продолжают 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обработку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данных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транзакции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или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завершают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решение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хэш-головоломки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нового </a:t>
            </a:r>
            <a:r>
              <a:rPr sz="2200" spc="-20" dirty="0">
                <a:latin typeface="Calibri"/>
                <a:cs typeface="Calibri"/>
              </a:rPr>
              <a:t>блока.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573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ДОБАВЛЕНИЕ</a:t>
            </a:r>
            <a:r>
              <a:rPr sz="2400" spc="-65" dirty="0"/>
              <a:t> </a:t>
            </a:r>
            <a:r>
              <a:rPr sz="2400" spc="-10" dirty="0"/>
              <a:t>БЛОКОВ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01807"/>
            <a:ext cx="5798820" cy="43376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20320">
              <a:lnSpc>
                <a:spcPct val="70000"/>
              </a:lnSpc>
              <a:spcBef>
                <a:spcPts val="825"/>
              </a:spcBef>
              <a:buAutoNum type="arabicPeriod" startAt="10"/>
              <a:tabLst>
                <a:tab pos="390525" algn="l"/>
              </a:tabLst>
            </a:pPr>
            <a:r>
              <a:rPr sz="2000" spc="-15" dirty="0">
                <a:latin typeface="Calibri"/>
                <a:cs typeface="Calibri"/>
              </a:rPr>
              <a:t>Если </a:t>
            </a:r>
            <a:r>
              <a:rPr sz="2000" dirty="0">
                <a:latin typeface="Calibri"/>
                <a:cs typeface="Calibri"/>
              </a:rPr>
              <a:t>новый </a:t>
            </a:r>
            <a:r>
              <a:rPr sz="2000" spc="-5" dirty="0">
                <a:latin typeface="Calibri"/>
                <a:cs typeface="Calibri"/>
              </a:rPr>
              <a:t>полученный </a:t>
            </a:r>
            <a:r>
              <a:rPr sz="2000" spc="-15" dirty="0">
                <a:latin typeface="Calibri"/>
                <a:cs typeface="Calibri"/>
              </a:rPr>
              <a:t>блок </a:t>
            </a:r>
            <a:r>
              <a:rPr sz="2000" spc="-5" dirty="0">
                <a:latin typeface="Calibri"/>
                <a:cs typeface="Calibri"/>
              </a:rPr>
              <a:t>идентифицирован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как </a:t>
            </a:r>
            <a:r>
              <a:rPr sz="2000" spc="-5" dirty="0">
                <a:latin typeface="Calibri"/>
                <a:cs typeface="Calibri"/>
              </a:rPr>
              <a:t>корректный, </a:t>
            </a:r>
            <a:r>
              <a:rPr sz="2000" spc="-15" dirty="0">
                <a:latin typeface="Calibri"/>
                <a:cs typeface="Calibri"/>
              </a:rPr>
              <a:t>то </a:t>
            </a:r>
            <a:r>
              <a:rPr sz="2000" spc="-10" dirty="0">
                <a:latin typeface="Calibri"/>
                <a:cs typeface="Calibri"/>
              </a:rPr>
              <a:t>узлы </a:t>
            </a:r>
            <a:r>
              <a:rPr sz="2000" spc="-15" dirty="0">
                <a:latin typeface="Calibri"/>
                <a:cs typeface="Calibri"/>
              </a:rPr>
              <a:t>удаляют </a:t>
            </a:r>
            <a:r>
              <a:rPr sz="2000" spc="-5" dirty="0">
                <a:latin typeface="Calibri"/>
                <a:cs typeface="Calibri"/>
              </a:rPr>
              <a:t>те транзакции,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которые </a:t>
            </a:r>
            <a:r>
              <a:rPr sz="2000" spc="-15" dirty="0">
                <a:latin typeface="Calibri"/>
                <a:cs typeface="Calibri"/>
              </a:rPr>
              <a:t>содержатся </a:t>
            </a:r>
            <a:r>
              <a:rPr sz="2000" dirty="0">
                <a:latin typeface="Calibri"/>
                <a:cs typeface="Calibri"/>
              </a:rPr>
              <a:t>в </a:t>
            </a:r>
            <a:r>
              <a:rPr sz="2000" spc="-10" dirty="0">
                <a:latin typeface="Calibri"/>
                <a:cs typeface="Calibri"/>
              </a:rPr>
              <a:t>этом </a:t>
            </a:r>
            <a:r>
              <a:rPr sz="2000" spc="-15" dirty="0">
                <a:latin typeface="Calibri"/>
                <a:cs typeface="Calibri"/>
              </a:rPr>
              <a:t>блоке, </a:t>
            </a:r>
            <a:r>
              <a:rPr sz="2000" spc="-5" dirty="0">
                <a:latin typeface="Calibri"/>
                <a:cs typeface="Calibri"/>
              </a:rPr>
              <a:t>из </a:t>
            </a:r>
            <a:r>
              <a:rPr sz="2000" dirty="0">
                <a:latin typeface="Calibri"/>
                <a:cs typeface="Calibri"/>
              </a:rPr>
              <a:t>своих </a:t>
            </a:r>
            <a:r>
              <a:rPr sz="2000" spc="-5" dirty="0">
                <a:latin typeface="Calibri"/>
                <a:cs typeface="Calibri"/>
              </a:rPr>
              <a:t>почтовых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ящиков </a:t>
            </a:r>
            <a:r>
              <a:rPr sz="2000" dirty="0">
                <a:latin typeface="Calibri"/>
                <a:cs typeface="Calibri"/>
              </a:rPr>
              <a:t>и </a:t>
            </a:r>
            <a:r>
              <a:rPr sz="2000" spc="-5" dirty="0">
                <a:latin typeface="Calibri"/>
                <a:cs typeface="Calibri"/>
              </a:rPr>
              <a:t>начинают обработку новых данных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транзакции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и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создание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нового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блока.</a:t>
            </a:r>
            <a:endParaRPr sz="2000">
              <a:latin typeface="Calibri"/>
              <a:cs typeface="Calibri"/>
            </a:endParaRPr>
          </a:p>
          <a:p>
            <a:pPr marL="12700" marR="44450">
              <a:lnSpc>
                <a:spcPct val="70000"/>
              </a:lnSpc>
              <a:spcBef>
                <a:spcPts val="995"/>
              </a:spcBef>
              <a:buAutoNum type="arabicPeriod" startAt="10"/>
              <a:tabLst>
                <a:tab pos="391160" algn="l"/>
              </a:tabLst>
            </a:pPr>
            <a:r>
              <a:rPr sz="2000" spc="-15" dirty="0">
                <a:latin typeface="Calibri"/>
                <a:cs typeface="Calibri"/>
              </a:rPr>
              <a:t>Если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блок,</a:t>
            </a:r>
            <a:r>
              <a:rPr sz="2000" spc="-5" dirty="0">
                <a:latin typeface="Calibri"/>
                <a:cs typeface="Calibri"/>
              </a:rPr>
              <a:t> ранее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добавленный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в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структуру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данных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блокчейна,</a:t>
            </a:r>
            <a:r>
              <a:rPr sz="2000" spc="-5" dirty="0">
                <a:latin typeface="Calibri"/>
                <a:cs typeface="Calibri"/>
              </a:rPr>
              <a:t> впоследствии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идентифицируется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как </a:t>
            </a:r>
            <a:r>
              <a:rPr sz="2000" spc="-5" dirty="0">
                <a:latin typeface="Calibri"/>
                <a:cs typeface="Calibri"/>
              </a:rPr>
              <a:t>некорректный или бесполезный, </a:t>
            </a:r>
            <a:r>
              <a:rPr sz="2000" spc="-15" dirty="0">
                <a:latin typeface="Calibri"/>
                <a:cs typeface="Calibri"/>
              </a:rPr>
              <a:t>то </a:t>
            </a:r>
            <a:r>
              <a:rPr sz="2000" spc="-10" dirty="0">
                <a:latin typeface="Calibri"/>
                <a:cs typeface="Calibri"/>
              </a:rPr>
              <a:t>такой </a:t>
            </a:r>
            <a:r>
              <a:rPr sz="2000" spc="-15" dirty="0">
                <a:latin typeface="Calibri"/>
                <a:cs typeface="Calibri"/>
              </a:rPr>
              <a:t>блок </a:t>
            </a:r>
            <a:r>
              <a:rPr sz="2000" dirty="0">
                <a:latin typeface="Calibri"/>
                <a:cs typeface="Calibri"/>
              </a:rPr>
              <a:t>и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все </a:t>
            </a:r>
            <a:r>
              <a:rPr sz="2000" spc="-5" dirty="0">
                <a:latin typeface="Calibri"/>
                <a:cs typeface="Calibri"/>
              </a:rPr>
              <a:t>связанные </a:t>
            </a:r>
            <a:r>
              <a:rPr sz="2000" dirty="0">
                <a:latin typeface="Calibri"/>
                <a:cs typeface="Calibri"/>
              </a:rPr>
              <a:t>с </a:t>
            </a:r>
            <a:r>
              <a:rPr sz="2000" spc="-5" dirty="0">
                <a:latin typeface="Calibri"/>
                <a:cs typeface="Calibri"/>
              </a:rPr>
              <a:t>ним последующие </a:t>
            </a:r>
            <a:r>
              <a:rPr sz="2000" spc="-10" dirty="0">
                <a:latin typeface="Calibri"/>
                <a:cs typeface="Calibri"/>
              </a:rPr>
              <a:t>блоки </a:t>
            </a:r>
            <a:r>
              <a:rPr sz="2000" spc="-25" dirty="0">
                <a:latin typeface="Calibri"/>
                <a:cs typeface="Calibri"/>
              </a:rPr>
              <a:t>будут 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удалены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из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структуры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данных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блокчейна,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а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данные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транзакций из этих </a:t>
            </a:r>
            <a:r>
              <a:rPr sz="2000" spc="-15" dirty="0">
                <a:latin typeface="Calibri"/>
                <a:cs typeface="Calibri"/>
              </a:rPr>
              <a:t>блоков </a:t>
            </a:r>
            <a:r>
              <a:rPr sz="2000" spc="-5" dirty="0">
                <a:latin typeface="Calibri"/>
                <a:cs typeface="Calibri"/>
              </a:rPr>
              <a:t>снова </a:t>
            </a:r>
            <a:r>
              <a:rPr sz="2000" spc="-10" dirty="0">
                <a:latin typeface="Calibri"/>
                <a:cs typeface="Calibri"/>
              </a:rPr>
              <a:t>добавляются </a:t>
            </a:r>
            <a:r>
              <a:rPr sz="2000" dirty="0">
                <a:latin typeface="Calibri"/>
                <a:cs typeface="Calibri"/>
              </a:rPr>
              <a:t>в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почтовый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ящик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для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повторной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обработки.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5"/>
              </a:spcBef>
              <a:buAutoNum type="arabicPeriod" startAt="10"/>
              <a:tabLst>
                <a:tab pos="391160" algn="l"/>
              </a:tabLst>
            </a:pPr>
            <a:r>
              <a:rPr sz="2000" spc="-25" dirty="0">
                <a:latin typeface="Calibri"/>
                <a:cs typeface="Calibri"/>
              </a:rPr>
              <a:t>Узел,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чей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блок </a:t>
            </a:r>
            <a:r>
              <a:rPr sz="2000" dirty="0">
                <a:latin typeface="Calibri"/>
                <a:cs typeface="Calibri"/>
              </a:rPr>
              <a:t>был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принят, </a:t>
            </a:r>
            <a:r>
              <a:rPr sz="2000" dirty="0">
                <a:latin typeface="Calibri"/>
                <a:cs typeface="Calibri"/>
              </a:rPr>
              <a:t>в </a:t>
            </a:r>
            <a:r>
              <a:rPr sz="2000" spc="-5" dirty="0">
                <a:latin typeface="Calibri"/>
                <a:cs typeface="Calibri"/>
              </a:rPr>
              <a:t>качестве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поощрения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получает </a:t>
            </a:r>
            <a:r>
              <a:rPr sz="2000" spc="-5" dirty="0">
                <a:latin typeface="Calibri"/>
                <a:cs typeface="Calibri"/>
              </a:rPr>
              <a:t>вознаграждения </a:t>
            </a:r>
            <a:r>
              <a:rPr sz="2000" dirty="0">
                <a:latin typeface="Calibri"/>
                <a:cs typeface="Calibri"/>
              </a:rPr>
              <a:t>за все </a:t>
            </a:r>
            <a:r>
              <a:rPr sz="2000" spc="-5" dirty="0">
                <a:latin typeface="Calibri"/>
                <a:cs typeface="Calibri"/>
              </a:rPr>
              <a:t>транзакции,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содержащиеся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в</a:t>
            </a:r>
            <a:r>
              <a:rPr sz="2000" spc="-10" dirty="0">
                <a:latin typeface="Calibri"/>
                <a:cs typeface="Calibri"/>
              </a:rPr>
              <a:t> этом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блоке.</a:t>
            </a:r>
            <a:endParaRPr sz="2000">
              <a:latin typeface="Calibri"/>
              <a:cs typeface="Calibri"/>
            </a:endParaRPr>
          </a:p>
          <a:p>
            <a:pPr marL="12700" marR="87630">
              <a:lnSpc>
                <a:spcPct val="70000"/>
              </a:lnSpc>
              <a:spcBef>
                <a:spcPts val="994"/>
              </a:spcBef>
              <a:buAutoNum type="arabicPeriod" startAt="10"/>
              <a:tabLst>
                <a:tab pos="391160" algn="l"/>
              </a:tabLst>
            </a:pPr>
            <a:r>
              <a:rPr sz="2000" spc="-15" dirty="0">
                <a:latin typeface="Calibri"/>
                <a:cs typeface="Calibri"/>
              </a:rPr>
              <a:t>Если блок удаляется </a:t>
            </a:r>
            <a:r>
              <a:rPr sz="2000" spc="-5" dirty="0">
                <a:latin typeface="Calibri"/>
                <a:cs typeface="Calibri"/>
              </a:rPr>
              <a:t>из структуры данных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блокчейна, </a:t>
            </a:r>
            <a:r>
              <a:rPr sz="2000" spc="-15" dirty="0">
                <a:latin typeface="Calibri"/>
                <a:cs typeface="Calibri"/>
              </a:rPr>
              <a:t>то </a:t>
            </a:r>
            <a:r>
              <a:rPr sz="2000" dirty="0">
                <a:latin typeface="Calibri"/>
                <a:cs typeface="Calibri"/>
              </a:rPr>
              <a:t>вся сумма </a:t>
            </a:r>
            <a:r>
              <a:rPr sz="2000" spc="-5" dirty="0">
                <a:latin typeface="Calibri"/>
                <a:cs typeface="Calibri"/>
              </a:rPr>
              <a:t>вознаграждения снимается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с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узла, добавившего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этот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блок.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30005" y="957939"/>
            <a:ext cx="4956810" cy="52546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71450">
              <a:lnSpc>
                <a:spcPts val="2590"/>
              </a:lnSpc>
              <a:spcBef>
                <a:spcPts val="425"/>
              </a:spcBef>
            </a:pPr>
            <a:r>
              <a:rPr sz="2400" i="1" spc="-5" dirty="0">
                <a:latin typeface="Calibri"/>
                <a:cs typeface="Calibri"/>
              </a:rPr>
              <a:t>Правила конкуренции 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устанавливают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простой 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двухфазный </a:t>
            </a:r>
            <a:r>
              <a:rPr sz="2400" i="1" spc="-5" dirty="0">
                <a:latin typeface="Calibri"/>
                <a:cs typeface="Calibri"/>
              </a:rPr>
              <a:t>режим, </a:t>
            </a:r>
            <a:r>
              <a:rPr sz="2400" i="1" spc="-10" dirty="0">
                <a:latin typeface="Calibri"/>
                <a:cs typeface="Calibri"/>
              </a:rPr>
              <a:t>управляющий 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работой </a:t>
            </a:r>
            <a:r>
              <a:rPr sz="2400" i="1" spc="-10" dirty="0">
                <a:latin typeface="Calibri"/>
                <a:cs typeface="Calibri"/>
              </a:rPr>
              <a:t>каждого узла </a:t>
            </a:r>
            <a:r>
              <a:rPr sz="2400" i="1" dirty="0">
                <a:latin typeface="Calibri"/>
                <a:cs typeface="Calibri"/>
              </a:rPr>
              <a:t>в </a:t>
            </a:r>
            <a:r>
              <a:rPr sz="2400" i="1" spc="-5" dirty="0">
                <a:latin typeface="Calibri"/>
                <a:cs typeface="Calibri"/>
              </a:rPr>
              <a:t>сети. </a:t>
            </a:r>
            <a:r>
              <a:rPr sz="2400" i="1" dirty="0">
                <a:latin typeface="Calibri"/>
                <a:cs typeface="Calibri"/>
              </a:rPr>
              <a:t>В 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любой момент времени все </a:t>
            </a:r>
            <a:r>
              <a:rPr sz="2400" i="1" spc="-10" dirty="0">
                <a:latin typeface="Calibri"/>
                <a:cs typeface="Calibri"/>
              </a:rPr>
              <a:t>узлы </a:t>
            </a:r>
            <a:r>
              <a:rPr sz="2400" i="1" spc="-5" dirty="0">
                <a:latin typeface="Calibri"/>
                <a:cs typeface="Calibri"/>
              </a:rPr>
              <a:t> системы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находятся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в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одной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из</a:t>
            </a:r>
            <a:r>
              <a:rPr sz="2400" i="1" spc="-10" dirty="0">
                <a:latin typeface="Calibri"/>
                <a:cs typeface="Calibri"/>
              </a:rPr>
              <a:t> двух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фаз:</a:t>
            </a:r>
            <a:endParaRPr sz="2400">
              <a:latin typeface="Calibri"/>
              <a:cs typeface="Calibri"/>
            </a:endParaRPr>
          </a:p>
          <a:p>
            <a:pPr marL="12700" marR="48260">
              <a:lnSpc>
                <a:spcPts val="2590"/>
              </a:lnSpc>
              <a:spcBef>
                <a:spcPts val="1025"/>
              </a:spcBef>
              <a:buAutoNum type="arabicParenR"/>
              <a:tabLst>
                <a:tab pos="327025" algn="l"/>
              </a:tabLst>
            </a:pPr>
            <a:r>
              <a:rPr sz="2400" i="1" spc="-5" dirty="0">
                <a:latin typeface="Calibri"/>
                <a:cs typeface="Calibri"/>
              </a:rPr>
              <a:t>исследование</a:t>
            </a:r>
            <a:r>
              <a:rPr sz="2400" i="1" spc="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нового </a:t>
            </a:r>
            <a:r>
              <a:rPr sz="2400" i="1" spc="-15" dirty="0">
                <a:latin typeface="Calibri"/>
                <a:cs typeface="Calibri"/>
              </a:rPr>
              <a:t>блока, 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созданного </a:t>
            </a:r>
            <a:r>
              <a:rPr sz="2400" i="1" dirty="0">
                <a:latin typeface="Calibri"/>
                <a:cs typeface="Calibri"/>
              </a:rPr>
              <a:t>и </a:t>
            </a:r>
            <a:r>
              <a:rPr sz="2400" i="1" spc="-5" dirty="0">
                <a:latin typeface="Calibri"/>
                <a:cs typeface="Calibri"/>
              </a:rPr>
              <a:t>добавленного одним </a:t>
            </a:r>
            <a:r>
              <a:rPr sz="2400" i="1" dirty="0">
                <a:latin typeface="Calibri"/>
                <a:cs typeface="Calibri"/>
              </a:rPr>
              <a:t>из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узлов;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1000"/>
              </a:spcBef>
              <a:buAutoNum type="arabicParenR"/>
              <a:tabLst>
                <a:tab pos="327025" algn="l"/>
              </a:tabLst>
            </a:pPr>
            <a:r>
              <a:rPr sz="2400" i="1" spc="-5" dirty="0">
                <a:latin typeface="Calibri"/>
                <a:cs typeface="Calibri"/>
              </a:rPr>
              <a:t>упорная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попытка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стать 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следующим</a:t>
            </a:r>
            <a:r>
              <a:rPr sz="2400" i="1" spc="12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узлом,</a:t>
            </a:r>
            <a:r>
              <a:rPr sz="2400" i="1" spc="1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создающим 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новый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блок, который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обязательно 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будет исследоваться </a:t>
            </a:r>
            <a:r>
              <a:rPr sz="2400" i="1" dirty="0">
                <a:latin typeface="Calibri"/>
                <a:cs typeface="Calibri"/>
              </a:rPr>
              <a:t>и </a:t>
            </a:r>
            <a:r>
              <a:rPr sz="2400" i="1" spc="-5" dirty="0">
                <a:latin typeface="Calibri"/>
                <a:cs typeface="Calibri"/>
              </a:rPr>
              <a:t>оцениваться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всеми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прочими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партнёрами.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717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ВЫБОР</a:t>
            </a:r>
            <a:r>
              <a:rPr sz="2400" spc="-25" dirty="0"/>
              <a:t> </a:t>
            </a:r>
            <a:r>
              <a:rPr sz="2400" spc="-15" dirty="0"/>
              <a:t>ХРОНОЛОГИИ </a:t>
            </a:r>
            <a:r>
              <a:rPr sz="2400" spc="-30" dirty="0"/>
              <a:t>ТРАНЗАКЦИЙ</a:t>
            </a:r>
            <a:r>
              <a:rPr sz="2400" spc="25" dirty="0"/>
              <a:t> </a:t>
            </a:r>
            <a:r>
              <a:rPr sz="2400" spc="-10" dirty="0"/>
              <a:t>(БЛОКОВ)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145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512607"/>
            <a:ext cx="5943600" cy="3600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2136" y="2512607"/>
            <a:ext cx="5384794" cy="35956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57064" y="1255138"/>
            <a:ext cx="5257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Критерий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самой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длинной </a:t>
            </a:r>
            <a:r>
              <a:rPr sz="2800" spc="-10" dirty="0">
                <a:latin typeface="Calibri"/>
                <a:cs typeface="Calibri"/>
              </a:rPr>
              <a:t>цепочки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0"/>
            <a:ext cx="8034655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spc="-5" dirty="0"/>
              <a:t>ЧЕМ </a:t>
            </a:r>
            <a:r>
              <a:rPr sz="2200" spc="-25" dirty="0"/>
              <a:t>ГЛУБЖЕ</a:t>
            </a:r>
            <a:r>
              <a:rPr sz="2200" spc="20" dirty="0"/>
              <a:t> </a:t>
            </a:r>
            <a:r>
              <a:rPr sz="2200" spc="-5" dirty="0"/>
              <a:t>В</a:t>
            </a:r>
            <a:r>
              <a:rPr sz="2200" spc="-10" dirty="0"/>
              <a:t> УТВЕРЖДЁННОЙ</a:t>
            </a:r>
            <a:r>
              <a:rPr sz="2200" spc="35" dirty="0"/>
              <a:t> </a:t>
            </a:r>
            <a:r>
              <a:rPr sz="2200" dirty="0"/>
              <a:t>КОРРЕКТНОЙ</a:t>
            </a:r>
            <a:r>
              <a:rPr sz="2200" spc="10" dirty="0"/>
              <a:t> </a:t>
            </a:r>
            <a:r>
              <a:rPr sz="2200" spc="-5" dirty="0"/>
              <a:t>ЦЕПОЧКЕ </a:t>
            </a:r>
            <a:r>
              <a:rPr sz="2200" spc="-595" dirty="0"/>
              <a:t> </a:t>
            </a:r>
            <a:r>
              <a:rPr sz="2200" spc="-45" dirty="0"/>
              <a:t>РАСПОЛОЖЕН</a:t>
            </a:r>
            <a:r>
              <a:rPr sz="2200" spc="25" dirty="0"/>
              <a:t> </a:t>
            </a:r>
            <a:r>
              <a:rPr sz="2200" spc="-20" dirty="0"/>
              <a:t>БЛОК,</a:t>
            </a:r>
            <a:r>
              <a:rPr sz="2200" spc="25" dirty="0"/>
              <a:t> </a:t>
            </a:r>
            <a:r>
              <a:rPr sz="2200" spc="-5" dirty="0"/>
              <a:t>ТЕМ: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216163" y="1012557"/>
            <a:ext cx="9529445" cy="414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раньше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времени он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добавлен;</a:t>
            </a:r>
            <a:endParaRPr sz="2400">
              <a:latin typeface="Arial"/>
              <a:cs typeface="Arial"/>
            </a:endParaRPr>
          </a:p>
          <a:p>
            <a:pPr marL="355600" marR="203835" indent="-342900">
              <a:lnSpc>
                <a:spcPts val="2590"/>
              </a:lnSpc>
              <a:spcBef>
                <a:spcPts val="103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времени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прошло с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момента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его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включения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структуру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блокчейна;</a:t>
            </a:r>
            <a:endParaRPr sz="2400">
              <a:latin typeface="Arial"/>
              <a:cs typeface="Arial"/>
            </a:endParaRPr>
          </a:p>
          <a:p>
            <a:pPr marL="355600" marR="764540" indent="-342900">
              <a:lnSpc>
                <a:spcPts val="2590"/>
              </a:lnSpc>
              <a:spcBef>
                <a:spcPts val="100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суммарных усилий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было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затрачено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добавление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последующих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блоков;</a:t>
            </a:r>
            <a:endParaRPr sz="2400">
              <a:latin typeface="Arial"/>
              <a:cs typeface="Arial"/>
            </a:endParaRPr>
          </a:p>
          <a:p>
            <a:pPr marL="355600" marR="611505" indent="-342900">
              <a:lnSpc>
                <a:spcPts val="2590"/>
              </a:lnSpc>
              <a:spcBef>
                <a:spcPts val="101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меньше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подвержен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воздействию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случайных изменений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блоках,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принадлежащих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самой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длинной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цепочке;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меньше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вероятность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его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удаления;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больше обосновано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его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включение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структуру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узлами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системы;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006666"/>
              </a:buClr>
              <a:buSzPct val="150000"/>
              <a:buChar char="•"/>
              <a:tabLst>
                <a:tab pos="355600" algn="l"/>
              </a:tabLst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более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прочно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закреплён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в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общей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хронологии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узлов.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842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УСТОЙЧИВОСТЬ</a:t>
            </a:r>
            <a:r>
              <a:rPr sz="2400" dirty="0"/>
              <a:t> </a:t>
            </a:r>
            <a:r>
              <a:rPr sz="2400" spc="-10" dirty="0"/>
              <a:t>ПРОТИВ </a:t>
            </a:r>
            <a:r>
              <a:rPr sz="2400" spc="-25" dirty="0"/>
              <a:t>СТОРОННИХ</a:t>
            </a:r>
            <a:r>
              <a:rPr sz="2400" spc="20" dirty="0"/>
              <a:t> </a:t>
            </a:r>
            <a:r>
              <a:rPr sz="2400" spc="-15" dirty="0"/>
              <a:t>МАНИПУЛЯЦИЙ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pc="-20" dirty="0"/>
              <a:t>Установление </a:t>
            </a:r>
            <a:r>
              <a:rPr spc="-10" dirty="0"/>
              <a:t>нового пути </a:t>
            </a:r>
            <a:r>
              <a:rPr spc="-5" dirty="0"/>
              <a:t> </a:t>
            </a:r>
            <a:r>
              <a:rPr spc="-10" dirty="0"/>
              <a:t>посредством</a:t>
            </a:r>
            <a:r>
              <a:rPr spc="-5" dirty="0"/>
              <a:t> захвата</a:t>
            </a:r>
            <a:r>
              <a:rPr dirty="0"/>
              <a:t> </a:t>
            </a:r>
            <a:r>
              <a:rPr spc="-5" dirty="0"/>
              <a:t>и </a:t>
            </a:r>
            <a:r>
              <a:rPr dirty="0"/>
              <a:t> </a:t>
            </a:r>
            <a:r>
              <a:rPr spc="-5" dirty="0"/>
              <a:t>установления </a:t>
            </a:r>
            <a:r>
              <a:rPr spc="-15" dirty="0"/>
              <a:t>контроля </a:t>
            </a:r>
            <a:r>
              <a:rPr dirty="0"/>
              <a:t>над </a:t>
            </a:r>
            <a:r>
              <a:rPr spc="5" dirty="0"/>
              <a:t> </a:t>
            </a:r>
            <a:r>
              <a:rPr spc="-15" dirty="0"/>
              <a:t>путем,</a:t>
            </a:r>
            <a:r>
              <a:rPr dirty="0"/>
              <a:t> </a:t>
            </a:r>
            <a:r>
              <a:rPr spc="-10" dirty="0"/>
              <a:t>поддерживаемым </a:t>
            </a:r>
            <a:r>
              <a:rPr spc="-5" dirty="0"/>
              <a:t> </a:t>
            </a:r>
            <a:r>
              <a:rPr spc="-10" dirty="0"/>
              <a:t>большинством </a:t>
            </a:r>
            <a:r>
              <a:rPr spc="-15" dirty="0"/>
              <a:t>узлов, </a:t>
            </a:r>
            <a:r>
              <a:rPr spc="-10" dirty="0"/>
              <a:t> </a:t>
            </a:r>
            <a:r>
              <a:rPr spc="-5" dirty="0"/>
              <a:t>невозможно для </a:t>
            </a:r>
            <a:r>
              <a:rPr spc="-10" dirty="0"/>
              <a:t>любого </a:t>
            </a:r>
            <a:r>
              <a:rPr spc="-5" dirty="0"/>
              <a:t> </a:t>
            </a:r>
            <a:r>
              <a:rPr spc="-10" dirty="0"/>
              <a:t>атакующего</a:t>
            </a:r>
            <a:r>
              <a:rPr spc="-5" dirty="0"/>
              <a:t> </a:t>
            </a:r>
            <a:r>
              <a:rPr spc="-15" dirty="0"/>
              <a:t>узла, </a:t>
            </a:r>
            <a:r>
              <a:rPr spc="-10" dirty="0"/>
              <a:t> </a:t>
            </a:r>
            <a:r>
              <a:rPr spc="-15" dirty="0"/>
              <a:t>обладающего </a:t>
            </a:r>
            <a:r>
              <a:rPr spc="-5" dirty="0"/>
              <a:t>меньшей </a:t>
            </a:r>
            <a:r>
              <a:rPr dirty="0"/>
              <a:t> </a:t>
            </a:r>
            <a:r>
              <a:rPr spc="-10" dirty="0"/>
              <a:t>вычислительной </a:t>
            </a:r>
            <a:r>
              <a:rPr spc="-5" dirty="0"/>
              <a:t>мощностью, </a:t>
            </a:r>
            <a:r>
              <a:rPr spc="-620" dirty="0"/>
              <a:t> </a:t>
            </a:r>
            <a:r>
              <a:rPr spc="-10" dirty="0"/>
              <a:t>чем</a:t>
            </a:r>
            <a:r>
              <a:rPr spc="-15" dirty="0"/>
              <a:t> </a:t>
            </a:r>
            <a:r>
              <a:rPr spc="-10" dirty="0"/>
              <a:t>большинство.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327675" y="1355815"/>
            <a:ext cx="5060315" cy="429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Определение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нового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209"/>
              </a:spcBef>
            </a:pPr>
            <a:r>
              <a:rPr sz="2800" spc="-10" dirty="0">
                <a:latin typeface="Calibri"/>
                <a:cs typeface="Calibri"/>
              </a:rPr>
              <a:t>«корректного»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пути,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начинающегося </a:t>
            </a:r>
            <a:r>
              <a:rPr sz="2800" spc="-5" dirty="0">
                <a:latin typeface="Calibri"/>
                <a:cs typeface="Calibri"/>
              </a:rPr>
              <a:t>с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одного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из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внутренних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блоков</a:t>
            </a:r>
            <a:r>
              <a:rPr sz="2800" spc="-10" dirty="0">
                <a:latin typeface="Calibri"/>
                <a:cs typeface="Calibri"/>
              </a:rPr>
              <a:t> структуры </a:t>
            </a:r>
            <a:r>
              <a:rPr sz="2800" spc="-5" dirty="0">
                <a:latin typeface="Calibri"/>
                <a:cs typeface="Calibri"/>
              </a:rPr>
              <a:t> данных </a:t>
            </a:r>
            <a:r>
              <a:rPr sz="2800" spc="-10" dirty="0">
                <a:latin typeface="Calibri"/>
                <a:cs typeface="Calibri"/>
              </a:rPr>
              <a:t>блокчейна,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требует </a:t>
            </a:r>
            <a:r>
              <a:rPr sz="2800" spc="-10" dirty="0">
                <a:latin typeface="Calibri"/>
                <a:cs typeface="Calibri"/>
              </a:rPr>
              <a:t> перехвата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установления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контроля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для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пути,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поддерживаемого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большинством </a:t>
            </a:r>
            <a:r>
              <a:rPr sz="2800" spc="-15" dirty="0">
                <a:latin typeface="Calibri"/>
                <a:cs typeface="Calibri"/>
              </a:rPr>
              <a:t>узлов.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Этот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факт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является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основой</a:t>
            </a:r>
            <a:r>
              <a:rPr sz="2800" spc="-10" dirty="0">
                <a:latin typeface="Calibri"/>
                <a:cs typeface="Calibri"/>
              </a:rPr>
              <a:t> устойчивости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надёжности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блокчейн-системы.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7637780" cy="389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СЛЕДСТВИЯ</a:t>
            </a:r>
            <a:r>
              <a:rPr sz="2400" b="1" spc="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40" dirty="0">
                <a:solidFill>
                  <a:srgbClr val="006666"/>
                </a:solidFill>
                <a:latin typeface="Arial"/>
                <a:cs typeface="Arial"/>
              </a:rPr>
              <a:t>ВЫБОРА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006666"/>
                </a:solidFill>
                <a:latin typeface="Arial"/>
                <a:cs typeface="Arial"/>
              </a:rPr>
              <a:t>ЕДИНСТВЕННОЙ</a:t>
            </a:r>
            <a:r>
              <a:rPr sz="2400" b="1" spc="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ЦЕПОЧКИ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Arial"/>
              <a:cs typeface="Arial"/>
            </a:endParaRPr>
          </a:p>
          <a:p>
            <a:pPr marL="370840" marR="3363595">
              <a:lnSpc>
                <a:spcPct val="124600"/>
              </a:lnSpc>
              <a:spcBef>
                <a:spcPts val="5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появление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блоков-«сирот»;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отмена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поощрений;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уточнение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права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владения;</a:t>
            </a:r>
            <a:endParaRPr sz="2400">
              <a:latin typeface="Arial"/>
              <a:cs typeface="Arial"/>
            </a:endParaRPr>
          </a:p>
          <a:p>
            <a:pPr marL="370840" marR="807085">
              <a:lnSpc>
                <a:spcPct val="124700"/>
              </a:lnSpc>
              <a:spcBef>
                <a:spcPts val="5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повторная</a:t>
            </a:r>
            <a:r>
              <a:rPr sz="2400" spc="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обработка</a:t>
            </a:r>
            <a:r>
              <a:rPr sz="24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транзакций;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увеличение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размера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общего ствола;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сохранение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общей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целостности;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устойчивость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против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сторонних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манипуляций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7371" y="3679901"/>
            <a:ext cx="4787992" cy="29854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148</a:t>
            </a:fld>
            <a:endParaRPr spc="-5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10855325" cy="331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006666"/>
                </a:solidFill>
                <a:latin typeface="Arial"/>
                <a:cs typeface="Arial"/>
              </a:rPr>
              <a:t>ПЛАТА</a:t>
            </a:r>
            <a:r>
              <a:rPr sz="24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ЗА</a:t>
            </a:r>
            <a:r>
              <a:rPr sz="24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45" dirty="0">
                <a:solidFill>
                  <a:srgbClr val="006666"/>
                </a:solidFill>
                <a:latin typeface="Arial"/>
                <a:cs typeface="Arial"/>
              </a:rPr>
              <a:t>СОХРАНЕНИЕ</a:t>
            </a:r>
            <a:r>
              <a:rPr sz="2400" b="1" spc="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6666"/>
                </a:solidFill>
                <a:latin typeface="Arial"/>
                <a:cs typeface="Arial"/>
              </a:rPr>
              <a:t>ЦЕЛОСТНОСТИ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Arial"/>
              <a:cs typeface="Arial"/>
            </a:endParaRPr>
          </a:p>
          <a:p>
            <a:pPr marL="492759" marR="5080">
              <a:lnSpc>
                <a:spcPts val="259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выборе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инструмента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оплаты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необходимо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учитывать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перечисленные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ниже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последствия:</a:t>
            </a:r>
            <a:endParaRPr sz="2400">
              <a:latin typeface="Arial"/>
              <a:cs typeface="Arial"/>
            </a:endParaRPr>
          </a:p>
          <a:p>
            <a:pPr marL="492759" marR="4935855">
              <a:lnSpc>
                <a:spcPts val="3590"/>
              </a:lnSpc>
              <a:spcBef>
                <a:spcPts val="200"/>
              </a:spcBef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воздействие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целостность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системы;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воздействие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открытость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системы;</a:t>
            </a:r>
            <a:endParaRPr sz="2400">
              <a:latin typeface="Arial"/>
              <a:cs typeface="Arial"/>
            </a:endParaRPr>
          </a:p>
          <a:p>
            <a:pPr marL="492759" marR="2876550">
              <a:lnSpc>
                <a:spcPts val="3590"/>
              </a:lnSpc>
            </a:pP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воздействие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распределённую</a:t>
            </a:r>
            <a:r>
              <a:rPr sz="24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сущность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системы;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воздействие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философию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149</a:t>
            </a:fld>
            <a:endParaRPr spc="-5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8260" y="1420136"/>
            <a:ext cx="5082540" cy="4417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682625">
              <a:lnSpc>
                <a:spcPts val="3030"/>
              </a:lnSpc>
              <a:spcBef>
                <a:spcPts val="470"/>
              </a:spcBef>
            </a:pPr>
            <a:r>
              <a:rPr sz="2800" b="1" spc="-10" dirty="0">
                <a:latin typeface="Calibri"/>
                <a:cs typeface="Calibri"/>
              </a:rPr>
              <a:t>Воздействие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на </a:t>
            </a:r>
            <a:r>
              <a:rPr sz="2800" b="1" spc="-10" dirty="0">
                <a:latin typeface="Calibri"/>
                <a:cs typeface="Calibri"/>
              </a:rPr>
              <a:t>целостность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системы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Инструмент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компенсации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должен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представлять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ценность;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Иметь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доверие;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Быть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надёжным.</a:t>
            </a:r>
            <a:endParaRPr sz="2800">
              <a:latin typeface="Calibri"/>
              <a:cs typeface="Calibri"/>
            </a:endParaRPr>
          </a:p>
          <a:p>
            <a:pPr marL="12700" marR="490855">
              <a:lnSpc>
                <a:spcPts val="3030"/>
              </a:lnSpc>
              <a:spcBef>
                <a:spcPts val="1045"/>
              </a:spcBef>
            </a:pPr>
            <a:r>
              <a:rPr sz="2800" spc="-10" dirty="0">
                <a:latin typeface="Calibri"/>
                <a:cs typeface="Calibri"/>
              </a:rPr>
              <a:t>Инструмент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компенсации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напрямую </a:t>
            </a:r>
            <a:r>
              <a:rPr sz="2800" spc="-5" dirty="0">
                <a:latin typeface="Calibri"/>
                <a:cs typeface="Calibri"/>
              </a:rPr>
              <a:t>связан </a:t>
            </a:r>
            <a:r>
              <a:rPr sz="2800" dirty="0">
                <a:latin typeface="Calibri"/>
                <a:cs typeface="Calibri"/>
              </a:rPr>
              <a:t>со </a:t>
            </a:r>
            <a:r>
              <a:rPr sz="2800" spc="-10" dirty="0">
                <a:latin typeface="Calibri"/>
                <a:cs typeface="Calibri"/>
              </a:rPr>
              <a:t>степенью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доверия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ко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всей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блокчейн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системе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340" y="67835"/>
            <a:ext cx="5222875" cy="59575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969644">
              <a:lnSpc>
                <a:spcPts val="3030"/>
              </a:lnSpc>
              <a:spcBef>
                <a:spcPts val="470"/>
              </a:spcBef>
            </a:pPr>
            <a:r>
              <a:rPr sz="2800" b="1" spc="-10" dirty="0">
                <a:latin typeface="Calibri"/>
                <a:cs typeface="Calibri"/>
              </a:rPr>
              <a:t>Воздействие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на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открытость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системы: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Что,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если</a:t>
            </a:r>
            <a:r>
              <a:rPr sz="2800" spc="-10" dirty="0">
                <a:latin typeface="Calibri"/>
                <a:cs typeface="Calibri"/>
              </a:rPr>
              <a:t> компенсация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производится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помощью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инструмента,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доступного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или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разрешённого </a:t>
            </a:r>
            <a:r>
              <a:rPr sz="2800" spc="-30" dirty="0">
                <a:latin typeface="Calibri"/>
                <a:cs typeface="Calibri"/>
              </a:rPr>
              <a:t>только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отдельных</a:t>
            </a:r>
            <a:r>
              <a:rPr sz="2800" spc="-5" dirty="0">
                <a:latin typeface="Calibri"/>
                <a:cs typeface="Calibri"/>
              </a:rPr>
              <a:t> странах, или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является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субъектом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законов,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ограничивающих </a:t>
            </a:r>
            <a:r>
              <a:rPr sz="2800" spc="-10" dirty="0">
                <a:latin typeface="Calibri"/>
                <a:cs typeface="Calibri"/>
              </a:rPr>
              <a:t>движение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денежных </a:t>
            </a:r>
            <a:r>
              <a:rPr sz="2800" spc="-10" dirty="0">
                <a:latin typeface="Calibri"/>
                <a:cs typeface="Calibri"/>
              </a:rPr>
              <a:t>средств?</a:t>
            </a:r>
            <a:r>
              <a:rPr sz="2800" spc="-5" dirty="0">
                <a:latin typeface="Calibri"/>
                <a:cs typeface="Calibri"/>
              </a:rPr>
              <a:t> В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этом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случае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конкретный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инструмент </a:t>
            </a:r>
            <a:r>
              <a:rPr sz="2800" spc="-5" dirty="0">
                <a:latin typeface="Calibri"/>
                <a:cs typeface="Calibri"/>
              </a:rPr>
              <a:t> обеспечения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компенсации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противодействует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технической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открытости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системы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из-за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экономических</a:t>
            </a:r>
            <a:r>
              <a:rPr sz="2800" spc="-5" dirty="0">
                <a:latin typeface="Calibri"/>
                <a:cs typeface="Calibri"/>
              </a:rPr>
              <a:t> ограничений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8341" y="1572261"/>
            <a:ext cx="5123180" cy="447103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922655">
              <a:lnSpc>
                <a:spcPts val="2810"/>
              </a:lnSpc>
              <a:spcBef>
                <a:spcPts val="455"/>
              </a:spcBef>
            </a:pPr>
            <a:r>
              <a:rPr sz="2600" b="1" dirty="0">
                <a:latin typeface="Calibri"/>
                <a:cs typeface="Calibri"/>
              </a:rPr>
              <a:t>Влияние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на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распределённую </a:t>
            </a:r>
            <a:r>
              <a:rPr sz="2600" b="1" spc="-5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сущность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системы: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600" spc="-5" dirty="0">
                <a:latin typeface="Calibri"/>
                <a:cs typeface="Calibri"/>
              </a:rPr>
              <a:t>Но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что </a:t>
            </a:r>
            <a:r>
              <a:rPr sz="2600" spc="-25" dirty="0">
                <a:latin typeface="Calibri"/>
                <a:cs typeface="Calibri"/>
              </a:rPr>
              <a:t>происходит,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если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инструмент </a:t>
            </a:r>
            <a:r>
              <a:rPr sz="2600" dirty="0">
                <a:latin typeface="Calibri"/>
                <a:cs typeface="Calibri"/>
              </a:rPr>
              <a:t>обеспечения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компенсации управляется </a:t>
            </a:r>
            <a:r>
              <a:rPr sz="2600" dirty="0">
                <a:latin typeface="Calibri"/>
                <a:cs typeface="Calibri"/>
              </a:rPr>
              <a:t>и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контролируется </a:t>
            </a:r>
            <a:r>
              <a:rPr sz="2600" spc="-10" dirty="0">
                <a:latin typeface="Calibri"/>
                <a:cs typeface="Calibri"/>
              </a:rPr>
              <a:t>единственной </a:t>
            </a:r>
            <a:r>
              <a:rPr sz="2600" spc="-5" dirty="0">
                <a:latin typeface="Calibri"/>
                <a:cs typeface="Calibri"/>
              </a:rPr>
              <a:t> центральной организацией? </a:t>
            </a:r>
            <a:r>
              <a:rPr sz="2600" dirty="0">
                <a:latin typeface="Calibri"/>
                <a:cs typeface="Calibri"/>
              </a:rPr>
              <a:t> Фактически </a:t>
            </a:r>
            <a:r>
              <a:rPr sz="2600" spc="-20" dirty="0">
                <a:latin typeface="Calibri"/>
                <a:cs typeface="Calibri"/>
              </a:rPr>
              <a:t>это </a:t>
            </a:r>
            <a:r>
              <a:rPr sz="2600" spc="-5" dirty="0">
                <a:latin typeface="Calibri"/>
                <a:cs typeface="Calibri"/>
              </a:rPr>
              <a:t>означает тайное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внедрение </a:t>
            </a:r>
            <a:r>
              <a:rPr sz="2600" dirty="0">
                <a:latin typeface="Calibri"/>
                <a:cs typeface="Calibri"/>
              </a:rPr>
              <a:t>в </a:t>
            </a:r>
            <a:r>
              <a:rPr sz="2600" spc="-10" dirty="0">
                <a:latin typeface="Calibri"/>
                <a:cs typeface="Calibri"/>
              </a:rPr>
              <a:t>систему </a:t>
            </a:r>
            <a:r>
              <a:rPr sz="2600" spc="-5" dirty="0">
                <a:latin typeface="Calibri"/>
                <a:cs typeface="Calibri"/>
              </a:rPr>
              <a:t> централизованного управления.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Это </a:t>
            </a:r>
            <a:r>
              <a:rPr sz="2600" spc="-5" dirty="0">
                <a:latin typeface="Calibri"/>
                <a:cs typeface="Calibri"/>
              </a:rPr>
              <a:t>противоречит </a:t>
            </a:r>
            <a:r>
              <a:rPr sz="2600" dirty="0">
                <a:latin typeface="Calibri"/>
                <a:cs typeface="Calibri"/>
              </a:rPr>
              <a:t>самой </a:t>
            </a:r>
            <a:r>
              <a:rPr sz="2600" spc="-5" dirty="0">
                <a:latin typeface="Calibri"/>
                <a:cs typeface="Calibri"/>
              </a:rPr>
              <a:t>сущности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распределённой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системы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064" y="1201263"/>
            <a:ext cx="4792345" cy="411543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720725">
              <a:lnSpc>
                <a:spcPts val="2810"/>
              </a:lnSpc>
              <a:spcBef>
                <a:spcPts val="455"/>
              </a:spcBef>
            </a:pPr>
            <a:r>
              <a:rPr sz="2600" b="1" spc="-5" dirty="0">
                <a:latin typeface="Calibri"/>
                <a:cs typeface="Calibri"/>
              </a:rPr>
              <a:t>Воздействие на </a:t>
            </a:r>
            <a:r>
              <a:rPr sz="2600" b="1" dirty="0">
                <a:latin typeface="Calibri"/>
                <a:cs typeface="Calibri"/>
              </a:rPr>
              <a:t>философию </a:t>
            </a:r>
            <a:r>
              <a:rPr sz="2600" b="1" spc="-57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системы: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можно </a:t>
            </a:r>
            <a:r>
              <a:rPr sz="2600" dirty="0">
                <a:latin typeface="Calibri"/>
                <a:cs typeface="Calibri"/>
              </a:rPr>
              <a:t>ли </a:t>
            </a:r>
            <a:r>
              <a:rPr sz="2600" spc="-5" dirty="0">
                <a:latin typeface="Calibri"/>
                <a:cs typeface="Calibri"/>
              </a:rPr>
              <a:t>спроектировать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распределенную пиринговую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систему </a:t>
            </a:r>
            <a:r>
              <a:rPr sz="2600" dirty="0">
                <a:latin typeface="Calibri"/>
                <a:cs typeface="Calibri"/>
              </a:rPr>
              <a:t>с </a:t>
            </a:r>
            <a:r>
              <a:rPr sz="2600" spc="-10" dirty="0">
                <a:latin typeface="Calibri"/>
                <a:cs typeface="Calibri"/>
              </a:rPr>
              <a:t>сохранением высокой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степени доверия, </a:t>
            </a:r>
            <a:r>
              <a:rPr sz="2600" dirty="0">
                <a:latin typeface="Calibri"/>
                <a:cs typeface="Calibri"/>
              </a:rPr>
              <a:t>если в ней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используется </a:t>
            </a:r>
            <a:r>
              <a:rPr sz="2600" spc="-5" dirty="0">
                <a:latin typeface="Calibri"/>
                <a:cs typeface="Calibri"/>
              </a:rPr>
              <a:t>инструмент </a:t>
            </a:r>
            <a:r>
              <a:rPr sz="2600" dirty="0">
                <a:latin typeface="Calibri"/>
                <a:cs typeface="Calibri"/>
              </a:rPr>
              <a:t> обеспечения </a:t>
            </a:r>
            <a:r>
              <a:rPr sz="2600" spc="-5" dirty="0">
                <a:latin typeface="Calibri"/>
                <a:cs typeface="Calibri"/>
              </a:rPr>
              <a:t>компенсаций,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который противодействует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основным </a:t>
            </a:r>
            <a:r>
              <a:rPr sz="2600" spc="-5" dirty="0">
                <a:latin typeface="Calibri"/>
                <a:cs typeface="Calibri"/>
              </a:rPr>
              <a:t>свойствам </a:t>
            </a:r>
            <a:r>
              <a:rPr sz="2600" spc="-15" dirty="0">
                <a:latin typeface="Calibri"/>
                <a:cs typeface="Calibri"/>
              </a:rPr>
              <a:t>этой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системы?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15" dirty="0"/>
              <a:t>ТРЕБУЕМЫЕ</a:t>
            </a:r>
            <a:r>
              <a:rPr sz="2200" spc="25" dirty="0"/>
              <a:t> </a:t>
            </a:r>
            <a:r>
              <a:rPr sz="2200" spc="-35" dirty="0"/>
              <a:t>СВОЙСТВА</a:t>
            </a:r>
            <a:r>
              <a:rPr sz="2200" spc="35" dirty="0"/>
              <a:t> </a:t>
            </a:r>
            <a:r>
              <a:rPr sz="2200" spc="-30" dirty="0"/>
              <a:t>ИНСТРУМЕНТА</a:t>
            </a:r>
            <a:r>
              <a:rPr sz="2200" spc="45" dirty="0"/>
              <a:t> </a:t>
            </a:r>
            <a:r>
              <a:rPr sz="2200" spc="-5" dirty="0"/>
              <a:t>ОБЕСПЕЧЕНИЯ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b="0" u="heavy" spc="165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15" dirty="0">
                <a:uFill>
                  <a:solidFill>
                    <a:srgbClr val="006666"/>
                  </a:solidFill>
                </a:uFill>
              </a:rPr>
              <a:t>КОМПЕНСАЦИЙ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152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286329" y="1561454"/>
            <a:ext cx="11067415" cy="486600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805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доступность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цифровой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форме</a:t>
            </a:r>
            <a:endParaRPr sz="2400">
              <a:latin typeface="Arial"/>
              <a:cs typeface="Arial"/>
            </a:endParaRPr>
          </a:p>
          <a:p>
            <a:pPr marL="414655" marR="756920">
              <a:lnSpc>
                <a:spcPct val="12460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приемлемость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инструмента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как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средства платежей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реальном мире;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приемлемость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инструмента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средства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платежей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всех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странах;</a:t>
            </a:r>
            <a:endParaRPr sz="2400">
              <a:latin typeface="Arial"/>
              <a:cs typeface="Arial"/>
            </a:endParaRPr>
          </a:p>
          <a:p>
            <a:pPr marL="414655" marR="5080">
              <a:lnSpc>
                <a:spcPct val="124600"/>
              </a:lnSpc>
              <a:spcBef>
                <a:spcPts val="15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инструмент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должен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являться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субъектом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законодательных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ограничений;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стабильная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стоимость;</a:t>
            </a:r>
            <a:endParaRPr sz="2400">
              <a:latin typeface="Arial"/>
              <a:cs typeface="Arial"/>
            </a:endParaRPr>
          </a:p>
          <a:p>
            <a:pPr marL="414655">
              <a:lnSpc>
                <a:spcPct val="100000"/>
              </a:lnSpc>
              <a:spcBef>
                <a:spcPts val="705"/>
              </a:spcBef>
            </a:pP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высокая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степень доверия;</a:t>
            </a:r>
            <a:endParaRPr sz="2400">
              <a:latin typeface="Arial"/>
              <a:cs typeface="Arial"/>
            </a:endParaRPr>
          </a:p>
          <a:p>
            <a:pPr marL="414655" marR="79375">
              <a:lnSpc>
                <a:spcPts val="2590"/>
              </a:lnSpc>
              <a:spcBef>
                <a:spcPts val="105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отсутствие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управления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контроля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со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стороны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единственной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центральной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организации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учреждения.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Arial"/>
              <a:cs typeface="Arial"/>
            </a:endParaRPr>
          </a:p>
          <a:p>
            <a:pPr marL="12700" marR="2724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Криптовалюта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это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независимая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цифровая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валюта,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право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владения</a:t>
            </a:r>
            <a:r>
              <a:rPr sz="1800" spc="-15" dirty="0">
                <a:latin typeface="Calibri"/>
                <a:cs typeface="Calibri"/>
              </a:rPr>
              <a:t> которой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управляется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блокчейн-системой,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использующей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ту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же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валюту</a:t>
            </a:r>
            <a:r>
              <a:rPr sz="1800" spc="-10" dirty="0">
                <a:latin typeface="Calibri"/>
                <a:cs typeface="Calibri"/>
              </a:rPr>
              <a:t> как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инструмент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выплаты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компенсаций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своим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членам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за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поддержку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целостности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системы.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676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ЦЕЛИ</a:t>
            </a:r>
            <a:r>
              <a:rPr sz="2400" spc="-15" dirty="0"/>
              <a:t> </a:t>
            </a:r>
            <a:r>
              <a:rPr sz="2400" dirty="0"/>
              <a:t>И</a:t>
            </a:r>
            <a:r>
              <a:rPr sz="2400" spc="-25" dirty="0"/>
              <a:t> </a:t>
            </a:r>
            <a:r>
              <a:rPr sz="2400" spc="-15" dirty="0"/>
              <a:t>ИНСТРУМЕНТЫ</a:t>
            </a:r>
            <a:r>
              <a:rPr sz="2400" spc="-5" dirty="0"/>
              <a:t> БЛОКЧЕЙНА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153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2573" y="1017597"/>
          <a:ext cx="11508740" cy="5075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Цель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Инструмент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8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Описание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права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владения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собственностью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Хронология</a:t>
                      </a:r>
                      <a:r>
                        <a:rPr sz="2000" spc="3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транзакций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Защита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права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владения</a:t>
                      </a:r>
                      <a:r>
                        <a:rPr sz="2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собственностью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Цифровая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подпись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8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Сохранение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данных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транзакции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Структура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данных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блокчейна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6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Подготовка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реестра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распространения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Неизменяемость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68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Распространение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реестра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Распространение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данных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в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сетевой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среде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68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Добавление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новых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транзакций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Алгоритм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блокчейна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4002">
                <a:tc>
                  <a:txBody>
                    <a:bodyPr/>
                    <a:lstStyle/>
                    <a:p>
                      <a:pPr marL="91440" marR="24002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Принятие решения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о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том,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в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котором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из вариантов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реестра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представлены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правильные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данные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Распределённый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консенсус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60" y="1951462"/>
            <a:ext cx="11498178" cy="33788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5960" y="110364"/>
            <a:ext cx="90500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spc="-5" dirty="0"/>
              <a:t>ЧЕТЫРЕ</a:t>
            </a:r>
            <a:r>
              <a:rPr sz="2200" dirty="0"/>
              <a:t> </a:t>
            </a:r>
            <a:r>
              <a:rPr sz="2200" spc="-20" dirty="0"/>
              <a:t>ВЕРСИИ</a:t>
            </a:r>
            <a:r>
              <a:rPr sz="2200" spc="35" dirty="0"/>
              <a:t> </a:t>
            </a:r>
            <a:r>
              <a:rPr sz="2200" spc="-10" dirty="0"/>
              <a:t>БЛОКЧЕЙН-СИСТЕМЫ</a:t>
            </a:r>
            <a:r>
              <a:rPr sz="2200" spc="55" dirty="0"/>
              <a:t> </a:t>
            </a:r>
            <a:r>
              <a:rPr sz="2200" spc="-5" dirty="0"/>
              <a:t>КАК </a:t>
            </a:r>
            <a:r>
              <a:rPr sz="2200" spc="-80" dirty="0"/>
              <a:t>РЕЗУЛЬТАТ</a:t>
            </a:r>
            <a:endParaRPr sz="2200"/>
          </a:p>
          <a:p>
            <a:pPr marL="12700">
              <a:lnSpc>
                <a:spcPts val="2510"/>
              </a:lnSpc>
              <a:tabLst>
                <a:tab pos="9036685" algn="l"/>
              </a:tabLst>
            </a:pPr>
            <a:r>
              <a:rPr sz="2200" b="0" u="heavy" spc="165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30" dirty="0">
                <a:uFill>
                  <a:solidFill>
                    <a:srgbClr val="006666"/>
                  </a:solidFill>
                </a:uFill>
              </a:rPr>
              <a:t>СОЧЕТАНИЙ</a:t>
            </a:r>
            <a:r>
              <a:rPr sz="2200" u="heavy" spc="5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25" dirty="0">
                <a:uFill>
                  <a:solidFill>
                    <a:srgbClr val="006666"/>
                  </a:solidFill>
                </a:uFill>
              </a:rPr>
              <a:t>ОГРАНИЧЕНИЙ</a:t>
            </a:r>
            <a:r>
              <a:rPr sz="2200" u="heavy" spc="3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5" dirty="0">
                <a:uFill>
                  <a:solidFill>
                    <a:srgbClr val="006666"/>
                  </a:solidFill>
                </a:uFill>
              </a:rPr>
              <a:t>ПРАВ</a:t>
            </a:r>
            <a:r>
              <a:rPr sz="2200" u="heavy" spc="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НА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 ЧТЕНИЕ</a:t>
            </a:r>
            <a:r>
              <a:rPr sz="2200" u="heavy" spc="1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И</a:t>
            </a:r>
            <a:r>
              <a:rPr sz="2200" u="heavy" spc="1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НА</a:t>
            </a:r>
            <a:r>
              <a:rPr sz="2200" u="heavy" spc="-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200" u="heavy" spc="-10" dirty="0">
                <a:uFill>
                  <a:solidFill>
                    <a:srgbClr val="006666"/>
                  </a:solidFill>
                </a:uFill>
              </a:rPr>
              <a:t>ЗАПИСЬ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154</a:t>
            </a:fld>
            <a:endParaRPr spc="-5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8025" y="490505"/>
            <a:ext cx="5581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Практическое</a:t>
            </a:r>
            <a:r>
              <a:rPr sz="2400" spc="40" dirty="0"/>
              <a:t> </a:t>
            </a:r>
            <a:r>
              <a:rPr sz="2400" spc="-5" dirty="0"/>
              <a:t>применение </a:t>
            </a:r>
            <a:r>
              <a:rPr sz="2400" spc="-15" dirty="0"/>
              <a:t>Блокчейн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pc="-5" dirty="0"/>
              <a:t>Свойства</a:t>
            </a:r>
            <a:r>
              <a:rPr spc="-15" dirty="0"/>
              <a:t> </a:t>
            </a:r>
            <a:r>
              <a:rPr spc="-10" dirty="0"/>
              <a:t>блокчейн-системы:</a:t>
            </a: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5" dirty="0">
                <a:latin typeface="Calibri"/>
                <a:cs typeface="Calibri"/>
              </a:rPr>
              <a:t>неизменяемость;</a:t>
            </a:r>
          </a:p>
          <a:p>
            <a:pPr marL="241300" marR="5080" indent="-228600">
              <a:lnSpc>
                <a:spcPts val="230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5" dirty="0">
                <a:latin typeface="Calibri"/>
                <a:cs typeface="Calibri"/>
              </a:rPr>
              <a:t>возможность </a:t>
            </a:r>
            <a:r>
              <a:rPr b="0" spc="-25" dirty="0">
                <a:latin typeface="Calibri"/>
                <a:cs typeface="Calibri"/>
              </a:rPr>
              <a:t>только </a:t>
            </a:r>
            <a:r>
              <a:rPr b="0" spc="-10" dirty="0">
                <a:latin typeface="Calibri"/>
                <a:cs typeface="Calibri"/>
              </a:rPr>
              <a:t>добавления </a:t>
            </a:r>
            <a:r>
              <a:rPr b="0" spc="-53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данных;</a:t>
            </a:r>
          </a:p>
          <a:p>
            <a:pPr marL="241300" indent="-2292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5" dirty="0">
                <a:latin typeface="Calibri"/>
                <a:cs typeface="Calibri"/>
              </a:rPr>
              <a:t>упорядоченность;</a:t>
            </a:r>
          </a:p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10" dirty="0">
                <a:latin typeface="Calibri"/>
                <a:cs typeface="Calibri"/>
              </a:rPr>
              <a:t>маркировка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метками</a:t>
            </a:r>
            <a:r>
              <a:rPr b="0" spc="-5" dirty="0">
                <a:latin typeface="Calibri"/>
                <a:cs typeface="Calibri"/>
              </a:rPr>
              <a:t> времени;</a:t>
            </a:r>
          </a:p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10" dirty="0">
                <a:latin typeface="Calibri"/>
                <a:cs typeface="Calibri"/>
              </a:rPr>
              <a:t>открытость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и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прозрачность;</a:t>
            </a:r>
          </a:p>
          <a:p>
            <a:pPr marL="241300" marR="5969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5" dirty="0">
                <a:latin typeface="Calibri"/>
                <a:cs typeface="Calibri"/>
              </a:rPr>
              <a:t>безопасность </a:t>
            </a:r>
            <a:r>
              <a:rPr b="0" spc="-10" dirty="0">
                <a:latin typeface="Calibri"/>
                <a:cs typeface="Calibri"/>
              </a:rPr>
              <a:t>(идентификация, 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аутентификация </a:t>
            </a:r>
            <a:r>
              <a:rPr b="0" dirty="0">
                <a:latin typeface="Calibri"/>
                <a:cs typeface="Calibri"/>
              </a:rPr>
              <a:t>и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авторизация);</a:t>
            </a:r>
          </a:p>
          <a:p>
            <a:pPr marL="241300" marR="774065" indent="-228600">
              <a:lnSpc>
                <a:spcPts val="230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b="0" spc="-5" dirty="0">
                <a:latin typeface="Calibri"/>
                <a:cs typeface="Calibri"/>
              </a:rPr>
              <a:t>общая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конечная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(итоговая) </a:t>
            </a:r>
            <a:r>
              <a:rPr b="0" spc="-5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целостность.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72108" y="2122551"/>
            <a:ext cx="5085080" cy="30251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indent="-228600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Эти свойства </a:t>
            </a:r>
            <a:r>
              <a:rPr sz="2400" dirty="0">
                <a:latin typeface="Calibri"/>
                <a:cs typeface="Calibri"/>
              </a:rPr>
              <a:t>не зависят </a:t>
            </a:r>
            <a:r>
              <a:rPr sz="2400" spc="-10" dirty="0">
                <a:latin typeface="Calibri"/>
                <a:cs typeface="Calibri"/>
              </a:rPr>
              <a:t>от </a:t>
            </a:r>
            <a:r>
              <a:rPr sz="2400" spc="-5" dirty="0">
                <a:latin typeface="Calibri"/>
                <a:cs typeface="Calibri"/>
              </a:rPr>
              <a:t> особенностей хранимых </a:t>
            </a:r>
            <a:r>
              <a:rPr sz="2400" dirty="0">
                <a:latin typeface="Calibri"/>
                <a:cs typeface="Calibri"/>
              </a:rPr>
              <a:t>в ней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данных. </a:t>
            </a:r>
            <a:r>
              <a:rPr sz="2400" spc="-15" dirty="0">
                <a:latin typeface="Calibri"/>
                <a:cs typeface="Calibri"/>
              </a:rPr>
              <a:t>Поэтому </a:t>
            </a:r>
            <a:r>
              <a:rPr sz="2400" spc="-10" dirty="0">
                <a:latin typeface="Calibri"/>
                <a:cs typeface="Calibri"/>
              </a:rPr>
              <a:t>можно </a:t>
            </a:r>
            <a:r>
              <a:rPr sz="2400" spc="-5" dirty="0">
                <a:latin typeface="Calibri"/>
                <a:cs typeface="Calibri"/>
              </a:rPr>
              <a:t> рассматривать </a:t>
            </a:r>
            <a:r>
              <a:rPr sz="2400" spc="-10" dirty="0">
                <a:latin typeface="Calibri"/>
                <a:cs typeface="Calibri"/>
              </a:rPr>
              <a:t>блокчейн-систему </a:t>
            </a:r>
            <a:r>
              <a:rPr sz="2400" spc="-15" dirty="0">
                <a:latin typeface="Calibri"/>
                <a:cs typeface="Calibri"/>
              </a:rPr>
              <a:t>как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особый тип хранилища для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цифровых </a:t>
            </a:r>
            <a:r>
              <a:rPr sz="2400" spc="-10" dirty="0">
                <a:latin typeface="Calibri"/>
                <a:cs typeface="Calibri"/>
              </a:rPr>
              <a:t>объектов. </a:t>
            </a:r>
            <a:r>
              <a:rPr sz="2400" spc="-45" dirty="0">
                <a:latin typeface="Calibri"/>
                <a:cs typeface="Calibri"/>
              </a:rPr>
              <a:t>Такой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подход 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создаёт </a:t>
            </a:r>
            <a:r>
              <a:rPr sz="2400" spc="-10" dirty="0">
                <a:latin typeface="Calibri"/>
                <a:cs typeface="Calibri"/>
              </a:rPr>
              <a:t>огромное </a:t>
            </a:r>
            <a:r>
              <a:rPr sz="2400" spc="-5" dirty="0">
                <a:latin typeface="Calibri"/>
                <a:cs typeface="Calibri"/>
              </a:rPr>
              <a:t>разнообразие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потенциальных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возможностей</a:t>
            </a:r>
            <a:r>
              <a:rPr sz="2400" spc="-5" dirty="0">
                <a:latin typeface="Calibri"/>
                <a:cs typeface="Calibri"/>
              </a:rPr>
              <a:t> для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практического </a:t>
            </a:r>
            <a:r>
              <a:rPr sz="2400" spc="-5" dirty="0">
                <a:latin typeface="Calibri"/>
                <a:cs typeface="Calibri"/>
              </a:rPr>
              <a:t>применения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технологии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блокчейна.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65506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ПРАКТИЧЕСКОЕ</a:t>
            </a:r>
            <a:r>
              <a:rPr sz="2400" spc="5" dirty="0"/>
              <a:t> </a:t>
            </a:r>
            <a:r>
              <a:rPr sz="2400" spc="-5" dirty="0"/>
              <a:t>ПРИМЕНЕНИЕ</a:t>
            </a:r>
            <a:r>
              <a:rPr sz="2400" spc="20" dirty="0"/>
              <a:t> </a:t>
            </a:r>
            <a:r>
              <a:rPr sz="2400" spc="-5" dirty="0"/>
              <a:t>БЛОКЧЕЙН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156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0" y="3523411"/>
            <a:ext cx="4241799" cy="21208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322476"/>
            <a:ext cx="6295390" cy="473075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515"/>
              </a:spcBef>
            </a:pPr>
            <a:r>
              <a:rPr sz="2800" b="1" spc="-5" dirty="0">
                <a:latin typeface="Calibri"/>
                <a:cs typeface="Calibri"/>
              </a:rPr>
              <a:t>Общие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шаблоны: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существования;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несуществования;</a:t>
            </a:r>
            <a:endParaRPr sz="2800">
              <a:latin typeface="Calibri"/>
              <a:cs typeface="Calibri"/>
            </a:endParaRPr>
          </a:p>
          <a:p>
            <a:pPr marL="241300" marR="14160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 </a:t>
            </a:r>
            <a:r>
              <a:rPr sz="2800" spc="-5" dirty="0">
                <a:latin typeface="Calibri"/>
                <a:cs typeface="Calibri"/>
              </a:rPr>
              <a:t>времени (наступления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какого-либо</a:t>
            </a:r>
            <a:r>
              <a:rPr sz="2800" spc="-5" dirty="0">
                <a:latin typeface="Calibri"/>
                <a:cs typeface="Calibri"/>
              </a:rPr>
              <a:t> события);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 порядка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следования;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подлинности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личности;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авторства;</a:t>
            </a:r>
            <a:endParaRPr sz="2800">
              <a:latin typeface="Calibri"/>
              <a:cs typeface="Calibri"/>
            </a:endParaRPr>
          </a:p>
          <a:p>
            <a:pPr marL="241300" marR="115760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подтверждение </a:t>
            </a:r>
            <a:r>
              <a:rPr sz="2800" spc="-5" dirty="0">
                <a:latin typeface="Calibri"/>
                <a:cs typeface="Calibri"/>
              </a:rPr>
              <a:t>права </a:t>
            </a:r>
            <a:r>
              <a:rPr sz="2800" spc="-10" dirty="0">
                <a:latin typeface="Calibri"/>
                <a:cs typeface="Calibri"/>
              </a:rPr>
              <a:t>владения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собственностью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6986" y="1130541"/>
            <a:ext cx="6961020" cy="34848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5960" y="414594"/>
            <a:ext cx="9050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7120" algn="l"/>
                <a:tab pos="9036685" algn="l"/>
              </a:tabLst>
            </a:pPr>
            <a:r>
              <a:rPr sz="2400" u="heavy" dirty="0">
                <a:uFill>
                  <a:solidFill>
                    <a:srgbClr val="006666"/>
                  </a:solidFill>
                </a:uFill>
              </a:rPr>
              <a:t> 	</a:t>
            </a:r>
            <a:r>
              <a:rPr sz="2400" u="heavy" spc="-5" dirty="0">
                <a:uFill>
                  <a:solidFill>
                    <a:srgbClr val="006666"/>
                  </a:solidFill>
                </a:uFill>
              </a:rPr>
              <a:t>BITCOIN.COM	</a:t>
            </a:r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157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585815" y="5213234"/>
            <a:ext cx="11061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Полностью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распределённая</a:t>
            </a:r>
            <a:r>
              <a:rPr sz="1800" spc="-5" dirty="0">
                <a:latin typeface="Calibri"/>
                <a:cs typeface="Calibri"/>
              </a:rPr>
              <a:t> пиринговая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система,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управляющая правом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владения новым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типом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цифровых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денег,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которые,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свою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очередь,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используются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для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выплаты </a:t>
            </a:r>
            <a:r>
              <a:rPr sz="1800" spc="-10" dirty="0">
                <a:latin typeface="Calibri"/>
                <a:cs typeface="Calibri"/>
              </a:rPr>
              <a:t>компенсаций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членам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этой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системы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за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проверку</a:t>
            </a:r>
            <a:r>
              <a:rPr sz="1800" dirty="0">
                <a:latin typeface="Calibri"/>
                <a:cs typeface="Calibri"/>
              </a:rPr>
              <a:t> и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добавление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новых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блоков;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на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11.04.2018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BTC=$6820,26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917" y="1770746"/>
            <a:ext cx="352679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Программное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обеспечение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Bitcoin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 </a:t>
            </a:r>
            <a:r>
              <a:rPr sz="1800" spc="-20" dirty="0">
                <a:latin typeface="Calibri"/>
                <a:cs typeface="Calibri"/>
              </a:rPr>
              <a:t>это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комплекс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программного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обеспечения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с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открытым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исходным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кодом.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Оно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имеет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лицензию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открытого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программного </a:t>
            </a:r>
            <a:r>
              <a:rPr sz="1800" spc="-5" dirty="0">
                <a:latin typeface="Calibri"/>
                <a:cs typeface="Calibri"/>
              </a:rPr>
              <a:t> обеспечения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MIT,</a:t>
            </a:r>
            <a:r>
              <a:rPr sz="1800" spc="-10" dirty="0">
                <a:latin typeface="Calibri"/>
                <a:cs typeface="Calibri"/>
              </a:rPr>
              <a:t> которая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представляет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собой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свободную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лицензию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на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программное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обеспечение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с</a:t>
            </a:r>
            <a:r>
              <a:rPr sz="1800" spc="-5" dirty="0">
                <a:latin typeface="Calibri"/>
                <a:cs typeface="Calibri"/>
              </a:rPr>
              <a:t> открытым </a:t>
            </a:r>
            <a:r>
              <a:rPr sz="1800" spc="-15" dirty="0">
                <a:latin typeface="Calibri"/>
                <a:cs typeface="Calibri"/>
              </a:rPr>
              <a:t>исходным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кодом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809" y="4084192"/>
            <a:ext cx="4863243" cy="23368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943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ОСНОВНЫЕ</a:t>
            </a:r>
            <a:r>
              <a:rPr sz="2400" spc="-80" dirty="0"/>
              <a:t> </a:t>
            </a:r>
            <a:r>
              <a:rPr sz="2400" spc="-30" dirty="0"/>
              <a:t>ПАРАМЕТРЫ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158</a:t>
            </a:fld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670" y="836612"/>
            <a:ext cx="5905487" cy="30289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90740" y="1540256"/>
            <a:ext cx="4757420" cy="4227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7785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10 минут – </a:t>
            </a:r>
            <a:r>
              <a:rPr sz="2600" spc="-10" dirty="0">
                <a:latin typeface="Calibri"/>
                <a:cs typeface="Calibri"/>
              </a:rPr>
              <a:t>среднее </a:t>
            </a:r>
            <a:r>
              <a:rPr sz="2600" spc="-5" dirty="0">
                <a:latin typeface="Calibri"/>
                <a:cs typeface="Calibri"/>
              </a:rPr>
              <a:t>время,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затрачиваемое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на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создание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блока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1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млн.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байтов</a:t>
            </a:r>
            <a:r>
              <a:rPr sz="2600" dirty="0">
                <a:latin typeface="Calibri"/>
                <a:cs typeface="Calibri"/>
              </a:rPr>
              <a:t> в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блоке</a:t>
            </a:r>
            <a:endParaRPr sz="2600">
              <a:latin typeface="Calibri"/>
              <a:cs typeface="Calibri"/>
            </a:endParaRPr>
          </a:p>
          <a:p>
            <a:pPr marL="240665" marR="5080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20,000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операций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подписывания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на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блок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100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млн.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сатоши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на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биткоин</a:t>
            </a:r>
            <a:endParaRPr sz="2600">
              <a:latin typeface="Calibri"/>
              <a:cs typeface="Calibri"/>
            </a:endParaRPr>
          </a:p>
          <a:p>
            <a:pPr marL="241300" marR="440055" indent="-228600">
              <a:lnSpc>
                <a:spcPts val="25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21 млн. – </a:t>
            </a:r>
            <a:r>
              <a:rPr sz="2600" spc="-5" dirty="0">
                <a:latin typeface="Calibri"/>
                <a:cs typeface="Calibri"/>
              </a:rPr>
              <a:t>максимально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возможное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число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биткоинов</a:t>
            </a:r>
            <a:endParaRPr sz="2600">
              <a:latin typeface="Calibri"/>
              <a:cs typeface="Calibri"/>
            </a:endParaRPr>
          </a:p>
          <a:p>
            <a:pPr marL="241300" marR="642620" indent="-228600">
              <a:lnSpc>
                <a:spcPts val="25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50,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25,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12.5…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поощрение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за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добычу</a:t>
            </a:r>
            <a:r>
              <a:rPr sz="2600" spc="-10" dirty="0">
                <a:latin typeface="Calibri"/>
                <a:cs typeface="Calibri"/>
              </a:rPr>
              <a:t> Биткоинов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7103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САЙДЧЕЙН</a:t>
            </a:r>
            <a:r>
              <a:rPr sz="2400" spc="-25" dirty="0"/>
              <a:t> </a:t>
            </a:r>
            <a:r>
              <a:rPr sz="2400" spc="-5" dirty="0"/>
              <a:t>(SIDECHAIN)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12571"/>
            <a:ext cx="10638790" cy="2991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Сайдчейн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(sidechain)</a:t>
            </a:r>
            <a:r>
              <a:rPr sz="24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—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новый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блокчейн,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базирующийся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родительской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биткоин-цепочке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(например).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Сайдчены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реализуют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новые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финансовые экосистемы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посредством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интеграции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биткоин,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что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отличает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других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криптовалют,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игнорирующих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уже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существующие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сети: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250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ConsenSys;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3095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BTC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Relay;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309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Rootstock;</a:t>
            </a:r>
            <a:endParaRPr sz="2400">
              <a:latin typeface="Arial"/>
              <a:cs typeface="Arial"/>
            </a:endParaRPr>
          </a:p>
          <a:p>
            <a:pPr marL="698500" indent="-229235">
              <a:lnSpc>
                <a:spcPts val="3970"/>
              </a:lnSpc>
              <a:buClr>
                <a:srgbClr val="006666"/>
              </a:buClr>
              <a:buSzPct val="168750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YuansuChain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9735" y="4788348"/>
            <a:ext cx="1751734" cy="1495711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10307955" cy="318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RIPPLE</a:t>
            </a:r>
            <a:r>
              <a:rPr sz="2400" b="1" spc="-8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666"/>
                </a:solidFill>
                <a:latin typeface="Arial"/>
                <a:cs typeface="Arial"/>
              </a:rPr>
              <a:t>(XPR)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Ripple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была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создана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в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2012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году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альтернативный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метод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расчёта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для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банковской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системы,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позволяет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работу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обычных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пользователей;</a:t>
            </a:r>
            <a:endParaRPr sz="2400">
              <a:latin typeface="Arial"/>
              <a:cs typeface="Arial"/>
            </a:endParaRPr>
          </a:p>
          <a:p>
            <a:pPr marL="12700" marR="1188720">
              <a:lnSpc>
                <a:spcPts val="2590"/>
              </a:lnSpc>
              <a:spcBef>
                <a:spcPts val="100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Ripple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Labs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отошли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майнинга,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выпустив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100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млд.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монет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XPR.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XPR=1000000</a:t>
            </a:r>
            <a:r>
              <a:rPr sz="24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капель.</a:t>
            </a:r>
            <a:endParaRPr sz="2400">
              <a:latin typeface="Arial"/>
              <a:cs typeface="Arial"/>
            </a:endParaRPr>
          </a:p>
          <a:p>
            <a:pPr marL="12700" marR="5153660">
              <a:lnSpc>
                <a:spcPts val="3600"/>
              </a:lnSpc>
              <a:spcBef>
                <a:spcPts val="50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транзакции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взымается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комиссия;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11.04.2018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XPR=$0,49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160</a:t>
            </a:fld>
            <a:endParaRPr spc="-5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1731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ETHEREUM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4560" y="1004937"/>
            <a:ext cx="10908665" cy="3909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2540" algn="just">
              <a:lnSpc>
                <a:spcPts val="3030"/>
              </a:lnSpc>
              <a:spcBef>
                <a:spcPts val="470"/>
              </a:spcBef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Блокчейн-криптоплатформа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разработки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децентрализованных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приложений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базе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смарт-контрактов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открытым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исходным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 кодом.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Ethereum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Classic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предоставляет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валюту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«Эфир»,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который </a:t>
            </a:r>
            <a:r>
              <a:rPr sz="2800" spc="-7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передаваться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одного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участника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сети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другому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оплаты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вычислений,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производимых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публичными</a:t>
            </a:r>
            <a:r>
              <a:rPr sz="2800" spc="7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узлами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сети,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также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возможность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создавать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собственные цифровые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активы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блокчейне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Ethereum Classic.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Эфир,</a:t>
            </a:r>
            <a:r>
              <a:rPr sz="2800" spc="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оплаченный</a:t>
            </a:r>
            <a:r>
              <a:rPr sz="2800" spc="5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800" spc="6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произведенные</a:t>
            </a:r>
            <a:r>
              <a:rPr sz="2800" spc="5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вычисления,</a:t>
            </a:r>
            <a:r>
              <a:rPr sz="2800" spc="6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называется</a:t>
            </a:r>
            <a:endParaRPr sz="2800">
              <a:latin typeface="Arial"/>
              <a:cs typeface="Arial"/>
            </a:endParaRPr>
          </a:p>
          <a:p>
            <a:pPr marL="12700" algn="just">
              <a:lnSpc>
                <a:spcPts val="2780"/>
              </a:lnSpc>
            </a:pPr>
            <a:r>
              <a:rPr sz="2800" spc="-35" dirty="0">
                <a:solidFill>
                  <a:srgbClr val="3E3E3E"/>
                </a:solidFill>
                <a:latin typeface="Arial"/>
                <a:cs typeface="Arial"/>
              </a:rPr>
              <a:t>«Газ».</a:t>
            </a:r>
            <a:r>
              <a:rPr sz="2800" spc="10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Газ</a:t>
            </a:r>
            <a:r>
              <a:rPr sz="2800" spc="1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служит </a:t>
            </a:r>
            <a:r>
              <a:rPr sz="2800" spc="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не</a:t>
            </a:r>
            <a:r>
              <a:rPr sz="2800" spc="1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только</a:t>
            </a:r>
            <a:r>
              <a:rPr sz="2800" spc="1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2800" spc="10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оплаты</a:t>
            </a:r>
            <a:r>
              <a:rPr sz="2800" spc="10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за</a:t>
            </a:r>
            <a:r>
              <a:rPr sz="2800" spc="1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произведённые</a:t>
            </a:r>
            <a:endParaRPr sz="2800">
              <a:latin typeface="Arial"/>
              <a:cs typeface="Arial"/>
            </a:endParaRPr>
          </a:p>
          <a:p>
            <a:pPr marL="13970" algn="just">
              <a:lnSpc>
                <a:spcPts val="3195"/>
              </a:lnSpc>
            </a:pP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вычисления,</a:t>
            </a:r>
            <a:r>
              <a:rPr sz="2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но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предотвращает</a:t>
            </a:r>
            <a:r>
              <a:rPr sz="2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атаки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2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сеть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209" y="172846"/>
            <a:ext cx="87020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8080"/>
                </a:solidFill>
              </a:rPr>
              <a:t>ИНТЕРНЕТ</a:t>
            </a:r>
            <a:r>
              <a:rPr sz="3200" spc="-45" dirty="0">
                <a:solidFill>
                  <a:srgbClr val="008080"/>
                </a:solidFill>
              </a:rPr>
              <a:t> </a:t>
            </a:r>
            <a:r>
              <a:rPr sz="3200" dirty="0">
                <a:solidFill>
                  <a:srgbClr val="008080"/>
                </a:solidFill>
              </a:rPr>
              <a:t>ВЕЩЕЙ.</a:t>
            </a:r>
            <a:r>
              <a:rPr sz="3200" spc="-15" dirty="0">
                <a:solidFill>
                  <a:srgbClr val="008080"/>
                </a:solidFill>
              </a:rPr>
              <a:t> </a:t>
            </a:r>
            <a:r>
              <a:rPr sz="3200" dirty="0">
                <a:solidFill>
                  <a:srgbClr val="008080"/>
                </a:solidFill>
              </a:rPr>
              <a:t>(INTERNET</a:t>
            </a:r>
            <a:r>
              <a:rPr sz="3200" spc="-45" dirty="0">
                <a:solidFill>
                  <a:srgbClr val="008080"/>
                </a:solidFill>
              </a:rPr>
              <a:t> </a:t>
            </a:r>
            <a:r>
              <a:rPr sz="3200" dirty="0">
                <a:solidFill>
                  <a:srgbClr val="008080"/>
                </a:solidFill>
              </a:rPr>
              <a:t>OF</a:t>
            </a:r>
            <a:r>
              <a:rPr sz="3200" spc="-40" dirty="0">
                <a:solidFill>
                  <a:srgbClr val="008080"/>
                </a:solidFill>
              </a:rPr>
              <a:t> </a:t>
            </a:r>
            <a:r>
              <a:rPr sz="3200" dirty="0">
                <a:solidFill>
                  <a:srgbClr val="008080"/>
                </a:solidFill>
              </a:rPr>
              <a:t>THINGS,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534400" y="199452"/>
            <a:ext cx="8388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6666"/>
                </a:solidFill>
                <a:latin typeface="Arial"/>
                <a:cs typeface="Arial"/>
              </a:rPr>
              <a:t>I</a:t>
            </a:r>
            <a:r>
              <a:rPr sz="3200" b="1" dirty="0">
                <a:solidFill>
                  <a:srgbClr val="006666"/>
                </a:solidFill>
                <a:latin typeface="Arial"/>
                <a:cs typeface="Arial"/>
              </a:rPr>
              <a:t>O</a:t>
            </a:r>
            <a:r>
              <a:rPr sz="3200" b="1" spc="-5" dirty="0">
                <a:solidFill>
                  <a:srgbClr val="006666"/>
                </a:solidFill>
                <a:latin typeface="Arial"/>
                <a:cs typeface="Arial"/>
              </a:rPr>
              <a:t>T)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324" y="739774"/>
            <a:ext cx="10193655" cy="1068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>
              <a:lnSpc>
                <a:spcPts val="2550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IOT</a:t>
            </a:r>
            <a:r>
              <a:rPr sz="2200" b="1" spc="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=</a:t>
            </a:r>
            <a:r>
              <a:rPr sz="2200" b="1" spc="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СЕНСОРЫ</a:t>
            </a:r>
            <a:r>
              <a:rPr sz="22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(ДАТЧИКИ)</a:t>
            </a:r>
            <a:r>
              <a:rPr sz="2200" b="1" spc="2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+</a:t>
            </a:r>
            <a:r>
              <a:rPr sz="22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ДАННЫЕ</a:t>
            </a:r>
            <a:r>
              <a:rPr sz="22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+</a:t>
            </a:r>
            <a:r>
              <a:rPr sz="22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СЕТИ</a:t>
            </a:r>
            <a:r>
              <a:rPr sz="2200" b="1" spc="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+</a:t>
            </a:r>
            <a:r>
              <a:rPr sz="2200" b="1" spc="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УСЛУГИ.</a:t>
            </a:r>
            <a:endParaRPr sz="2200">
              <a:latin typeface="Arial"/>
              <a:cs typeface="Arial"/>
            </a:endParaRPr>
          </a:p>
          <a:p>
            <a:pPr marL="12700" marR="5080" indent="83820">
              <a:lnSpc>
                <a:spcPct val="83000"/>
              </a:lnSpc>
              <a:spcBef>
                <a:spcPts val="280"/>
              </a:spcBef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Интернет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вещей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глобальная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компьютеров,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датчиков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(сенсоров)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исполнительных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(актуаторов),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связывающихся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собой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использованием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интернет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протокола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IP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(Internet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Protocol).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00" y="5490069"/>
            <a:ext cx="10862945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530"/>
              </a:spcBef>
              <a:tabLst>
                <a:tab pos="7911465" algn="l"/>
              </a:tabLst>
            </a:pP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Интернет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вещей: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учебное</a:t>
            </a:r>
            <a:r>
              <a:rPr sz="1800" spc="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пособие [текст]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/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А.В.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Росляков,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С.В.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Ваняшин,	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А.Ю.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Гребешков.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Самара: </a:t>
            </a:r>
            <a:r>
              <a:rPr sz="18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ПГУТИ,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2015.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200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4729" y="1714500"/>
            <a:ext cx="4953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39" y="141503"/>
            <a:ext cx="9067170" cy="62224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163</a:t>
            </a:fld>
            <a:endParaRPr spc="-5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290" y="144970"/>
            <a:ext cx="8416112" cy="66185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164</a:t>
            </a:fld>
            <a:endParaRPr spc="-5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824" y="919600"/>
            <a:ext cx="10027957" cy="58577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165</a:t>
            </a:fld>
            <a:endParaRPr spc="-5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098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БАЗОВЫЕ</a:t>
            </a:r>
            <a:r>
              <a:rPr sz="2400" spc="-15" dirty="0"/>
              <a:t> </a:t>
            </a:r>
            <a:r>
              <a:rPr sz="2400" spc="-5" dirty="0"/>
              <a:t>ПРИНЦИПЫ</a:t>
            </a:r>
            <a:r>
              <a:rPr sz="2400" spc="-35" dirty="0"/>
              <a:t> </a:t>
            </a:r>
            <a:r>
              <a:rPr sz="2400" dirty="0"/>
              <a:t>IOT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12571"/>
            <a:ext cx="10908030" cy="41389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6985" algn="just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Концепция IoT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термин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неѐ впервые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сформулированы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основателем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исследовательской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группы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Auto-ID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Массачусетском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технологическом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институте Кевином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Эштоном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1999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году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презентации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руководства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компании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Procter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&amp;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Gamble.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В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презентации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рассказывалось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том,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как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всеобъемлющее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внедрение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радиочастотных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меток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RFID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сможет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видоизменить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систему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управления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логистическими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цепями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корпорации.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ts val="2590"/>
              </a:lnSpc>
              <a:spcBef>
                <a:spcPts val="1010"/>
              </a:spcBef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Официальное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определение Интернета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вещей приведено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Рекомендации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МСЭ-Т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Y.2060,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согласно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которому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IoT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глобальная</a:t>
            </a:r>
            <a:r>
              <a:rPr sz="2400" spc="6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инфраструктура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информационного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общества,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обеспечивающая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передовые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услуги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за 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счет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организации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связи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между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вещами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(физическими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или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виртуальными)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основе существующих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развивающихся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совместимых информационных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коммуникационных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технологий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4098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БАЗОВЫЕ</a:t>
            </a:r>
            <a:r>
              <a:rPr sz="2400" spc="-15" dirty="0"/>
              <a:t> </a:t>
            </a:r>
            <a:r>
              <a:rPr sz="2400" spc="-5" dirty="0"/>
              <a:t>ПРИНЦИПЫ</a:t>
            </a:r>
            <a:r>
              <a:rPr sz="2400" spc="-35" dirty="0"/>
              <a:t> </a:t>
            </a:r>
            <a:r>
              <a:rPr sz="2400" dirty="0"/>
              <a:t>IOT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167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89" y="830141"/>
            <a:ext cx="8504287" cy="5514901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8995" y="244475"/>
            <a:ext cx="722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/>
              <a:t>НЕСКОЛЬКО</a:t>
            </a:r>
            <a:r>
              <a:rPr sz="2400" spc="10" dirty="0"/>
              <a:t> </a:t>
            </a:r>
            <a:r>
              <a:rPr sz="2400" spc="-15" dirty="0"/>
              <a:t>УРОВНЕЙ</a:t>
            </a:r>
            <a:r>
              <a:rPr sz="2400" spc="10" dirty="0"/>
              <a:t> </a:t>
            </a:r>
            <a:r>
              <a:rPr sz="2400" spc="-15" dirty="0"/>
              <a:t>ПАКЕТОВ</a:t>
            </a:r>
            <a:r>
              <a:rPr sz="2400" dirty="0"/>
              <a:t> </a:t>
            </a:r>
            <a:r>
              <a:rPr sz="2400" spc="-10" dirty="0"/>
              <a:t>СООБЩЕНИЙ</a:t>
            </a:r>
            <a:endParaRPr sz="2400"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419600" y="1447800"/>
            <a:ext cx="1143000" cy="609600"/>
          </a:xfrm>
          <a:prstGeom prst="rect">
            <a:avLst/>
          </a:prstGeom>
          <a:solidFill>
            <a:srgbClr val="5B9BD5"/>
          </a:solidFill>
          <a:ln w="1270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86995" marR="78105" indent="161290">
              <a:lnSpc>
                <a:spcPct val="100000"/>
              </a:lnSpc>
              <a:spcBef>
                <a:spcPts val="675"/>
              </a:spcBef>
            </a:pPr>
            <a:r>
              <a:rPr sz="1400" spc="-5" dirty="0">
                <a:latin typeface="Arial"/>
                <a:cs typeface="Arial"/>
              </a:rPr>
              <a:t>Данные 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С</a:t>
            </a:r>
            <a:r>
              <a:rPr sz="1400" spc="-5" dirty="0">
                <a:latin typeface="Arial"/>
                <a:cs typeface="Arial"/>
              </a:rPr>
              <a:t>оо</a:t>
            </a:r>
            <a:r>
              <a:rPr sz="1400" dirty="0">
                <a:latin typeface="Arial"/>
                <a:cs typeface="Arial"/>
              </a:rPr>
              <a:t>б</a:t>
            </a:r>
            <a:r>
              <a:rPr sz="1400" spc="-20" dirty="0">
                <a:latin typeface="Arial"/>
                <a:cs typeface="Arial"/>
              </a:rPr>
              <a:t>щ</a:t>
            </a:r>
            <a:r>
              <a:rPr sz="1400" spc="-5" dirty="0">
                <a:latin typeface="Arial"/>
                <a:cs typeface="Arial"/>
              </a:rPr>
              <a:t>е</a:t>
            </a:r>
            <a:r>
              <a:rPr sz="1400" dirty="0">
                <a:latin typeface="Arial"/>
                <a:cs typeface="Arial"/>
              </a:rPr>
              <a:t>н</a:t>
            </a:r>
            <a:r>
              <a:rPr sz="1400" spc="-5" dirty="0">
                <a:latin typeface="Arial"/>
                <a:cs typeface="Arial"/>
              </a:rPr>
              <a:t>и</a:t>
            </a:r>
            <a:r>
              <a:rPr sz="1400" dirty="0">
                <a:latin typeface="Arial"/>
                <a:cs typeface="Arial"/>
              </a:rPr>
              <a:t>е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051" y="2051050"/>
            <a:ext cx="498475" cy="546100"/>
            <a:chOff x="4718051" y="2051050"/>
            <a:chExt cx="498475" cy="546100"/>
          </a:xfrm>
        </p:grpSpPr>
        <p:sp>
          <p:nvSpPr>
            <p:cNvPr id="5" name="object 5"/>
            <p:cNvSpPr/>
            <p:nvPr/>
          </p:nvSpPr>
          <p:spPr>
            <a:xfrm>
              <a:off x="4724401" y="2057400"/>
              <a:ext cx="485775" cy="533400"/>
            </a:xfrm>
            <a:custGeom>
              <a:avLst/>
              <a:gdLst/>
              <a:ahLst/>
              <a:cxnLst/>
              <a:rect l="l" t="t" r="r" b="b"/>
              <a:pathLst>
                <a:path w="485775" h="533400">
                  <a:moveTo>
                    <a:pt x="364324" y="0"/>
                  </a:moveTo>
                  <a:lnTo>
                    <a:pt x="121450" y="0"/>
                  </a:lnTo>
                  <a:lnTo>
                    <a:pt x="121450" y="400050"/>
                  </a:lnTo>
                  <a:lnTo>
                    <a:pt x="0" y="400050"/>
                  </a:lnTo>
                  <a:lnTo>
                    <a:pt x="242887" y="533400"/>
                  </a:lnTo>
                  <a:lnTo>
                    <a:pt x="485775" y="400050"/>
                  </a:lnTo>
                  <a:lnTo>
                    <a:pt x="364324" y="400050"/>
                  </a:lnTo>
                  <a:lnTo>
                    <a:pt x="36432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4401" y="2057400"/>
              <a:ext cx="485775" cy="533400"/>
            </a:xfrm>
            <a:custGeom>
              <a:avLst/>
              <a:gdLst/>
              <a:ahLst/>
              <a:cxnLst/>
              <a:rect l="l" t="t" r="r" b="b"/>
              <a:pathLst>
                <a:path w="485775" h="533400">
                  <a:moveTo>
                    <a:pt x="0" y="400050"/>
                  </a:moveTo>
                  <a:lnTo>
                    <a:pt x="121450" y="400050"/>
                  </a:lnTo>
                  <a:lnTo>
                    <a:pt x="121450" y="0"/>
                  </a:lnTo>
                  <a:lnTo>
                    <a:pt x="364324" y="0"/>
                  </a:lnTo>
                  <a:lnTo>
                    <a:pt x="364324" y="400050"/>
                  </a:lnTo>
                  <a:lnTo>
                    <a:pt x="485775" y="400050"/>
                  </a:lnTo>
                  <a:lnTo>
                    <a:pt x="242887" y="533400"/>
                  </a:lnTo>
                  <a:lnTo>
                    <a:pt x="0" y="4000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70250" y="2584450"/>
          <a:ext cx="3429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Заголовок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86995" marR="78105" indent="16129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Данные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оо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б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щ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е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н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е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Окончание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4718051" y="3194050"/>
            <a:ext cx="498475" cy="546100"/>
            <a:chOff x="4718051" y="3194050"/>
            <a:chExt cx="498475" cy="546100"/>
          </a:xfrm>
        </p:grpSpPr>
        <p:sp>
          <p:nvSpPr>
            <p:cNvPr id="9" name="object 9"/>
            <p:cNvSpPr/>
            <p:nvPr/>
          </p:nvSpPr>
          <p:spPr>
            <a:xfrm>
              <a:off x="4724401" y="3200400"/>
              <a:ext cx="485775" cy="533400"/>
            </a:xfrm>
            <a:custGeom>
              <a:avLst/>
              <a:gdLst/>
              <a:ahLst/>
              <a:cxnLst/>
              <a:rect l="l" t="t" r="r" b="b"/>
              <a:pathLst>
                <a:path w="485775" h="533400">
                  <a:moveTo>
                    <a:pt x="364324" y="0"/>
                  </a:moveTo>
                  <a:lnTo>
                    <a:pt x="121450" y="0"/>
                  </a:lnTo>
                  <a:lnTo>
                    <a:pt x="121450" y="400050"/>
                  </a:lnTo>
                  <a:lnTo>
                    <a:pt x="0" y="400050"/>
                  </a:lnTo>
                  <a:lnTo>
                    <a:pt x="242887" y="533400"/>
                  </a:lnTo>
                  <a:lnTo>
                    <a:pt x="485775" y="400050"/>
                  </a:lnTo>
                  <a:lnTo>
                    <a:pt x="364324" y="400050"/>
                  </a:lnTo>
                  <a:lnTo>
                    <a:pt x="36432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24401" y="3200400"/>
              <a:ext cx="485775" cy="533400"/>
            </a:xfrm>
            <a:custGeom>
              <a:avLst/>
              <a:gdLst/>
              <a:ahLst/>
              <a:cxnLst/>
              <a:rect l="l" t="t" r="r" b="b"/>
              <a:pathLst>
                <a:path w="485775" h="533400">
                  <a:moveTo>
                    <a:pt x="0" y="400050"/>
                  </a:moveTo>
                  <a:lnTo>
                    <a:pt x="121450" y="400050"/>
                  </a:lnTo>
                  <a:lnTo>
                    <a:pt x="121450" y="0"/>
                  </a:lnTo>
                  <a:lnTo>
                    <a:pt x="364324" y="0"/>
                  </a:lnTo>
                  <a:lnTo>
                    <a:pt x="364324" y="400050"/>
                  </a:lnTo>
                  <a:lnTo>
                    <a:pt x="485775" y="400050"/>
                  </a:lnTo>
                  <a:lnTo>
                    <a:pt x="242887" y="533400"/>
                  </a:lnTo>
                  <a:lnTo>
                    <a:pt x="0" y="4000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127250" y="3727450"/>
          <a:ext cx="5715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Заголовок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Заголовок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86995" marR="78105" indent="16129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Данные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оо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б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щ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е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н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е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Окончание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Окончание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7359805" y="1449260"/>
            <a:ext cx="1630045" cy="496570"/>
            <a:chOff x="7359805" y="1449260"/>
            <a:chExt cx="1630045" cy="496570"/>
          </a:xfrm>
        </p:grpSpPr>
        <p:sp>
          <p:nvSpPr>
            <p:cNvPr id="13" name="object 13"/>
            <p:cNvSpPr/>
            <p:nvPr/>
          </p:nvSpPr>
          <p:spPr>
            <a:xfrm>
              <a:off x="7364377" y="1604714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79" h="336550">
                  <a:moveTo>
                    <a:pt x="162648" y="0"/>
                  </a:moveTo>
                  <a:lnTo>
                    <a:pt x="122727" y="5672"/>
                  </a:lnTo>
                  <a:lnTo>
                    <a:pt x="0" y="50927"/>
                  </a:lnTo>
                  <a:lnTo>
                    <a:pt x="106578" y="336118"/>
                  </a:lnTo>
                  <a:lnTo>
                    <a:pt x="215328" y="295478"/>
                  </a:lnTo>
                  <a:lnTo>
                    <a:pt x="228301" y="290289"/>
                  </a:lnTo>
                  <a:lnTo>
                    <a:pt x="232502" y="288353"/>
                  </a:lnTo>
                  <a:lnTo>
                    <a:pt x="131737" y="288353"/>
                  </a:lnTo>
                  <a:lnTo>
                    <a:pt x="95097" y="190309"/>
                  </a:lnTo>
                  <a:lnTo>
                    <a:pt x="161048" y="165658"/>
                  </a:lnTo>
                  <a:lnTo>
                    <a:pt x="173976" y="161167"/>
                  </a:lnTo>
                  <a:lnTo>
                    <a:pt x="185537" y="157867"/>
                  </a:lnTo>
                  <a:lnTo>
                    <a:pt x="191397" y="156654"/>
                  </a:lnTo>
                  <a:lnTo>
                    <a:pt x="82524" y="156654"/>
                  </a:lnTo>
                  <a:lnTo>
                    <a:pt x="50317" y="70472"/>
                  </a:lnTo>
                  <a:lnTo>
                    <a:pt x="107314" y="49174"/>
                  </a:lnTo>
                  <a:lnTo>
                    <a:pt x="144078" y="37987"/>
                  </a:lnTo>
                  <a:lnTo>
                    <a:pt x="152184" y="36944"/>
                  </a:lnTo>
                  <a:lnTo>
                    <a:pt x="223072" y="36944"/>
                  </a:lnTo>
                  <a:lnTo>
                    <a:pt x="218811" y="30367"/>
                  </a:lnTo>
                  <a:lnTo>
                    <a:pt x="184367" y="4410"/>
                  </a:lnTo>
                  <a:lnTo>
                    <a:pt x="173826" y="1421"/>
                  </a:lnTo>
                  <a:lnTo>
                    <a:pt x="162648" y="0"/>
                  </a:lnTo>
                  <a:close/>
                </a:path>
                <a:path w="297179" h="336550">
                  <a:moveTo>
                    <a:pt x="281408" y="154838"/>
                  </a:moveTo>
                  <a:lnTo>
                    <a:pt x="204558" y="154838"/>
                  </a:lnTo>
                  <a:lnTo>
                    <a:pt x="212462" y="155098"/>
                  </a:lnTo>
                  <a:lnTo>
                    <a:pt x="219903" y="156527"/>
                  </a:lnTo>
                  <a:lnTo>
                    <a:pt x="251929" y="187566"/>
                  </a:lnTo>
                  <a:lnTo>
                    <a:pt x="255717" y="207375"/>
                  </a:lnTo>
                  <a:lnTo>
                    <a:pt x="255269" y="213702"/>
                  </a:lnTo>
                  <a:lnTo>
                    <a:pt x="227914" y="250863"/>
                  </a:lnTo>
                  <a:lnTo>
                    <a:pt x="131737" y="288353"/>
                  </a:lnTo>
                  <a:lnTo>
                    <a:pt x="232502" y="288353"/>
                  </a:lnTo>
                  <a:lnTo>
                    <a:pt x="267543" y="267487"/>
                  </a:lnTo>
                  <a:lnTo>
                    <a:pt x="292728" y="232156"/>
                  </a:lnTo>
                  <a:lnTo>
                    <a:pt x="296910" y="203202"/>
                  </a:lnTo>
                  <a:lnTo>
                    <a:pt x="296140" y="193076"/>
                  </a:lnTo>
                  <a:lnTo>
                    <a:pt x="294181" y="182995"/>
                  </a:lnTo>
                  <a:lnTo>
                    <a:pt x="291033" y="172961"/>
                  </a:lnTo>
                  <a:lnTo>
                    <a:pt x="285663" y="161248"/>
                  </a:lnTo>
                  <a:lnTo>
                    <a:pt x="281408" y="154838"/>
                  </a:lnTo>
                  <a:close/>
                </a:path>
                <a:path w="297179" h="336550">
                  <a:moveTo>
                    <a:pt x="223072" y="36944"/>
                  </a:moveTo>
                  <a:lnTo>
                    <a:pt x="152184" y="36944"/>
                  </a:lnTo>
                  <a:lnTo>
                    <a:pt x="159046" y="37142"/>
                  </a:lnTo>
                  <a:lnTo>
                    <a:pt x="165498" y="38460"/>
                  </a:lnTo>
                  <a:lnTo>
                    <a:pt x="193319" y="66916"/>
                  </a:lnTo>
                  <a:lnTo>
                    <a:pt x="196618" y="81308"/>
                  </a:lnTo>
                  <a:lnTo>
                    <a:pt x="196544" y="88068"/>
                  </a:lnTo>
                  <a:lnTo>
                    <a:pt x="173149" y="120664"/>
                  </a:lnTo>
                  <a:lnTo>
                    <a:pt x="82524" y="156654"/>
                  </a:lnTo>
                  <a:lnTo>
                    <a:pt x="191397" y="156654"/>
                  </a:lnTo>
                  <a:lnTo>
                    <a:pt x="195731" y="155757"/>
                  </a:lnTo>
                  <a:lnTo>
                    <a:pt x="204558" y="154838"/>
                  </a:lnTo>
                  <a:lnTo>
                    <a:pt x="281408" y="154838"/>
                  </a:lnTo>
                  <a:lnTo>
                    <a:pt x="278866" y="151009"/>
                  </a:lnTo>
                  <a:lnTo>
                    <a:pt x="238248" y="125668"/>
                  </a:lnTo>
                  <a:lnTo>
                    <a:pt x="226086" y="123964"/>
                  </a:lnTo>
                  <a:lnTo>
                    <a:pt x="211531" y="123964"/>
                  </a:lnTo>
                  <a:lnTo>
                    <a:pt x="218917" y="115106"/>
                  </a:lnTo>
                  <a:lnTo>
                    <a:pt x="224750" y="105943"/>
                  </a:lnTo>
                  <a:lnTo>
                    <a:pt x="229028" y="96475"/>
                  </a:lnTo>
                  <a:lnTo>
                    <a:pt x="231749" y="86702"/>
                  </a:lnTo>
                  <a:lnTo>
                    <a:pt x="233023" y="76868"/>
                  </a:lnTo>
                  <a:lnTo>
                    <a:pt x="232910" y="66916"/>
                  </a:lnTo>
                  <a:lnTo>
                    <a:pt x="231551" y="57793"/>
                  </a:lnTo>
                  <a:lnTo>
                    <a:pt x="228803" y="48552"/>
                  </a:lnTo>
                  <a:lnTo>
                    <a:pt x="224466" y="39095"/>
                  </a:lnTo>
                  <a:lnTo>
                    <a:pt x="223072" y="36944"/>
                  </a:lnTo>
                  <a:close/>
                </a:path>
                <a:path w="297179" h="336550">
                  <a:moveTo>
                    <a:pt x="225387" y="123866"/>
                  </a:moveTo>
                  <a:lnTo>
                    <a:pt x="211531" y="123964"/>
                  </a:lnTo>
                  <a:lnTo>
                    <a:pt x="226086" y="123964"/>
                  </a:lnTo>
                  <a:lnTo>
                    <a:pt x="225387" y="123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0122" y="1637087"/>
              <a:ext cx="214544" cy="26055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64377" y="1604714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79" h="336550">
                  <a:moveTo>
                    <a:pt x="0" y="50927"/>
                  </a:moveTo>
                  <a:lnTo>
                    <a:pt x="106997" y="10934"/>
                  </a:lnTo>
                  <a:lnTo>
                    <a:pt x="150554" y="204"/>
                  </a:lnTo>
                  <a:lnTo>
                    <a:pt x="162648" y="0"/>
                  </a:lnTo>
                  <a:lnTo>
                    <a:pt x="173826" y="1421"/>
                  </a:lnTo>
                  <a:lnTo>
                    <a:pt x="211836" y="22364"/>
                  </a:lnTo>
                  <a:lnTo>
                    <a:pt x="231551" y="57793"/>
                  </a:lnTo>
                  <a:lnTo>
                    <a:pt x="233023" y="76868"/>
                  </a:lnTo>
                  <a:lnTo>
                    <a:pt x="231749" y="86702"/>
                  </a:lnTo>
                  <a:lnTo>
                    <a:pt x="229028" y="96475"/>
                  </a:lnTo>
                  <a:lnTo>
                    <a:pt x="224750" y="105943"/>
                  </a:lnTo>
                  <a:lnTo>
                    <a:pt x="218917" y="115106"/>
                  </a:lnTo>
                  <a:lnTo>
                    <a:pt x="211531" y="123964"/>
                  </a:lnTo>
                  <a:lnTo>
                    <a:pt x="225387" y="123866"/>
                  </a:lnTo>
                  <a:lnTo>
                    <a:pt x="270641" y="142246"/>
                  </a:lnTo>
                  <a:lnTo>
                    <a:pt x="294181" y="182995"/>
                  </a:lnTo>
                  <a:lnTo>
                    <a:pt x="296910" y="203202"/>
                  </a:lnTo>
                  <a:lnTo>
                    <a:pt x="296494" y="213372"/>
                  </a:lnTo>
                  <a:lnTo>
                    <a:pt x="280516" y="254599"/>
                  </a:lnTo>
                  <a:lnTo>
                    <a:pt x="250413" y="279308"/>
                  </a:lnTo>
                  <a:lnTo>
                    <a:pt x="215328" y="295478"/>
                  </a:lnTo>
                  <a:lnTo>
                    <a:pt x="106578" y="336118"/>
                  </a:lnTo>
                  <a:lnTo>
                    <a:pt x="0" y="509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89494" y="1599239"/>
              <a:ext cx="279400" cy="258445"/>
            </a:xfrm>
            <a:custGeom>
              <a:avLst/>
              <a:gdLst/>
              <a:ahLst/>
              <a:cxnLst/>
              <a:rect l="l" t="t" r="r" b="b"/>
              <a:pathLst>
                <a:path w="279400" h="258444">
                  <a:moveTo>
                    <a:pt x="36880" y="34226"/>
                  </a:moveTo>
                  <a:lnTo>
                    <a:pt x="0" y="40347"/>
                  </a:lnTo>
                  <a:lnTo>
                    <a:pt x="36106" y="257936"/>
                  </a:lnTo>
                  <a:lnTo>
                    <a:pt x="128308" y="242633"/>
                  </a:lnTo>
                  <a:lnTo>
                    <a:pt x="149203" y="237925"/>
                  </a:lnTo>
                  <a:lnTo>
                    <a:pt x="166609" y="231308"/>
                  </a:lnTo>
                  <a:lnTo>
                    <a:pt x="180527" y="222781"/>
                  </a:lnTo>
                  <a:lnTo>
                    <a:pt x="181819" y="221487"/>
                  </a:lnTo>
                  <a:lnTo>
                    <a:pt x="67957" y="221487"/>
                  </a:lnTo>
                  <a:lnTo>
                    <a:pt x="56057" y="149783"/>
                  </a:lnTo>
                  <a:lnTo>
                    <a:pt x="99694" y="142544"/>
                  </a:lnTo>
                  <a:lnTo>
                    <a:pt x="117085" y="140370"/>
                  </a:lnTo>
                  <a:lnTo>
                    <a:pt x="131348" y="140134"/>
                  </a:lnTo>
                  <a:lnTo>
                    <a:pt x="195569" y="140134"/>
                  </a:lnTo>
                  <a:lnTo>
                    <a:pt x="193035" y="135553"/>
                  </a:lnTo>
                  <a:lnTo>
                    <a:pt x="183432" y="125456"/>
                  </a:lnTo>
                  <a:lnTo>
                    <a:pt x="173690" y="119252"/>
                  </a:lnTo>
                  <a:lnTo>
                    <a:pt x="50990" y="119252"/>
                  </a:lnTo>
                  <a:lnTo>
                    <a:pt x="36880" y="34226"/>
                  </a:lnTo>
                  <a:close/>
                </a:path>
                <a:path w="279400" h="258444">
                  <a:moveTo>
                    <a:pt x="195569" y="140134"/>
                  </a:moveTo>
                  <a:lnTo>
                    <a:pt x="131348" y="140134"/>
                  </a:lnTo>
                  <a:lnTo>
                    <a:pt x="142484" y="141837"/>
                  </a:lnTo>
                  <a:lnTo>
                    <a:pt x="150494" y="145478"/>
                  </a:lnTo>
                  <a:lnTo>
                    <a:pt x="166221" y="177516"/>
                  </a:lnTo>
                  <a:lnTo>
                    <a:pt x="164630" y="185294"/>
                  </a:lnTo>
                  <a:lnTo>
                    <a:pt x="122853" y="211827"/>
                  </a:lnTo>
                  <a:lnTo>
                    <a:pt x="67957" y="221487"/>
                  </a:lnTo>
                  <a:lnTo>
                    <a:pt x="181819" y="221487"/>
                  </a:lnTo>
                  <a:lnTo>
                    <a:pt x="190957" y="212343"/>
                  </a:lnTo>
                  <a:lnTo>
                    <a:pt x="198276" y="200673"/>
                  </a:lnTo>
                  <a:lnTo>
                    <a:pt x="202861" y="188445"/>
                  </a:lnTo>
                  <a:lnTo>
                    <a:pt x="204710" y="175660"/>
                  </a:lnTo>
                  <a:lnTo>
                    <a:pt x="203822" y="162318"/>
                  </a:lnTo>
                  <a:lnTo>
                    <a:pt x="199830" y="147840"/>
                  </a:lnTo>
                  <a:lnTo>
                    <a:pt x="195569" y="140134"/>
                  </a:lnTo>
                  <a:close/>
                </a:path>
                <a:path w="279400" h="258444">
                  <a:moveTo>
                    <a:pt x="119420" y="109041"/>
                  </a:moveTo>
                  <a:lnTo>
                    <a:pt x="97701" y="111505"/>
                  </a:lnTo>
                  <a:lnTo>
                    <a:pt x="50990" y="119252"/>
                  </a:lnTo>
                  <a:lnTo>
                    <a:pt x="173690" y="119252"/>
                  </a:lnTo>
                  <a:lnTo>
                    <a:pt x="171018" y="117551"/>
                  </a:lnTo>
                  <a:lnTo>
                    <a:pt x="156078" y="112064"/>
                  </a:lnTo>
                  <a:lnTo>
                    <a:pt x="138879" y="109227"/>
                  </a:lnTo>
                  <a:lnTo>
                    <a:pt x="119420" y="109041"/>
                  </a:lnTo>
                  <a:close/>
                </a:path>
                <a:path w="279400" h="258444">
                  <a:moveTo>
                    <a:pt x="243192" y="0"/>
                  </a:moveTo>
                  <a:lnTo>
                    <a:pt x="206311" y="6121"/>
                  </a:lnTo>
                  <a:lnTo>
                    <a:pt x="242417" y="223697"/>
                  </a:lnTo>
                  <a:lnTo>
                    <a:pt x="279298" y="217576"/>
                  </a:lnTo>
                  <a:lnTo>
                    <a:pt x="243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4922" y="1594667"/>
              <a:ext cx="288442" cy="2670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3735" y="1572423"/>
              <a:ext cx="204819" cy="23953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17376" y="1549864"/>
              <a:ext cx="297180" cy="239395"/>
            </a:xfrm>
            <a:custGeom>
              <a:avLst/>
              <a:gdLst/>
              <a:ahLst/>
              <a:cxnLst/>
              <a:rect l="l" t="t" r="r" b="b"/>
              <a:pathLst>
                <a:path w="297179" h="239394">
                  <a:moveTo>
                    <a:pt x="281787" y="0"/>
                  </a:moveTo>
                  <a:lnTo>
                    <a:pt x="244703" y="2527"/>
                  </a:lnTo>
                  <a:lnTo>
                    <a:pt x="257568" y="191693"/>
                  </a:lnTo>
                  <a:lnTo>
                    <a:pt x="172415" y="197485"/>
                  </a:lnTo>
                  <a:lnTo>
                    <a:pt x="159550" y="8318"/>
                  </a:lnTo>
                  <a:lnTo>
                    <a:pt x="122250" y="10845"/>
                  </a:lnTo>
                  <a:lnTo>
                    <a:pt x="135115" y="200025"/>
                  </a:lnTo>
                  <a:lnTo>
                    <a:pt x="50165" y="205803"/>
                  </a:lnTo>
                  <a:lnTo>
                    <a:pt x="37299" y="16624"/>
                  </a:lnTo>
                  <a:lnTo>
                    <a:pt x="0" y="19164"/>
                  </a:lnTo>
                  <a:lnTo>
                    <a:pt x="14960" y="239217"/>
                  </a:lnTo>
                  <a:lnTo>
                    <a:pt x="296760" y="220040"/>
                  </a:lnTo>
                  <a:lnTo>
                    <a:pt x="2817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17376" y="1549864"/>
              <a:ext cx="297180" cy="239395"/>
            </a:xfrm>
            <a:custGeom>
              <a:avLst/>
              <a:gdLst/>
              <a:ahLst/>
              <a:cxnLst/>
              <a:rect l="l" t="t" r="r" b="b"/>
              <a:pathLst>
                <a:path w="297179" h="239394">
                  <a:moveTo>
                    <a:pt x="0" y="19164"/>
                  </a:moveTo>
                  <a:lnTo>
                    <a:pt x="37299" y="16624"/>
                  </a:lnTo>
                  <a:lnTo>
                    <a:pt x="50165" y="205803"/>
                  </a:lnTo>
                  <a:lnTo>
                    <a:pt x="135115" y="200025"/>
                  </a:lnTo>
                  <a:lnTo>
                    <a:pt x="122250" y="10845"/>
                  </a:lnTo>
                  <a:lnTo>
                    <a:pt x="159550" y="8318"/>
                  </a:lnTo>
                  <a:lnTo>
                    <a:pt x="172415" y="197485"/>
                  </a:lnTo>
                  <a:lnTo>
                    <a:pt x="257568" y="191693"/>
                  </a:lnTo>
                  <a:lnTo>
                    <a:pt x="244703" y="2527"/>
                  </a:lnTo>
                  <a:lnTo>
                    <a:pt x="281787" y="0"/>
                  </a:lnTo>
                  <a:lnTo>
                    <a:pt x="296760" y="220040"/>
                  </a:lnTo>
                  <a:lnTo>
                    <a:pt x="14960" y="239217"/>
                  </a:lnTo>
                  <a:lnTo>
                    <a:pt x="0" y="191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5654" y="1536409"/>
              <a:ext cx="198424" cy="2362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00308" y="1453832"/>
              <a:ext cx="184785" cy="306705"/>
            </a:xfrm>
            <a:custGeom>
              <a:avLst/>
              <a:gdLst/>
              <a:ahLst/>
              <a:cxnLst/>
              <a:rect l="l" t="t" r="r" b="b"/>
              <a:pathLst>
                <a:path w="184784" h="306705">
                  <a:moveTo>
                    <a:pt x="37376" y="85178"/>
                  </a:moveTo>
                  <a:lnTo>
                    <a:pt x="0" y="85712"/>
                  </a:lnTo>
                  <a:lnTo>
                    <a:pt x="3175" y="306247"/>
                  </a:lnTo>
                  <a:lnTo>
                    <a:pt x="43459" y="305663"/>
                  </a:lnTo>
                  <a:lnTo>
                    <a:pt x="74838" y="253377"/>
                  </a:lnTo>
                  <a:lnTo>
                    <a:pt x="39801" y="253377"/>
                  </a:lnTo>
                  <a:lnTo>
                    <a:pt x="37376" y="85178"/>
                  </a:lnTo>
                  <a:close/>
                </a:path>
                <a:path w="184784" h="306705">
                  <a:moveTo>
                    <a:pt x="182055" y="137007"/>
                  </a:moveTo>
                  <a:lnTo>
                    <a:pt x="144678" y="137007"/>
                  </a:lnTo>
                  <a:lnTo>
                    <a:pt x="147078" y="304177"/>
                  </a:lnTo>
                  <a:lnTo>
                    <a:pt x="184454" y="303644"/>
                  </a:lnTo>
                  <a:lnTo>
                    <a:pt x="182055" y="137007"/>
                  </a:lnTo>
                  <a:close/>
                </a:path>
                <a:path w="184784" h="306705">
                  <a:moveTo>
                    <a:pt x="181279" y="83108"/>
                  </a:moveTo>
                  <a:lnTo>
                    <a:pt x="140995" y="83680"/>
                  </a:lnTo>
                  <a:lnTo>
                    <a:pt x="39801" y="253377"/>
                  </a:lnTo>
                  <a:lnTo>
                    <a:pt x="74838" y="253377"/>
                  </a:lnTo>
                  <a:lnTo>
                    <a:pt x="144678" y="137007"/>
                  </a:lnTo>
                  <a:lnTo>
                    <a:pt x="182055" y="137007"/>
                  </a:lnTo>
                  <a:lnTo>
                    <a:pt x="181279" y="83108"/>
                  </a:lnTo>
                  <a:close/>
                </a:path>
                <a:path w="184784" h="306705">
                  <a:moveTo>
                    <a:pt x="56946" y="1397"/>
                  </a:moveTo>
                  <a:lnTo>
                    <a:pt x="31407" y="1765"/>
                  </a:lnTo>
                  <a:lnTo>
                    <a:pt x="33938" y="14040"/>
                  </a:lnTo>
                  <a:lnTo>
                    <a:pt x="38044" y="24749"/>
                  </a:lnTo>
                  <a:lnTo>
                    <a:pt x="69683" y="51554"/>
                  </a:lnTo>
                  <a:lnTo>
                    <a:pt x="93637" y="54660"/>
                  </a:lnTo>
                  <a:lnTo>
                    <a:pt x="106160" y="53610"/>
                  </a:lnTo>
                  <a:lnTo>
                    <a:pt x="142731" y="32334"/>
                  </a:lnTo>
                  <a:lnTo>
                    <a:pt x="144633" y="29070"/>
                  </a:lnTo>
                  <a:lnTo>
                    <a:pt x="82334" y="29070"/>
                  </a:lnTo>
                  <a:lnTo>
                    <a:pt x="74587" y="26860"/>
                  </a:lnTo>
                  <a:lnTo>
                    <a:pt x="62953" y="17754"/>
                  </a:lnTo>
                  <a:lnTo>
                    <a:pt x="59016" y="10782"/>
                  </a:lnTo>
                  <a:lnTo>
                    <a:pt x="56946" y="1397"/>
                  </a:lnTo>
                  <a:close/>
                </a:path>
                <a:path w="184784" h="306705">
                  <a:moveTo>
                    <a:pt x="154127" y="0"/>
                  </a:moveTo>
                  <a:lnTo>
                    <a:pt x="128587" y="368"/>
                  </a:lnTo>
                  <a:lnTo>
                    <a:pt x="126784" y="10083"/>
                  </a:lnTo>
                  <a:lnTo>
                    <a:pt x="123050" y="17233"/>
                  </a:lnTo>
                  <a:lnTo>
                    <a:pt x="82334" y="29070"/>
                  </a:lnTo>
                  <a:lnTo>
                    <a:pt x="144633" y="29070"/>
                  </a:lnTo>
                  <a:lnTo>
                    <a:pt x="148147" y="23039"/>
                  </a:lnTo>
                  <a:lnTo>
                    <a:pt x="151946" y="12260"/>
                  </a:lnTo>
                  <a:lnTo>
                    <a:pt x="1541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5736" y="1532369"/>
              <a:ext cx="193598" cy="23228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27143" y="1449260"/>
              <a:ext cx="131864" cy="63804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8985250" y="1532379"/>
            <a:ext cx="1703070" cy="2741295"/>
            <a:chOff x="8985250" y="1532379"/>
            <a:chExt cx="1703070" cy="2741295"/>
          </a:xfrm>
        </p:grpSpPr>
        <p:sp>
          <p:nvSpPr>
            <p:cNvPr id="26" name="object 26"/>
            <p:cNvSpPr/>
            <p:nvPr/>
          </p:nvSpPr>
          <p:spPr>
            <a:xfrm>
              <a:off x="8991600" y="1904999"/>
              <a:ext cx="152400" cy="2362200"/>
            </a:xfrm>
            <a:custGeom>
              <a:avLst/>
              <a:gdLst/>
              <a:ahLst/>
              <a:cxnLst/>
              <a:rect l="l" t="t" r="r" b="b"/>
              <a:pathLst>
                <a:path w="152400" h="2362200">
                  <a:moveTo>
                    <a:pt x="114300" y="0"/>
                  </a:moveTo>
                  <a:lnTo>
                    <a:pt x="38100" y="0"/>
                  </a:lnTo>
                  <a:lnTo>
                    <a:pt x="38100" y="1771650"/>
                  </a:lnTo>
                  <a:lnTo>
                    <a:pt x="0" y="1771650"/>
                  </a:lnTo>
                  <a:lnTo>
                    <a:pt x="76200" y="2362200"/>
                  </a:lnTo>
                  <a:lnTo>
                    <a:pt x="152400" y="1771650"/>
                  </a:lnTo>
                  <a:lnTo>
                    <a:pt x="114300" y="17716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56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991600" y="1904999"/>
              <a:ext cx="152400" cy="2362200"/>
            </a:xfrm>
            <a:custGeom>
              <a:avLst/>
              <a:gdLst/>
              <a:ahLst/>
              <a:cxnLst/>
              <a:rect l="l" t="t" r="r" b="b"/>
              <a:pathLst>
                <a:path w="152400" h="2362200">
                  <a:moveTo>
                    <a:pt x="0" y="1771650"/>
                  </a:moveTo>
                  <a:lnTo>
                    <a:pt x="38100" y="1771650"/>
                  </a:lnTo>
                  <a:lnTo>
                    <a:pt x="38100" y="0"/>
                  </a:lnTo>
                  <a:lnTo>
                    <a:pt x="114300" y="0"/>
                  </a:lnTo>
                  <a:lnTo>
                    <a:pt x="114300" y="1771650"/>
                  </a:lnTo>
                  <a:lnTo>
                    <a:pt x="152400" y="1771650"/>
                  </a:lnTo>
                  <a:lnTo>
                    <a:pt x="76200" y="2362200"/>
                  </a:lnTo>
                  <a:lnTo>
                    <a:pt x="0" y="17716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29963" y="1532379"/>
              <a:ext cx="1557769" cy="402693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7365001" y="4340904"/>
            <a:ext cx="1591310" cy="499109"/>
            <a:chOff x="7365001" y="4340904"/>
            <a:chExt cx="1591310" cy="499109"/>
          </a:xfrm>
        </p:grpSpPr>
        <p:sp>
          <p:nvSpPr>
            <p:cNvPr id="30" name="object 30"/>
            <p:cNvSpPr/>
            <p:nvPr/>
          </p:nvSpPr>
          <p:spPr>
            <a:xfrm>
              <a:off x="7369573" y="4461697"/>
              <a:ext cx="332740" cy="374015"/>
            </a:xfrm>
            <a:custGeom>
              <a:avLst/>
              <a:gdLst/>
              <a:ahLst/>
              <a:cxnLst/>
              <a:rect l="l" t="t" r="r" b="b"/>
              <a:pathLst>
                <a:path w="332740" h="374014">
                  <a:moveTo>
                    <a:pt x="229755" y="0"/>
                  </a:moveTo>
                  <a:lnTo>
                    <a:pt x="190995" y="13576"/>
                  </a:lnTo>
                  <a:lnTo>
                    <a:pt x="233133" y="133845"/>
                  </a:lnTo>
                  <a:lnTo>
                    <a:pt x="80899" y="187197"/>
                  </a:lnTo>
                  <a:lnTo>
                    <a:pt x="38760" y="66928"/>
                  </a:lnTo>
                  <a:lnTo>
                    <a:pt x="0" y="80505"/>
                  </a:lnTo>
                  <a:lnTo>
                    <a:pt x="102628" y="373392"/>
                  </a:lnTo>
                  <a:lnTo>
                    <a:pt x="141389" y="359803"/>
                  </a:lnTo>
                  <a:lnTo>
                    <a:pt x="93014" y="221754"/>
                  </a:lnTo>
                  <a:lnTo>
                    <a:pt x="245249" y="168414"/>
                  </a:lnTo>
                  <a:lnTo>
                    <a:pt x="293624" y="306463"/>
                  </a:lnTo>
                  <a:lnTo>
                    <a:pt x="332384" y="292874"/>
                  </a:lnTo>
                  <a:lnTo>
                    <a:pt x="229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69573" y="4461697"/>
              <a:ext cx="332740" cy="374015"/>
            </a:xfrm>
            <a:custGeom>
              <a:avLst/>
              <a:gdLst/>
              <a:ahLst/>
              <a:cxnLst/>
              <a:rect l="l" t="t" r="r" b="b"/>
              <a:pathLst>
                <a:path w="332740" h="374014">
                  <a:moveTo>
                    <a:pt x="0" y="80505"/>
                  </a:moveTo>
                  <a:lnTo>
                    <a:pt x="38760" y="66928"/>
                  </a:lnTo>
                  <a:lnTo>
                    <a:pt x="80899" y="187197"/>
                  </a:lnTo>
                  <a:lnTo>
                    <a:pt x="233133" y="133845"/>
                  </a:lnTo>
                  <a:lnTo>
                    <a:pt x="190995" y="13576"/>
                  </a:lnTo>
                  <a:lnTo>
                    <a:pt x="229755" y="0"/>
                  </a:lnTo>
                  <a:lnTo>
                    <a:pt x="332384" y="292874"/>
                  </a:lnTo>
                  <a:lnTo>
                    <a:pt x="293624" y="306463"/>
                  </a:lnTo>
                  <a:lnTo>
                    <a:pt x="245249" y="168414"/>
                  </a:lnTo>
                  <a:lnTo>
                    <a:pt x="93014" y="221754"/>
                  </a:lnTo>
                  <a:lnTo>
                    <a:pt x="141389" y="359803"/>
                  </a:lnTo>
                  <a:lnTo>
                    <a:pt x="102628" y="373392"/>
                  </a:lnTo>
                  <a:lnTo>
                    <a:pt x="0" y="8050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8443" y="4497340"/>
              <a:ext cx="219265" cy="2521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718443" y="4497340"/>
              <a:ext cx="219710" cy="252729"/>
            </a:xfrm>
            <a:custGeom>
              <a:avLst/>
              <a:gdLst/>
              <a:ahLst/>
              <a:cxnLst/>
              <a:rect l="l" t="t" r="r" b="b"/>
              <a:pathLst>
                <a:path w="219709" h="252729">
                  <a:moveTo>
                    <a:pt x="0" y="30391"/>
                  </a:moveTo>
                  <a:lnTo>
                    <a:pt x="37592" y="24129"/>
                  </a:lnTo>
                  <a:lnTo>
                    <a:pt x="65786" y="193268"/>
                  </a:lnTo>
                  <a:lnTo>
                    <a:pt x="141782" y="6756"/>
                  </a:lnTo>
                  <a:lnTo>
                    <a:pt x="182295" y="0"/>
                  </a:lnTo>
                  <a:lnTo>
                    <a:pt x="219265" y="221754"/>
                  </a:lnTo>
                  <a:lnTo>
                    <a:pt x="181686" y="228028"/>
                  </a:lnTo>
                  <a:lnTo>
                    <a:pt x="153657" y="59931"/>
                  </a:lnTo>
                  <a:lnTo>
                    <a:pt x="77482" y="245402"/>
                  </a:lnTo>
                  <a:lnTo>
                    <a:pt x="36969" y="252145"/>
                  </a:lnTo>
                  <a:lnTo>
                    <a:pt x="0" y="3039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55754" y="4471004"/>
              <a:ext cx="185924" cy="2432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68098" y="4445069"/>
              <a:ext cx="304165" cy="245745"/>
            </a:xfrm>
            <a:custGeom>
              <a:avLst/>
              <a:gdLst/>
              <a:ahLst/>
              <a:cxnLst/>
              <a:rect l="l" t="t" r="r" b="b"/>
              <a:pathLst>
                <a:path w="304165" h="245745">
                  <a:moveTo>
                    <a:pt x="287134" y="0"/>
                  </a:moveTo>
                  <a:lnTo>
                    <a:pt x="249339" y="2781"/>
                  </a:lnTo>
                  <a:lnTo>
                    <a:pt x="263525" y="195541"/>
                  </a:lnTo>
                  <a:lnTo>
                    <a:pt x="176758" y="201930"/>
                  </a:lnTo>
                  <a:lnTo>
                    <a:pt x="162560" y="9169"/>
                  </a:lnTo>
                  <a:lnTo>
                    <a:pt x="124561" y="11976"/>
                  </a:lnTo>
                  <a:lnTo>
                    <a:pt x="138760" y="204724"/>
                  </a:lnTo>
                  <a:lnTo>
                    <a:pt x="52197" y="211099"/>
                  </a:lnTo>
                  <a:lnTo>
                    <a:pt x="37998" y="18351"/>
                  </a:lnTo>
                  <a:lnTo>
                    <a:pt x="0" y="21145"/>
                  </a:lnTo>
                  <a:lnTo>
                    <a:pt x="16510" y="245364"/>
                  </a:lnTo>
                  <a:lnTo>
                    <a:pt x="303644" y="224218"/>
                  </a:lnTo>
                  <a:lnTo>
                    <a:pt x="2871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68098" y="4445069"/>
              <a:ext cx="304165" cy="245745"/>
            </a:xfrm>
            <a:custGeom>
              <a:avLst/>
              <a:gdLst/>
              <a:ahLst/>
              <a:cxnLst/>
              <a:rect l="l" t="t" r="r" b="b"/>
              <a:pathLst>
                <a:path w="304165" h="245745">
                  <a:moveTo>
                    <a:pt x="0" y="21145"/>
                  </a:moveTo>
                  <a:lnTo>
                    <a:pt x="37998" y="18351"/>
                  </a:lnTo>
                  <a:lnTo>
                    <a:pt x="52197" y="211099"/>
                  </a:lnTo>
                  <a:lnTo>
                    <a:pt x="138760" y="204724"/>
                  </a:lnTo>
                  <a:lnTo>
                    <a:pt x="124561" y="11976"/>
                  </a:lnTo>
                  <a:lnTo>
                    <a:pt x="162560" y="9169"/>
                  </a:lnTo>
                  <a:lnTo>
                    <a:pt x="176758" y="201930"/>
                  </a:lnTo>
                  <a:lnTo>
                    <a:pt x="263525" y="195541"/>
                  </a:lnTo>
                  <a:lnTo>
                    <a:pt x="249339" y="2781"/>
                  </a:lnTo>
                  <a:lnTo>
                    <a:pt x="287134" y="0"/>
                  </a:lnTo>
                  <a:lnTo>
                    <a:pt x="303644" y="224218"/>
                  </a:lnTo>
                  <a:lnTo>
                    <a:pt x="16510" y="245364"/>
                  </a:lnTo>
                  <a:lnTo>
                    <a:pt x="0" y="2114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13260" y="4430450"/>
              <a:ext cx="202946" cy="2413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762407" y="4345476"/>
              <a:ext cx="189230" cy="313055"/>
            </a:xfrm>
            <a:custGeom>
              <a:avLst/>
              <a:gdLst/>
              <a:ahLst/>
              <a:cxnLst/>
              <a:rect l="l" t="t" r="r" b="b"/>
              <a:pathLst>
                <a:path w="189229" h="313054">
                  <a:moveTo>
                    <a:pt x="38100" y="87198"/>
                  </a:moveTo>
                  <a:lnTo>
                    <a:pt x="0" y="87871"/>
                  </a:lnTo>
                  <a:lnTo>
                    <a:pt x="3949" y="312661"/>
                  </a:lnTo>
                  <a:lnTo>
                    <a:pt x="45021" y="311937"/>
                  </a:lnTo>
                  <a:lnTo>
                    <a:pt x="76767" y="258648"/>
                  </a:lnTo>
                  <a:lnTo>
                    <a:pt x="41109" y="258648"/>
                  </a:lnTo>
                  <a:lnTo>
                    <a:pt x="38100" y="87198"/>
                  </a:lnTo>
                  <a:close/>
                </a:path>
                <a:path w="189229" h="313054">
                  <a:moveTo>
                    <a:pt x="185752" y="139687"/>
                  </a:moveTo>
                  <a:lnTo>
                    <a:pt x="147637" y="139687"/>
                  </a:lnTo>
                  <a:lnTo>
                    <a:pt x="150634" y="310070"/>
                  </a:lnTo>
                  <a:lnTo>
                    <a:pt x="188734" y="309410"/>
                  </a:lnTo>
                  <a:lnTo>
                    <a:pt x="185752" y="139687"/>
                  </a:lnTo>
                  <a:close/>
                </a:path>
                <a:path w="189229" h="313054">
                  <a:moveTo>
                    <a:pt x="184785" y="84620"/>
                  </a:moveTo>
                  <a:lnTo>
                    <a:pt x="143713" y="85344"/>
                  </a:lnTo>
                  <a:lnTo>
                    <a:pt x="41109" y="258648"/>
                  </a:lnTo>
                  <a:lnTo>
                    <a:pt x="76767" y="258648"/>
                  </a:lnTo>
                  <a:lnTo>
                    <a:pt x="147637" y="139687"/>
                  </a:lnTo>
                  <a:lnTo>
                    <a:pt x="185752" y="139687"/>
                  </a:lnTo>
                  <a:lnTo>
                    <a:pt x="184785" y="84620"/>
                  </a:lnTo>
                  <a:close/>
                </a:path>
                <a:path w="189229" h="313054">
                  <a:moveTo>
                    <a:pt x="57772" y="1739"/>
                  </a:moveTo>
                  <a:lnTo>
                    <a:pt x="31737" y="2197"/>
                  </a:lnTo>
                  <a:lnTo>
                    <a:pt x="34356" y="14703"/>
                  </a:lnTo>
                  <a:lnTo>
                    <a:pt x="38576" y="25607"/>
                  </a:lnTo>
                  <a:lnTo>
                    <a:pt x="70921" y="52825"/>
                  </a:lnTo>
                  <a:lnTo>
                    <a:pt x="95351" y="55918"/>
                  </a:lnTo>
                  <a:lnTo>
                    <a:pt x="108107" y="54806"/>
                  </a:lnTo>
                  <a:lnTo>
                    <a:pt x="145320" y="32993"/>
                  </a:lnTo>
                  <a:lnTo>
                    <a:pt x="147126" y="29870"/>
                  </a:lnTo>
                  <a:lnTo>
                    <a:pt x="83743" y="29870"/>
                  </a:lnTo>
                  <a:lnTo>
                    <a:pt x="75831" y="27647"/>
                  </a:lnTo>
                  <a:lnTo>
                    <a:pt x="63957" y="18389"/>
                  </a:lnTo>
                  <a:lnTo>
                    <a:pt x="59918" y="11303"/>
                  </a:lnTo>
                  <a:lnTo>
                    <a:pt x="57772" y="1739"/>
                  </a:lnTo>
                  <a:close/>
                </a:path>
                <a:path w="189229" h="313054">
                  <a:moveTo>
                    <a:pt x="156832" y="0"/>
                  </a:moveTo>
                  <a:lnTo>
                    <a:pt x="130797" y="457"/>
                  </a:lnTo>
                  <a:lnTo>
                    <a:pt x="128993" y="10363"/>
                  </a:lnTo>
                  <a:lnTo>
                    <a:pt x="125196" y="17665"/>
                  </a:lnTo>
                  <a:lnTo>
                    <a:pt x="83743" y="29870"/>
                  </a:lnTo>
                  <a:lnTo>
                    <a:pt x="147126" y="29870"/>
                  </a:lnTo>
                  <a:lnTo>
                    <a:pt x="150809" y="23501"/>
                  </a:lnTo>
                  <a:lnTo>
                    <a:pt x="154645" y="12504"/>
                  </a:lnTo>
                  <a:lnTo>
                    <a:pt x="156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57835" y="4425524"/>
              <a:ext cx="197878" cy="23718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89573" y="4340904"/>
              <a:ext cx="134239" cy="65062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98694" y="4425092"/>
            <a:ext cx="1588603" cy="406121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039" y="931926"/>
            <a:ext cx="7772395" cy="58172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400" y="261240"/>
            <a:ext cx="821753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" dirty="0"/>
              <a:t>МОДЕЛЬ</a:t>
            </a:r>
            <a:r>
              <a:rPr sz="2200" spc="15" dirty="0"/>
              <a:t> </a:t>
            </a:r>
            <a:r>
              <a:rPr sz="2200" spc="-15" dirty="0"/>
              <a:t>ВЗАИМОДЕЙСТВИЯ</a:t>
            </a:r>
            <a:r>
              <a:rPr sz="2200" spc="35" dirty="0"/>
              <a:t> </a:t>
            </a:r>
            <a:r>
              <a:rPr sz="2200" spc="-5" dirty="0"/>
              <a:t>ОТКРЫТЫХ </a:t>
            </a:r>
            <a:r>
              <a:rPr sz="2200" spc="-15" dirty="0"/>
              <a:t>СИСТЕМ</a:t>
            </a:r>
            <a:r>
              <a:rPr sz="2200" spc="15" dirty="0"/>
              <a:t> </a:t>
            </a:r>
            <a:r>
              <a:rPr sz="2200" spc="-5" dirty="0"/>
              <a:t>ISO/OSI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169</a:t>
            </a:fld>
            <a:endParaRPr spc="-5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21" y="81930"/>
            <a:ext cx="8451847" cy="63309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170</a:t>
            </a:fld>
            <a:endParaRPr spc="-5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36092"/>
            <a:ext cx="85655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0" dirty="0"/>
              <a:t>ЭТАЛОННАЯ</a:t>
            </a:r>
            <a:r>
              <a:rPr sz="2500" spc="-5" dirty="0"/>
              <a:t> </a:t>
            </a:r>
            <a:r>
              <a:rPr sz="2500" spc="-15" dirty="0"/>
              <a:t>МОДЕЛЬ</a:t>
            </a:r>
            <a:r>
              <a:rPr sz="2500" spc="10" dirty="0"/>
              <a:t> </a:t>
            </a:r>
            <a:r>
              <a:rPr sz="2500" spc="-5" dirty="0"/>
              <a:t>IOT</a:t>
            </a:r>
            <a:r>
              <a:rPr sz="2500" spc="15" dirty="0"/>
              <a:t> </a:t>
            </a:r>
            <a:r>
              <a:rPr sz="2500" spc="-5" dirty="0"/>
              <a:t>ПО</a:t>
            </a:r>
            <a:r>
              <a:rPr sz="2500" spc="10" dirty="0"/>
              <a:t> </a:t>
            </a:r>
            <a:r>
              <a:rPr sz="2500" spc="-5" dirty="0"/>
              <a:t>РЕКОМЕНДАЦИИ</a:t>
            </a:r>
            <a:r>
              <a:rPr sz="2500" spc="-45" dirty="0"/>
              <a:t> </a:t>
            </a:r>
            <a:r>
              <a:rPr sz="2500" spc="-50" dirty="0"/>
              <a:t>Y.2060</a:t>
            </a:r>
            <a:endParaRPr sz="25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1012557"/>
            <a:ext cx="3391535" cy="2695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Рекомендации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3E3E3E"/>
                </a:solidFill>
                <a:latin typeface="Arial"/>
                <a:cs typeface="Arial"/>
              </a:rPr>
              <a:t>Y.2060 </a:t>
            </a:r>
            <a:r>
              <a:rPr sz="2400" spc="-6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приведена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эталонная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модель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3E3E3E"/>
                </a:solidFill>
                <a:latin typeface="Arial"/>
                <a:cs typeface="Arial"/>
              </a:rPr>
              <a:t>IoT,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уровень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приложений IoT;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поддержки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приложений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услуг;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сетевой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уровень;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устройств.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313" y="1172454"/>
            <a:ext cx="782002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5758" y="902260"/>
            <a:ext cx="8731129" cy="54762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172</a:t>
            </a:fld>
            <a:endParaRPr spc="-5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3984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ЭТАЛОННАЯ</a:t>
            </a:r>
            <a:r>
              <a:rPr sz="2400" dirty="0"/>
              <a:t> </a:t>
            </a:r>
            <a:r>
              <a:rPr sz="2400" spc="-15" dirty="0"/>
              <a:t>МОДЕЛЬ</a:t>
            </a:r>
            <a:r>
              <a:rPr sz="2400" spc="-25" dirty="0"/>
              <a:t> </a:t>
            </a:r>
            <a:r>
              <a:rPr sz="2400" dirty="0"/>
              <a:t>IOT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5114" y="1023225"/>
            <a:ext cx="11386820" cy="376427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3335" marR="5080" indent="1270" algn="just">
              <a:lnSpc>
                <a:spcPts val="1939"/>
              </a:lnSpc>
              <a:spcBef>
                <a:spcPts val="345"/>
              </a:spcBef>
            </a:pP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уровень устройств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включает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 устройства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шлюза.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 устройства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предполагают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прямой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обмен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сетью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связи,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обмен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через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шлюз,</a:t>
            </a:r>
            <a:r>
              <a:rPr sz="1800" spc="5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обмен</a:t>
            </a:r>
            <a:r>
              <a:rPr sz="1800" spc="4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через</a:t>
            </a:r>
            <a:r>
              <a:rPr sz="1800" spc="4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беспроводную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динамическую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ad-hoc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сеть,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также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временный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останов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возобновление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работы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устройства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энергосбережения. Возможности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шлюза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предполагают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поддержку множества интерфейсов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(шина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CAN,</a:t>
            </a:r>
            <a:r>
              <a:rPr sz="1800" spc="2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ZigBee,</a:t>
            </a:r>
            <a:r>
              <a:rPr sz="1800" spc="2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Bluetooth,</a:t>
            </a:r>
            <a:r>
              <a:rPr sz="1800" spc="2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WiFi</a:t>
            </a:r>
            <a:r>
              <a:rPr sz="1800" spc="25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др.)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2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800" spc="25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сетей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доступа/транспортных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сетей</a:t>
            </a:r>
            <a:r>
              <a:rPr sz="1800" spc="2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(2G/3G,</a:t>
            </a:r>
            <a:r>
              <a:rPr sz="1800" spc="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3E3E3E"/>
                </a:solidFill>
                <a:latin typeface="Arial"/>
                <a:cs typeface="Arial"/>
              </a:rPr>
              <a:t>LTE,</a:t>
            </a:r>
            <a:r>
              <a:rPr sz="1800" spc="2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DSL</a:t>
            </a:r>
            <a:r>
              <a:rPr sz="1800" spc="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др.).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Другой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возможностью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шлюза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является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поддержка конверсии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протоколов,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случае, если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протоколы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интерфейсов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сетей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отличаются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друг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друга.</a:t>
            </a:r>
            <a:endParaRPr sz="1800">
              <a:latin typeface="Arial"/>
              <a:cs typeface="Arial"/>
            </a:endParaRPr>
          </a:p>
          <a:p>
            <a:pPr marL="13335" marR="5080" algn="just">
              <a:lnSpc>
                <a:spcPts val="1939"/>
              </a:lnSpc>
              <a:spcBef>
                <a:spcPts val="1025"/>
              </a:spcBef>
            </a:pPr>
            <a:r>
              <a:rPr sz="1800" b="1" spc="-15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 сети</a:t>
            </a:r>
            <a:r>
              <a:rPr sz="1800" b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выполняет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две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базовых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функции.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сети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относятся</a:t>
            </a:r>
            <a:r>
              <a:rPr sz="1800" spc="4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5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взаимодействию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устройств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шлюзов.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Транспортные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возможности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относятся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транспорту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информации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служб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приложений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E3E3E"/>
                </a:solidFill>
                <a:latin typeface="Arial"/>
                <a:cs typeface="Arial"/>
              </a:rPr>
              <a:t>IoT,</a:t>
            </a:r>
            <a:r>
              <a:rPr sz="18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также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информации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управления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контроля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3E3E3E"/>
                </a:solidFill>
                <a:latin typeface="Arial"/>
                <a:cs typeface="Arial"/>
              </a:rPr>
              <a:t>IoT.</a:t>
            </a:r>
            <a:r>
              <a:rPr sz="18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Грубо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говоря,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эти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возможности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соответствуют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сетевому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транспортному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уровням</a:t>
            </a:r>
            <a:r>
              <a:rPr sz="18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OSI.</a:t>
            </a:r>
            <a:endParaRPr sz="1800">
              <a:latin typeface="Arial"/>
              <a:cs typeface="Arial"/>
            </a:endParaRPr>
          </a:p>
          <a:p>
            <a:pPr marL="12700" marR="5715" indent="635" algn="just">
              <a:lnSpc>
                <a:spcPts val="1939"/>
              </a:lnSpc>
              <a:spcBef>
                <a:spcPts val="1025"/>
              </a:spcBef>
            </a:pPr>
            <a:r>
              <a:rPr sz="1800" b="1" spc="-15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 поддержки</a:t>
            </a:r>
            <a:r>
              <a:rPr sz="1800" b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услуг</a:t>
            </a:r>
            <a:r>
              <a:rPr sz="1800" b="1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b="1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поддержки</a:t>
            </a:r>
            <a:r>
              <a:rPr sz="1800" b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приложений</a:t>
            </a:r>
            <a:r>
              <a:rPr sz="1800" b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предоставляет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возможности,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используются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приложениями.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Многие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разнообразные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приложения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могут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использовать</a:t>
            </a:r>
            <a:r>
              <a:rPr sz="1800" spc="4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общие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</a:t>
            </a:r>
            <a:r>
              <a:rPr sz="1800" spc="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поддержки.</a:t>
            </a:r>
            <a:r>
              <a:rPr sz="18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примерам</a:t>
            </a:r>
            <a:r>
              <a:rPr sz="18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относятся</a:t>
            </a:r>
            <a:r>
              <a:rPr sz="1800" spc="2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общая</a:t>
            </a:r>
            <a:r>
              <a:rPr sz="18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обработка</a:t>
            </a:r>
            <a:r>
              <a:rPr sz="18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2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8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управление</a:t>
            </a:r>
            <a:r>
              <a:rPr sz="1800" spc="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БД.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343" y="4734088"/>
            <a:ext cx="11381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Специализированные</a:t>
            </a:r>
            <a:r>
              <a:rPr sz="1800" spc="2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</a:t>
            </a:r>
            <a:r>
              <a:rPr sz="18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поддержки</a:t>
            </a:r>
            <a:r>
              <a:rPr sz="18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—</a:t>
            </a:r>
            <a:r>
              <a:rPr sz="1800" spc="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</a:t>
            </a:r>
            <a:r>
              <a:rPr sz="1800" spc="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конкретные</a:t>
            </a:r>
            <a:r>
              <a:rPr sz="18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возможности,</a:t>
            </a:r>
            <a:r>
              <a:rPr sz="1800" spc="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которые</a:t>
            </a:r>
            <a:r>
              <a:rPr sz="1800" spc="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предназначены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886" y="4881993"/>
            <a:ext cx="9999980" cy="7721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удовлетворения</a:t>
            </a:r>
            <a:r>
              <a:rPr sz="18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потребностей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конкретного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подмножества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приложений </a:t>
            </a:r>
            <a:r>
              <a:rPr sz="1800" spc="-50" dirty="0">
                <a:solidFill>
                  <a:srgbClr val="3E3E3E"/>
                </a:solidFill>
                <a:latin typeface="Arial"/>
                <a:cs typeface="Arial"/>
              </a:rPr>
              <a:t>IoT.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b="1" spc="-20" dirty="0">
                <a:solidFill>
                  <a:srgbClr val="3E3E3E"/>
                </a:solidFill>
                <a:latin typeface="Arial"/>
                <a:cs typeface="Arial"/>
              </a:rPr>
              <a:t>Уровень</a:t>
            </a:r>
            <a:r>
              <a:rPr sz="1800" b="1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приложения</a:t>
            </a:r>
            <a:r>
              <a:rPr sz="1800" b="1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состоит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из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всех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приложений,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взаимодействующих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с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IoT-устройствами.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400" y="110364"/>
            <a:ext cx="72104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/>
              <a:t>ЭТАЛОННАЯ</a:t>
            </a:r>
            <a:r>
              <a:rPr sz="2200" spc="45" dirty="0"/>
              <a:t> </a:t>
            </a:r>
            <a:r>
              <a:rPr sz="2200" spc="-15" dirty="0"/>
              <a:t>МОДЕЛЬ</a:t>
            </a:r>
            <a:r>
              <a:rPr sz="2200" spc="35" dirty="0"/>
              <a:t> </a:t>
            </a:r>
            <a:r>
              <a:rPr sz="2200" spc="-65" dirty="0"/>
              <a:t>IOT,</a:t>
            </a:r>
            <a:r>
              <a:rPr sz="2200" spc="5" dirty="0"/>
              <a:t> </a:t>
            </a:r>
            <a:r>
              <a:rPr sz="2200" spc="-10" dirty="0"/>
              <a:t>ОБЩИЕ</a:t>
            </a:r>
            <a:r>
              <a:rPr sz="2200" spc="10" dirty="0"/>
              <a:t> </a:t>
            </a:r>
            <a:r>
              <a:rPr sz="2200" spc="-20" dirty="0"/>
              <a:t>ВОЗМОЖНОСТИ</a:t>
            </a:r>
            <a:endParaRPr sz="22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174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275960" y="412125"/>
            <a:ext cx="9050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36685" algn="l"/>
              </a:tabLst>
            </a:pPr>
            <a:r>
              <a:rPr sz="2200" u="heavy" spc="16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3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УПРАВЛЕНИЯ	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400" y="1012557"/>
            <a:ext cx="9535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6439" algn="l"/>
                <a:tab pos="4345305" algn="l"/>
                <a:tab pos="5934710" algn="l"/>
                <a:tab pos="7638415" algn="l"/>
              </a:tabLst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управление	устройствами: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примеры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включают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обнаружение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00" y="1341740"/>
            <a:ext cx="9538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9400" algn="l"/>
                <a:tab pos="5341620" algn="l"/>
                <a:tab pos="7174865" algn="l"/>
                <a:tab pos="766000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аутентификацию,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дистанционную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активацию	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деактивацию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5844" y="1012557"/>
            <a:ext cx="169227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176530" algn="just">
              <a:lnSpc>
                <a:spcPts val="2590"/>
              </a:lnSpc>
              <a:spcBef>
                <a:spcPts val="425"/>
              </a:spcBef>
            </a:pP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ст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йст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в, 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устройств,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пра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ие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400" y="1670925"/>
            <a:ext cx="94500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2388235" algn="l"/>
                <a:tab pos="4383405" algn="l"/>
                <a:tab pos="6298565" algn="l"/>
                <a:tab pos="7905115" algn="l"/>
                <a:tab pos="8896985" algn="l"/>
              </a:tabLst>
            </a:pP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ф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иг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ра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ци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ю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д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аг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ос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ти</a:t>
            </a:r>
            <a:r>
              <a:rPr sz="2400" spc="30" dirty="0">
                <a:solidFill>
                  <a:srgbClr val="3E3E3E"/>
                </a:solidFill>
                <a:latin typeface="Arial"/>
                <a:cs typeface="Arial"/>
              </a:rPr>
              <a:t>к</a:t>
            </a:r>
            <a:r>
              <a:rPr sz="2400" spc="-240" dirty="0">
                <a:solidFill>
                  <a:srgbClr val="3E3E3E"/>
                </a:solidFill>
                <a:latin typeface="Arial"/>
                <a:cs typeface="Arial"/>
              </a:rPr>
              <a:t>у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,	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б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е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ие	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про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ш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ки	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и/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или	П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О,  рабочим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статусом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устройства;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00" y="2455784"/>
            <a:ext cx="11341100" cy="18345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6985" algn="just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топологией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локальной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сети: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примером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является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управление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конфигурацией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 сети;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ts val="2590"/>
              </a:lnSpc>
              <a:spcBef>
                <a:spcPts val="1000"/>
              </a:spcBef>
            </a:pP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управление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трафиком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перегрузками:</a:t>
            </a:r>
            <a:r>
              <a:rPr sz="24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например,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обнаружение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условий </a:t>
            </a:r>
            <a:r>
              <a:rPr sz="2400" spc="-6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перегруженности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сети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реализация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резервирования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ресурсов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срочных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и/или</a:t>
            </a:r>
            <a:r>
              <a:rPr sz="2400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жизненно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важных потоков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трафик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711" y="133819"/>
            <a:ext cx="8370474" cy="66168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175</a:t>
            </a:fld>
            <a:endParaRPr spc="-5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00" y="244475"/>
            <a:ext cx="500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ПРОТОКОЛЫ</a:t>
            </a:r>
            <a:r>
              <a:rPr sz="2400" spc="-105" dirty="0"/>
              <a:t> </a:t>
            </a:r>
            <a:r>
              <a:rPr sz="2400" spc="-5" dirty="0"/>
              <a:t>ИНТЕРНЕТ-ВЕЩЕЙ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6792" y="1027796"/>
            <a:ext cx="11243310" cy="49460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3335" marR="5715" indent="-635" algn="just">
              <a:lnSpc>
                <a:spcPts val="1730"/>
              </a:lnSpc>
              <a:spcBef>
                <a:spcPts val="310"/>
              </a:spcBef>
            </a:pP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рамках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концепции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Интернета вещей существуют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следующие участки: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сенсорный </a:t>
            </a:r>
            <a:r>
              <a:rPr sz="1600" spc="-25" dirty="0">
                <a:solidFill>
                  <a:srgbClr val="3E3E3E"/>
                </a:solidFill>
                <a:latin typeface="Arial"/>
                <a:cs typeface="Arial"/>
              </a:rPr>
              <a:t>узел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сенсорный </a:t>
            </a:r>
            <a:r>
              <a:rPr sz="1600" spc="-25" dirty="0">
                <a:solidFill>
                  <a:srgbClr val="3E3E3E"/>
                </a:solidFill>
                <a:latin typeface="Arial"/>
                <a:cs typeface="Arial"/>
              </a:rPr>
              <a:t>узел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(самый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распространенный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протокол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DDS),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сенсорный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узел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сервер </a:t>
            </a:r>
            <a:r>
              <a:rPr sz="1600" spc="-35" dirty="0">
                <a:solidFill>
                  <a:srgbClr val="3E3E3E"/>
                </a:solidFill>
                <a:latin typeface="Arial"/>
                <a:cs typeface="Arial"/>
              </a:rPr>
              <a:t>(CoAP, </a:t>
            </a:r>
            <a:r>
              <a:rPr sz="1600" spc="-40" dirty="0">
                <a:solidFill>
                  <a:srgbClr val="3E3E3E"/>
                </a:solidFill>
                <a:latin typeface="Arial"/>
                <a:cs typeface="Arial"/>
              </a:rPr>
              <a:t>MQTT, </a:t>
            </a:r>
            <a:r>
              <a:rPr sz="1600" spc="-45" dirty="0">
                <a:solidFill>
                  <a:srgbClr val="3E3E3E"/>
                </a:solidFill>
                <a:latin typeface="Arial"/>
                <a:cs typeface="Arial"/>
              </a:rPr>
              <a:t>XMPP,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STOMP),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сервер –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сервер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(AMQP).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Существует</a:t>
            </a:r>
            <a:r>
              <a:rPr sz="16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множество</a:t>
            </a:r>
            <a:r>
              <a:rPr sz="16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протоколов</a:t>
            </a:r>
            <a:r>
              <a:rPr sz="16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передачи</a:t>
            </a:r>
            <a:r>
              <a:rPr sz="16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данных,</a:t>
            </a:r>
            <a:r>
              <a:rPr sz="1600" spc="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качестве</a:t>
            </a:r>
            <a:r>
              <a:rPr sz="16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примера</a:t>
            </a:r>
            <a:r>
              <a:rPr sz="16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приведены</a:t>
            </a:r>
            <a:r>
              <a:rPr sz="16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самые</a:t>
            </a:r>
            <a:r>
              <a:rPr sz="1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популярные.</a:t>
            </a:r>
            <a:endParaRPr sz="1600">
              <a:latin typeface="Arial"/>
              <a:cs typeface="Arial"/>
            </a:endParaRPr>
          </a:p>
          <a:p>
            <a:pPr marL="12700" marR="6985" indent="227329" algn="just">
              <a:lnSpc>
                <a:spcPts val="1730"/>
              </a:lnSpc>
              <a:spcBef>
                <a:spcPts val="990"/>
              </a:spcBef>
            </a:pP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DDS</a:t>
            </a:r>
            <a:r>
              <a:rPr sz="16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(Data</a:t>
            </a:r>
            <a:r>
              <a:rPr sz="16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Distribution</a:t>
            </a:r>
            <a:r>
              <a:rPr sz="16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Service)</a:t>
            </a:r>
            <a:r>
              <a:rPr sz="16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1600" spc="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реализует</a:t>
            </a:r>
            <a:r>
              <a:rPr sz="1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шаблон</a:t>
            </a:r>
            <a:r>
              <a:rPr sz="16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публикации-подписки</a:t>
            </a:r>
            <a:r>
              <a:rPr sz="1600" spc="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6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отправки</a:t>
            </a:r>
            <a:r>
              <a:rPr sz="1600" spc="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600" spc="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приема</a:t>
            </a:r>
            <a:r>
              <a:rPr sz="1600" spc="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данных,</a:t>
            </a:r>
            <a:r>
              <a:rPr sz="1600" spc="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событий </a:t>
            </a:r>
            <a:r>
              <a:rPr sz="1600" spc="-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команд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среди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конечных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узлов.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Узлы-издатели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 создают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информацию,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«topic»</a:t>
            </a:r>
            <a:r>
              <a:rPr sz="1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(темы,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разделы: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температура,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местоположение,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давление) и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публикуют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шаблоны.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Узлам,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заинтересовавшимся в данных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разделах,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прозрачно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доставляет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созданные шаблоны.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качестве транспорта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600" spc="-55" dirty="0">
                <a:solidFill>
                  <a:srgbClr val="3E3E3E"/>
                </a:solidFill>
                <a:latin typeface="Arial"/>
                <a:cs typeface="Arial"/>
              </a:rPr>
              <a:t>UDP.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Также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позволяет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управлять параметрами QoS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(качество</a:t>
            </a:r>
            <a:r>
              <a:rPr sz="16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облуживания).</a:t>
            </a:r>
            <a:endParaRPr sz="1600">
              <a:latin typeface="Arial"/>
              <a:cs typeface="Arial"/>
            </a:endParaRPr>
          </a:p>
          <a:p>
            <a:pPr marL="13970" marR="5080" indent="226060" algn="just">
              <a:lnSpc>
                <a:spcPts val="1730"/>
              </a:lnSpc>
              <a:spcBef>
                <a:spcPts val="990"/>
              </a:spcBef>
            </a:pP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CoAP (Constrained Application Protocol) – с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точки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зрения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пользователя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похож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протокол </a:t>
            </a:r>
            <a:r>
              <a:rPr sz="1600" spc="-50" dirty="0">
                <a:solidFill>
                  <a:srgbClr val="3E3E3E"/>
                </a:solidFill>
                <a:latin typeface="Arial"/>
                <a:cs typeface="Arial"/>
              </a:rPr>
              <a:t>HTTP,</a:t>
            </a:r>
            <a:r>
              <a:rPr sz="16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но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отличается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малым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размером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заголовков, что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подходит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сетей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 ограниченными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возможностями.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Использует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архитектуру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клиент-сервер и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подходит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передачи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информации о состоянии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узла на сервер (сообщения </a:t>
            </a:r>
            <a:r>
              <a:rPr sz="1600" spc="-50" dirty="0">
                <a:solidFill>
                  <a:srgbClr val="3E3E3E"/>
                </a:solidFill>
                <a:latin typeface="Arial"/>
                <a:cs typeface="Arial"/>
              </a:rPr>
              <a:t>GET,</a:t>
            </a:r>
            <a:r>
              <a:rPr sz="1600" spc="3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3E3E3E"/>
                </a:solidFill>
                <a:latin typeface="Arial"/>
                <a:cs typeface="Arial"/>
              </a:rPr>
              <a:t>PUT,</a:t>
            </a:r>
            <a:r>
              <a:rPr sz="1600" spc="3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HEAD,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45" dirty="0">
                <a:solidFill>
                  <a:srgbClr val="3E3E3E"/>
                </a:solidFill>
                <a:latin typeface="Arial"/>
                <a:cs typeface="Arial"/>
              </a:rPr>
              <a:t>POST,</a:t>
            </a:r>
            <a:r>
              <a:rPr sz="16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DELETE,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CONNECT).</a:t>
            </a:r>
            <a:r>
              <a:rPr sz="16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6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качестве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транспорта</a:t>
            </a:r>
            <a:r>
              <a:rPr sz="16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600" spc="-55" dirty="0">
                <a:solidFill>
                  <a:srgbClr val="3E3E3E"/>
                </a:solidFill>
                <a:latin typeface="Arial"/>
                <a:cs typeface="Arial"/>
              </a:rPr>
              <a:t>UDP.</a:t>
            </a:r>
            <a:endParaRPr sz="1600">
              <a:latin typeface="Arial"/>
              <a:cs typeface="Arial"/>
            </a:endParaRPr>
          </a:p>
          <a:p>
            <a:pPr marL="15240" marR="5080" indent="226695" algn="just">
              <a:lnSpc>
                <a:spcPts val="1730"/>
              </a:lnSpc>
              <a:spcBef>
                <a:spcPts val="1000"/>
              </a:spcBef>
            </a:pP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XMPP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(Extensible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Messaging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and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Presence</a:t>
            </a:r>
            <a:r>
              <a:rPr sz="1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Protocol)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давно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используется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сети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Интернет</a:t>
            </a:r>
            <a:r>
              <a:rPr sz="1600" spc="4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для</a:t>
            </a:r>
            <a:r>
              <a:rPr sz="1600" spc="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передачи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сообщений в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режиме реального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времени,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благодаря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формату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XML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подходит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использования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сетях </a:t>
            </a:r>
            <a:r>
              <a:rPr sz="1600" spc="-50" dirty="0">
                <a:solidFill>
                  <a:srgbClr val="3E3E3E"/>
                </a:solidFill>
                <a:latin typeface="Arial"/>
                <a:cs typeface="Arial"/>
              </a:rPr>
              <a:t>IoT. </a:t>
            </a:r>
            <a:r>
              <a:rPr sz="1600" spc="-25" dirty="0">
                <a:solidFill>
                  <a:srgbClr val="3E3E3E"/>
                </a:solidFill>
                <a:latin typeface="Arial"/>
                <a:cs typeface="Arial"/>
              </a:rPr>
              <a:t>Работает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поверх архитектур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издатель-подписчик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 клиент-сервер.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Также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используется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адресации устройств в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небольших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сетях</a:t>
            </a:r>
            <a:r>
              <a:rPr sz="16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(адресация</a:t>
            </a:r>
            <a:r>
              <a:rPr sz="1600" spc="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вида</a:t>
            </a:r>
            <a:r>
              <a:rPr sz="16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  <a:hlinkClick r:id="rId2"/>
              </a:rPr>
              <a:t>«name@domai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  <a:hlinkClick r:id="rId2"/>
              </a:rPr>
              <a:t>.com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»).</a:t>
            </a:r>
            <a:endParaRPr sz="1600">
              <a:latin typeface="Arial"/>
              <a:cs typeface="Arial"/>
            </a:endParaRPr>
          </a:p>
          <a:p>
            <a:pPr marL="12700" marR="10795" indent="227329" algn="just">
              <a:lnSpc>
                <a:spcPts val="1730"/>
              </a:lnSpc>
              <a:spcBef>
                <a:spcPts val="985"/>
              </a:spcBef>
            </a:pP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MQTT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(Message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Queue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E3E3E"/>
                </a:solidFill>
                <a:latin typeface="Arial"/>
                <a:cs typeface="Arial"/>
              </a:rPr>
              <a:t>Telemetry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Transport)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–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осуществляет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сбор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E3E3E"/>
                </a:solidFill>
                <a:latin typeface="Arial"/>
                <a:cs typeface="Arial"/>
              </a:rPr>
              <a:t>от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множества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узлов</a:t>
            </a:r>
            <a:r>
              <a:rPr sz="1600" spc="4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</a:t>
            </a:r>
            <a:r>
              <a:rPr sz="1600" spc="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передачу</a:t>
            </a:r>
            <a:r>
              <a:rPr sz="1600" spc="4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на </a:t>
            </a:r>
            <a:r>
              <a:rPr sz="1600" spc="-4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сервер.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Основывается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модели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 издатель-подписчик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использованием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промежуточного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сервера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–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брокера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(приоритезация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сообщений, формирование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очередей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др.).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В качестве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транспорта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1600" spc="-55" dirty="0">
                <a:solidFill>
                  <a:srgbClr val="3E3E3E"/>
                </a:solidFill>
                <a:latin typeface="Arial"/>
                <a:cs typeface="Arial"/>
              </a:rPr>
              <a:t>TCP.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На основе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MQTT был </a:t>
            </a:r>
            <a:r>
              <a:rPr sz="16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сформирован</a:t>
            </a:r>
            <a:r>
              <a:rPr sz="16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E3E3E"/>
                </a:solidFill>
                <a:latin typeface="Arial"/>
                <a:cs typeface="Arial"/>
              </a:rPr>
              <a:t>специализированный</a:t>
            </a:r>
            <a:r>
              <a:rPr sz="1600" spc="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протокол</a:t>
            </a:r>
            <a:r>
              <a:rPr sz="16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E3E3E"/>
                </a:solidFill>
                <a:latin typeface="Arial"/>
                <a:cs typeface="Arial"/>
              </a:rPr>
              <a:t>MQTT-SN</a:t>
            </a:r>
            <a:r>
              <a:rPr sz="1600" spc="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3E3E3E"/>
                </a:solidFill>
                <a:latin typeface="Arial"/>
                <a:cs typeface="Arial"/>
              </a:rPr>
              <a:t>для сенсорных</a:t>
            </a:r>
            <a:r>
              <a:rPr sz="16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3E3E3E"/>
                </a:solidFill>
                <a:latin typeface="Arial"/>
                <a:cs typeface="Arial"/>
              </a:rPr>
              <a:t>сетей.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960" y="0"/>
            <a:ext cx="9050020" cy="121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3190"/>
              </a:lnSpc>
              <a:spcBef>
                <a:spcPts val="95"/>
              </a:spcBef>
            </a:pPr>
            <a:r>
              <a:rPr sz="2800" spc="-30" dirty="0"/>
              <a:t>ПРОТОКОЛ</a:t>
            </a:r>
            <a:r>
              <a:rPr sz="2800" spc="30" dirty="0"/>
              <a:t> </a:t>
            </a:r>
            <a:r>
              <a:rPr sz="2800" spc="-10" dirty="0"/>
              <a:t>MQTT</a:t>
            </a:r>
            <a:r>
              <a:rPr sz="2800" spc="10" dirty="0"/>
              <a:t> </a:t>
            </a:r>
            <a:r>
              <a:rPr sz="2800" spc="-10" dirty="0"/>
              <a:t>(MESSAGE</a:t>
            </a:r>
            <a:r>
              <a:rPr sz="2800" spc="15" dirty="0"/>
              <a:t> </a:t>
            </a:r>
            <a:r>
              <a:rPr sz="2800" spc="-10" dirty="0"/>
              <a:t>QUEUE</a:t>
            </a:r>
            <a:r>
              <a:rPr sz="2800" spc="15" dirty="0"/>
              <a:t> </a:t>
            </a:r>
            <a:r>
              <a:rPr sz="2800" spc="-25" dirty="0"/>
              <a:t>TELEMETRY</a:t>
            </a:r>
            <a:endParaRPr sz="2800"/>
          </a:p>
          <a:p>
            <a:pPr marL="104139" marR="5080" indent="-91440">
              <a:lnSpc>
                <a:spcPts val="3030"/>
              </a:lnSpc>
              <a:spcBef>
                <a:spcPts val="209"/>
              </a:spcBef>
              <a:tabLst>
                <a:tab pos="9036685" algn="l"/>
              </a:tabLst>
            </a:pPr>
            <a:r>
              <a:rPr sz="2800" u="heavy" spc="-6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800" u="heavy" spc="-10" dirty="0">
                <a:uFill>
                  <a:solidFill>
                    <a:srgbClr val="006666"/>
                  </a:solidFill>
                </a:uFill>
              </a:rPr>
              <a:t>TRANSPORT)</a:t>
            </a:r>
            <a:r>
              <a:rPr sz="2800" u="heavy" spc="60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800" u="heavy" spc="-35" dirty="0">
                <a:uFill>
                  <a:solidFill>
                    <a:srgbClr val="006666"/>
                  </a:solidFill>
                </a:uFill>
              </a:rPr>
              <a:t>ОБСЛУЖИВАЕТ</a:t>
            </a:r>
            <a:r>
              <a:rPr sz="2800" u="heavy" spc="3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800" u="heavy" spc="-10" dirty="0">
                <a:uFill>
                  <a:solidFill>
                    <a:srgbClr val="006666"/>
                  </a:solidFill>
                </a:uFill>
              </a:rPr>
              <a:t>СБОР</a:t>
            </a:r>
            <a:r>
              <a:rPr sz="2800" u="heavy" spc="1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800" u="heavy" spc="-10" dirty="0">
                <a:uFill>
                  <a:solidFill>
                    <a:srgbClr val="006666"/>
                  </a:solidFill>
                </a:uFill>
              </a:rPr>
              <a:t>ДАННЫХ</a:t>
            </a:r>
            <a:r>
              <a:rPr sz="2800" u="heavy" spc="25" dirty="0">
                <a:uFill>
                  <a:solidFill>
                    <a:srgbClr val="006666"/>
                  </a:solidFill>
                </a:uFill>
              </a:rPr>
              <a:t> </a:t>
            </a:r>
            <a:r>
              <a:rPr sz="2800" u="heavy" spc="-5" dirty="0">
                <a:uFill>
                  <a:solidFill>
                    <a:srgbClr val="006666"/>
                  </a:solidFill>
                </a:uFill>
              </a:rPr>
              <a:t>С </a:t>
            </a:r>
            <a:r>
              <a:rPr sz="2800" u="heavy" dirty="0">
                <a:uFill>
                  <a:solidFill>
                    <a:srgbClr val="006666"/>
                  </a:solidFill>
                </a:uFill>
              </a:rPr>
              <a:t>	</a:t>
            </a:r>
            <a:r>
              <a:rPr sz="2800" dirty="0"/>
              <a:t> </a:t>
            </a:r>
            <a:r>
              <a:rPr sz="2800" spc="-30" dirty="0"/>
              <a:t>УСТРОЙСТВ</a:t>
            </a:r>
            <a:endParaRPr sz="2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177</a:t>
            </a:fld>
            <a:endParaRPr spc="-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6984" y="983824"/>
            <a:ext cx="5328420" cy="5328418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5960" y="149784"/>
            <a:ext cx="9050020" cy="126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b="1" spc="-25" dirty="0">
                <a:solidFill>
                  <a:srgbClr val="006666"/>
                </a:solidFill>
                <a:latin typeface="Arial"/>
                <a:cs typeface="Arial"/>
              </a:rPr>
              <a:t>ПРОТОКОЛ</a:t>
            </a:r>
            <a:r>
              <a:rPr sz="2200" b="1" spc="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XMPP</a:t>
            </a:r>
            <a:r>
              <a:rPr sz="2200" b="1" spc="-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06666"/>
                </a:solidFill>
                <a:latin typeface="Arial"/>
                <a:cs typeface="Arial"/>
              </a:rPr>
              <a:t>ПОНАЧАЛУ</a:t>
            </a:r>
            <a:r>
              <a:rPr sz="2200" b="1" spc="2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НАЗЫВАЛСЯ</a:t>
            </a:r>
            <a:r>
              <a:rPr sz="2200" b="1" spc="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JABBER.</a:t>
            </a:r>
            <a:r>
              <a:rPr sz="22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ОН</a:t>
            </a:r>
            <a:r>
              <a:rPr sz="2200" b="1" spc="1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БЫЛ</a:t>
            </a:r>
            <a:endParaRPr sz="2200">
              <a:latin typeface="Arial"/>
              <a:cs typeface="Arial"/>
            </a:endParaRPr>
          </a:p>
          <a:p>
            <a:pPr marL="103505" marR="5080" indent="-91440">
              <a:lnSpc>
                <a:spcPts val="2380"/>
              </a:lnSpc>
              <a:spcBef>
                <a:spcPts val="165"/>
              </a:spcBef>
              <a:tabLst>
                <a:tab pos="9036685" algn="l"/>
              </a:tabLst>
            </a:pPr>
            <a:r>
              <a:rPr sz="2200" u="heavy" spc="1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6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РАЗРАБОТАН</a:t>
            </a:r>
            <a:r>
              <a:rPr sz="2200" b="1" u="heavy" spc="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ДЛЯ</a:t>
            </a:r>
            <a:r>
              <a:rPr sz="2200" b="1" u="heavy" spc="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СИСТЕМЫ</a:t>
            </a:r>
            <a:r>
              <a:rPr sz="2200" b="1" u="heavy" spc="2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МГНОВЕННОГО</a:t>
            </a:r>
            <a:r>
              <a:rPr sz="2200" b="1" u="heavy" spc="3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ОБМЕНА </a:t>
            </a:r>
            <a:r>
              <a:rPr sz="2200" b="1" u="heavy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	</a:t>
            </a:r>
            <a:r>
              <a:rPr sz="22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СООБЩЕНИЯМИ</a:t>
            </a:r>
            <a:r>
              <a:rPr sz="2200" b="1" spc="6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ДЛЯ</a:t>
            </a:r>
            <a:r>
              <a:rPr sz="22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СВЯЗИ</a:t>
            </a:r>
            <a:r>
              <a:rPr sz="2200" b="1" spc="1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МЕЖДУ</a:t>
            </a:r>
            <a:r>
              <a:rPr sz="2200" b="1" spc="3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006666"/>
                </a:solidFill>
                <a:latin typeface="Arial"/>
                <a:cs typeface="Arial"/>
              </a:rPr>
              <a:t>ЛЮДЬМИ</a:t>
            </a:r>
            <a:r>
              <a:rPr sz="2200" b="1" spc="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С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ПОМОЩЬЮ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06666"/>
                </a:solidFill>
                <a:latin typeface="Arial"/>
                <a:cs typeface="Arial"/>
              </a:rPr>
              <a:t>ТЕКСТОВЫХ</a:t>
            </a:r>
            <a:r>
              <a:rPr sz="2200" b="1" spc="2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СООБЩЕНИЙ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3579" y="1128788"/>
            <a:ext cx="7342172" cy="519770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178</a:t>
            </a:fld>
            <a:endParaRPr spc="-5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732" y="6464674"/>
            <a:ext cx="10431145" cy="0"/>
          </a:xfrm>
          <a:custGeom>
            <a:avLst/>
            <a:gdLst/>
            <a:ahLst/>
            <a:cxnLst/>
            <a:rect l="l" t="t" r="r" b="b"/>
            <a:pathLst>
              <a:path w="10431145">
                <a:moveTo>
                  <a:pt x="0" y="0"/>
                </a:moveTo>
                <a:lnTo>
                  <a:pt x="10430929" y="0"/>
                </a:lnTo>
              </a:path>
            </a:pathLst>
          </a:custGeom>
          <a:ln w="28575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12" y="6414174"/>
            <a:ext cx="983615" cy="335280"/>
          </a:xfrm>
          <a:custGeom>
            <a:avLst/>
            <a:gdLst/>
            <a:ahLst/>
            <a:cxnLst/>
            <a:rect l="l" t="t" r="r" b="b"/>
            <a:pathLst>
              <a:path w="983615" h="335279">
                <a:moveTo>
                  <a:pt x="0" y="55829"/>
                </a:moveTo>
                <a:lnTo>
                  <a:pt x="4387" y="34097"/>
                </a:lnTo>
                <a:lnTo>
                  <a:pt x="16351" y="16351"/>
                </a:lnTo>
                <a:lnTo>
                  <a:pt x="34097" y="4387"/>
                </a:lnTo>
                <a:lnTo>
                  <a:pt x="55829" y="0"/>
                </a:lnTo>
                <a:lnTo>
                  <a:pt x="927722" y="0"/>
                </a:lnTo>
                <a:lnTo>
                  <a:pt x="949454" y="4387"/>
                </a:lnTo>
                <a:lnTo>
                  <a:pt x="967200" y="16351"/>
                </a:lnTo>
                <a:lnTo>
                  <a:pt x="979164" y="34097"/>
                </a:lnTo>
                <a:lnTo>
                  <a:pt x="983551" y="55829"/>
                </a:lnTo>
                <a:lnTo>
                  <a:pt x="983551" y="279133"/>
                </a:lnTo>
                <a:lnTo>
                  <a:pt x="979164" y="300865"/>
                </a:lnTo>
                <a:lnTo>
                  <a:pt x="967200" y="318611"/>
                </a:lnTo>
                <a:lnTo>
                  <a:pt x="949454" y="330575"/>
                </a:lnTo>
                <a:lnTo>
                  <a:pt x="927722" y="334962"/>
                </a:lnTo>
                <a:lnTo>
                  <a:pt x="55829" y="334962"/>
                </a:lnTo>
                <a:lnTo>
                  <a:pt x="34097" y="330575"/>
                </a:lnTo>
                <a:lnTo>
                  <a:pt x="16351" y="318611"/>
                </a:lnTo>
                <a:lnTo>
                  <a:pt x="4387" y="300865"/>
                </a:lnTo>
                <a:lnTo>
                  <a:pt x="0" y="279133"/>
                </a:lnTo>
                <a:lnTo>
                  <a:pt x="0" y="55829"/>
                </a:lnTo>
                <a:close/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5960" y="155360"/>
            <a:ext cx="9050020" cy="126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ts val="251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DDS </a:t>
            </a:r>
            <a:r>
              <a:rPr sz="2200" b="1" spc="-75" dirty="0">
                <a:solidFill>
                  <a:srgbClr val="006666"/>
                </a:solidFill>
                <a:latin typeface="Arial"/>
                <a:cs typeface="Arial"/>
              </a:rPr>
              <a:t>(DATA</a:t>
            </a:r>
            <a:r>
              <a:rPr sz="2200" b="1" spc="-5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DISTRIBUTION</a:t>
            </a:r>
            <a:r>
              <a:rPr sz="2200" b="1" spc="4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SERVICE</a:t>
            </a:r>
            <a:r>
              <a:rPr sz="2200" b="1" spc="-20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–</a:t>
            </a:r>
            <a:r>
              <a:rPr sz="2200" b="1" spc="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СЕРВИС</a:t>
            </a:r>
            <a:endParaRPr sz="2200">
              <a:latin typeface="Arial"/>
              <a:cs typeface="Arial"/>
            </a:endParaRPr>
          </a:p>
          <a:p>
            <a:pPr marL="103505" marR="5080" indent="-91440">
              <a:lnSpc>
                <a:spcPts val="2380"/>
              </a:lnSpc>
              <a:spcBef>
                <a:spcPts val="165"/>
              </a:spcBef>
              <a:tabLst>
                <a:tab pos="9036685" algn="l"/>
              </a:tabLst>
            </a:pPr>
            <a:r>
              <a:rPr sz="2200" u="heavy" spc="16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3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РАСПРЕДЕЛЕНИЯ</a:t>
            </a:r>
            <a:r>
              <a:rPr sz="2200" b="1" u="heavy" spc="3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ДАННЫХ)</a:t>
            </a:r>
            <a:r>
              <a:rPr sz="2200" b="1" u="heavy" spc="1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25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ОБСЛУЖИВАЕТ</a:t>
            </a:r>
            <a:r>
              <a:rPr sz="2200" b="1" u="heavy" spc="4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30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УСТРОЙСТВА, </a:t>
            </a:r>
            <a:r>
              <a:rPr sz="2200" b="1" u="heavy" dirty="0">
                <a:solidFill>
                  <a:srgbClr val="006666"/>
                </a:solidFill>
                <a:uFill>
                  <a:solidFill>
                    <a:srgbClr val="006666"/>
                  </a:solidFill>
                </a:uFill>
                <a:latin typeface="Arial"/>
                <a:cs typeface="Arial"/>
              </a:rPr>
              <a:t>	</a:t>
            </a:r>
            <a:r>
              <a:rPr sz="2200" b="1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КОТОРЫЕ</a:t>
            </a:r>
            <a:r>
              <a:rPr sz="2200" b="1" spc="2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006666"/>
                </a:solidFill>
                <a:latin typeface="Arial"/>
                <a:cs typeface="Arial"/>
              </a:rPr>
              <a:t>НЕПОСРЕДСТВЕННО</a:t>
            </a:r>
            <a:r>
              <a:rPr sz="2200" b="1" spc="4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006666"/>
                </a:solidFill>
                <a:latin typeface="Arial"/>
                <a:cs typeface="Arial"/>
              </a:rPr>
              <a:t>ИСПОЛЬЗУЮТ</a:t>
            </a:r>
            <a:r>
              <a:rPr sz="2200" b="1" spc="3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6666"/>
                </a:solidFill>
                <a:latin typeface="Arial"/>
                <a:cs typeface="Arial"/>
              </a:rPr>
              <a:t>ДАННЫЕ </a:t>
            </a:r>
            <a:r>
              <a:rPr sz="2200" b="1" spc="-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006666"/>
                </a:solidFill>
                <a:latin typeface="Arial"/>
                <a:cs typeface="Arial"/>
              </a:rPr>
              <a:t>УСТРОЙСТВА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802" y="1416205"/>
            <a:ext cx="8900697" cy="489538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179</a:t>
            </a:fld>
            <a:endParaRPr spc="-5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400" y="244475"/>
            <a:ext cx="66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66"/>
                </a:solidFill>
                <a:latin typeface="Arial"/>
                <a:cs typeface="Arial"/>
              </a:rPr>
              <a:t>DDS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28256" y="995793"/>
            <a:ext cx="9955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5440" algn="l"/>
                <a:tab pos="2586355" algn="l"/>
                <a:tab pos="3438525" algn="l"/>
                <a:tab pos="4006850" algn="l"/>
                <a:tab pos="6230620" algn="l"/>
                <a:tab pos="7593330" algn="l"/>
                <a:tab pos="8935720" algn="l"/>
              </a:tabLst>
            </a:pPr>
            <a:r>
              <a:rPr sz="1800" b="0" spc="-10" dirty="0">
                <a:solidFill>
                  <a:srgbClr val="3E3E3E"/>
                </a:solidFill>
                <a:latin typeface="Arial"/>
                <a:cs typeface="Arial"/>
              </a:rPr>
              <a:t>запрашивают	</a:t>
            </a:r>
            <a:r>
              <a:rPr sz="1800" b="0" spc="-5" dirty="0">
                <a:solidFill>
                  <a:srgbClr val="3E3E3E"/>
                </a:solidFill>
                <a:latin typeface="Arial"/>
                <a:cs typeface="Arial"/>
              </a:rPr>
              <a:t>данные	</a:t>
            </a:r>
            <a:r>
              <a:rPr sz="1800" b="0" spc="-10" dirty="0">
                <a:solidFill>
                  <a:srgbClr val="3E3E3E"/>
                </a:solidFill>
                <a:latin typeface="Arial"/>
                <a:cs typeface="Arial"/>
              </a:rPr>
              <a:t>иначе,	</a:t>
            </a:r>
            <a:r>
              <a:rPr sz="1800" b="0" spc="-5" dirty="0">
                <a:solidFill>
                  <a:srgbClr val="3E3E3E"/>
                </a:solidFill>
                <a:latin typeface="Arial"/>
                <a:cs typeface="Arial"/>
              </a:rPr>
              <a:t>чем	</a:t>
            </a:r>
            <a:r>
              <a:rPr sz="1800" b="0" spc="-10" dirty="0">
                <a:solidFill>
                  <a:srgbClr val="3E3E3E"/>
                </a:solidFill>
                <a:latin typeface="Arial"/>
                <a:cs typeface="Arial"/>
              </a:rPr>
              <a:t>IT-инфраструктура.	</a:t>
            </a:r>
            <a:r>
              <a:rPr sz="1800" b="0" spc="-5" dirty="0">
                <a:solidFill>
                  <a:srgbClr val="3E3E3E"/>
                </a:solidFill>
                <a:latin typeface="Arial"/>
                <a:cs typeface="Arial"/>
              </a:rPr>
              <a:t>Во-первых,	</a:t>
            </a:r>
            <a:r>
              <a:rPr sz="1800" b="0" spc="-10" dirty="0">
                <a:solidFill>
                  <a:srgbClr val="3E3E3E"/>
                </a:solidFill>
                <a:latin typeface="Arial"/>
                <a:cs typeface="Arial"/>
              </a:rPr>
              <a:t>устройства	</a:t>
            </a:r>
            <a:r>
              <a:rPr sz="1800" b="0" spc="-20" dirty="0">
                <a:solidFill>
                  <a:srgbClr val="3E3E3E"/>
                </a:solidFill>
                <a:latin typeface="Arial"/>
                <a:cs typeface="Arial"/>
              </a:rPr>
              <a:t>работают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461125"/>
            <a:ext cx="414338" cy="252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180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7400" y="995793"/>
            <a:ext cx="122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Устройства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715" y="1215249"/>
            <a:ext cx="11321415" cy="48507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715" indent="635" algn="just">
              <a:lnSpc>
                <a:spcPct val="80000"/>
              </a:lnSpc>
              <a:spcBef>
                <a:spcPts val="530"/>
              </a:spcBef>
            </a:pP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быстро.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Масштаб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«реального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времени»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часто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измеряется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микросекундах.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Устройствам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нужно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осуществлять связь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другими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устройствами,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используя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сложные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пути,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поэтому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простые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надёжные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двухточечные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TCP-потоки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ограничивают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возможности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такой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передачи.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Взамен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этого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обеспечивает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детализированный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контроль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качества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сервиса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(QoS),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многоадресную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"/>
                <a:cs typeface="Arial"/>
              </a:rPr>
              <a:t>передачу,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перестраиваемую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надёжность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всеобъемлющую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избыточность.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Кроме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того,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сильной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стороной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800" spc="-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является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разветвление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данных.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Протокол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обеспечивает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мощные способы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фильтрации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отбора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адресам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назначения,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причём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число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синхронных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получателей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может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исчисляться </a:t>
            </a:r>
            <a:r>
              <a:rPr sz="1800" spc="-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тысячами.</a:t>
            </a:r>
            <a:endParaRPr sz="1800">
              <a:latin typeface="Arial"/>
              <a:cs typeface="Arial"/>
            </a:endParaRPr>
          </a:p>
          <a:p>
            <a:pPr marL="12700" marR="7620" algn="just">
              <a:lnSpc>
                <a:spcPct val="80000"/>
              </a:lnSpc>
              <a:spcBef>
                <a:spcPts val="994"/>
              </a:spcBef>
            </a:pP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использования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от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звездообразная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сеть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совершенно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не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годится. Вместо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этого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DDS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реализует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прямую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шинную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связь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между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устройствами</a:t>
            </a:r>
            <a:r>
              <a:rPr sz="1800" spc="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на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базе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реляционной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модели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данных.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80000"/>
              </a:lnSpc>
              <a:spcBef>
                <a:spcPts val="1010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Подобно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3E3E3E"/>
                </a:solidFill>
                <a:latin typeface="Arial"/>
                <a:cs typeface="Arial"/>
              </a:rPr>
              <a:t>тому,</a:t>
            </a:r>
            <a:r>
              <a:rPr sz="1800" spc="-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база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управляет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доступом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к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хранимым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данным,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шина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данных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управляет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доступом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к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данным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обновлениями одновременно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многими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пользователями.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Это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именно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то, что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нужно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высокопроизводительным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устройствам,</a:t>
            </a:r>
            <a:r>
              <a:rPr sz="1800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чтобы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они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работали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вместе,</a:t>
            </a:r>
            <a:r>
              <a:rPr sz="1800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как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единая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система.</a:t>
            </a:r>
            <a:endParaRPr sz="1800">
              <a:latin typeface="Arial"/>
              <a:cs typeface="Arial"/>
            </a:endParaRPr>
          </a:p>
          <a:p>
            <a:pPr marL="12700" marR="7620" indent="635" algn="just">
              <a:lnSpc>
                <a:spcPts val="1730"/>
              </a:lnSpc>
              <a:spcBef>
                <a:spcPts val="980"/>
              </a:spcBef>
            </a:pP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Высокопроизводительные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системы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интегрированных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устройств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используют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протокол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DDS.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Это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единственная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технология,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которая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обеспечивает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гибкость,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надёжность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скорость,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необходимые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для 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построения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сложных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приложений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реального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времени.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Эти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приложения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включают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себя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военные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системы,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ветроэлектростанции,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интегрированные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системы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больниц,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системы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диагностической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визуализации,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системы сопровождения ресурсов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автомобильные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системы испытаний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и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обеспечения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безопасности.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Протокол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DDS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с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высокой</a:t>
            </a:r>
            <a:r>
              <a:rPr sz="1800" spc="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скоростью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соединяет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устройства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 внутри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работающей 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распределённой</a:t>
            </a:r>
            <a:r>
              <a:rPr sz="1800" spc="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E3E3E"/>
                </a:solidFill>
                <a:latin typeface="Arial"/>
                <a:cs typeface="Arial"/>
              </a:rPr>
              <a:t>системы.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765176"/>
            <a:ext cx="8997937" cy="57832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9822" y="247173"/>
            <a:ext cx="90239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5" dirty="0"/>
              <a:t>ВАРИАНТЫ</a:t>
            </a:r>
            <a:r>
              <a:rPr sz="2500" spc="15" dirty="0"/>
              <a:t> </a:t>
            </a:r>
            <a:r>
              <a:rPr sz="2500" spc="-15" dirty="0"/>
              <a:t>ПОДКЛЮЧЕНИЯ</a:t>
            </a:r>
            <a:r>
              <a:rPr sz="2500" spc="25" dirty="0"/>
              <a:t> </a:t>
            </a:r>
            <a:r>
              <a:rPr sz="2500" spc="-5" dirty="0"/>
              <a:t>К</a:t>
            </a:r>
            <a:r>
              <a:rPr sz="2500" spc="10" dirty="0"/>
              <a:t> </a:t>
            </a:r>
            <a:r>
              <a:rPr sz="2500" spc="-25" dirty="0"/>
              <a:t>СУЩЕСТВУЮЩИМ</a:t>
            </a:r>
            <a:r>
              <a:rPr sz="2500" spc="35" dirty="0"/>
              <a:t> </a:t>
            </a:r>
            <a:r>
              <a:rPr sz="2500" spc="-15" dirty="0"/>
              <a:t>СЕТЯМ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181</a:t>
            </a:fld>
            <a:endParaRPr spc="-5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345" y="0"/>
            <a:ext cx="10951653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182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11429</Words>
  <Application>Microsoft Office PowerPoint</Application>
  <PresentationFormat>Широкоэкранный</PresentationFormat>
  <Paragraphs>1444</Paragraphs>
  <Slides>182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182</vt:i4>
      </vt:variant>
    </vt:vector>
  </HeadingPairs>
  <TitlesOfParts>
    <vt:vector size="191" baseType="lpstr">
      <vt:lpstr>Arial</vt:lpstr>
      <vt:lpstr>Calibri</vt:lpstr>
      <vt:lpstr>Calibri Light</vt:lpstr>
      <vt:lpstr>Cambria Math</vt:lpstr>
      <vt:lpstr>Symbol</vt:lpstr>
      <vt:lpstr>Tahoma</vt:lpstr>
      <vt:lpstr>Times New Roman</vt:lpstr>
      <vt:lpstr>Wingdings</vt:lpstr>
      <vt:lpstr>Тема Office</vt:lpstr>
      <vt:lpstr>Цифровые технологии  </vt:lpstr>
      <vt:lpstr>Презентация PowerPoint</vt:lpstr>
      <vt:lpstr>Презентация PowerPoint</vt:lpstr>
      <vt:lpstr>Целями Программы являются:</vt:lpstr>
      <vt:lpstr>Цифровая экономика представлена 3 уровнями, которые в своем тесном взаимодействии влияют на жизнь граждан и общества в целом: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Технологии цифровой экономики в стратегических документах России </vt:lpstr>
      <vt:lpstr>Gartner Hype Cycle – Цикл зрелости технологий (ежегодно)</vt:lpstr>
      <vt:lpstr>ИСКУССТВЕННЫЙ ИНТЕЛЛЕКТ (ARTIFICIAL INTELLIGENCE, AI)</vt:lpstr>
      <vt:lpstr>Презентация PowerPoint</vt:lpstr>
      <vt:lpstr>ОПРЕДЕЛЕНИЯ</vt:lpstr>
      <vt:lpstr>ТРАДИЦИОННАЯ БАЗА ДАННЫХ И БАЗА БОЛЬШИХ ДАННЫХ</vt:lpstr>
      <vt:lpstr>БИЗНЕС-АНАЛИТИКА И БОЛЬШИЕ ДАННЫЕ</vt:lpstr>
      <vt:lpstr>ОТЛИЧИЕ БОЛЬШИХ ДАННЫХ ОТ БИЗНЕС-АНАЛИТИКИ</vt:lpstr>
      <vt:lpstr>РАЗНИЦА ПОДХОДОВ</vt:lpstr>
      <vt:lpstr>РАБОТА С БОЛЬШИМИ ДАННЫМИ</vt:lpstr>
      <vt:lpstr>К ИСТОЧНИКАМ  БОЛЬШИХ ДАННЫХ  ОТНОСЯТ: </vt:lpstr>
      <vt:lpstr>БОЛЬШИЕ ДАННЫЕ ≠ НАУКА О ДАННЫХ</vt:lpstr>
      <vt:lpstr>МЕТОДИКИ АНАЛИЗА БОЛЬШИХ ДАННЫХ</vt:lpstr>
      <vt:lpstr>Презентация PowerPoint</vt:lpstr>
      <vt:lpstr>Презентация PowerPoint</vt:lpstr>
      <vt:lpstr>Презентация PowerPoint</vt:lpstr>
      <vt:lpstr>ХРАНЕНИЕ БОЛЬШИХ ДАННЫХ</vt:lpstr>
      <vt:lpstr>Презентация PowerPoint</vt:lpstr>
      <vt:lpstr>Презентация PowerPoint</vt:lpstr>
      <vt:lpstr>NOSQL</vt:lpstr>
      <vt:lpstr>NOSQL И CAP</vt:lpstr>
      <vt:lpstr>МАШИННОЕ ОБУЧЕНИЕ</vt:lpstr>
      <vt:lpstr>ЗАЧЕМ НУЖНО ОБУЧЕНИЕ?</vt:lpstr>
      <vt:lpstr>Презентация PowerPoint</vt:lpstr>
      <vt:lpstr>ПРИМЕНЕНИЕ МАШИННОГО ОБУЧЕНИЯ</vt:lpstr>
      <vt:lpstr>ТИПЫ МАШИННОГО ОБУЧЕНИЯ</vt:lpstr>
      <vt:lpstr>ОБУЧЕНИЕ С УЧИТЕЛЕМ</vt:lpstr>
      <vt:lpstr>Презентация PowerPoint</vt:lpstr>
      <vt:lpstr>ЛИНЕЙНАЯ РЕГРЕССИЯ</vt:lpstr>
      <vt:lpstr>Презентация PowerPoint</vt:lpstr>
      <vt:lpstr>Презентация PowerPoint</vt:lpstr>
      <vt:lpstr>ТРЕНИРОВОЧНЫЙ  НАБОР</vt:lpstr>
      <vt:lpstr>ПОДБИРАЕМ W1</vt:lpstr>
      <vt:lpstr>ТОЧЕЧНАЯ ДИАГРАММА J(W)</vt:lpstr>
      <vt:lpstr>ГРАДИЕНТНЫЙ СПУСК</vt:lpstr>
      <vt:lpstr>ГРАДИЕНТНЫЙ СПУСК</vt:lpstr>
      <vt:lpstr>Презентация PowerPoint</vt:lpstr>
      <vt:lpstr>РАЗВЁРНУТАЯ СХЕМА ОБУЧЕНИЯ С ПОДКРЕПЛЕНИЕМ</vt:lpstr>
      <vt:lpstr>НАГЛЯДНАЯ СХЕМА</vt:lpstr>
      <vt:lpstr>ОПЫТ</vt:lpstr>
      <vt:lpstr>НАГРАДА</vt:lpstr>
      <vt:lpstr>СТРАТЕГИЯ</vt:lpstr>
      <vt:lpstr>ОБУЧЕНИЕ</vt:lpstr>
      <vt:lpstr>ЭТАПЫ РАБОЧЕГО ПРОЦЕССА ПРИ ИСПОЛЬЗОВАНИИ  ОБУЧЕНИЯ С ПОДКРЕПЛЕНИЕМ </vt:lpstr>
      <vt:lpstr>ПРИМЕР: ОБУЧЕНИЕ БЕСПИЛОТНОГО АВТОМОБИЛЯ</vt:lpstr>
      <vt:lpstr>ПОПУЛЯРНЫЙ ПРИМЕР:  ОБУЧЕНИЕ ХОДЬБЕ РОБОТОВ </vt:lpstr>
      <vt:lpstr>Презентация PowerPoint</vt:lpstr>
      <vt:lpstr>ФУНКЦИЯ ПОЛЕЗНОСТИ ДЕЙСТВИЯ</vt:lpstr>
      <vt:lpstr>ФУНКЦИЯ ПОЛЕЗНОСТИ ДЕЙСТВИЯ</vt:lpstr>
      <vt:lpstr>СТРАТЕГИЯ ДЕЙСТВИЙ АГЕНТА ПРИ  Q-ОБУЧЕНИИ </vt:lpstr>
      <vt:lpstr>ХРАНЕНИЕ ОЦЕНОК ПОЛЕЗНОСТИ ДЕЙСТВИЙ В ТАБЛИЦЕ</vt:lpstr>
      <vt:lpstr>ГЛУБОКОЕ Q-ОБУЧЕНИЕ</vt:lpstr>
      <vt:lpstr>Презентация PowerPoint</vt:lpstr>
      <vt:lpstr>СИСТЕМЫ АДАПТИВНОЙ КРИТИКИ</vt:lpstr>
      <vt:lpstr>ФОРМУЛЫ</vt:lpstr>
      <vt:lpstr>Презентация PowerPoint</vt:lpstr>
      <vt:lpstr>ИСПОЛЬЗУЕМЫЙ ИНСТРУМЕНТАРИЙ</vt:lpstr>
      <vt:lpstr>ИСКУССТВЕННЫЙ ИНТЕЛЛЕКТ (ОБЛАСТИ)</vt:lpstr>
      <vt:lpstr>ОПРЕДЕЛЕНИЕ</vt:lpstr>
      <vt:lpstr>САМЫМИ РАСПРОСТРАНЕННЫМИ ПРИМЕНЕНИЯМИ  НЕЙРОННЫХ СЕТЕЙ ЯВЛЯЕТСЯ:</vt:lpstr>
      <vt:lpstr>ОСНОВНЫЕ ОПРЕДЕЛЕНИЯ</vt:lpstr>
      <vt:lpstr>ВИДЫ НЕЙРОННЫХ СЕТЕЙ</vt:lpstr>
      <vt:lpstr>Презентация PowerPoint</vt:lpstr>
      <vt:lpstr>Презентация PowerPoint</vt:lpstr>
      <vt:lpstr>НЕЙРОН</vt:lpstr>
      <vt:lpstr>СХЕМА ИСКУССТВЕННОГО НЕЙРОНА</vt:lpstr>
      <vt:lpstr>СОСТОЯНИЕ НЕЙРОНА</vt:lpstr>
      <vt:lpstr>ФУНКЦИЯ АКТИВАЦИИ НЕЙРОНА</vt:lpstr>
      <vt:lpstr>НЕЙРОН – ЛИНЕЙНЫЙ КЛАССИФИКАТОР</vt:lpstr>
      <vt:lpstr>МНОГОСЛОЙНЫЙ ПЕРСЕПТРОН</vt:lpstr>
      <vt:lpstr>РАБОТА НЕЙРОННОЙ СЕТИ</vt:lpstr>
      <vt:lpstr>РАБОТА НЕЙРОННОЙ СЕТИ</vt:lpstr>
      <vt:lpstr>РАБОТА НЕЙРОННОЙ СЕТИ</vt:lpstr>
      <vt:lpstr>РАБОТА НЕЙРОННОЙ СЕТИ</vt:lpstr>
      <vt:lpstr>НЕЙРОННЫЕ СЕТИ VS ЭВМ</vt:lpstr>
      <vt:lpstr>НЕЙРОЧИПЫ</vt:lpstr>
      <vt:lpstr>Презентация PowerPoint</vt:lpstr>
      <vt:lpstr>TRUENORTH   ПРОЦЕССОР НОВОГО ПОКОЛЕНИЯ </vt:lpstr>
      <vt:lpstr>TRUENORTH   ПРОЦЕССОР НОВОГО ПОКОЛЕНИЯ </vt:lpstr>
      <vt:lpstr>НЕЙРОСЕМАНТИЧЕСКОЕ ЯДРО</vt:lpstr>
      <vt:lpstr>СИНАПТИЧЕСКАЯ СЕТЬ ОТ DARPA НА НЕЙРОЧИПАХ</vt:lpstr>
      <vt:lpstr>ЭКСПЕРТНЫЕ (ИНТЕЛЛЕКТУАЛЬНЫЕ) СИСТЕМЫ</vt:lpstr>
      <vt:lpstr>Презентация PowerPoint</vt:lpstr>
      <vt:lpstr>ТИПЫ ЭКСПЕРТНЫХ СИСТЕМ</vt:lpstr>
      <vt:lpstr>НЕОБХОДИМЫЕ УСЛОВИЯ СОЗДАНИЯ ЭКСПЕРТНЫХ СИСТЕМ</vt:lpstr>
      <vt:lpstr>ТРЕБОВАНИЯ К ЗАДАЧАМ РЕШАЕМЫМ ЭКСПЕРТНЫМИ</vt:lpstr>
      <vt:lpstr>АРХИТЕКТУРА ЭКСПЕРТНОЙ СИСТЕМЫ</vt:lpstr>
      <vt:lpstr>Презентация PowerPoint</vt:lpstr>
      <vt:lpstr>ИЗВЛЕЧЕНИЕ ЗНАНИЙ</vt:lpstr>
      <vt:lpstr>ИЗВЛЕЧЕНИЕ ЗНАНИЙ</vt:lpstr>
      <vt:lpstr>ИЗВЛЕЧЕНИЕ ЗНАНИЙ</vt:lpstr>
      <vt:lpstr>ИЗВЛЕЧЕНИЕ ЗНАНИЙ</vt:lpstr>
      <vt:lpstr>КЛАССИФИКАЦИЯ МЕТОДОВ ИЗВЛЕЧЕНИЯ ЗНАНИЙ</vt:lpstr>
      <vt:lpstr>Презентация PowerPoint</vt:lpstr>
      <vt:lpstr>ПЕРЕХОД ОТ ИНФОЛОГИЧЕСКОГО МОДЕЛИРОВАНИЯ   К МОДЕЛЯМ ДАННЫХ И ЗНАНИЙ </vt:lpstr>
      <vt:lpstr>ПЕРЕХОД ОТ ИНФОЛОГИЧЕСКОГО МОДЕЛИРОВАНИЯ  К МОДЕЛЯМ ДАННЫХ И ЗНАНИЙ</vt:lpstr>
      <vt:lpstr>АРХИТЕКТУРА ПРОГРАММНОГО КОМПЛЕКСА, ПОДДЕРЖИВАЮЩЕГО  ОТОБРАЖЕНИЯ ДАННЫХ И ЗНАНИЙ ДЛЯ ДВУХ ПРЕДМЕТНЫХ ОБЛАСТЕЙ</vt:lpstr>
      <vt:lpstr>Презентация PowerPoint</vt:lpstr>
      <vt:lpstr>КЛАССИФИКАЦИЯ ЭКСПЕРТНЫХ СИСТЕМ</vt:lpstr>
      <vt:lpstr>НАИБОЛЕЕ ИЗВЕСТНЫЕ ЭКСПЕРТНЫЕ СИСТЕМЫ</vt:lpstr>
      <vt:lpstr>ВЕДЕНИЕ РАСПРЕДЕЛЁННОГО РЕЕСТРА В УСЛОВИЯХ НИЗКОГО  УРОВНЯ ДОВЕРИЯ</vt:lpstr>
      <vt:lpstr>ПРАВО ВЛАДЕНИЯ</vt:lpstr>
      <vt:lpstr>РЕЕСТРЫ</vt:lpstr>
      <vt:lpstr>ЦЕЛИ И СВОЙСТВА РЕЕСТРА</vt:lpstr>
      <vt:lpstr>АРХИТЕКТУРА ПРОГРАММНОГО ОБЕСПЕЧЕНИЯ</vt:lpstr>
      <vt:lpstr>ПЛЮСЫ И МИНУСЫ</vt:lpstr>
      <vt:lpstr>РАСПРЕДЕЛЁННЫЕ СИСТЕМЫ</vt:lpstr>
      <vt:lpstr>РАСПРЕДЕЛЁННЫЕ ПИРИНГОВЫЕ СИСТЕМЫ  PEER – TO – PEER (P2P) </vt:lpstr>
      <vt:lpstr>ПОДКЛЮЧЕНИЕ К P2P СЕТИ</vt:lpstr>
      <vt:lpstr>Презентация PowerPoint</vt:lpstr>
      <vt:lpstr>БЛОКЧЕЙН И ЦЕЛОСТНОСТЬ РАСПРЕДЕЛЁННОЙ СИСТЕМЫ</vt:lpstr>
      <vt:lpstr>ЦЕЛОСТНОСТЬ И ДОВЕРИТЕЛЬНОСТЬ</vt:lpstr>
      <vt:lpstr>ТИПЫ БЛОКЧЕЙНА</vt:lpstr>
      <vt:lpstr>УГРОЗЫ ЦЕЛОСТНОСТИ</vt:lpstr>
      <vt:lpstr>ЗНАЧЕНИЕ ТЕРМИНА</vt:lpstr>
      <vt:lpstr>БЛОКЧЕЙН И ПРАВО ВЛАДЕНИЯ</vt:lpstr>
      <vt:lpstr>ДВОЙНОЕ РАСХОДОВАНИЕ</vt:lpstr>
      <vt:lpstr>Презентация PowerPoint</vt:lpstr>
      <vt:lpstr>ОПИСАНИЕ ПРАВА ВЛАДЕНИЯ</vt:lpstr>
      <vt:lpstr>Презентация PowerPoint</vt:lpstr>
      <vt:lpstr>Презентация PowerPoint</vt:lpstr>
      <vt:lpstr>ПРИМЕР ХЕШ ЗНАЧЕНИЙ</vt:lpstr>
      <vt:lpstr>ШАБЛОНЫ ПРИМЕНЕНИЯ ХЕШ-ФУНКЦИЙ К ДАННЫМ</vt:lpstr>
      <vt:lpstr>ХЕШ-УКАЗАТЕЛЬ</vt:lpstr>
      <vt:lpstr>ДЕРЕВО МЕРКЛЕ</vt:lpstr>
      <vt:lpstr>ИДЕНТИФИКАЦИЯ И ЗАЩИТА ПОЛЬЗОВАТЕЛЕЙ</vt:lpstr>
      <vt:lpstr>ЦИФРОВАЯ ПОДПИСЬ</vt:lpstr>
      <vt:lpstr>ДАННЫЕ ТРАНЗАКЦИИ</vt:lpstr>
      <vt:lpstr>СТРУКТУРА ДАННЫХ БЛОКЧЕЙНА</vt:lpstr>
      <vt:lpstr>ДОБАВЛЕНИЕ НОВЫХ ТРАНЗАКЦИЙ</vt:lpstr>
      <vt:lpstr>ДОБАВЛЕНИЕ НОВЫХ ТРАНЗАКЦИЙ</vt:lpstr>
      <vt:lpstr>ЗАГОЛОВОК БЛОКА (ОТКРЫТЫЙ БЛОКЧЕЙН)</vt:lpstr>
      <vt:lpstr>РАСПРОСТРАНЕНИЕ РЕЕСТРА</vt:lpstr>
      <vt:lpstr>ДОБАВЛЕНИЕ БЛОКОВ</vt:lpstr>
      <vt:lpstr>ДОБАВЛЕНИЕ БЛОКОВ</vt:lpstr>
      <vt:lpstr>ВЫБОР ХРОНОЛОГИИ ТРАНЗАКЦИЙ (БЛОКОВ)</vt:lpstr>
      <vt:lpstr>ЧЕМ ГЛУБЖЕ В УТВЕРЖДЁННОЙ КОРРЕКТНОЙ ЦЕПОЧКЕ  РАСПОЛОЖЕН БЛОК, ТЕМ:</vt:lpstr>
      <vt:lpstr>УСТОЙЧИВОСТЬ ПРОТИВ СТОРОННИХ МАНИПУЛЯЦИЙ</vt:lpstr>
      <vt:lpstr>Презентация PowerPoint</vt:lpstr>
      <vt:lpstr>Презентация PowerPoint</vt:lpstr>
      <vt:lpstr>Презентация PowerPoint</vt:lpstr>
      <vt:lpstr>Презентация PowerPoint</vt:lpstr>
      <vt:lpstr>ТРЕБУЕМЫЕ СВОЙСТВА ИНСТРУМЕНТА ОБЕСПЕЧЕНИЯ  КОМПЕНСАЦИЙ </vt:lpstr>
      <vt:lpstr>ЦЕЛИ И ИНСТРУМЕНТЫ БЛОКЧЕЙНА</vt:lpstr>
      <vt:lpstr>ЧЕТЫРЕ ВЕРСИИ БЛОКЧЕЙН-СИСТЕМЫ КАК РЕЗУЛЬТАТ  СОЧЕТАНИЙ ОГРАНИЧЕНИЙ ПРАВ НА ЧТЕНИЕ И НА ЗАПИСЬ </vt:lpstr>
      <vt:lpstr>Практическое применение Блокчейн</vt:lpstr>
      <vt:lpstr>ПРАКТИЧЕСКОЕ ПРИМЕНЕНИЕ БЛОКЧЕЙН</vt:lpstr>
      <vt:lpstr>  BITCOIN.COM </vt:lpstr>
      <vt:lpstr>ОСНОВНЫЕ ПАРАМЕТРЫ</vt:lpstr>
      <vt:lpstr>САЙДЧЕЙН (SIDECHAIN)</vt:lpstr>
      <vt:lpstr>Презентация PowerPoint</vt:lpstr>
      <vt:lpstr>ETHEREUM</vt:lpstr>
      <vt:lpstr>ИНТЕРНЕТ ВЕЩЕЙ. (INTERNET OF THINGS,</vt:lpstr>
      <vt:lpstr>Презентация PowerPoint</vt:lpstr>
      <vt:lpstr>Презентация PowerPoint</vt:lpstr>
      <vt:lpstr>Презентация PowerPoint</vt:lpstr>
      <vt:lpstr>БАЗОВЫЕ ПРИНЦИПЫ IOT</vt:lpstr>
      <vt:lpstr>БАЗОВЫЕ ПРИНЦИПЫ IOT</vt:lpstr>
      <vt:lpstr>НЕСКОЛЬКО УРОВНЕЙ ПАКЕТОВ СООБЩЕНИЙ</vt:lpstr>
      <vt:lpstr>МОДЕЛЬ ВЗАИМОДЕЙСТВИЯ ОТКРЫТЫХ СИСТЕМ ISO/OSI</vt:lpstr>
      <vt:lpstr>Презентация PowerPoint</vt:lpstr>
      <vt:lpstr>ЭТАЛОННАЯ МОДЕЛЬ IOT ПО РЕКОМЕНДАЦИИ Y.2060</vt:lpstr>
      <vt:lpstr>Презентация PowerPoint</vt:lpstr>
      <vt:lpstr>ЭТАЛОННАЯ МОДЕЛЬ IOT</vt:lpstr>
      <vt:lpstr>ЭТАЛОННАЯ МОДЕЛЬ IOT, ОБЩИЕ ВОЗМОЖНОСТИ</vt:lpstr>
      <vt:lpstr>Презентация PowerPoint</vt:lpstr>
      <vt:lpstr>ПРОТОКОЛЫ ИНТЕРНЕТ-ВЕЩЕЙ</vt:lpstr>
      <vt:lpstr>ПРОТОКОЛ MQTT (MESSAGE QUEUE TELEMETRY  TRANSPORT) ОБСЛУЖИВАЕТ СБОР ДАННЫХ С   УСТРОЙСТВ</vt:lpstr>
      <vt:lpstr>Презентация PowerPoint</vt:lpstr>
      <vt:lpstr>Презентация PowerPoint</vt:lpstr>
      <vt:lpstr>запрашивают данные иначе, чем IT-инфраструктура. Во-первых, устройства работают</vt:lpstr>
      <vt:lpstr>ВАРИАНТЫ ПОДКЛЮЧЕНИЯ К СУЩЕСТВУЮЩИМ СЕТЯМ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КОМПЬЮТЕРНАЯ ГРАФИКА</dc:title>
  <dc:creator>Иван Н.</dc:creator>
  <cp:lastModifiedBy>Елена Р. Хорошева</cp:lastModifiedBy>
  <cp:revision>8</cp:revision>
  <dcterms:created xsi:type="dcterms:W3CDTF">2021-03-02T14:49:04Z</dcterms:created>
  <dcterms:modified xsi:type="dcterms:W3CDTF">2023-12-06T07:26:25Z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2020-07-02T00:00:00Z</vt:filetime>
  </property>
  <property fmtid="{D5CDD505-2E9C-101B-9397-08002B2CF9AE}" pid="3" name="Creator">
    <vt:lpwstr>Acrobat PDFMaker 10.1 для PowerPoint</vt:lpwstr>
  </property>
  <property fmtid="{D5CDD505-2E9C-101B-9397-08002B2CF9AE}" pid="4" name="LastSaved">
    <vt:filetime>2021-03-02T00:00:00Z</vt:filetime>
  </property>
</Properties>
</file>