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708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712" y="0"/>
            <a:ext cx="1352839" cy="1295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1545" y="1253270"/>
            <a:ext cx="9539997" cy="4006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87318" y="385571"/>
            <a:ext cx="5853430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712" y="0"/>
            <a:ext cx="1352839" cy="1295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1545" y="1253270"/>
            <a:ext cx="9539997" cy="4006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496" y="2629766"/>
            <a:ext cx="11825001" cy="203661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712" y="0"/>
            <a:ext cx="1352839" cy="1295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1545" y="1253270"/>
            <a:ext cx="9539997" cy="4006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712" y="0"/>
            <a:ext cx="1352839" cy="1295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61136" y="385571"/>
            <a:ext cx="8830945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73252" y="1918716"/>
            <a:ext cx="10045495" cy="4268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896090" y="6570905"/>
            <a:ext cx="254634" cy="209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jpg"/><Relationship Id="rId4" Type="http://schemas.openxmlformats.org/officeDocument/2006/relationships/image" Target="../media/image10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38200" y="1828800"/>
            <a:ext cx="7985125" cy="21903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5"/>
              </a:spcBef>
            </a:pPr>
            <a:endParaRPr sz="28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2400" dirty="0">
                <a:latin typeface="Tahoma"/>
                <a:cs typeface="Tahoma"/>
              </a:rPr>
              <a:t>Цифровые</a:t>
            </a:r>
            <a:r>
              <a:rPr sz="2400" spc="-9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технологии</a:t>
            </a:r>
            <a:r>
              <a:rPr sz="2400" spc="-9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для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граждан</a:t>
            </a:r>
            <a:endParaRPr sz="24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354965" algn="l"/>
              </a:tabLst>
            </a:pPr>
            <a:r>
              <a:rPr sz="2400" spc="-10" dirty="0">
                <a:latin typeface="Tahoma"/>
                <a:cs typeface="Tahoma"/>
              </a:rPr>
              <a:t>Цифровизация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платежей</a:t>
            </a:r>
            <a:endParaRPr sz="24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354965" algn="l"/>
              </a:tabLst>
            </a:pPr>
            <a:r>
              <a:rPr sz="2400" dirty="0">
                <a:latin typeface="Tahoma"/>
                <a:cs typeface="Tahoma"/>
              </a:rPr>
              <a:t>Мобильный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банк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и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интернет-банк</a:t>
            </a:r>
            <a:endParaRPr sz="24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354965" algn="l"/>
              </a:tabLst>
            </a:pPr>
            <a:r>
              <a:rPr sz="2400" dirty="0">
                <a:latin typeface="Tahoma"/>
                <a:cs typeface="Tahoma"/>
              </a:rPr>
              <a:t>Цифровой</a:t>
            </a:r>
            <a:r>
              <a:rPr sz="2400" spc="-9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рубль</a:t>
            </a:r>
            <a:r>
              <a:rPr sz="2400" spc="-1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и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цифровые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активы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3000" y="1143000"/>
            <a:ext cx="275463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-10" dirty="0">
                <a:latin typeface="Tahoma"/>
                <a:cs typeface="Tahoma"/>
              </a:rPr>
              <a:t>Цифровая</a:t>
            </a:r>
            <a:r>
              <a:rPr sz="2500" b="1" spc="-140" dirty="0">
                <a:latin typeface="Tahoma"/>
                <a:cs typeface="Tahoma"/>
              </a:rPr>
              <a:t> </a:t>
            </a:r>
            <a:r>
              <a:rPr sz="2500" b="1" spc="-10" dirty="0">
                <a:latin typeface="Tahoma"/>
                <a:cs typeface="Tahoma"/>
              </a:rPr>
              <a:t>среда</a:t>
            </a:r>
            <a:endParaRPr sz="25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2411475"/>
            <a:ext cx="5451475" cy="861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290"/>
              </a:lnSpc>
              <a:spcBef>
                <a:spcPts val="100"/>
              </a:spcBef>
            </a:pPr>
            <a:r>
              <a:rPr sz="2800" dirty="0"/>
              <a:t>1.</a:t>
            </a:r>
            <a:r>
              <a:rPr sz="2800" spc="-60" dirty="0"/>
              <a:t> </a:t>
            </a:r>
            <a:r>
              <a:rPr sz="2800" dirty="0"/>
              <a:t>Цифровые</a:t>
            </a:r>
            <a:r>
              <a:rPr sz="2800" spc="-55" dirty="0"/>
              <a:t> </a:t>
            </a:r>
            <a:r>
              <a:rPr sz="2800" spc="-30" dirty="0"/>
              <a:t>технологии</a:t>
            </a:r>
            <a:r>
              <a:rPr sz="2800" spc="-180" dirty="0"/>
              <a:t> </a:t>
            </a:r>
            <a:r>
              <a:rPr sz="2800" spc="-25" dirty="0"/>
              <a:t>для</a:t>
            </a:r>
            <a:endParaRPr sz="2800"/>
          </a:p>
          <a:p>
            <a:pPr marL="1826895">
              <a:lnSpc>
                <a:spcPts val="3290"/>
              </a:lnSpc>
            </a:pPr>
            <a:r>
              <a:rPr sz="2800" spc="-10" dirty="0"/>
              <a:t>граждан</a:t>
            </a:r>
            <a:endParaRPr sz="28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1545" y="1253270"/>
            <a:ext cx="9539997" cy="4006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Умения,</a:t>
            </a:r>
            <a:r>
              <a:rPr spc="-70" dirty="0"/>
              <a:t> </a:t>
            </a:r>
            <a:r>
              <a:rPr dirty="0"/>
              <a:t>навыки</a:t>
            </a:r>
            <a:r>
              <a:rPr spc="-70" dirty="0"/>
              <a:t> </a:t>
            </a:r>
            <a:r>
              <a:rPr dirty="0"/>
              <a:t>и</a:t>
            </a:r>
            <a:r>
              <a:rPr spc="-60" dirty="0"/>
              <a:t> </a:t>
            </a:r>
            <a:r>
              <a:rPr dirty="0"/>
              <a:t>поведение</a:t>
            </a:r>
            <a:r>
              <a:rPr spc="-70" dirty="0"/>
              <a:t> </a:t>
            </a:r>
            <a:r>
              <a:rPr dirty="0"/>
              <a:t>по</a:t>
            </a:r>
            <a:r>
              <a:rPr spc="-70" dirty="0"/>
              <a:t> </a:t>
            </a:r>
            <a:r>
              <a:rPr spc="-10" dirty="0"/>
              <a:t>направлению</a:t>
            </a:r>
            <a:r>
              <a:rPr spc="-60" dirty="0"/>
              <a:t> </a:t>
            </a:r>
            <a:r>
              <a:rPr dirty="0"/>
              <a:t>«Цифровая</a:t>
            </a:r>
            <a:r>
              <a:rPr spc="15" dirty="0"/>
              <a:t> </a:t>
            </a:r>
            <a:r>
              <a:rPr spc="-10" dirty="0"/>
              <a:t>среда»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381825" y="2017200"/>
            <a:ext cx="9160510" cy="1075055"/>
            <a:chOff x="2381825" y="2017200"/>
            <a:chExt cx="9160510" cy="1075055"/>
          </a:xfrm>
        </p:grpSpPr>
        <p:sp>
          <p:nvSpPr>
            <p:cNvPr id="5" name="object 5"/>
            <p:cNvSpPr/>
            <p:nvPr/>
          </p:nvSpPr>
          <p:spPr>
            <a:xfrm>
              <a:off x="2388175" y="2023550"/>
              <a:ext cx="9147810" cy="1062355"/>
            </a:xfrm>
            <a:custGeom>
              <a:avLst/>
              <a:gdLst/>
              <a:ahLst/>
              <a:cxnLst/>
              <a:rect l="l" t="t" r="r" b="b"/>
              <a:pathLst>
                <a:path w="9147810" h="1062355">
                  <a:moveTo>
                    <a:pt x="8970230" y="0"/>
                  </a:moveTo>
                  <a:lnTo>
                    <a:pt x="0" y="0"/>
                  </a:lnTo>
                  <a:lnTo>
                    <a:pt x="0" y="1062112"/>
                  </a:lnTo>
                  <a:lnTo>
                    <a:pt x="8970230" y="1062112"/>
                  </a:lnTo>
                  <a:lnTo>
                    <a:pt x="9017290" y="1055787"/>
                  </a:lnTo>
                  <a:lnTo>
                    <a:pt x="9059578" y="1037943"/>
                  </a:lnTo>
                  <a:lnTo>
                    <a:pt x="9095405" y="1010263"/>
                  </a:lnTo>
                  <a:lnTo>
                    <a:pt x="9123086" y="974435"/>
                  </a:lnTo>
                  <a:lnTo>
                    <a:pt x="9140931" y="932148"/>
                  </a:lnTo>
                  <a:lnTo>
                    <a:pt x="9147255" y="885088"/>
                  </a:lnTo>
                  <a:lnTo>
                    <a:pt x="9147255" y="177024"/>
                  </a:lnTo>
                  <a:lnTo>
                    <a:pt x="9140931" y="129962"/>
                  </a:lnTo>
                  <a:lnTo>
                    <a:pt x="9123086" y="87675"/>
                  </a:lnTo>
                  <a:lnTo>
                    <a:pt x="9095405" y="51847"/>
                  </a:lnTo>
                  <a:lnTo>
                    <a:pt x="9059578" y="24168"/>
                  </a:lnTo>
                  <a:lnTo>
                    <a:pt x="9017290" y="6323"/>
                  </a:lnTo>
                  <a:lnTo>
                    <a:pt x="8970230" y="0"/>
                  </a:lnTo>
                  <a:close/>
                </a:path>
              </a:pathLst>
            </a:custGeom>
            <a:solidFill>
              <a:srgbClr val="CBDEDE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88175" y="2023550"/>
              <a:ext cx="9147810" cy="1062355"/>
            </a:xfrm>
            <a:custGeom>
              <a:avLst/>
              <a:gdLst/>
              <a:ahLst/>
              <a:cxnLst/>
              <a:rect l="l" t="t" r="r" b="b"/>
              <a:pathLst>
                <a:path w="9147810" h="1062355">
                  <a:moveTo>
                    <a:pt x="9147256" y="177023"/>
                  </a:moveTo>
                  <a:lnTo>
                    <a:pt x="9147256" y="885088"/>
                  </a:lnTo>
                  <a:lnTo>
                    <a:pt x="9140932" y="932148"/>
                  </a:lnTo>
                  <a:lnTo>
                    <a:pt x="9123087" y="974435"/>
                  </a:lnTo>
                  <a:lnTo>
                    <a:pt x="9095407" y="1010263"/>
                  </a:lnTo>
                  <a:lnTo>
                    <a:pt x="9059580" y="1037943"/>
                  </a:lnTo>
                  <a:lnTo>
                    <a:pt x="9017292" y="1055788"/>
                  </a:lnTo>
                  <a:lnTo>
                    <a:pt x="8970233" y="1062112"/>
                  </a:lnTo>
                  <a:lnTo>
                    <a:pt x="0" y="1062112"/>
                  </a:lnTo>
                  <a:lnTo>
                    <a:pt x="0" y="0"/>
                  </a:lnTo>
                  <a:lnTo>
                    <a:pt x="8970233" y="0"/>
                  </a:lnTo>
                  <a:lnTo>
                    <a:pt x="9017292" y="6323"/>
                  </a:lnTo>
                  <a:lnTo>
                    <a:pt x="9059580" y="24168"/>
                  </a:lnTo>
                  <a:lnTo>
                    <a:pt x="9095407" y="51849"/>
                  </a:lnTo>
                  <a:lnTo>
                    <a:pt x="9123087" y="87676"/>
                  </a:lnTo>
                  <a:lnTo>
                    <a:pt x="9140932" y="129963"/>
                  </a:lnTo>
                  <a:lnTo>
                    <a:pt x="9147256" y="177023"/>
                  </a:lnTo>
                  <a:close/>
                </a:path>
              </a:pathLst>
            </a:custGeom>
            <a:ln w="12700">
              <a:solidFill>
                <a:srgbClr val="CB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623125" y="2113788"/>
            <a:ext cx="8323580" cy="84836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0" marR="5080" indent="-114300">
              <a:lnSpc>
                <a:spcPts val="1610"/>
              </a:lnSpc>
              <a:spcBef>
                <a:spcPts val="210"/>
              </a:spcBef>
              <a:buChar char="•"/>
              <a:tabLst>
                <a:tab pos="127000" algn="l"/>
              </a:tabLst>
            </a:pPr>
            <a:r>
              <a:rPr sz="1400" dirty="0">
                <a:latin typeface="Tahoma"/>
                <a:cs typeface="Tahoma"/>
              </a:rPr>
              <a:t>Уметь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использовать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функцию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автоплатежей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для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оплаты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регулярно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получаемых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услуг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(в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том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числе, </a:t>
            </a:r>
            <a:r>
              <a:rPr sz="1400" dirty="0">
                <a:latin typeface="Tahoma"/>
                <a:cs typeface="Tahoma"/>
              </a:rPr>
              <a:t>жилищно-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коммунальных</a:t>
            </a:r>
            <a:r>
              <a:rPr sz="1400" spc="-7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и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оплату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мобильной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связи).</a:t>
            </a:r>
            <a:endParaRPr sz="1400">
              <a:latin typeface="Tahoma"/>
              <a:cs typeface="Tahoma"/>
            </a:endParaRPr>
          </a:p>
          <a:p>
            <a:pPr marL="127000" marR="166370" indent="-114300">
              <a:lnSpc>
                <a:spcPts val="1490"/>
              </a:lnSpc>
              <a:spcBef>
                <a:spcPts val="190"/>
              </a:spcBef>
              <a:buChar char="•"/>
              <a:tabLst>
                <a:tab pos="127000" algn="l"/>
              </a:tabLst>
            </a:pPr>
            <a:r>
              <a:rPr sz="1400" dirty="0">
                <a:latin typeface="Tahoma"/>
                <a:cs typeface="Tahoma"/>
              </a:rPr>
              <a:t>Уметь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пользоваться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сайтами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и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приложениями,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агрегирующими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информацию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о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ценах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на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товары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50" dirty="0">
                <a:latin typeface="Tahoma"/>
                <a:cs typeface="Tahoma"/>
              </a:rPr>
              <a:t>и </a:t>
            </a:r>
            <a:r>
              <a:rPr sz="1400" dirty="0">
                <a:latin typeface="Tahoma"/>
                <a:cs typeface="Tahoma"/>
              </a:rPr>
              <a:t>услуги,</a:t>
            </a:r>
            <a:r>
              <a:rPr sz="1400" spc="-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для</a:t>
            </a:r>
            <a:r>
              <a:rPr sz="1400" spc="-6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определения</a:t>
            </a:r>
            <a:r>
              <a:rPr sz="1400" spc="-7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наиболее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выгодного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предложения.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5107" y="2021790"/>
            <a:ext cx="2053589" cy="1056640"/>
          </a:xfrm>
          <a:custGeom>
            <a:avLst/>
            <a:gdLst/>
            <a:ahLst/>
            <a:cxnLst/>
            <a:rect l="l" t="t" r="r" b="b"/>
            <a:pathLst>
              <a:path w="2053589" h="1056639">
                <a:moveTo>
                  <a:pt x="1877286" y="0"/>
                </a:moveTo>
                <a:lnTo>
                  <a:pt x="176110" y="0"/>
                </a:lnTo>
                <a:lnTo>
                  <a:pt x="129292" y="6289"/>
                </a:lnTo>
                <a:lnTo>
                  <a:pt x="87223" y="24043"/>
                </a:lnTo>
                <a:lnTo>
                  <a:pt x="51580" y="51581"/>
                </a:lnTo>
                <a:lnTo>
                  <a:pt x="24044" y="87223"/>
                </a:lnTo>
                <a:lnTo>
                  <a:pt x="6289" y="129292"/>
                </a:lnTo>
                <a:lnTo>
                  <a:pt x="0" y="176109"/>
                </a:lnTo>
                <a:lnTo>
                  <a:pt x="0" y="880531"/>
                </a:lnTo>
                <a:lnTo>
                  <a:pt x="6289" y="927348"/>
                </a:lnTo>
                <a:lnTo>
                  <a:pt x="24044" y="969417"/>
                </a:lnTo>
                <a:lnTo>
                  <a:pt x="51580" y="1005060"/>
                </a:lnTo>
                <a:lnTo>
                  <a:pt x="87223" y="1032598"/>
                </a:lnTo>
                <a:lnTo>
                  <a:pt x="129292" y="1050350"/>
                </a:lnTo>
                <a:lnTo>
                  <a:pt x="176110" y="1056642"/>
                </a:lnTo>
                <a:lnTo>
                  <a:pt x="1877286" y="1056642"/>
                </a:lnTo>
                <a:lnTo>
                  <a:pt x="1924102" y="1050350"/>
                </a:lnTo>
                <a:lnTo>
                  <a:pt x="1966172" y="1032598"/>
                </a:lnTo>
                <a:lnTo>
                  <a:pt x="2001815" y="1005060"/>
                </a:lnTo>
                <a:lnTo>
                  <a:pt x="2029352" y="969417"/>
                </a:lnTo>
                <a:lnTo>
                  <a:pt x="2047105" y="927348"/>
                </a:lnTo>
                <a:lnTo>
                  <a:pt x="2053397" y="880531"/>
                </a:lnTo>
                <a:lnTo>
                  <a:pt x="2053397" y="176109"/>
                </a:lnTo>
                <a:lnTo>
                  <a:pt x="2047105" y="129292"/>
                </a:lnTo>
                <a:lnTo>
                  <a:pt x="2029352" y="87223"/>
                </a:lnTo>
                <a:lnTo>
                  <a:pt x="2001815" y="51581"/>
                </a:lnTo>
                <a:lnTo>
                  <a:pt x="1966172" y="24043"/>
                </a:lnTo>
                <a:lnTo>
                  <a:pt x="1924102" y="6289"/>
                </a:lnTo>
                <a:lnTo>
                  <a:pt x="1877286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06456" y="2305303"/>
            <a:ext cx="1699260" cy="45847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 indent="426720">
              <a:lnSpc>
                <a:spcPts val="1610"/>
              </a:lnSpc>
              <a:spcBef>
                <a:spcPts val="310"/>
              </a:spcBef>
            </a:pPr>
            <a:r>
              <a:rPr sz="1500" b="1" dirty="0">
                <a:solidFill>
                  <a:srgbClr val="FFFFFF"/>
                </a:solidFill>
                <a:latin typeface="Tahoma"/>
                <a:cs typeface="Tahoma"/>
              </a:rPr>
              <a:t>Деньги</a:t>
            </a:r>
            <a:r>
              <a:rPr sz="15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00" b="1" spc="-50" dirty="0">
                <a:solidFill>
                  <a:srgbClr val="FFFFFF"/>
                </a:solidFill>
                <a:latin typeface="Tahoma"/>
                <a:cs typeface="Tahoma"/>
              </a:rPr>
              <a:t>и </a:t>
            </a:r>
            <a:r>
              <a:rPr sz="1500" b="1" dirty="0">
                <a:solidFill>
                  <a:srgbClr val="FFFFFF"/>
                </a:solidFill>
                <a:latin typeface="Tahoma"/>
                <a:cs typeface="Tahoma"/>
              </a:rPr>
              <a:t>операции</a:t>
            </a:r>
            <a:r>
              <a:rPr sz="1500" b="1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FFFFFF"/>
                </a:solidFill>
                <a:latin typeface="Tahoma"/>
                <a:cs typeface="Tahoma"/>
              </a:rPr>
              <a:t>с</a:t>
            </a:r>
            <a:r>
              <a:rPr sz="1500" b="1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00" b="1" spc="-20" dirty="0">
                <a:solidFill>
                  <a:srgbClr val="FFFFFF"/>
                </a:solidFill>
                <a:latin typeface="Tahoma"/>
                <a:cs typeface="Tahoma"/>
              </a:rPr>
              <a:t>ними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381823" y="3132146"/>
            <a:ext cx="9128125" cy="1143000"/>
            <a:chOff x="2381823" y="3132146"/>
            <a:chExt cx="9128125" cy="1143000"/>
          </a:xfrm>
        </p:grpSpPr>
        <p:sp>
          <p:nvSpPr>
            <p:cNvPr id="11" name="object 11"/>
            <p:cNvSpPr/>
            <p:nvPr/>
          </p:nvSpPr>
          <p:spPr>
            <a:xfrm>
              <a:off x="2388175" y="3138496"/>
              <a:ext cx="9115425" cy="1130300"/>
            </a:xfrm>
            <a:custGeom>
              <a:avLst/>
              <a:gdLst/>
              <a:ahLst/>
              <a:cxnLst/>
              <a:rect l="l" t="t" r="r" b="b"/>
              <a:pathLst>
                <a:path w="9115425" h="1130300">
                  <a:moveTo>
                    <a:pt x="8927095" y="0"/>
                  </a:moveTo>
                  <a:lnTo>
                    <a:pt x="0" y="0"/>
                  </a:lnTo>
                  <a:lnTo>
                    <a:pt x="0" y="1129769"/>
                  </a:lnTo>
                  <a:lnTo>
                    <a:pt x="8927095" y="1129769"/>
                  </a:lnTo>
                  <a:lnTo>
                    <a:pt x="8977153" y="1123043"/>
                  </a:lnTo>
                  <a:lnTo>
                    <a:pt x="9022134" y="1104061"/>
                  </a:lnTo>
                  <a:lnTo>
                    <a:pt x="9060243" y="1074618"/>
                  </a:lnTo>
                  <a:lnTo>
                    <a:pt x="9089685" y="1036507"/>
                  </a:lnTo>
                  <a:lnTo>
                    <a:pt x="9108668" y="991527"/>
                  </a:lnTo>
                  <a:lnTo>
                    <a:pt x="9115394" y="941470"/>
                  </a:lnTo>
                  <a:lnTo>
                    <a:pt x="9115394" y="188299"/>
                  </a:lnTo>
                  <a:lnTo>
                    <a:pt x="9108668" y="138242"/>
                  </a:lnTo>
                  <a:lnTo>
                    <a:pt x="9089685" y="93261"/>
                  </a:lnTo>
                  <a:lnTo>
                    <a:pt x="9060243" y="55151"/>
                  </a:lnTo>
                  <a:lnTo>
                    <a:pt x="9022134" y="25707"/>
                  </a:lnTo>
                  <a:lnTo>
                    <a:pt x="8977153" y="6725"/>
                  </a:lnTo>
                  <a:lnTo>
                    <a:pt x="8927095" y="0"/>
                  </a:lnTo>
                  <a:close/>
                </a:path>
              </a:pathLst>
            </a:custGeom>
            <a:solidFill>
              <a:srgbClr val="CBDEDE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88173" y="3138496"/>
              <a:ext cx="9115425" cy="1130300"/>
            </a:xfrm>
            <a:custGeom>
              <a:avLst/>
              <a:gdLst/>
              <a:ahLst/>
              <a:cxnLst/>
              <a:rect l="l" t="t" r="r" b="b"/>
              <a:pathLst>
                <a:path w="9115425" h="1130300">
                  <a:moveTo>
                    <a:pt x="9115396" y="188300"/>
                  </a:moveTo>
                  <a:lnTo>
                    <a:pt x="9115396" y="941470"/>
                  </a:lnTo>
                  <a:lnTo>
                    <a:pt x="9108669" y="991528"/>
                  </a:lnTo>
                  <a:lnTo>
                    <a:pt x="9089687" y="1036509"/>
                  </a:lnTo>
                  <a:lnTo>
                    <a:pt x="9060244" y="1074619"/>
                  </a:lnTo>
                  <a:lnTo>
                    <a:pt x="9022135" y="1104062"/>
                  </a:lnTo>
                  <a:lnTo>
                    <a:pt x="8977154" y="1123044"/>
                  </a:lnTo>
                  <a:lnTo>
                    <a:pt x="8927097" y="1129771"/>
                  </a:lnTo>
                  <a:lnTo>
                    <a:pt x="0" y="1129771"/>
                  </a:lnTo>
                  <a:lnTo>
                    <a:pt x="0" y="0"/>
                  </a:lnTo>
                  <a:lnTo>
                    <a:pt x="8927097" y="0"/>
                  </a:lnTo>
                  <a:lnTo>
                    <a:pt x="8977154" y="6726"/>
                  </a:lnTo>
                  <a:lnTo>
                    <a:pt x="9022135" y="25708"/>
                  </a:lnTo>
                  <a:lnTo>
                    <a:pt x="9060244" y="55151"/>
                  </a:lnTo>
                  <a:lnTo>
                    <a:pt x="9089687" y="93261"/>
                  </a:lnTo>
                  <a:lnTo>
                    <a:pt x="9108669" y="138242"/>
                  </a:lnTo>
                  <a:lnTo>
                    <a:pt x="9115396" y="188300"/>
                  </a:lnTo>
                  <a:close/>
                </a:path>
              </a:pathLst>
            </a:custGeom>
            <a:ln w="12700">
              <a:solidFill>
                <a:srgbClr val="CB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623126" y="3232404"/>
            <a:ext cx="8409305" cy="90043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220"/>
              </a:spcBef>
              <a:buChar char="•"/>
              <a:tabLst>
                <a:tab pos="126364" algn="l"/>
              </a:tabLst>
            </a:pPr>
            <a:r>
              <a:rPr sz="1400" dirty="0">
                <a:latin typeface="Tahoma"/>
                <a:cs typeface="Tahoma"/>
              </a:rPr>
              <a:t>Уметь</a:t>
            </a:r>
            <a:r>
              <a:rPr sz="1400" spc="-6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пользоваться</a:t>
            </a:r>
            <a:r>
              <a:rPr sz="1400" spc="-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сервисами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по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поиску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работы.</a:t>
            </a:r>
            <a:endParaRPr sz="1400">
              <a:latin typeface="Tahoma"/>
              <a:cs typeface="Tahoma"/>
            </a:endParaRPr>
          </a:p>
          <a:p>
            <a:pPr marL="127000" marR="5080" indent="-114300">
              <a:lnSpc>
                <a:spcPts val="1490"/>
              </a:lnSpc>
              <a:spcBef>
                <a:spcPts val="325"/>
              </a:spcBef>
              <a:buChar char="•"/>
              <a:tabLst>
                <a:tab pos="127000" algn="l"/>
              </a:tabLst>
            </a:pPr>
            <a:r>
              <a:rPr sz="1400" dirty="0">
                <a:latin typeface="Tahoma"/>
                <a:cs typeface="Tahoma"/>
              </a:rPr>
              <a:t>Уметь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использовать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электронные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таблицы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или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специализированные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приложения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для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ведения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учета </a:t>
            </a:r>
            <a:r>
              <a:rPr sz="1400" dirty="0">
                <a:latin typeface="Tahoma"/>
                <a:cs typeface="Tahoma"/>
              </a:rPr>
              <a:t>доходов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и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расходов.</a:t>
            </a:r>
            <a:endParaRPr sz="1400">
              <a:latin typeface="Tahoma"/>
              <a:cs typeface="Tahoma"/>
            </a:endParaRPr>
          </a:p>
          <a:p>
            <a:pPr marL="126364" indent="-113664">
              <a:lnSpc>
                <a:spcPct val="100000"/>
              </a:lnSpc>
              <a:spcBef>
                <a:spcPts val="100"/>
              </a:spcBef>
              <a:buChar char="•"/>
              <a:tabLst>
                <a:tab pos="126364" algn="l"/>
              </a:tabLst>
            </a:pPr>
            <a:r>
              <a:rPr sz="1400" dirty="0">
                <a:latin typeface="Tahoma"/>
                <a:cs typeface="Tahoma"/>
              </a:rPr>
              <a:t>Уметь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дистанционно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контролировать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состояние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своих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счетов.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65107" y="3169700"/>
            <a:ext cx="2053589" cy="1056640"/>
          </a:xfrm>
          <a:custGeom>
            <a:avLst/>
            <a:gdLst/>
            <a:ahLst/>
            <a:cxnLst/>
            <a:rect l="l" t="t" r="r" b="b"/>
            <a:pathLst>
              <a:path w="2053589" h="1056639">
                <a:moveTo>
                  <a:pt x="1877286" y="0"/>
                </a:moveTo>
                <a:lnTo>
                  <a:pt x="176110" y="0"/>
                </a:lnTo>
                <a:lnTo>
                  <a:pt x="129292" y="6290"/>
                </a:lnTo>
                <a:lnTo>
                  <a:pt x="87223" y="24044"/>
                </a:lnTo>
                <a:lnTo>
                  <a:pt x="51580" y="51581"/>
                </a:lnTo>
                <a:lnTo>
                  <a:pt x="24044" y="87224"/>
                </a:lnTo>
                <a:lnTo>
                  <a:pt x="6289" y="129293"/>
                </a:lnTo>
                <a:lnTo>
                  <a:pt x="0" y="176110"/>
                </a:lnTo>
                <a:lnTo>
                  <a:pt x="0" y="880532"/>
                </a:lnTo>
                <a:lnTo>
                  <a:pt x="6289" y="927348"/>
                </a:lnTo>
                <a:lnTo>
                  <a:pt x="24044" y="969418"/>
                </a:lnTo>
                <a:lnTo>
                  <a:pt x="51580" y="1005061"/>
                </a:lnTo>
                <a:lnTo>
                  <a:pt x="87223" y="1032598"/>
                </a:lnTo>
                <a:lnTo>
                  <a:pt x="129292" y="1050352"/>
                </a:lnTo>
                <a:lnTo>
                  <a:pt x="176110" y="1056643"/>
                </a:lnTo>
                <a:lnTo>
                  <a:pt x="1877286" y="1056643"/>
                </a:lnTo>
                <a:lnTo>
                  <a:pt x="1924102" y="1050352"/>
                </a:lnTo>
                <a:lnTo>
                  <a:pt x="1966172" y="1032598"/>
                </a:lnTo>
                <a:lnTo>
                  <a:pt x="2001815" y="1005061"/>
                </a:lnTo>
                <a:lnTo>
                  <a:pt x="2029352" y="969418"/>
                </a:lnTo>
                <a:lnTo>
                  <a:pt x="2047105" y="927348"/>
                </a:lnTo>
                <a:lnTo>
                  <a:pt x="2053397" y="880532"/>
                </a:lnTo>
                <a:lnTo>
                  <a:pt x="2053397" y="176110"/>
                </a:lnTo>
                <a:lnTo>
                  <a:pt x="2047105" y="129293"/>
                </a:lnTo>
                <a:lnTo>
                  <a:pt x="2029352" y="87224"/>
                </a:lnTo>
                <a:lnTo>
                  <a:pt x="2001815" y="51581"/>
                </a:lnTo>
                <a:lnTo>
                  <a:pt x="1966172" y="24044"/>
                </a:lnTo>
                <a:lnTo>
                  <a:pt x="1924102" y="6290"/>
                </a:lnTo>
                <a:lnTo>
                  <a:pt x="1877286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58272" y="3344671"/>
            <a:ext cx="1650364" cy="67500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236220" marR="5080" indent="-223520">
              <a:lnSpc>
                <a:spcPct val="92000"/>
              </a:lnSpc>
              <a:spcBef>
                <a:spcPts val="240"/>
              </a:spcBef>
            </a:pPr>
            <a:r>
              <a:rPr sz="1500" b="1" spc="-10" dirty="0">
                <a:solidFill>
                  <a:srgbClr val="FFFFFF"/>
                </a:solidFill>
                <a:latin typeface="Tahoma"/>
                <a:cs typeface="Tahoma"/>
              </a:rPr>
              <a:t>Планирование</a:t>
            </a:r>
            <a:r>
              <a:rPr sz="1500" b="1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00" b="1" spc="-50" dirty="0">
                <a:solidFill>
                  <a:srgbClr val="FFFFFF"/>
                </a:solidFill>
                <a:latin typeface="Tahoma"/>
                <a:cs typeface="Tahoma"/>
              </a:rPr>
              <a:t>и </a:t>
            </a:r>
            <a:r>
              <a:rPr sz="1500" b="1" spc="-10" dirty="0">
                <a:solidFill>
                  <a:srgbClr val="FFFFFF"/>
                </a:solidFill>
                <a:latin typeface="Tahoma"/>
                <a:cs typeface="Tahoma"/>
              </a:rPr>
              <a:t>управление финансами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385839" y="4400710"/>
            <a:ext cx="9178290" cy="897890"/>
            <a:chOff x="2385839" y="4400710"/>
            <a:chExt cx="9178290" cy="897890"/>
          </a:xfrm>
        </p:grpSpPr>
        <p:sp>
          <p:nvSpPr>
            <p:cNvPr id="17" name="object 17"/>
            <p:cNvSpPr/>
            <p:nvPr/>
          </p:nvSpPr>
          <p:spPr>
            <a:xfrm>
              <a:off x="2392189" y="4407060"/>
              <a:ext cx="9165590" cy="885190"/>
            </a:xfrm>
            <a:custGeom>
              <a:avLst/>
              <a:gdLst/>
              <a:ahLst/>
              <a:cxnLst/>
              <a:rect l="l" t="t" r="r" b="b"/>
              <a:pathLst>
                <a:path w="9165590" h="885189">
                  <a:moveTo>
                    <a:pt x="9017687" y="0"/>
                  </a:moveTo>
                  <a:lnTo>
                    <a:pt x="0" y="0"/>
                  </a:lnTo>
                  <a:lnTo>
                    <a:pt x="0" y="884721"/>
                  </a:lnTo>
                  <a:lnTo>
                    <a:pt x="9017687" y="884721"/>
                  </a:lnTo>
                  <a:lnTo>
                    <a:pt x="9064294" y="877204"/>
                  </a:lnTo>
                  <a:lnTo>
                    <a:pt x="9104774" y="856270"/>
                  </a:lnTo>
                  <a:lnTo>
                    <a:pt x="9136696" y="824349"/>
                  </a:lnTo>
                  <a:lnTo>
                    <a:pt x="9157629" y="783870"/>
                  </a:lnTo>
                  <a:lnTo>
                    <a:pt x="9165148" y="737261"/>
                  </a:lnTo>
                  <a:lnTo>
                    <a:pt x="9165148" y="147459"/>
                  </a:lnTo>
                  <a:lnTo>
                    <a:pt x="9157629" y="100850"/>
                  </a:lnTo>
                  <a:lnTo>
                    <a:pt x="9136696" y="60371"/>
                  </a:lnTo>
                  <a:lnTo>
                    <a:pt x="9104774" y="28450"/>
                  </a:lnTo>
                  <a:lnTo>
                    <a:pt x="9064294" y="7517"/>
                  </a:lnTo>
                  <a:lnTo>
                    <a:pt x="9017687" y="0"/>
                  </a:lnTo>
                  <a:close/>
                </a:path>
              </a:pathLst>
            </a:custGeom>
            <a:solidFill>
              <a:srgbClr val="CBDEDE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392189" y="4407060"/>
              <a:ext cx="9165590" cy="885190"/>
            </a:xfrm>
            <a:custGeom>
              <a:avLst/>
              <a:gdLst/>
              <a:ahLst/>
              <a:cxnLst/>
              <a:rect l="l" t="t" r="r" b="b"/>
              <a:pathLst>
                <a:path w="9165590" h="885189">
                  <a:moveTo>
                    <a:pt x="9165148" y="147460"/>
                  </a:moveTo>
                  <a:lnTo>
                    <a:pt x="9165148" y="737261"/>
                  </a:lnTo>
                  <a:lnTo>
                    <a:pt x="9157630" y="783870"/>
                  </a:lnTo>
                  <a:lnTo>
                    <a:pt x="9136696" y="824349"/>
                  </a:lnTo>
                  <a:lnTo>
                    <a:pt x="9104775" y="856270"/>
                  </a:lnTo>
                  <a:lnTo>
                    <a:pt x="9064296" y="877205"/>
                  </a:lnTo>
                  <a:lnTo>
                    <a:pt x="9017687" y="884723"/>
                  </a:lnTo>
                  <a:lnTo>
                    <a:pt x="0" y="884723"/>
                  </a:lnTo>
                  <a:lnTo>
                    <a:pt x="0" y="0"/>
                  </a:lnTo>
                  <a:lnTo>
                    <a:pt x="9017687" y="0"/>
                  </a:lnTo>
                  <a:lnTo>
                    <a:pt x="9064296" y="7517"/>
                  </a:lnTo>
                  <a:lnTo>
                    <a:pt x="9104775" y="28451"/>
                  </a:lnTo>
                  <a:lnTo>
                    <a:pt x="9136696" y="60372"/>
                  </a:lnTo>
                  <a:lnTo>
                    <a:pt x="9157630" y="100851"/>
                  </a:lnTo>
                  <a:lnTo>
                    <a:pt x="9165148" y="147460"/>
                  </a:lnTo>
                  <a:close/>
                </a:path>
              </a:pathLst>
            </a:custGeom>
            <a:ln w="12700">
              <a:solidFill>
                <a:srgbClr val="CB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627142" y="4491227"/>
            <a:ext cx="8454390" cy="67183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220"/>
              </a:spcBef>
              <a:buChar char="•"/>
              <a:tabLst>
                <a:tab pos="126364" algn="l"/>
              </a:tabLst>
            </a:pPr>
            <a:r>
              <a:rPr sz="1400" dirty="0">
                <a:latin typeface="Tahoma"/>
                <a:cs typeface="Tahoma"/>
              </a:rPr>
              <a:t>Уметь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при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необходимости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проверять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подлинность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имеющегося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полиса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ОСАГО.</a:t>
            </a:r>
            <a:endParaRPr sz="1400">
              <a:latin typeface="Tahoma"/>
              <a:cs typeface="Tahoma"/>
            </a:endParaRPr>
          </a:p>
          <a:p>
            <a:pPr marL="127000" marR="5080" indent="-114300">
              <a:lnSpc>
                <a:spcPts val="1490"/>
              </a:lnSpc>
              <a:spcBef>
                <a:spcPts val="325"/>
              </a:spcBef>
              <a:buChar char="•"/>
              <a:tabLst>
                <a:tab pos="127000" algn="l"/>
              </a:tabLst>
            </a:pPr>
            <a:r>
              <a:rPr sz="1400" dirty="0">
                <a:latin typeface="Tahoma"/>
                <a:cs typeface="Tahoma"/>
              </a:rPr>
              <a:t>Уметь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использовать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сервисы,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предоставляющие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информацию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о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ценах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и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доходности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инвестиционных продуктов</a:t>
            </a:r>
            <a:r>
              <a:rPr sz="1200" spc="-10" dirty="0">
                <a:latin typeface="Tahoma"/>
                <a:cs typeface="Tahoma"/>
              </a:rPr>
              <a:t>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65107" y="4315740"/>
            <a:ext cx="2058035" cy="1056640"/>
          </a:xfrm>
          <a:custGeom>
            <a:avLst/>
            <a:gdLst/>
            <a:ahLst/>
            <a:cxnLst/>
            <a:rect l="l" t="t" r="r" b="b"/>
            <a:pathLst>
              <a:path w="2058035" h="1056639">
                <a:moveTo>
                  <a:pt x="1881302" y="0"/>
                </a:moveTo>
                <a:lnTo>
                  <a:pt x="176110" y="0"/>
                </a:lnTo>
                <a:lnTo>
                  <a:pt x="129292" y="6290"/>
                </a:lnTo>
                <a:lnTo>
                  <a:pt x="87223" y="24044"/>
                </a:lnTo>
                <a:lnTo>
                  <a:pt x="51580" y="51581"/>
                </a:lnTo>
                <a:lnTo>
                  <a:pt x="24044" y="87224"/>
                </a:lnTo>
                <a:lnTo>
                  <a:pt x="6289" y="129293"/>
                </a:lnTo>
                <a:lnTo>
                  <a:pt x="0" y="176110"/>
                </a:lnTo>
                <a:lnTo>
                  <a:pt x="0" y="880531"/>
                </a:lnTo>
                <a:lnTo>
                  <a:pt x="6289" y="927348"/>
                </a:lnTo>
                <a:lnTo>
                  <a:pt x="24044" y="969417"/>
                </a:lnTo>
                <a:lnTo>
                  <a:pt x="51580" y="1005061"/>
                </a:lnTo>
                <a:lnTo>
                  <a:pt x="87223" y="1032598"/>
                </a:lnTo>
                <a:lnTo>
                  <a:pt x="129292" y="1050352"/>
                </a:lnTo>
                <a:lnTo>
                  <a:pt x="176110" y="1056643"/>
                </a:lnTo>
                <a:lnTo>
                  <a:pt x="1881302" y="1056643"/>
                </a:lnTo>
                <a:lnTo>
                  <a:pt x="1928119" y="1050352"/>
                </a:lnTo>
                <a:lnTo>
                  <a:pt x="1970188" y="1032598"/>
                </a:lnTo>
                <a:lnTo>
                  <a:pt x="2005830" y="1005061"/>
                </a:lnTo>
                <a:lnTo>
                  <a:pt x="2033368" y="969417"/>
                </a:lnTo>
                <a:lnTo>
                  <a:pt x="2051121" y="927348"/>
                </a:lnTo>
                <a:lnTo>
                  <a:pt x="2057413" y="880531"/>
                </a:lnTo>
                <a:lnTo>
                  <a:pt x="2057413" y="176110"/>
                </a:lnTo>
                <a:lnTo>
                  <a:pt x="2051121" y="129293"/>
                </a:lnTo>
                <a:lnTo>
                  <a:pt x="2033368" y="87224"/>
                </a:lnTo>
                <a:lnTo>
                  <a:pt x="2005830" y="51581"/>
                </a:lnTo>
                <a:lnTo>
                  <a:pt x="1970188" y="24044"/>
                </a:lnTo>
                <a:lnTo>
                  <a:pt x="1928119" y="6290"/>
                </a:lnTo>
                <a:lnTo>
                  <a:pt x="1881302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18688" y="4603495"/>
            <a:ext cx="1691639" cy="45847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 indent="477520">
              <a:lnSpc>
                <a:spcPts val="1610"/>
              </a:lnSpc>
              <a:spcBef>
                <a:spcPts val="310"/>
              </a:spcBef>
            </a:pPr>
            <a:r>
              <a:rPr sz="1500" b="1" dirty="0">
                <a:solidFill>
                  <a:srgbClr val="FFFFFF"/>
                </a:solidFill>
                <a:latin typeface="Tahoma"/>
                <a:cs typeface="Tahoma"/>
              </a:rPr>
              <a:t>Риски</a:t>
            </a:r>
            <a:r>
              <a:rPr sz="1500" b="1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00" b="1" spc="-50" dirty="0">
                <a:solidFill>
                  <a:srgbClr val="FFFFFF"/>
                </a:solidFill>
                <a:latin typeface="Tahoma"/>
                <a:cs typeface="Tahoma"/>
              </a:rPr>
              <a:t>и </a:t>
            </a:r>
            <a:r>
              <a:rPr sz="1500" b="1" spc="-10" dirty="0">
                <a:solidFill>
                  <a:srgbClr val="FFFFFF"/>
                </a:solidFill>
                <a:latin typeface="Tahoma"/>
                <a:cs typeface="Tahoma"/>
              </a:rPr>
              <a:t>вознаграждения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383831" y="5424223"/>
            <a:ext cx="9148445" cy="1073785"/>
            <a:chOff x="2383831" y="5424223"/>
            <a:chExt cx="9148445" cy="1073785"/>
          </a:xfrm>
        </p:grpSpPr>
        <p:sp>
          <p:nvSpPr>
            <p:cNvPr id="23" name="object 23"/>
            <p:cNvSpPr/>
            <p:nvPr/>
          </p:nvSpPr>
          <p:spPr>
            <a:xfrm>
              <a:off x="2390180" y="5430573"/>
              <a:ext cx="9135745" cy="1061085"/>
            </a:xfrm>
            <a:custGeom>
              <a:avLst/>
              <a:gdLst/>
              <a:ahLst/>
              <a:cxnLst/>
              <a:rect l="l" t="t" r="r" b="b"/>
              <a:pathLst>
                <a:path w="9135745" h="1061085">
                  <a:moveTo>
                    <a:pt x="8958371" y="0"/>
                  </a:moveTo>
                  <a:lnTo>
                    <a:pt x="0" y="0"/>
                  </a:lnTo>
                  <a:lnTo>
                    <a:pt x="0" y="1060539"/>
                  </a:lnTo>
                  <a:lnTo>
                    <a:pt x="8958371" y="1060539"/>
                  </a:lnTo>
                  <a:lnTo>
                    <a:pt x="9005361" y="1054225"/>
                  </a:lnTo>
                  <a:lnTo>
                    <a:pt x="9047586" y="1036406"/>
                  </a:lnTo>
                  <a:lnTo>
                    <a:pt x="9083360" y="1008767"/>
                  </a:lnTo>
                  <a:lnTo>
                    <a:pt x="9110997" y="972993"/>
                  </a:lnTo>
                  <a:lnTo>
                    <a:pt x="9128817" y="930769"/>
                  </a:lnTo>
                  <a:lnTo>
                    <a:pt x="9135131" y="883779"/>
                  </a:lnTo>
                  <a:lnTo>
                    <a:pt x="9135131" y="176759"/>
                  </a:lnTo>
                  <a:lnTo>
                    <a:pt x="9128817" y="129769"/>
                  </a:lnTo>
                  <a:lnTo>
                    <a:pt x="9110997" y="87546"/>
                  </a:lnTo>
                  <a:lnTo>
                    <a:pt x="9083360" y="51772"/>
                  </a:lnTo>
                  <a:lnTo>
                    <a:pt x="9047586" y="24133"/>
                  </a:lnTo>
                  <a:lnTo>
                    <a:pt x="9005361" y="6314"/>
                  </a:lnTo>
                  <a:lnTo>
                    <a:pt x="8958371" y="0"/>
                  </a:lnTo>
                  <a:close/>
                </a:path>
              </a:pathLst>
            </a:custGeom>
            <a:solidFill>
              <a:srgbClr val="CBDEDE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390181" y="5430573"/>
              <a:ext cx="9135745" cy="1061085"/>
            </a:xfrm>
            <a:custGeom>
              <a:avLst/>
              <a:gdLst/>
              <a:ahLst/>
              <a:cxnLst/>
              <a:rect l="l" t="t" r="r" b="b"/>
              <a:pathLst>
                <a:path w="9135745" h="1061085">
                  <a:moveTo>
                    <a:pt x="9135131" y="176759"/>
                  </a:moveTo>
                  <a:lnTo>
                    <a:pt x="9135131" y="883779"/>
                  </a:lnTo>
                  <a:lnTo>
                    <a:pt x="9128817" y="930768"/>
                  </a:lnTo>
                  <a:lnTo>
                    <a:pt x="9110998" y="972993"/>
                  </a:lnTo>
                  <a:lnTo>
                    <a:pt x="9083359" y="1008767"/>
                  </a:lnTo>
                  <a:lnTo>
                    <a:pt x="9047586" y="1036406"/>
                  </a:lnTo>
                  <a:lnTo>
                    <a:pt x="9005362" y="1054224"/>
                  </a:lnTo>
                  <a:lnTo>
                    <a:pt x="8958372" y="1060539"/>
                  </a:lnTo>
                  <a:lnTo>
                    <a:pt x="0" y="1060539"/>
                  </a:lnTo>
                  <a:lnTo>
                    <a:pt x="0" y="0"/>
                  </a:lnTo>
                  <a:lnTo>
                    <a:pt x="8958372" y="0"/>
                  </a:lnTo>
                  <a:lnTo>
                    <a:pt x="9005362" y="6314"/>
                  </a:lnTo>
                  <a:lnTo>
                    <a:pt x="9047586" y="24132"/>
                  </a:lnTo>
                  <a:lnTo>
                    <a:pt x="9083359" y="51771"/>
                  </a:lnTo>
                  <a:lnTo>
                    <a:pt x="9110998" y="87545"/>
                  </a:lnTo>
                  <a:lnTo>
                    <a:pt x="9128817" y="129770"/>
                  </a:lnTo>
                  <a:lnTo>
                    <a:pt x="9135131" y="176759"/>
                  </a:lnTo>
                  <a:close/>
                </a:path>
              </a:pathLst>
            </a:custGeom>
            <a:ln w="12700">
              <a:solidFill>
                <a:srgbClr val="CB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625133" y="5411723"/>
            <a:ext cx="8447405" cy="107696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0" marR="5080" indent="-114300">
              <a:lnSpc>
                <a:spcPts val="1610"/>
              </a:lnSpc>
              <a:spcBef>
                <a:spcPts val="210"/>
              </a:spcBef>
              <a:buChar char="•"/>
              <a:tabLst>
                <a:tab pos="127000" algn="l"/>
              </a:tabLst>
            </a:pPr>
            <a:r>
              <a:rPr sz="1400" dirty="0">
                <a:latin typeface="Tahoma"/>
                <a:cs typeface="Tahoma"/>
              </a:rPr>
              <a:t>Уметь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находить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интернет-</a:t>
            </a:r>
            <a:r>
              <a:rPr sz="1400" dirty="0">
                <a:latin typeface="Tahoma"/>
                <a:cs typeface="Tahoma"/>
              </a:rPr>
              <a:t>страницы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необходимых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государственных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органов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в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конкретной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жизненной ситуации.</a:t>
            </a:r>
            <a:endParaRPr sz="1400">
              <a:latin typeface="Tahoma"/>
              <a:cs typeface="Tahoma"/>
            </a:endParaRPr>
          </a:p>
          <a:p>
            <a:pPr marL="127000" marR="518159" indent="-114300">
              <a:lnSpc>
                <a:spcPts val="1490"/>
              </a:lnSpc>
              <a:spcBef>
                <a:spcPts val="190"/>
              </a:spcBef>
              <a:buChar char="•"/>
              <a:tabLst>
                <a:tab pos="127000" algn="l"/>
              </a:tabLst>
            </a:pPr>
            <a:r>
              <a:rPr sz="1400" dirty="0">
                <a:latin typeface="Tahoma"/>
                <a:cs typeface="Tahoma"/>
              </a:rPr>
              <a:t>Уметь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заполнять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налоговую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декларацию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(в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том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числе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с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использованием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специализированного программного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обеспечения).</a:t>
            </a:r>
            <a:endParaRPr sz="1400">
              <a:latin typeface="Tahoma"/>
              <a:cs typeface="Tahoma"/>
            </a:endParaRPr>
          </a:p>
          <a:p>
            <a:pPr marL="126364" indent="-113664">
              <a:lnSpc>
                <a:spcPct val="100000"/>
              </a:lnSpc>
              <a:spcBef>
                <a:spcPts val="100"/>
              </a:spcBef>
              <a:buChar char="•"/>
              <a:tabLst>
                <a:tab pos="126364" algn="l"/>
              </a:tabLst>
            </a:pPr>
            <a:r>
              <a:rPr sz="1400" dirty="0">
                <a:latin typeface="Tahoma"/>
                <a:cs typeface="Tahoma"/>
              </a:rPr>
              <a:t>Уметь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пользоваться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сервисами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на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сайтах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государственных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и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муниципальных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услуг.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65107" y="5427164"/>
            <a:ext cx="2055495" cy="1056640"/>
          </a:xfrm>
          <a:custGeom>
            <a:avLst/>
            <a:gdLst/>
            <a:ahLst/>
            <a:cxnLst/>
            <a:rect l="l" t="t" r="r" b="b"/>
            <a:pathLst>
              <a:path w="2055495" h="1056639">
                <a:moveTo>
                  <a:pt x="1879294" y="0"/>
                </a:moveTo>
                <a:lnTo>
                  <a:pt x="176108" y="0"/>
                </a:lnTo>
                <a:lnTo>
                  <a:pt x="129291" y="6289"/>
                </a:lnTo>
                <a:lnTo>
                  <a:pt x="87222" y="24043"/>
                </a:lnTo>
                <a:lnTo>
                  <a:pt x="51580" y="51581"/>
                </a:lnTo>
                <a:lnTo>
                  <a:pt x="24044" y="87222"/>
                </a:lnTo>
                <a:lnTo>
                  <a:pt x="6289" y="129291"/>
                </a:lnTo>
                <a:lnTo>
                  <a:pt x="0" y="176109"/>
                </a:lnTo>
                <a:lnTo>
                  <a:pt x="0" y="880532"/>
                </a:lnTo>
                <a:lnTo>
                  <a:pt x="6289" y="927349"/>
                </a:lnTo>
                <a:lnTo>
                  <a:pt x="24044" y="969418"/>
                </a:lnTo>
                <a:lnTo>
                  <a:pt x="51580" y="1005060"/>
                </a:lnTo>
                <a:lnTo>
                  <a:pt x="87222" y="1032597"/>
                </a:lnTo>
                <a:lnTo>
                  <a:pt x="129291" y="1050351"/>
                </a:lnTo>
                <a:lnTo>
                  <a:pt x="176108" y="1056642"/>
                </a:lnTo>
                <a:lnTo>
                  <a:pt x="1879294" y="1056642"/>
                </a:lnTo>
                <a:lnTo>
                  <a:pt x="1926110" y="1050351"/>
                </a:lnTo>
                <a:lnTo>
                  <a:pt x="1968180" y="1032597"/>
                </a:lnTo>
                <a:lnTo>
                  <a:pt x="2003821" y="1005060"/>
                </a:lnTo>
                <a:lnTo>
                  <a:pt x="2031359" y="969418"/>
                </a:lnTo>
                <a:lnTo>
                  <a:pt x="2049112" y="927349"/>
                </a:lnTo>
                <a:lnTo>
                  <a:pt x="2055402" y="880532"/>
                </a:lnTo>
                <a:lnTo>
                  <a:pt x="2055402" y="176109"/>
                </a:lnTo>
                <a:lnTo>
                  <a:pt x="2049112" y="129291"/>
                </a:lnTo>
                <a:lnTo>
                  <a:pt x="2031359" y="87222"/>
                </a:lnTo>
                <a:lnTo>
                  <a:pt x="2003821" y="51581"/>
                </a:lnTo>
                <a:lnTo>
                  <a:pt x="1968180" y="24043"/>
                </a:lnTo>
                <a:lnTo>
                  <a:pt x="1926110" y="6289"/>
                </a:lnTo>
                <a:lnTo>
                  <a:pt x="1879294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71111" y="5709920"/>
            <a:ext cx="1240155" cy="45847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307340" marR="5080" indent="-295275">
              <a:lnSpc>
                <a:spcPts val="1610"/>
              </a:lnSpc>
              <a:spcBef>
                <a:spcPts val="310"/>
              </a:spcBef>
            </a:pPr>
            <a:r>
              <a:rPr sz="1500" b="1" spc="-10" dirty="0">
                <a:solidFill>
                  <a:srgbClr val="FFFFFF"/>
                </a:solidFill>
                <a:latin typeface="Tahoma"/>
                <a:cs typeface="Tahoma"/>
              </a:rPr>
              <a:t>Финансовая среда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Индекс</a:t>
            </a:r>
            <a:r>
              <a:rPr spc="-85" dirty="0"/>
              <a:t> </a:t>
            </a:r>
            <a:r>
              <a:rPr dirty="0"/>
              <a:t>цифровой</a:t>
            </a:r>
            <a:r>
              <a:rPr spc="-80" dirty="0"/>
              <a:t> </a:t>
            </a:r>
            <a:r>
              <a:rPr spc="-10" dirty="0"/>
              <a:t>финансовой</a:t>
            </a:r>
            <a:r>
              <a:rPr spc="-85" dirty="0"/>
              <a:t> </a:t>
            </a:r>
            <a:r>
              <a:rPr spc="-10" dirty="0"/>
              <a:t>грамотности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08218" y="2026411"/>
            <a:ext cx="10577195" cy="833119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ct val="97200"/>
              </a:lnSpc>
              <a:spcBef>
                <a:spcPts val="160"/>
              </a:spcBef>
            </a:pPr>
            <a:r>
              <a:rPr sz="1800" b="1" dirty="0">
                <a:latin typeface="Tahoma"/>
                <a:cs typeface="Tahoma"/>
              </a:rPr>
              <a:t>Цифровая</a:t>
            </a:r>
            <a:r>
              <a:rPr sz="1800" b="1" spc="-6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финансовая</a:t>
            </a:r>
            <a:r>
              <a:rPr sz="1800" b="1" spc="-65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грамотность</a:t>
            </a:r>
            <a:r>
              <a:rPr sz="1800" b="1" spc="-7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предполагает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знание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базовых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цифровых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финансовых </a:t>
            </a:r>
            <a:r>
              <a:rPr sz="1800" dirty="0">
                <a:latin typeface="Tahoma"/>
                <a:cs typeface="Tahoma"/>
              </a:rPr>
              <a:t>понятий,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отражает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умение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человека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принимать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взвешенные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решения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обращении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с</a:t>
            </a:r>
            <a:r>
              <a:rPr sz="1800" spc="-8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финансовыми </a:t>
            </a:r>
            <a:r>
              <a:rPr sz="1800" dirty="0">
                <a:latin typeface="Tahoma"/>
                <a:cs typeface="Tahoma"/>
              </a:rPr>
              <a:t>продуктами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в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интернете,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а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также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осведомленность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о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цифровых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финансовых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рисках.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585786" y="3026399"/>
            <a:ext cx="9234805" cy="3807460"/>
            <a:chOff x="1585786" y="3026399"/>
            <a:chExt cx="9234805" cy="38074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5786" y="3026399"/>
              <a:ext cx="9234610" cy="378809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0118034" y="6511981"/>
              <a:ext cx="219075" cy="321945"/>
            </a:xfrm>
            <a:custGeom>
              <a:avLst/>
              <a:gdLst/>
              <a:ahLst/>
              <a:cxnLst/>
              <a:rect l="l" t="t" r="r" b="b"/>
              <a:pathLst>
                <a:path w="219075" h="321945">
                  <a:moveTo>
                    <a:pt x="109329" y="0"/>
                  </a:moveTo>
                  <a:lnTo>
                    <a:pt x="44761" y="31025"/>
                  </a:lnTo>
                  <a:lnTo>
                    <a:pt x="21093" y="65837"/>
                  </a:lnTo>
                  <a:lnTo>
                    <a:pt x="5572" y="109979"/>
                  </a:lnTo>
                  <a:lnTo>
                    <a:pt x="0" y="160809"/>
                  </a:lnTo>
                  <a:lnTo>
                    <a:pt x="5572" y="211636"/>
                  </a:lnTo>
                  <a:lnTo>
                    <a:pt x="21093" y="255780"/>
                  </a:lnTo>
                  <a:lnTo>
                    <a:pt x="44761" y="290591"/>
                  </a:lnTo>
                  <a:lnTo>
                    <a:pt x="74772" y="313419"/>
                  </a:lnTo>
                  <a:lnTo>
                    <a:pt x="109329" y="321618"/>
                  </a:lnTo>
                  <a:lnTo>
                    <a:pt x="143887" y="313419"/>
                  </a:lnTo>
                  <a:lnTo>
                    <a:pt x="173898" y="290591"/>
                  </a:lnTo>
                  <a:lnTo>
                    <a:pt x="197565" y="255780"/>
                  </a:lnTo>
                  <a:lnTo>
                    <a:pt x="213086" y="211636"/>
                  </a:lnTo>
                  <a:lnTo>
                    <a:pt x="218659" y="160809"/>
                  </a:lnTo>
                  <a:lnTo>
                    <a:pt x="213086" y="109979"/>
                  </a:lnTo>
                  <a:lnTo>
                    <a:pt x="197565" y="65837"/>
                  </a:lnTo>
                  <a:lnTo>
                    <a:pt x="173898" y="31025"/>
                  </a:lnTo>
                  <a:lnTo>
                    <a:pt x="143887" y="8197"/>
                  </a:lnTo>
                  <a:lnTo>
                    <a:pt x="1093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1545" y="1253270"/>
            <a:ext cx="9539997" cy="4006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9935">
              <a:lnSpc>
                <a:spcPct val="100000"/>
              </a:lnSpc>
              <a:spcBef>
                <a:spcPts val="100"/>
              </a:spcBef>
            </a:pPr>
            <a:r>
              <a:rPr dirty="0"/>
              <a:t>Основные</a:t>
            </a:r>
            <a:r>
              <a:rPr spc="-95" dirty="0"/>
              <a:t> </a:t>
            </a:r>
            <a:r>
              <a:rPr dirty="0"/>
              <a:t>цифровые</a:t>
            </a:r>
            <a:r>
              <a:rPr spc="-90" dirty="0"/>
              <a:t> </a:t>
            </a:r>
            <a:r>
              <a:rPr dirty="0"/>
              <a:t>сервисы,</a:t>
            </a:r>
            <a:r>
              <a:rPr spc="-90" dirty="0"/>
              <a:t> </a:t>
            </a:r>
            <a:r>
              <a:rPr dirty="0"/>
              <a:t>доступные</a:t>
            </a:r>
            <a:r>
              <a:rPr spc="-95" dirty="0"/>
              <a:t> </a:t>
            </a:r>
            <a:r>
              <a:rPr dirty="0"/>
              <a:t>для</a:t>
            </a:r>
            <a:r>
              <a:rPr spc="-70" dirty="0"/>
              <a:t> </a:t>
            </a:r>
            <a:r>
              <a:rPr spc="-10" dirty="0"/>
              <a:t>граждан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847" y="1991867"/>
            <a:ext cx="9528810" cy="44450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AutoNum type="arabicPeriod"/>
              <a:tabLst>
                <a:tab pos="354965" algn="l"/>
              </a:tabLst>
            </a:pPr>
            <a:r>
              <a:rPr sz="2000" dirty="0">
                <a:latin typeface="Tahoma"/>
                <a:cs typeface="Tahoma"/>
              </a:rPr>
              <a:t>Портал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ahoma"/>
                <a:cs typeface="Tahoma"/>
              </a:rPr>
              <a:t>Госуслуги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AutoNum type="arabicPeriod"/>
              <a:tabLst>
                <a:tab pos="354965" algn="l"/>
              </a:tabLst>
            </a:pPr>
            <a:r>
              <a:rPr sz="2000" u="heavy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ahoma"/>
                <a:cs typeface="Tahoma"/>
              </a:rPr>
              <a:t>Личный</a:t>
            </a:r>
            <a:r>
              <a:rPr sz="2000" u="heavy" spc="-10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ahoma"/>
                <a:cs typeface="Tahoma"/>
              </a:rPr>
              <a:t> </a:t>
            </a:r>
            <a:r>
              <a:rPr sz="2000" u="heavy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ahoma"/>
                <a:cs typeface="Tahoma"/>
              </a:rPr>
              <a:t>кабинет</a:t>
            </a:r>
            <a:r>
              <a:rPr sz="2000" u="heavy" spc="-10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ahoma"/>
                <a:cs typeface="Tahoma"/>
              </a:rPr>
              <a:t> </a:t>
            </a:r>
            <a:r>
              <a:rPr sz="20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ahoma"/>
                <a:cs typeface="Tahoma"/>
              </a:rPr>
              <a:t>налогоплательщика</a:t>
            </a:r>
            <a:endParaRPr sz="2000">
              <a:latin typeface="Tahoma"/>
              <a:cs typeface="Tahoma"/>
            </a:endParaRPr>
          </a:p>
          <a:p>
            <a:pPr marL="354965" marR="5080" indent="-3429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4965" algn="l"/>
              </a:tabLst>
            </a:pPr>
            <a:r>
              <a:rPr sz="2000" spc="-10" dirty="0">
                <a:latin typeface="Tahoma"/>
                <a:cs typeface="Tahoma"/>
              </a:rPr>
              <a:t>Дистанционный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доступ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к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банковским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операциям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(мобильный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банк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и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интернет банк)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4965" algn="l"/>
              </a:tabLst>
            </a:pPr>
            <a:r>
              <a:rPr sz="2000" dirty="0">
                <a:latin typeface="Tahoma"/>
                <a:cs typeface="Tahoma"/>
              </a:rPr>
              <a:t>Безналичные</a:t>
            </a:r>
            <a:r>
              <a:rPr sz="2000" spc="-114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платежи,</a:t>
            </a:r>
            <a:r>
              <a:rPr sz="2000" spc="-1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в</a:t>
            </a:r>
            <a:r>
              <a:rPr sz="2000" spc="-9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том</a:t>
            </a:r>
            <a:r>
              <a:rPr sz="2000" spc="-1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числе</a:t>
            </a:r>
            <a:r>
              <a:rPr sz="2000" spc="-10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оплата</a:t>
            </a:r>
            <a:r>
              <a:rPr sz="2000" spc="-11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коммунальных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платежей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4965" algn="l"/>
              </a:tabLst>
            </a:pPr>
            <a:r>
              <a:rPr sz="2000" spc="-10" dirty="0">
                <a:latin typeface="Tahoma"/>
                <a:cs typeface="Tahoma"/>
              </a:rPr>
              <a:t>Покупка</a:t>
            </a:r>
            <a:r>
              <a:rPr sz="2000" spc="-13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страховых</a:t>
            </a:r>
            <a:r>
              <a:rPr sz="2000" spc="-11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полисов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4965" algn="l"/>
              </a:tabLst>
            </a:pPr>
            <a:r>
              <a:rPr sz="2000" spc="-10" dirty="0">
                <a:latin typeface="Tahoma"/>
                <a:cs typeface="Tahoma"/>
              </a:rPr>
              <a:t>Приложения</a:t>
            </a:r>
            <a:r>
              <a:rPr sz="2000" spc="-8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и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сервисы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доставки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продуктов</a:t>
            </a:r>
            <a:r>
              <a:rPr sz="2000" spc="-9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и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лекарств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на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дом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4965" algn="l"/>
              </a:tabLst>
            </a:pPr>
            <a:r>
              <a:rPr sz="2000" dirty="0">
                <a:latin typeface="Tahoma"/>
                <a:cs typeface="Tahoma"/>
              </a:rPr>
              <a:t>Покупки</a:t>
            </a:r>
            <a:r>
              <a:rPr sz="2000" spc="-9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на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маркетплейсах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4965" algn="l"/>
              </a:tabLst>
            </a:pPr>
            <a:r>
              <a:rPr sz="2000" dirty="0">
                <a:latin typeface="Tahoma"/>
                <a:cs typeface="Tahoma"/>
              </a:rPr>
              <a:t>Карты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и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навигация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4965" algn="l"/>
              </a:tabLst>
            </a:pPr>
            <a:r>
              <a:rPr sz="2000" spc="-10" dirty="0">
                <a:latin typeface="Tahoma"/>
                <a:cs typeface="Tahoma"/>
              </a:rPr>
              <a:t>Стриминговые</a:t>
            </a:r>
            <a:r>
              <a:rPr sz="2000" spc="-114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сервисы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1545" y="1253270"/>
            <a:ext cx="9539997" cy="4006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54885">
              <a:lnSpc>
                <a:spcPct val="100000"/>
              </a:lnSpc>
              <a:spcBef>
                <a:spcPts val="100"/>
              </a:spcBef>
            </a:pPr>
            <a:r>
              <a:rPr dirty="0"/>
              <a:t>Цифровой</a:t>
            </a:r>
            <a:r>
              <a:rPr spc="-75" dirty="0"/>
              <a:t> </a:t>
            </a:r>
            <a:r>
              <a:rPr spc="-10" dirty="0"/>
              <a:t>профиль</a:t>
            </a:r>
            <a:r>
              <a:rPr spc="-114" dirty="0"/>
              <a:t> </a:t>
            </a:r>
            <a:r>
              <a:rPr spc="-10" dirty="0"/>
              <a:t>гражданина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32895" y="2180844"/>
            <a:ext cx="974026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ahoma"/>
                <a:cs typeface="Tahoma"/>
              </a:rPr>
              <a:t>Цифровой</a:t>
            </a:r>
            <a:r>
              <a:rPr sz="2000" b="1" spc="-75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профиль</a:t>
            </a:r>
            <a:r>
              <a:rPr sz="2000" b="1" spc="-7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–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это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совокупность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цифровых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записей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о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физических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лицах, содержащихся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в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государственных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информационных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системах,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предоставление </a:t>
            </a:r>
            <a:r>
              <a:rPr sz="2000" dirty="0">
                <a:latin typeface="Tahoma"/>
                <a:cs typeface="Tahoma"/>
              </a:rPr>
              <a:t>которых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обеспечивается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с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использованием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технологической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инфраструктуры.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3117" y="3281115"/>
            <a:ext cx="11053958" cy="288014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1545" y="1253270"/>
            <a:ext cx="9539997" cy="4006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54885">
              <a:lnSpc>
                <a:spcPct val="100000"/>
              </a:lnSpc>
              <a:spcBef>
                <a:spcPts val="100"/>
              </a:spcBef>
            </a:pPr>
            <a:r>
              <a:rPr dirty="0"/>
              <a:t>Цифровой</a:t>
            </a:r>
            <a:r>
              <a:rPr spc="-75" dirty="0"/>
              <a:t> </a:t>
            </a:r>
            <a:r>
              <a:rPr spc="-10" dirty="0"/>
              <a:t>профиль</a:t>
            </a:r>
            <a:r>
              <a:rPr spc="-114" dirty="0"/>
              <a:t> </a:t>
            </a:r>
            <a:r>
              <a:rPr spc="-10" dirty="0"/>
              <a:t>гражданина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06223" y="21662"/>
            <a:ext cx="1050689" cy="97486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590124" y="2141489"/>
            <a:ext cx="7121525" cy="411480"/>
            <a:chOff x="2590124" y="2141489"/>
            <a:chExt cx="7121525" cy="411480"/>
          </a:xfrm>
        </p:grpSpPr>
        <p:sp>
          <p:nvSpPr>
            <p:cNvPr id="6" name="object 6"/>
            <p:cNvSpPr/>
            <p:nvPr/>
          </p:nvSpPr>
          <p:spPr>
            <a:xfrm>
              <a:off x="2795718" y="2147839"/>
              <a:ext cx="6915784" cy="398780"/>
            </a:xfrm>
            <a:custGeom>
              <a:avLst/>
              <a:gdLst/>
              <a:ahLst/>
              <a:cxnLst/>
              <a:rect l="l" t="t" r="r" b="b"/>
              <a:pathLst>
                <a:path w="6915784" h="398780">
                  <a:moveTo>
                    <a:pt x="6915758" y="0"/>
                  </a:moveTo>
                  <a:lnTo>
                    <a:pt x="199235" y="0"/>
                  </a:lnTo>
                  <a:lnTo>
                    <a:pt x="0" y="199237"/>
                  </a:lnTo>
                  <a:lnTo>
                    <a:pt x="199235" y="398484"/>
                  </a:lnTo>
                  <a:lnTo>
                    <a:pt x="6915758" y="398484"/>
                  </a:lnTo>
                  <a:lnTo>
                    <a:pt x="6915758" y="0"/>
                  </a:lnTo>
                  <a:close/>
                </a:path>
              </a:pathLst>
            </a:custGeom>
            <a:solidFill>
              <a:srgbClr val="E618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96474" y="2147839"/>
              <a:ext cx="398780" cy="398780"/>
            </a:xfrm>
            <a:custGeom>
              <a:avLst/>
              <a:gdLst/>
              <a:ahLst/>
              <a:cxnLst/>
              <a:rect l="l" t="t" r="r" b="b"/>
              <a:pathLst>
                <a:path w="398780" h="398780">
                  <a:moveTo>
                    <a:pt x="199241" y="0"/>
                  </a:moveTo>
                  <a:lnTo>
                    <a:pt x="153558" y="5261"/>
                  </a:lnTo>
                  <a:lnTo>
                    <a:pt x="111620" y="20250"/>
                  </a:lnTo>
                  <a:lnTo>
                    <a:pt x="74625" y="43770"/>
                  </a:lnTo>
                  <a:lnTo>
                    <a:pt x="43770" y="74625"/>
                  </a:lnTo>
                  <a:lnTo>
                    <a:pt x="20250" y="111619"/>
                  </a:lnTo>
                  <a:lnTo>
                    <a:pt x="5261" y="153558"/>
                  </a:lnTo>
                  <a:lnTo>
                    <a:pt x="0" y="199241"/>
                  </a:lnTo>
                  <a:lnTo>
                    <a:pt x="5261" y="244925"/>
                  </a:lnTo>
                  <a:lnTo>
                    <a:pt x="20250" y="286862"/>
                  </a:lnTo>
                  <a:lnTo>
                    <a:pt x="43770" y="323856"/>
                  </a:lnTo>
                  <a:lnTo>
                    <a:pt x="74625" y="354712"/>
                  </a:lnTo>
                  <a:lnTo>
                    <a:pt x="111620" y="378231"/>
                  </a:lnTo>
                  <a:lnTo>
                    <a:pt x="153558" y="393221"/>
                  </a:lnTo>
                  <a:lnTo>
                    <a:pt x="199241" y="398484"/>
                  </a:lnTo>
                  <a:lnTo>
                    <a:pt x="244927" y="393221"/>
                  </a:lnTo>
                  <a:lnTo>
                    <a:pt x="286863" y="378231"/>
                  </a:lnTo>
                  <a:lnTo>
                    <a:pt x="323858" y="354712"/>
                  </a:lnTo>
                  <a:lnTo>
                    <a:pt x="354713" y="323856"/>
                  </a:lnTo>
                  <a:lnTo>
                    <a:pt x="378233" y="286862"/>
                  </a:lnTo>
                  <a:lnTo>
                    <a:pt x="393222" y="244925"/>
                  </a:lnTo>
                  <a:lnTo>
                    <a:pt x="398484" y="199241"/>
                  </a:lnTo>
                  <a:lnTo>
                    <a:pt x="393222" y="153558"/>
                  </a:lnTo>
                  <a:lnTo>
                    <a:pt x="378233" y="111619"/>
                  </a:lnTo>
                  <a:lnTo>
                    <a:pt x="354713" y="74625"/>
                  </a:lnTo>
                  <a:lnTo>
                    <a:pt x="323858" y="43770"/>
                  </a:lnTo>
                  <a:lnTo>
                    <a:pt x="286863" y="20250"/>
                  </a:lnTo>
                  <a:lnTo>
                    <a:pt x="244927" y="5261"/>
                  </a:lnTo>
                  <a:lnTo>
                    <a:pt x="199241" y="0"/>
                  </a:lnTo>
                  <a:close/>
                </a:path>
              </a:pathLst>
            </a:custGeom>
            <a:solidFill>
              <a:srgbClr val="004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96474" y="2147839"/>
              <a:ext cx="398780" cy="398780"/>
            </a:xfrm>
            <a:custGeom>
              <a:avLst/>
              <a:gdLst/>
              <a:ahLst/>
              <a:cxnLst/>
              <a:rect l="l" t="t" r="r" b="b"/>
              <a:pathLst>
                <a:path w="398780" h="398780">
                  <a:moveTo>
                    <a:pt x="0" y="199242"/>
                  </a:moveTo>
                  <a:lnTo>
                    <a:pt x="5262" y="153558"/>
                  </a:lnTo>
                  <a:lnTo>
                    <a:pt x="20251" y="111620"/>
                  </a:lnTo>
                  <a:lnTo>
                    <a:pt x="43771" y="74626"/>
                  </a:lnTo>
                  <a:lnTo>
                    <a:pt x="74626" y="43771"/>
                  </a:lnTo>
                  <a:lnTo>
                    <a:pt x="111620" y="20251"/>
                  </a:lnTo>
                  <a:lnTo>
                    <a:pt x="153558" y="5262"/>
                  </a:lnTo>
                  <a:lnTo>
                    <a:pt x="199242" y="0"/>
                  </a:lnTo>
                  <a:lnTo>
                    <a:pt x="244926" y="5262"/>
                  </a:lnTo>
                  <a:lnTo>
                    <a:pt x="286864" y="20251"/>
                  </a:lnTo>
                  <a:lnTo>
                    <a:pt x="323858" y="43771"/>
                  </a:lnTo>
                  <a:lnTo>
                    <a:pt x="354713" y="74626"/>
                  </a:lnTo>
                  <a:lnTo>
                    <a:pt x="378233" y="111620"/>
                  </a:lnTo>
                  <a:lnTo>
                    <a:pt x="393222" y="153558"/>
                  </a:lnTo>
                  <a:lnTo>
                    <a:pt x="398485" y="199242"/>
                  </a:lnTo>
                  <a:lnTo>
                    <a:pt x="393222" y="244926"/>
                  </a:lnTo>
                  <a:lnTo>
                    <a:pt x="378233" y="286864"/>
                  </a:lnTo>
                  <a:lnTo>
                    <a:pt x="354713" y="323858"/>
                  </a:lnTo>
                  <a:lnTo>
                    <a:pt x="323858" y="354713"/>
                  </a:lnTo>
                  <a:lnTo>
                    <a:pt x="286864" y="378233"/>
                  </a:lnTo>
                  <a:lnTo>
                    <a:pt x="244926" y="393222"/>
                  </a:lnTo>
                  <a:lnTo>
                    <a:pt x="199242" y="398485"/>
                  </a:lnTo>
                  <a:lnTo>
                    <a:pt x="153558" y="393222"/>
                  </a:lnTo>
                  <a:lnTo>
                    <a:pt x="111620" y="378233"/>
                  </a:lnTo>
                  <a:lnTo>
                    <a:pt x="74626" y="354713"/>
                  </a:lnTo>
                  <a:lnTo>
                    <a:pt x="43771" y="323858"/>
                  </a:lnTo>
                  <a:lnTo>
                    <a:pt x="20251" y="286864"/>
                  </a:lnTo>
                  <a:lnTo>
                    <a:pt x="5262" y="244926"/>
                  </a:lnTo>
                  <a:lnTo>
                    <a:pt x="0" y="19924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2590124" y="2654015"/>
            <a:ext cx="7121525" cy="411480"/>
            <a:chOff x="2590124" y="2654015"/>
            <a:chExt cx="7121525" cy="411480"/>
          </a:xfrm>
        </p:grpSpPr>
        <p:sp>
          <p:nvSpPr>
            <p:cNvPr id="10" name="object 10"/>
            <p:cNvSpPr/>
            <p:nvPr/>
          </p:nvSpPr>
          <p:spPr>
            <a:xfrm>
              <a:off x="2795718" y="2660365"/>
              <a:ext cx="6915784" cy="398780"/>
            </a:xfrm>
            <a:custGeom>
              <a:avLst/>
              <a:gdLst/>
              <a:ahLst/>
              <a:cxnLst/>
              <a:rect l="l" t="t" r="r" b="b"/>
              <a:pathLst>
                <a:path w="6915784" h="398780">
                  <a:moveTo>
                    <a:pt x="6915758" y="0"/>
                  </a:moveTo>
                  <a:lnTo>
                    <a:pt x="199235" y="0"/>
                  </a:lnTo>
                  <a:lnTo>
                    <a:pt x="0" y="199237"/>
                  </a:lnTo>
                  <a:lnTo>
                    <a:pt x="199235" y="398484"/>
                  </a:lnTo>
                  <a:lnTo>
                    <a:pt x="6915758" y="398484"/>
                  </a:lnTo>
                  <a:lnTo>
                    <a:pt x="691575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96474" y="2660365"/>
              <a:ext cx="398780" cy="398780"/>
            </a:xfrm>
            <a:custGeom>
              <a:avLst/>
              <a:gdLst/>
              <a:ahLst/>
              <a:cxnLst/>
              <a:rect l="l" t="t" r="r" b="b"/>
              <a:pathLst>
                <a:path w="398780" h="398780">
                  <a:moveTo>
                    <a:pt x="199241" y="0"/>
                  </a:moveTo>
                  <a:lnTo>
                    <a:pt x="153558" y="5261"/>
                  </a:lnTo>
                  <a:lnTo>
                    <a:pt x="111620" y="20250"/>
                  </a:lnTo>
                  <a:lnTo>
                    <a:pt x="74625" y="43770"/>
                  </a:lnTo>
                  <a:lnTo>
                    <a:pt x="43770" y="74625"/>
                  </a:lnTo>
                  <a:lnTo>
                    <a:pt x="20250" y="111620"/>
                  </a:lnTo>
                  <a:lnTo>
                    <a:pt x="5261" y="153556"/>
                  </a:lnTo>
                  <a:lnTo>
                    <a:pt x="0" y="199241"/>
                  </a:lnTo>
                  <a:lnTo>
                    <a:pt x="5261" y="244925"/>
                  </a:lnTo>
                  <a:lnTo>
                    <a:pt x="20250" y="286863"/>
                  </a:lnTo>
                  <a:lnTo>
                    <a:pt x="43770" y="323858"/>
                  </a:lnTo>
                  <a:lnTo>
                    <a:pt x="74625" y="354713"/>
                  </a:lnTo>
                  <a:lnTo>
                    <a:pt x="111620" y="378233"/>
                  </a:lnTo>
                  <a:lnTo>
                    <a:pt x="153558" y="393222"/>
                  </a:lnTo>
                  <a:lnTo>
                    <a:pt x="199241" y="398484"/>
                  </a:lnTo>
                  <a:lnTo>
                    <a:pt x="244927" y="393222"/>
                  </a:lnTo>
                  <a:lnTo>
                    <a:pt x="286863" y="378233"/>
                  </a:lnTo>
                  <a:lnTo>
                    <a:pt x="323858" y="354713"/>
                  </a:lnTo>
                  <a:lnTo>
                    <a:pt x="354713" y="323858"/>
                  </a:lnTo>
                  <a:lnTo>
                    <a:pt x="378233" y="286863"/>
                  </a:lnTo>
                  <a:lnTo>
                    <a:pt x="393222" y="244925"/>
                  </a:lnTo>
                  <a:lnTo>
                    <a:pt x="398484" y="199241"/>
                  </a:lnTo>
                  <a:lnTo>
                    <a:pt x="393222" y="153556"/>
                  </a:lnTo>
                  <a:lnTo>
                    <a:pt x="378233" y="111620"/>
                  </a:lnTo>
                  <a:lnTo>
                    <a:pt x="354713" y="74625"/>
                  </a:lnTo>
                  <a:lnTo>
                    <a:pt x="323858" y="43770"/>
                  </a:lnTo>
                  <a:lnTo>
                    <a:pt x="286863" y="20250"/>
                  </a:lnTo>
                  <a:lnTo>
                    <a:pt x="244927" y="5261"/>
                  </a:lnTo>
                  <a:lnTo>
                    <a:pt x="199241" y="0"/>
                  </a:lnTo>
                  <a:close/>
                </a:path>
              </a:pathLst>
            </a:custGeom>
            <a:solidFill>
              <a:srgbClr val="004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96474" y="2660365"/>
              <a:ext cx="398780" cy="398780"/>
            </a:xfrm>
            <a:custGeom>
              <a:avLst/>
              <a:gdLst/>
              <a:ahLst/>
              <a:cxnLst/>
              <a:rect l="l" t="t" r="r" b="b"/>
              <a:pathLst>
                <a:path w="398780" h="398780">
                  <a:moveTo>
                    <a:pt x="0" y="199242"/>
                  </a:moveTo>
                  <a:lnTo>
                    <a:pt x="5262" y="153558"/>
                  </a:lnTo>
                  <a:lnTo>
                    <a:pt x="20251" y="111620"/>
                  </a:lnTo>
                  <a:lnTo>
                    <a:pt x="43771" y="74626"/>
                  </a:lnTo>
                  <a:lnTo>
                    <a:pt x="74626" y="43771"/>
                  </a:lnTo>
                  <a:lnTo>
                    <a:pt x="111620" y="20251"/>
                  </a:lnTo>
                  <a:lnTo>
                    <a:pt x="153558" y="5262"/>
                  </a:lnTo>
                  <a:lnTo>
                    <a:pt x="199242" y="0"/>
                  </a:lnTo>
                  <a:lnTo>
                    <a:pt x="244926" y="5262"/>
                  </a:lnTo>
                  <a:lnTo>
                    <a:pt x="286864" y="20251"/>
                  </a:lnTo>
                  <a:lnTo>
                    <a:pt x="323858" y="43771"/>
                  </a:lnTo>
                  <a:lnTo>
                    <a:pt x="354713" y="74626"/>
                  </a:lnTo>
                  <a:lnTo>
                    <a:pt x="378233" y="111620"/>
                  </a:lnTo>
                  <a:lnTo>
                    <a:pt x="393222" y="153558"/>
                  </a:lnTo>
                  <a:lnTo>
                    <a:pt x="398485" y="199242"/>
                  </a:lnTo>
                  <a:lnTo>
                    <a:pt x="393222" y="244926"/>
                  </a:lnTo>
                  <a:lnTo>
                    <a:pt x="378233" y="286864"/>
                  </a:lnTo>
                  <a:lnTo>
                    <a:pt x="354713" y="323858"/>
                  </a:lnTo>
                  <a:lnTo>
                    <a:pt x="323858" y="354713"/>
                  </a:lnTo>
                  <a:lnTo>
                    <a:pt x="286864" y="378233"/>
                  </a:lnTo>
                  <a:lnTo>
                    <a:pt x="244926" y="393222"/>
                  </a:lnTo>
                  <a:lnTo>
                    <a:pt x="199242" y="398485"/>
                  </a:lnTo>
                  <a:lnTo>
                    <a:pt x="153558" y="393222"/>
                  </a:lnTo>
                  <a:lnTo>
                    <a:pt x="111620" y="378233"/>
                  </a:lnTo>
                  <a:lnTo>
                    <a:pt x="74626" y="354713"/>
                  </a:lnTo>
                  <a:lnTo>
                    <a:pt x="43771" y="323858"/>
                  </a:lnTo>
                  <a:lnTo>
                    <a:pt x="20251" y="286864"/>
                  </a:lnTo>
                  <a:lnTo>
                    <a:pt x="5262" y="244926"/>
                  </a:lnTo>
                  <a:lnTo>
                    <a:pt x="0" y="19924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2590124" y="3166540"/>
            <a:ext cx="7121525" cy="411480"/>
            <a:chOff x="2590124" y="3166540"/>
            <a:chExt cx="7121525" cy="411480"/>
          </a:xfrm>
        </p:grpSpPr>
        <p:sp>
          <p:nvSpPr>
            <p:cNvPr id="14" name="object 14"/>
            <p:cNvSpPr/>
            <p:nvPr/>
          </p:nvSpPr>
          <p:spPr>
            <a:xfrm>
              <a:off x="2795718" y="3172890"/>
              <a:ext cx="6915784" cy="398780"/>
            </a:xfrm>
            <a:custGeom>
              <a:avLst/>
              <a:gdLst/>
              <a:ahLst/>
              <a:cxnLst/>
              <a:rect l="l" t="t" r="r" b="b"/>
              <a:pathLst>
                <a:path w="6915784" h="398779">
                  <a:moveTo>
                    <a:pt x="6915758" y="0"/>
                  </a:moveTo>
                  <a:lnTo>
                    <a:pt x="199235" y="0"/>
                  </a:lnTo>
                  <a:lnTo>
                    <a:pt x="0" y="199238"/>
                  </a:lnTo>
                  <a:lnTo>
                    <a:pt x="199235" y="398486"/>
                  </a:lnTo>
                  <a:lnTo>
                    <a:pt x="6915758" y="398486"/>
                  </a:lnTo>
                  <a:lnTo>
                    <a:pt x="691575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96474" y="3172890"/>
              <a:ext cx="398780" cy="398780"/>
            </a:xfrm>
            <a:custGeom>
              <a:avLst/>
              <a:gdLst/>
              <a:ahLst/>
              <a:cxnLst/>
              <a:rect l="l" t="t" r="r" b="b"/>
              <a:pathLst>
                <a:path w="398780" h="398779">
                  <a:moveTo>
                    <a:pt x="199241" y="0"/>
                  </a:moveTo>
                  <a:lnTo>
                    <a:pt x="153558" y="5262"/>
                  </a:lnTo>
                  <a:lnTo>
                    <a:pt x="111620" y="20251"/>
                  </a:lnTo>
                  <a:lnTo>
                    <a:pt x="74625" y="43771"/>
                  </a:lnTo>
                  <a:lnTo>
                    <a:pt x="43770" y="74626"/>
                  </a:lnTo>
                  <a:lnTo>
                    <a:pt x="20250" y="111620"/>
                  </a:lnTo>
                  <a:lnTo>
                    <a:pt x="5261" y="153558"/>
                  </a:lnTo>
                  <a:lnTo>
                    <a:pt x="0" y="199242"/>
                  </a:lnTo>
                  <a:lnTo>
                    <a:pt x="5261" y="244928"/>
                  </a:lnTo>
                  <a:lnTo>
                    <a:pt x="20250" y="286865"/>
                  </a:lnTo>
                  <a:lnTo>
                    <a:pt x="43770" y="323860"/>
                  </a:lnTo>
                  <a:lnTo>
                    <a:pt x="74625" y="354714"/>
                  </a:lnTo>
                  <a:lnTo>
                    <a:pt x="111620" y="378235"/>
                  </a:lnTo>
                  <a:lnTo>
                    <a:pt x="153558" y="393223"/>
                  </a:lnTo>
                  <a:lnTo>
                    <a:pt x="199241" y="398486"/>
                  </a:lnTo>
                  <a:lnTo>
                    <a:pt x="244927" y="393223"/>
                  </a:lnTo>
                  <a:lnTo>
                    <a:pt x="286863" y="378235"/>
                  </a:lnTo>
                  <a:lnTo>
                    <a:pt x="323858" y="354714"/>
                  </a:lnTo>
                  <a:lnTo>
                    <a:pt x="354713" y="323860"/>
                  </a:lnTo>
                  <a:lnTo>
                    <a:pt x="378233" y="286865"/>
                  </a:lnTo>
                  <a:lnTo>
                    <a:pt x="393222" y="244928"/>
                  </a:lnTo>
                  <a:lnTo>
                    <a:pt x="398484" y="199242"/>
                  </a:lnTo>
                  <a:lnTo>
                    <a:pt x="393222" y="153558"/>
                  </a:lnTo>
                  <a:lnTo>
                    <a:pt x="378233" y="111620"/>
                  </a:lnTo>
                  <a:lnTo>
                    <a:pt x="354713" y="74626"/>
                  </a:lnTo>
                  <a:lnTo>
                    <a:pt x="323858" y="43771"/>
                  </a:lnTo>
                  <a:lnTo>
                    <a:pt x="286863" y="20251"/>
                  </a:lnTo>
                  <a:lnTo>
                    <a:pt x="244927" y="5262"/>
                  </a:lnTo>
                  <a:lnTo>
                    <a:pt x="199241" y="0"/>
                  </a:lnTo>
                  <a:close/>
                </a:path>
              </a:pathLst>
            </a:custGeom>
            <a:solidFill>
              <a:srgbClr val="004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596474" y="3172890"/>
              <a:ext cx="398780" cy="398780"/>
            </a:xfrm>
            <a:custGeom>
              <a:avLst/>
              <a:gdLst/>
              <a:ahLst/>
              <a:cxnLst/>
              <a:rect l="l" t="t" r="r" b="b"/>
              <a:pathLst>
                <a:path w="398780" h="398779">
                  <a:moveTo>
                    <a:pt x="0" y="199242"/>
                  </a:moveTo>
                  <a:lnTo>
                    <a:pt x="5262" y="153558"/>
                  </a:lnTo>
                  <a:lnTo>
                    <a:pt x="20251" y="111620"/>
                  </a:lnTo>
                  <a:lnTo>
                    <a:pt x="43771" y="74626"/>
                  </a:lnTo>
                  <a:lnTo>
                    <a:pt x="74626" y="43771"/>
                  </a:lnTo>
                  <a:lnTo>
                    <a:pt x="111620" y="20251"/>
                  </a:lnTo>
                  <a:lnTo>
                    <a:pt x="153558" y="5262"/>
                  </a:lnTo>
                  <a:lnTo>
                    <a:pt x="199242" y="0"/>
                  </a:lnTo>
                  <a:lnTo>
                    <a:pt x="244926" y="5262"/>
                  </a:lnTo>
                  <a:lnTo>
                    <a:pt x="286864" y="20251"/>
                  </a:lnTo>
                  <a:lnTo>
                    <a:pt x="323858" y="43771"/>
                  </a:lnTo>
                  <a:lnTo>
                    <a:pt x="354713" y="74626"/>
                  </a:lnTo>
                  <a:lnTo>
                    <a:pt x="378233" y="111620"/>
                  </a:lnTo>
                  <a:lnTo>
                    <a:pt x="393222" y="153558"/>
                  </a:lnTo>
                  <a:lnTo>
                    <a:pt x="398485" y="199242"/>
                  </a:lnTo>
                  <a:lnTo>
                    <a:pt x="393222" y="244926"/>
                  </a:lnTo>
                  <a:lnTo>
                    <a:pt x="378233" y="286864"/>
                  </a:lnTo>
                  <a:lnTo>
                    <a:pt x="354713" y="323858"/>
                  </a:lnTo>
                  <a:lnTo>
                    <a:pt x="323858" y="354713"/>
                  </a:lnTo>
                  <a:lnTo>
                    <a:pt x="286864" y="378233"/>
                  </a:lnTo>
                  <a:lnTo>
                    <a:pt x="244926" y="393223"/>
                  </a:lnTo>
                  <a:lnTo>
                    <a:pt x="199242" y="398486"/>
                  </a:lnTo>
                  <a:lnTo>
                    <a:pt x="153558" y="393223"/>
                  </a:lnTo>
                  <a:lnTo>
                    <a:pt x="111620" y="378233"/>
                  </a:lnTo>
                  <a:lnTo>
                    <a:pt x="74626" y="354713"/>
                  </a:lnTo>
                  <a:lnTo>
                    <a:pt x="43771" y="323858"/>
                  </a:lnTo>
                  <a:lnTo>
                    <a:pt x="20251" y="286864"/>
                  </a:lnTo>
                  <a:lnTo>
                    <a:pt x="5262" y="244926"/>
                  </a:lnTo>
                  <a:lnTo>
                    <a:pt x="0" y="19924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2590124" y="3679069"/>
            <a:ext cx="7121525" cy="411480"/>
            <a:chOff x="2590124" y="3679069"/>
            <a:chExt cx="7121525" cy="411480"/>
          </a:xfrm>
        </p:grpSpPr>
        <p:sp>
          <p:nvSpPr>
            <p:cNvPr id="18" name="object 18"/>
            <p:cNvSpPr/>
            <p:nvPr/>
          </p:nvSpPr>
          <p:spPr>
            <a:xfrm>
              <a:off x="2795718" y="3685419"/>
              <a:ext cx="6915784" cy="398780"/>
            </a:xfrm>
            <a:custGeom>
              <a:avLst/>
              <a:gdLst/>
              <a:ahLst/>
              <a:cxnLst/>
              <a:rect l="l" t="t" r="r" b="b"/>
              <a:pathLst>
                <a:path w="6915784" h="398779">
                  <a:moveTo>
                    <a:pt x="6915758" y="0"/>
                  </a:moveTo>
                  <a:lnTo>
                    <a:pt x="199235" y="0"/>
                  </a:lnTo>
                  <a:lnTo>
                    <a:pt x="0" y="199237"/>
                  </a:lnTo>
                  <a:lnTo>
                    <a:pt x="199235" y="398484"/>
                  </a:lnTo>
                  <a:lnTo>
                    <a:pt x="6915758" y="398484"/>
                  </a:lnTo>
                  <a:lnTo>
                    <a:pt x="691575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96474" y="3685419"/>
              <a:ext cx="398780" cy="398780"/>
            </a:xfrm>
            <a:custGeom>
              <a:avLst/>
              <a:gdLst/>
              <a:ahLst/>
              <a:cxnLst/>
              <a:rect l="l" t="t" r="r" b="b"/>
              <a:pathLst>
                <a:path w="398780" h="398779">
                  <a:moveTo>
                    <a:pt x="199241" y="0"/>
                  </a:moveTo>
                  <a:lnTo>
                    <a:pt x="153558" y="5261"/>
                  </a:lnTo>
                  <a:lnTo>
                    <a:pt x="111620" y="20250"/>
                  </a:lnTo>
                  <a:lnTo>
                    <a:pt x="74625" y="43770"/>
                  </a:lnTo>
                  <a:lnTo>
                    <a:pt x="43770" y="74625"/>
                  </a:lnTo>
                  <a:lnTo>
                    <a:pt x="20250" y="111620"/>
                  </a:lnTo>
                  <a:lnTo>
                    <a:pt x="5261" y="153556"/>
                  </a:lnTo>
                  <a:lnTo>
                    <a:pt x="0" y="199241"/>
                  </a:lnTo>
                  <a:lnTo>
                    <a:pt x="5261" y="244925"/>
                  </a:lnTo>
                  <a:lnTo>
                    <a:pt x="20250" y="286863"/>
                  </a:lnTo>
                  <a:lnTo>
                    <a:pt x="43770" y="323857"/>
                  </a:lnTo>
                  <a:lnTo>
                    <a:pt x="74625" y="354712"/>
                  </a:lnTo>
                  <a:lnTo>
                    <a:pt x="111620" y="378232"/>
                  </a:lnTo>
                  <a:lnTo>
                    <a:pt x="153558" y="393221"/>
                  </a:lnTo>
                  <a:lnTo>
                    <a:pt x="199241" y="398484"/>
                  </a:lnTo>
                  <a:lnTo>
                    <a:pt x="244927" y="393221"/>
                  </a:lnTo>
                  <a:lnTo>
                    <a:pt x="286863" y="378232"/>
                  </a:lnTo>
                  <a:lnTo>
                    <a:pt x="323858" y="354712"/>
                  </a:lnTo>
                  <a:lnTo>
                    <a:pt x="354713" y="323857"/>
                  </a:lnTo>
                  <a:lnTo>
                    <a:pt x="378233" y="286863"/>
                  </a:lnTo>
                  <a:lnTo>
                    <a:pt x="393222" y="244925"/>
                  </a:lnTo>
                  <a:lnTo>
                    <a:pt x="398484" y="199241"/>
                  </a:lnTo>
                  <a:lnTo>
                    <a:pt x="393222" y="153556"/>
                  </a:lnTo>
                  <a:lnTo>
                    <a:pt x="378233" y="111620"/>
                  </a:lnTo>
                  <a:lnTo>
                    <a:pt x="354713" y="74625"/>
                  </a:lnTo>
                  <a:lnTo>
                    <a:pt x="323858" y="43770"/>
                  </a:lnTo>
                  <a:lnTo>
                    <a:pt x="286863" y="20250"/>
                  </a:lnTo>
                  <a:lnTo>
                    <a:pt x="244927" y="5261"/>
                  </a:lnTo>
                  <a:lnTo>
                    <a:pt x="199241" y="0"/>
                  </a:lnTo>
                  <a:close/>
                </a:path>
              </a:pathLst>
            </a:custGeom>
            <a:solidFill>
              <a:srgbClr val="004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96474" y="3685419"/>
              <a:ext cx="398780" cy="398780"/>
            </a:xfrm>
            <a:custGeom>
              <a:avLst/>
              <a:gdLst/>
              <a:ahLst/>
              <a:cxnLst/>
              <a:rect l="l" t="t" r="r" b="b"/>
              <a:pathLst>
                <a:path w="398780" h="398779">
                  <a:moveTo>
                    <a:pt x="0" y="199242"/>
                  </a:moveTo>
                  <a:lnTo>
                    <a:pt x="5262" y="153558"/>
                  </a:lnTo>
                  <a:lnTo>
                    <a:pt x="20251" y="111620"/>
                  </a:lnTo>
                  <a:lnTo>
                    <a:pt x="43771" y="74626"/>
                  </a:lnTo>
                  <a:lnTo>
                    <a:pt x="74626" y="43771"/>
                  </a:lnTo>
                  <a:lnTo>
                    <a:pt x="111620" y="20251"/>
                  </a:lnTo>
                  <a:lnTo>
                    <a:pt x="153558" y="5262"/>
                  </a:lnTo>
                  <a:lnTo>
                    <a:pt x="199242" y="0"/>
                  </a:lnTo>
                  <a:lnTo>
                    <a:pt x="244926" y="5262"/>
                  </a:lnTo>
                  <a:lnTo>
                    <a:pt x="286864" y="20251"/>
                  </a:lnTo>
                  <a:lnTo>
                    <a:pt x="323858" y="43771"/>
                  </a:lnTo>
                  <a:lnTo>
                    <a:pt x="354713" y="74626"/>
                  </a:lnTo>
                  <a:lnTo>
                    <a:pt x="378233" y="111620"/>
                  </a:lnTo>
                  <a:lnTo>
                    <a:pt x="393222" y="153558"/>
                  </a:lnTo>
                  <a:lnTo>
                    <a:pt x="398485" y="199242"/>
                  </a:lnTo>
                  <a:lnTo>
                    <a:pt x="393222" y="244926"/>
                  </a:lnTo>
                  <a:lnTo>
                    <a:pt x="378233" y="286864"/>
                  </a:lnTo>
                  <a:lnTo>
                    <a:pt x="354713" y="323858"/>
                  </a:lnTo>
                  <a:lnTo>
                    <a:pt x="323858" y="354713"/>
                  </a:lnTo>
                  <a:lnTo>
                    <a:pt x="286864" y="378233"/>
                  </a:lnTo>
                  <a:lnTo>
                    <a:pt x="244926" y="393223"/>
                  </a:lnTo>
                  <a:lnTo>
                    <a:pt x="199242" y="398486"/>
                  </a:lnTo>
                  <a:lnTo>
                    <a:pt x="153558" y="393223"/>
                  </a:lnTo>
                  <a:lnTo>
                    <a:pt x="111620" y="378233"/>
                  </a:lnTo>
                  <a:lnTo>
                    <a:pt x="74626" y="354713"/>
                  </a:lnTo>
                  <a:lnTo>
                    <a:pt x="43771" y="323858"/>
                  </a:lnTo>
                  <a:lnTo>
                    <a:pt x="20251" y="286864"/>
                  </a:lnTo>
                  <a:lnTo>
                    <a:pt x="5262" y="244926"/>
                  </a:lnTo>
                  <a:lnTo>
                    <a:pt x="0" y="19924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2590124" y="4191594"/>
            <a:ext cx="7121525" cy="411480"/>
            <a:chOff x="2590124" y="4191594"/>
            <a:chExt cx="7121525" cy="411480"/>
          </a:xfrm>
        </p:grpSpPr>
        <p:sp>
          <p:nvSpPr>
            <p:cNvPr id="22" name="object 22"/>
            <p:cNvSpPr/>
            <p:nvPr/>
          </p:nvSpPr>
          <p:spPr>
            <a:xfrm>
              <a:off x="2795718" y="4197944"/>
              <a:ext cx="6915784" cy="398780"/>
            </a:xfrm>
            <a:custGeom>
              <a:avLst/>
              <a:gdLst/>
              <a:ahLst/>
              <a:cxnLst/>
              <a:rect l="l" t="t" r="r" b="b"/>
              <a:pathLst>
                <a:path w="6915784" h="398779">
                  <a:moveTo>
                    <a:pt x="6915758" y="0"/>
                  </a:moveTo>
                  <a:lnTo>
                    <a:pt x="199235" y="0"/>
                  </a:lnTo>
                  <a:lnTo>
                    <a:pt x="0" y="199238"/>
                  </a:lnTo>
                  <a:lnTo>
                    <a:pt x="199235" y="398486"/>
                  </a:lnTo>
                  <a:lnTo>
                    <a:pt x="6915758" y="398486"/>
                  </a:lnTo>
                  <a:lnTo>
                    <a:pt x="691575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596474" y="4197944"/>
              <a:ext cx="398780" cy="398780"/>
            </a:xfrm>
            <a:custGeom>
              <a:avLst/>
              <a:gdLst/>
              <a:ahLst/>
              <a:cxnLst/>
              <a:rect l="l" t="t" r="r" b="b"/>
              <a:pathLst>
                <a:path w="398780" h="398779">
                  <a:moveTo>
                    <a:pt x="199241" y="0"/>
                  </a:moveTo>
                  <a:lnTo>
                    <a:pt x="153558" y="5262"/>
                  </a:lnTo>
                  <a:lnTo>
                    <a:pt x="111620" y="20251"/>
                  </a:lnTo>
                  <a:lnTo>
                    <a:pt x="74625" y="43771"/>
                  </a:lnTo>
                  <a:lnTo>
                    <a:pt x="43770" y="74626"/>
                  </a:lnTo>
                  <a:lnTo>
                    <a:pt x="20250" y="111621"/>
                  </a:lnTo>
                  <a:lnTo>
                    <a:pt x="5261" y="153559"/>
                  </a:lnTo>
                  <a:lnTo>
                    <a:pt x="0" y="199242"/>
                  </a:lnTo>
                  <a:lnTo>
                    <a:pt x="5261" y="244928"/>
                  </a:lnTo>
                  <a:lnTo>
                    <a:pt x="20250" y="286865"/>
                  </a:lnTo>
                  <a:lnTo>
                    <a:pt x="43770" y="323860"/>
                  </a:lnTo>
                  <a:lnTo>
                    <a:pt x="74625" y="354716"/>
                  </a:lnTo>
                  <a:lnTo>
                    <a:pt x="111620" y="378235"/>
                  </a:lnTo>
                  <a:lnTo>
                    <a:pt x="153558" y="393225"/>
                  </a:lnTo>
                  <a:lnTo>
                    <a:pt x="199241" y="398486"/>
                  </a:lnTo>
                  <a:lnTo>
                    <a:pt x="244927" y="393225"/>
                  </a:lnTo>
                  <a:lnTo>
                    <a:pt x="286863" y="378235"/>
                  </a:lnTo>
                  <a:lnTo>
                    <a:pt x="323858" y="354716"/>
                  </a:lnTo>
                  <a:lnTo>
                    <a:pt x="354713" y="323860"/>
                  </a:lnTo>
                  <a:lnTo>
                    <a:pt x="378233" y="286865"/>
                  </a:lnTo>
                  <a:lnTo>
                    <a:pt x="393222" y="244928"/>
                  </a:lnTo>
                  <a:lnTo>
                    <a:pt x="398484" y="199242"/>
                  </a:lnTo>
                  <a:lnTo>
                    <a:pt x="393222" y="153559"/>
                  </a:lnTo>
                  <a:lnTo>
                    <a:pt x="378233" y="111621"/>
                  </a:lnTo>
                  <a:lnTo>
                    <a:pt x="354713" y="74626"/>
                  </a:lnTo>
                  <a:lnTo>
                    <a:pt x="323858" y="43771"/>
                  </a:lnTo>
                  <a:lnTo>
                    <a:pt x="286863" y="20251"/>
                  </a:lnTo>
                  <a:lnTo>
                    <a:pt x="244927" y="5262"/>
                  </a:lnTo>
                  <a:lnTo>
                    <a:pt x="199241" y="0"/>
                  </a:lnTo>
                  <a:close/>
                </a:path>
              </a:pathLst>
            </a:custGeom>
            <a:solidFill>
              <a:srgbClr val="004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596474" y="4197944"/>
              <a:ext cx="398780" cy="398780"/>
            </a:xfrm>
            <a:custGeom>
              <a:avLst/>
              <a:gdLst/>
              <a:ahLst/>
              <a:cxnLst/>
              <a:rect l="l" t="t" r="r" b="b"/>
              <a:pathLst>
                <a:path w="398780" h="398779">
                  <a:moveTo>
                    <a:pt x="0" y="199242"/>
                  </a:moveTo>
                  <a:lnTo>
                    <a:pt x="5262" y="153558"/>
                  </a:lnTo>
                  <a:lnTo>
                    <a:pt x="20251" y="111620"/>
                  </a:lnTo>
                  <a:lnTo>
                    <a:pt x="43771" y="74626"/>
                  </a:lnTo>
                  <a:lnTo>
                    <a:pt x="74626" y="43771"/>
                  </a:lnTo>
                  <a:lnTo>
                    <a:pt x="111620" y="20251"/>
                  </a:lnTo>
                  <a:lnTo>
                    <a:pt x="153558" y="5262"/>
                  </a:lnTo>
                  <a:lnTo>
                    <a:pt x="199242" y="0"/>
                  </a:lnTo>
                  <a:lnTo>
                    <a:pt x="244926" y="5262"/>
                  </a:lnTo>
                  <a:lnTo>
                    <a:pt x="286864" y="20251"/>
                  </a:lnTo>
                  <a:lnTo>
                    <a:pt x="323858" y="43771"/>
                  </a:lnTo>
                  <a:lnTo>
                    <a:pt x="354713" y="74626"/>
                  </a:lnTo>
                  <a:lnTo>
                    <a:pt x="378233" y="111620"/>
                  </a:lnTo>
                  <a:lnTo>
                    <a:pt x="393222" y="153558"/>
                  </a:lnTo>
                  <a:lnTo>
                    <a:pt x="398485" y="199242"/>
                  </a:lnTo>
                  <a:lnTo>
                    <a:pt x="393222" y="244926"/>
                  </a:lnTo>
                  <a:lnTo>
                    <a:pt x="378233" y="286864"/>
                  </a:lnTo>
                  <a:lnTo>
                    <a:pt x="354713" y="323858"/>
                  </a:lnTo>
                  <a:lnTo>
                    <a:pt x="323858" y="354713"/>
                  </a:lnTo>
                  <a:lnTo>
                    <a:pt x="286864" y="378233"/>
                  </a:lnTo>
                  <a:lnTo>
                    <a:pt x="244926" y="393223"/>
                  </a:lnTo>
                  <a:lnTo>
                    <a:pt x="199242" y="398486"/>
                  </a:lnTo>
                  <a:lnTo>
                    <a:pt x="153558" y="393223"/>
                  </a:lnTo>
                  <a:lnTo>
                    <a:pt x="111620" y="378233"/>
                  </a:lnTo>
                  <a:lnTo>
                    <a:pt x="74626" y="354713"/>
                  </a:lnTo>
                  <a:lnTo>
                    <a:pt x="43771" y="323858"/>
                  </a:lnTo>
                  <a:lnTo>
                    <a:pt x="20251" y="286864"/>
                  </a:lnTo>
                  <a:lnTo>
                    <a:pt x="5262" y="244926"/>
                  </a:lnTo>
                  <a:lnTo>
                    <a:pt x="0" y="19924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2590124" y="4704123"/>
            <a:ext cx="7121525" cy="411480"/>
            <a:chOff x="2590124" y="4704123"/>
            <a:chExt cx="7121525" cy="411480"/>
          </a:xfrm>
        </p:grpSpPr>
        <p:sp>
          <p:nvSpPr>
            <p:cNvPr id="26" name="object 26"/>
            <p:cNvSpPr/>
            <p:nvPr/>
          </p:nvSpPr>
          <p:spPr>
            <a:xfrm>
              <a:off x="2795718" y="4710473"/>
              <a:ext cx="6915784" cy="398780"/>
            </a:xfrm>
            <a:custGeom>
              <a:avLst/>
              <a:gdLst/>
              <a:ahLst/>
              <a:cxnLst/>
              <a:rect l="l" t="t" r="r" b="b"/>
              <a:pathLst>
                <a:path w="6915784" h="398779">
                  <a:moveTo>
                    <a:pt x="6915758" y="0"/>
                  </a:moveTo>
                  <a:lnTo>
                    <a:pt x="199235" y="0"/>
                  </a:lnTo>
                  <a:lnTo>
                    <a:pt x="0" y="199238"/>
                  </a:lnTo>
                  <a:lnTo>
                    <a:pt x="199235" y="398485"/>
                  </a:lnTo>
                  <a:lnTo>
                    <a:pt x="6915758" y="398485"/>
                  </a:lnTo>
                  <a:lnTo>
                    <a:pt x="691575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596474" y="4710473"/>
              <a:ext cx="398780" cy="398780"/>
            </a:xfrm>
            <a:custGeom>
              <a:avLst/>
              <a:gdLst/>
              <a:ahLst/>
              <a:cxnLst/>
              <a:rect l="l" t="t" r="r" b="b"/>
              <a:pathLst>
                <a:path w="398780" h="398779">
                  <a:moveTo>
                    <a:pt x="199241" y="0"/>
                  </a:moveTo>
                  <a:lnTo>
                    <a:pt x="153558" y="5261"/>
                  </a:lnTo>
                  <a:lnTo>
                    <a:pt x="111620" y="20251"/>
                  </a:lnTo>
                  <a:lnTo>
                    <a:pt x="74625" y="43770"/>
                  </a:lnTo>
                  <a:lnTo>
                    <a:pt x="43770" y="74626"/>
                  </a:lnTo>
                  <a:lnTo>
                    <a:pt x="20250" y="111620"/>
                  </a:lnTo>
                  <a:lnTo>
                    <a:pt x="5261" y="153558"/>
                  </a:lnTo>
                  <a:lnTo>
                    <a:pt x="0" y="199242"/>
                  </a:lnTo>
                  <a:lnTo>
                    <a:pt x="5261" y="244925"/>
                  </a:lnTo>
                  <a:lnTo>
                    <a:pt x="20250" y="286865"/>
                  </a:lnTo>
                  <a:lnTo>
                    <a:pt x="43770" y="323858"/>
                  </a:lnTo>
                  <a:lnTo>
                    <a:pt x="74625" y="354713"/>
                  </a:lnTo>
                  <a:lnTo>
                    <a:pt x="111620" y="378233"/>
                  </a:lnTo>
                  <a:lnTo>
                    <a:pt x="153558" y="393223"/>
                  </a:lnTo>
                  <a:lnTo>
                    <a:pt x="199241" y="398485"/>
                  </a:lnTo>
                  <a:lnTo>
                    <a:pt x="244927" y="393223"/>
                  </a:lnTo>
                  <a:lnTo>
                    <a:pt x="286863" y="378233"/>
                  </a:lnTo>
                  <a:lnTo>
                    <a:pt x="323858" y="354713"/>
                  </a:lnTo>
                  <a:lnTo>
                    <a:pt x="354713" y="323858"/>
                  </a:lnTo>
                  <a:lnTo>
                    <a:pt x="378233" y="286865"/>
                  </a:lnTo>
                  <a:lnTo>
                    <a:pt x="393222" y="244925"/>
                  </a:lnTo>
                  <a:lnTo>
                    <a:pt x="398484" y="199242"/>
                  </a:lnTo>
                  <a:lnTo>
                    <a:pt x="393222" y="153558"/>
                  </a:lnTo>
                  <a:lnTo>
                    <a:pt x="378233" y="111620"/>
                  </a:lnTo>
                  <a:lnTo>
                    <a:pt x="354713" y="74626"/>
                  </a:lnTo>
                  <a:lnTo>
                    <a:pt x="323858" y="43770"/>
                  </a:lnTo>
                  <a:lnTo>
                    <a:pt x="286863" y="20251"/>
                  </a:lnTo>
                  <a:lnTo>
                    <a:pt x="244927" y="5261"/>
                  </a:lnTo>
                  <a:lnTo>
                    <a:pt x="199241" y="0"/>
                  </a:lnTo>
                  <a:close/>
                </a:path>
              </a:pathLst>
            </a:custGeom>
            <a:solidFill>
              <a:srgbClr val="004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596474" y="4710473"/>
              <a:ext cx="398780" cy="398780"/>
            </a:xfrm>
            <a:custGeom>
              <a:avLst/>
              <a:gdLst/>
              <a:ahLst/>
              <a:cxnLst/>
              <a:rect l="l" t="t" r="r" b="b"/>
              <a:pathLst>
                <a:path w="398780" h="398779">
                  <a:moveTo>
                    <a:pt x="0" y="199242"/>
                  </a:moveTo>
                  <a:lnTo>
                    <a:pt x="5262" y="153558"/>
                  </a:lnTo>
                  <a:lnTo>
                    <a:pt x="20251" y="111620"/>
                  </a:lnTo>
                  <a:lnTo>
                    <a:pt x="43771" y="74626"/>
                  </a:lnTo>
                  <a:lnTo>
                    <a:pt x="74626" y="43771"/>
                  </a:lnTo>
                  <a:lnTo>
                    <a:pt x="111620" y="20251"/>
                  </a:lnTo>
                  <a:lnTo>
                    <a:pt x="153558" y="5262"/>
                  </a:lnTo>
                  <a:lnTo>
                    <a:pt x="199242" y="0"/>
                  </a:lnTo>
                  <a:lnTo>
                    <a:pt x="244926" y="5262"/>
                  </a:lnTo>
                  <a:lnTo>
                    <a:pt x="286864" y="20251"/>
                  </a:lnTo>
                  <a:lnTo>
                    <a:pt x="323858" y="43771"/>
                  </a:lnTo>
                  <a:lnTo>
                    <a:pt x="354713" y="74626"/>
                  </a:lnTo>
                  <a:lnTo>
                    <a:pt x="378233" y="111620"/>
                  </a:lnTo>
                  <a:lnTo>
                    <a:pt x="393222" y="153558"/>
                  </a:lnTo>
                  <a:lnTo>
                    <a:pt x="398485" y="199242"/>
                  </a:lnTo>
                  <a:lnTo>
                    <a:pt x="393222" y="244926"/>
                  </a:lnTo>
                  <a:lnTo>
                    <a:pt x="378233" y="286864"/>
                  </a:lnTo>
                  <a:lnTo>
                    <a:pt x="354713" y="323858"/>
                  </a:lnTo>
                  <a:lnTo>
                    <a:pt x="323858" y="354713"/>
                  </a:lnTo>
                  <a:lnTo>
                    <a:pt x="286864" y="378233"/>
                  </a:lnTo>
                  <a:lnTo>
                    <a:pt x="244926" y="393223"/>
                  </a:lnTo>
                  <a:lnTo>
                    <a:pt x="199242" y="398486"/>
                  </a:lnTo>
                  <a:lnTo>
                    <a:pt x="153558" y="393223"/>
                  </a:lnTo>
                  <a:lnTo>
                    <a:pt x="111620" y="378233"/>
                  </a:lnTo>
                  <a:lnTo>
                    <a:pt x="74626" y="354713"/>
                  </a:lnTo>
                  <a:lnTo>
                    <a:pt x="43771" y="323858"/>
                  </a:lnTo>
                  <a:lnTo>
                    <a:pt x="20251" y="286864"/>
                  </a:lnTo>
                  <a:lnTo>
                    <a:pt x="5262" y="244926"/>
                  </a:lnTo>
                  <a:lnTo>
                    <a:pt x="0" y="19924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2590124" y="5216649"/>
            <a:ext cx="7121525" cy="411480"/>
            <a:chOff x="2590124" y="5216649"/>
            <a:chExt cx="7121525" cy="411480"/>
          </a:xfrm>
        </p:grpSpPr>
        <p:sp>
          <p:nvSpPr>
            <p:cNvPr id="30" name="object 30"/>
            <p:cNvSpPr/>
            <p:nvPr/>
          </p:nvSpPr>
          <p:spPr>
            <a:xfrm>
              <a:off x="2795718" y="5222999"/>
              <a:ext cx="6915784" cy="398780"/>
            </a:xfrm>
            <a:custGeom>
              <a:avLst/>
              <a:gdLst/>
              <a:ahLst/>
              <a:cxnLst/>
              <a:rect l="l" t="t" r="r" b="b"/>
              <a:pathLst>
                <a:path w="6915784" h="398779">
                  <a:moveTo>
                    <a:pt x="6915758" y="0"/>
                  </a:moveTo>
                  <a:lnTo>
                    <a:pt x="199235" y="0"/>
                  </a:lnTo>
                  <a:lnTo>
                    <a:pt x="0" y="199237"/>
                  </a:lnTo>
                  <a:lnTo>
                    <a:pt x="199235" y="398485"/>
                  </a:lnTo>
                  <a:lnTo>
                    <a:pt x="6915758" y="398485"/>
                  </a:lnTo>
                  <a:lnTo>
                    <a:pt x="6915758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596474" y="5222999"/>
              <a:ext cx="398780" cy="398780"/>
            </a:xfrm>
            <a:custGeom>
              <a:avLst/>
              <a:gdLst/>
              <a:ahLst/>
              <a:cxnLst/>
              <a:rect l="l" t="t" r="r" b="b"/>
              <a:pathLst>
                <a:path w="398780" h="398779">
                  <a:moveTo>
                    <a:pt x="199241" y="0"/>
                  </a:moveTo>
                  <a:lnTo>
                    <a:pt x="153558" y="5261"/>
                  </a:lnTo>
                  <a:lnTo>
                    <a:pt x="111620" y="20250"/>
                  </a:lnTo>
                  <a:lnTo>
                    <a:pt x="74625" y="43770"/>
                  </a:lnTo>
                  <a:lnTo>
                    <a:pt x="43770" y="74625"/>
                  </a:lnTo>
                  <a:lnTo>
                    <a:pt x="20250" y="111620"/>
                  </a:lnTo>
                  <a:lnTo>
                    <a:pt x="5261" y="153558"/>
                  </a:lnTo>
                  <a:lnTo>
                    <a:pt x="0" y="199242"/>
                  </a:lnTo>
                  <a:lnTo>
                    <a:pt x="5261" y="244927"/>
                  </a:lnTo>
                  <a:lnTo>
                    <a:pt x="20250" y="286863"/>
                  </a:lnTo>
                  <a:lnTo>
                    <a:pt x="43770" y="323858"/>
                  </a:lnTo>
                  <a:lnTo>
                    <a:pt x="74625" y="354714"/>
                  </a:lnTo>
                  <a:lnTo>
                    <a:pt x="111620" y="378234"/>
                  </a:lnTo>
                  <a:lnTo>
                    <a:pt x="153558" y="393223"/>
                  </a:lnTo>
                  <a:lnTo>
                    <a:pt x="199241" y="398485"/>
                  </a:lnTo>
                  <a:lnTo>
                    <a:pt x="244927" y="393223"/>
                  </a:lnTo>
                  <a:lnTo>
                    <a:pt x="286863" y="378234"/>
                  </a:lnTo>
                  <a:lnTo>
                    <a:pt x="323858" y="354714"/>
                  </a:lnTo>
                  <a:lnTo>
                    <a:pt x="354713" y="323858"/>
                  </a:lnTo>
                  <a:lnTo>
                    <a:pt x="378233" y="286863"/>
                  </a:lnTo>
                  <a:lnTo>
                    <a:pt x="393222" y="244927"/>
                  </a:lnTo>
                  <a:lnTo>
                    <a:pt x="398484" y="199242"/>
                  </a:lnTo>
                  <a:lnTo>
                    <a:pt x="393222" y="153558"/>
                  </a:lnTo>
                  <a:lnTo>
                    <a:pt x="378233" y="111620"/>
                  </a:lnTo>
                  <a:lnTo>
                    <a:pt x="354713" y="74625"/>
                  </a:lnTo>
                  <a:lnTo>
                    <a:pt x="323858" y="43770"/>
                  </a:lnTo>
                  <a:lnTo>
                    <a:pt x="286863" y="20250"/>
                  </a:lnTo>
                  <a:lnTo>
                    <a:pt x="244927" y="5261"/>
                  </a:lnTo>
                  <a:lnTo>
                    <a:pt x="199241" y="0"/>
                  </a:lnTo>
                  <a:close/>
                </a:path>
              </a:pathLst>
            </a:custGeom>
            <a:solidFill>
              <a:srgbClr val="004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96474" y="5222999"/>
              <a:ext cx="398780" cy="398780"/>
            </a:xfrm>
            <a:custGeom>
              <a:avLst/>
              <a:gdLst/>
              <a:ahLst/>
              <a:cxnLst/>
              <a:rect l="l" t="t" r="r" b="b"/>
              <a:pathLst>
                <a:path w="398780" h="398779">
                  <a:moveTo>
                    <a:pt x="0" y="199242"/>
                  </a:moveTo>
                  <a:lnTo>
                    <a:pt x="5262" y="153558"/>
                  </a:lnTo>
                  <a:lnTo>
                    <a:pt x="20251" y="111620"/>
                  </a:lnTo>
                  <a:lnTo>
                    <a:pt x="43771" y="74626"/>
                  </a:lnTo>
                  <a:lnTo>
                    <a:pt x="74626" y="43771"/>
                  </a:lnTo>
                  <a:lnTo>
                    <a:pt x="111620" y="20251"/>
                  </a:lnTo>
                  <a:lnTo>
                    <a:pt x="153558" y="5262"/>
                  </a:lnTo>
                  <a:lnTo>
                    <a:pt x="199242" y="0"/>
                  </a:lnTo>
                  <a:lnTo>
                    <a:pt x="244926" y="5262"/>
                  </a:lnTo>
                  <a:lnTo>
                    <a:pt x="286864" y="20251"/>
                  </a:lnTo>
                  <a:lnTo>
                    <a:pt x="323858" y="43771"/>
                  </a:lnTo>
                  <a:lnTo>
                    <a:pt x="354713" y="74626"/>
                  </a:lnTo>
                  <a:lnTo>
                    <a:pt x="378233" y="111620"/>
                  </a:lnTo>
                  <a:lnTo>
                    <a:pt x="393222" y="153558"/>
                  </a:lnTo>
                  <a:lnTo>
                    <a:pt x="398485" y="199242"/>
                  </a:lnTo>
                  <a:lnTo>
                    <a:pt x="393222" y="244926"/>
                  </a:lnTo>
                  <a:lnTo>
                    <a:pt x="378233" y="286864"/>
                  </a:lnTo>
                  <a:lnTo>
                    <a:pt x="354713" y="323858"/>
                  </a:lnTo>
                  <a:lnTo>
                    <a:pt x="323858" y="354713"/>
                  </a:lnTo>
                  <a:lnTo>
                    <a:pt x="286864" y="378233"/>
                  </a:lnTo>
                  <a:lnTo>
                    <a:pt x="244926" y="393223"/>
                  </a:lnTo>
                  <a:lnTo>
                    <a:pt x="199242" y="398486"/>
                  </a:lnTo>
                  <a:lnTo>
                    <a:pt x="153558" y="393223"/>
                  </a:lnTo>
                  <a:lnTo>
                    <a:pt x="111620" y="378233"/>
                  </a:lnTo>
                  <a:lnTo>
                    <a:pt x="74626" y="354713"/>
                  </a:lnTo>
                  <a:lnTo>
                    <a:pt x="43771" y="323858"/>
                  </a:lnTo>
                  <a:lnTo>
                    <a:pt x="20251" y="286864"/>
                  </a:lnTo>
                  <a:lnTo>
                    <a:pt x="5262" y="244926"/>
                  </a:lnTo>
                  <a:lnTo>
                    <a:pt x="0" y="19924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/>
          <p:nvPr/>
        </p:nvSpPr>
        <p:spPr>
          <a:xfrm>
            <a:off x="2795718" y="5735524"/>
            <a:ext cx="6915784" cy="398780"/>
          </a:xfrm>
          <a:custGeom>
            <a:avLst/>
            <a:gdLst/>
            <a:ahLst/>
            <a:cxnLst/>
            <a:rect l="l" t="t" r="r" b="b"/>
            <a:pathLst>
              <a:path w="6915784" h="398779">
                <a:moveTo>
                  <a:pt x="6915758" y="0"/>
                </a:moveTo>
                <a:lnTo>
                  <a:pt x="199235" y="0"/>
                </a:lnTo>
                <a:lnTo>
                  <a:pt x="0" y="199238"/>
                </a:lnTo>
                <a:lnTo>
                  <a:pt x="199235" y="398484"/>
                </a:lnTo>
                <a:lnTo>
                  <a:pt x="6915758" y="398484"/>
                </a:lnTo>
                <a:lnTo>
                  <a:pt x="6915758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3962267" y="2184908"/>
            <a:ext cx="4659630" cy="3893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244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Tahoma"/>
                <a:cs typeface="Tahoma"/>
              </a:rPr>
              <a:t>Что</a:t>
            </a:r>
            <a:r>
              <a:rPr sz="1800" b="1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ahoma"/>
                <a:cs typeface="Tahoma"/>
              </a:rPr>
              <a:t>попадает</a:t>
            </a:r>
            <a:r>
              <a:rPr sz="1800" b="1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ahoma"/>
                <a:cs typeface="Tahoma"/>
              </a:rPr>
              <a:t>в</a:t>
            </a:r>
            <a:r>
              <a:rPr sz="1800" b="1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ahoma"/>
                <a:cs typeface="Tahoma"/>
              </a:rPr>
              <a:t>цифровой</a:t>
            </a:r>
            <a:r>
              <a:rPr sz="1800" b="1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ahoma"/>
                <a:cs typeface="Tahoma"/>
              </a:rPr>
              <a:t>профиль</a:t>
            </a:r>
            <a:endParaRPr sz="1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939"/>
              </a:spcBef>
            </a:pP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ФСС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 РФ</a:t>
            </a:r>
            <a:endParaRPr sz="1800">
              <a:latin typeface="Tahoma"/>
              <a:cs typeface="Tahoma"/>
            </a:endParaRPr>
          </a:p>
          <a:p>
            <a:pPr marL="6985" algn="ctr">
              <a:lnSpc>
                <a:spcPct val="100000"/>
              </a:lnSpc>
              <a:spcBef>
                <a:spcPts val="1130"/>
              </a:spcBef>
            </a:pP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БКИ</a:t>
            </a:r>
            <a:r>
              <a:rPr sz="18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(бюро</a:t>
            </a: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кредитных</a:t>
            </a:r>
            <a:r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историй)</a:t>
            </a:r>
            <a:endParaRPr sz="1800">
              <a:latin typeface="Tahoma"/>
              <a:cs typeface="Tahoma"/>
            </a:endParaRPr>
          </a:p>
          <a:p>
            <a:pPr marL="411480" marR="395605" algn="ctr">
              <a:lnSpc>
                <a:spcPts val="4610"/>
              </a:lnSpc>
              <a:spcBef>
                <a:spcPts val="55"/>
              </a:spcBef>
            </a:pP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Кредитно-</a:t>
            </a:r>
            <a:r>
              <a:rPr sz="18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финансовых</a:t>
            </a:r>
            <a:r>
              <a:rPr sz="18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организаций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НПФ</a:t>
            </a:r>
            <a:endParaRPr sz="1800">
              <a:latin typeface="Tahoma"/>
              <a:cs typeface="Tahoma"/>
            </a:endParaRPr>
          </a:p>
          <a:p>
            <a:pPr marL="6985" algn="ctr">
              <a:lnSpc>
                <a:spcPct val="100000"/>
              </a:lnSpc>
              <a:spcBef>
                <a:spcPts val="660"/>
              </a:spcBef>
            </a:pP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Операторов</a:t>
            </a:r>
            <a:r>
              <a:rPr sz="18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связи</a:t>
            </a:r>
            <a:endParaRPr sz="1800">
              <a:latin typeface="Tahoma"/>
              <a:cs typeface="Tahoma"/>
            </a:endParaRPr>
          </a:p>
          <a:p>
            <a:pPr marL="7620" algn="ctr">
              <a:lnSpc>
                <a:spcPct val="100000"/>
              </a:lnSpc>
              <a:spcBef>
                <a:spcPts val="1945"/>
              </a:spcBef>
            </a:pP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Страховых</a:t>
            </a: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компаний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Профучастников</a:t>
            </a:r>
            <a:r>
              <a:rPr sz="18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рынка</a:t>
            </a:r>
            <a:r>
              <a:rPr sz="18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ценных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бумаг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и</a:t>
            </a:r>
            <a:r>
              <a:rPr sz="18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т.д.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590124" y="5729174"/>
            <a:ext cx="411480" cy="411480"/>
            <a:chOff x="2590124" y="5729174"/>
            <a:chExt cx="411480" cy="411480"/>
          </a:xfrm>
        </p:grpSpPr>
        <p:sp>
          <p:nvSpPr>
            <p:cNvPr id="36" name="object 36"/>
            <p:cNvSpPr/>
            <p:nvPr/>
          </p:nvSpPr>
          <p:spPr>
            <a:xfrm>
              <a:off x="2596474" y="5735524"/>
              <a:ext cx="398780" cy="398780"/>
            </a:xfrm>
            <a:custGeom>
              <a:avLst/>
              <a:gdLst/>
              <a:ahLst/>
              <a:cxnLst/>
              <a:rect l="l" t="t" r="r" b="b"/>
              <a:pathLst>
                <a:path w="398780" h="398779">
                  <a:moveTo>
                    <a:pt x="199241" y="0"/>
                  </a:moveTo>
                  <a:lnTo>
                    <a:pt x="153558" y="5261"/>
                  </a:lnTo>
                  <a:lnTo>
                    <a:pt x="111620" y="20251"/>
                  </a:lnTo>
                  <a:lnTo>
                    <a:pt x="74625" y="43771"/>
                  </a:lnTo>
                  <a:lnTo>
                    <a:pt x="43770" y="74626"/>
                  </a:lnTo>
                  <a:lnTo>
                    <a:pt x="20250" y="111620"/>
                  </a:lnTo>
                  <a:lnTo>
                    <a:pt x="5261" y="153558"/>
                  </a:lnTo>
                  <a:lnTo>
                    <a:pt x="0" y="199242"/>
                  </a:lnTo>
                  <a:lnTo>
                    <a:pt x="5261" y="244927"/>
                  </a:lnTo>
                  <a:lnTo>
                    <a:pt x="20250" y="286864"/>
                  </a:lnTo>
                  <a:lnTo>
                    <a:pt x="43770" y="323858"/>
                  </a:lnTo>
                  <a:lnTo>
                    <a:pt x="74625" y="354713"/>
                  </a:lnTo>
                  <a:lnTo>
                    <a:pt x="111620" y="378233"/>
                  </a:lnTo>
                  <a:lnTo>
                    <a:pt x="153558" y="393222"/>
                  </a:lnTo>
                  <a:lnTo>
                    <a:pt x="199241" y="398484"/>
                  </a:lnTo>
                  <a:lnTo>
                    <a:pt x="244927" y="393222"/>
                  </a:lnTo>
                  <a:lnTo>
                    <a:pt x="286863" y="378233"/>
                  </a:lnTo>
                  <a:lnTo>
                    <a:pt x="323858" y="354713"/>
                  </a:lnTo>
                  <a:lnTo>
                    <a:pt x="354713" y="323858"/>
                  </a:lnTo>
                  <a:lnTo>
                    <a:pt x="378233" y="286864"/>
                  </a:lnTo>
                  <a:lnTo>
                    <a:pt x="393222" y="244927"/>
                  </a:lnTo>
                  <a:lnTo>
                    <a:pt x="398484" y="199242"/>
                  </a:lnTo>
                  <a:lnTo>
                    <a:pt x="393222" y="153558"/>
                  </a:lnTo>
                  <a:lnTo>
                    <a:pt x="378233" y="111620"/>
                  </a:lnTo>
                  <a:lnTo>
                    <a:pt x="354713" y="74626"/>
                  </a:lnTo>
                  <a:lnTo>
                    <a:pt x="323858" y="43771"/>
                  </a:lnTo>
                  <a:lnTo>
                    <a:pt x="286863" y="20251"/>
                  </a:lnTo>
                  <a:lnTo>
                    <a:pt x="244927" y="5261"/>
                  </a:lnTo>
                  <a:lnTo>
                    <a:pt x="199241" y="0"/>
                  </a:lnTo>
                  <a:close/>
                </a:path>
              </a:pathLst>
            </a:custGeom>
            <a:solidFill>
              <a:srgbClr val="004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596474" y="5735524"/>
              <a:ext cx="398780" cy="398780"/>
            </a:xfrm>
            <a:custGeom>
              <a:avLst/>
              <a:gdLst/>
              <a:ahLst/>
              <a:cxnLst/>
              <a:rect l="l" t="t" r="r" b="b"/>
              <a:pathLst>
                <a:path w="398780" h="398779">
                  <a:moveTo>
                    <a:pt x="0" y="199242"/>
                  </a:moveTo>
                  <a:lnTo>
                    <a:pt x="5262" y="153558"/>
                  </a:lnTo>
                  <a:lnTo>
                    <a:pt x="20251" y="111620"/>
                  </a:lnTo>
                  <a:lnTo>
                    <a:pt x="43771" y="74626"/>
                  </a:lnTo>
                  <a:lnTo>
                    <a:pt x="74626" y="43771"/>
                  </a:lnTo>
                  <a:lnTo>
                    <a:pt x="111620" y="20251"/>
                  </a:lnTo>
                  <a:lnTo>
                    <a:pt x="153558" y="5262"/>
                  </a:lnTo>
                  <a:lnTo>
                    <a:pt x="199242" y="0"/>
                  </a:lnTo>
                  <a:lnTo>
                    <a:pt x="244926" y="5262"/>
                  </a:lnTo>
                  <a:lnTo>
                    <a:pt x="286864" y="20251"/>
                  </a:lnTo>
                  <a:lnTo>
                    <a:pt x="323858" y="43771"/>
                  </a:lnTo>
                  <a:lnTo>
                    <a:pt x="354713" y="74626"/>
                  </a:lnTo>
                  <a:lnTo>
                    <a:pt x="378233" y="111620"/>
                  </a:lnTo>
                  <a:lnTo>
                    <a:pt x="393222" y="153558"/>
                  </a:lnTo>
                  <a:lnTo>
                    <a:pt x="398485" y="199242"/>
                  </a:lnTo>
                  <a:lnTo>
                    <a:pt x="393222" y="244926"/>
                  </a:lnTo>
                  <a:lnTo>
                    <a:pt x="378233" y="286864"/>
                  </a:lnTo>
                  <a:lnTo>
                    <a:pt x="354713" y="323858"/>
                  </a:lnTo>
                  <a:lnTo>
                    <a:pt x="323858" y="354713"/>
                  </a:lnTo>
                  <a:lnTo>
                    <a:pt x="286864" y="378233"/>
                  </a:lnTo>
                  <a:lnTo>
                    <a:pt x="244926" y="393223"/>
                  </a:lnTo>
                  <a:lnTo>
                    <a:pt x="199242" y="398486"/>
                  </a:lnTo>
                  <a:lnTo>
                    <a:pt x="153558" y="393223"/>
                  </a:lnTo>
                  <a:lnTo>
                    <a:pt x="111620" y="378233"/>
                  </a:lnTo>
                  <a:lnTo>
                    <a:pt x="74626" y="354713"/>
                  </a:lnTo>
                  <a:lnTo>
                    <a:pt x="43771" y="323858"/>
                  </a:lnTo>
                  <a:lnTo>
                    <a:pt x="20251" y="286864"/>
                  </a:lnTo>
                  <a:lnTo>
                    <a:pt x="5262" y="244926"/>
                  </a:lnTo>
                  <a:lnTo>
                    <a:pt x="0" y="19924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0182" y="2804667"/>
            <a:ext cx="43853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2.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Цифровизация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платежей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1545" y="1253270"/>
            <a:ext cx="9539997" cy="4006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2875">
              <a:lnSpc>
                <a:spcPct val="100000"/>
              </a:lnSpc>
              <a:spcBef>
                <a:spcPts val="100"/>
              </a:spcBef>
            </a:pPr>
            <a:r>
              <a:rPr dirty="0"/>
              <a:t>Основные</a:t>
            </a:r>
            <a:r>
              <a:rPr spc="-80" dirty="0"/>
              <a:t> </a:t>
            </a:r>
            <a:r>
              <a:rPr dirty="0"/>
              <a:t>виды</a:t>
            </a:r>
            <a:r>
              <a:rPr spc="-105" dirty="0"/>
              <a:t> </a:t>
            </a:r>
            <a:r>
              <a:rPr spc="-10" dirty="0"/>
              <a:t>платежей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847" y="1991867"/>
            <a:ext cx="8899525" cy="36830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AutoNum type="arabicPeriod"/>
              <a:tabLst>
                <a:tab pos="354965" algn="l"/>
              </a:tabLst>
            </a:pPr>
            <a:r>
              <a:rPr sz="2000" dirty="0">
                <a:latin typeface="Tahoma"/>
                <a:cs typeface="Tahoma"/>
              </a:rPr>
              <a:t>Наличный</a:t>
            </a:r>
            <a:r>
              <a:rPr sz="2000" spc="-13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расчет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4965" algn="l"/>
              </a:tabLst>
            </a:pPr>
            <a:r>
              <a:rPr sz="2000" dirty="0">
                <a:latin typeface="Tahoma"/>
                <a:cs typeface="Tahoma"/>
              </a:rPr>
              <a:t>Оплата</a:t>
            </a:r>
            <a:r>
              <a:rPr sz="2000" spc="-114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банковской</a:t>
            </a:r>
            <a:r>
              <a:rPr sz="2000" spc="-1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картой</a:t>
            </a:r>
            <a:r>
              <a:rPr sz="2000" spc="-12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(дебетовой</a:t>
            </a:r>
            <a:r>
              <a:rPr sz="2000" spc="-1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или</a:t>
            </a:r>
            <a:r>
              <a:rPr sz="2000" spc="-10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кредитной/картой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рассрочки)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4965" algn="l"/>
              </a:tabLst>
            </a:pPr>
            <a:r>
              <a:rPr sz="2000" dirty="0">
                <a:latin typeface="Tahoma"/>
                <a:cs typeface="Tahoma"/>
              </a:rPr>
              <a:t>Оплата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по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spc="-60" dirty="0">
                <a:latin typeface="Tahoma"/>
                <a:cs typeface="Tahoma"/>
              </a:rPr>
              <a:t>QR-</a:t>
            </a:r>
            <a:r>
              <a:rPr sz="2000" spc="-20" dirty="0">
                <a:latin typeface="Tahoma"/>
                <a:cs typeface="Tahoma"/>
              </a:rPr>
              <a:t>коду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4965" algn="l"/>
              </a:tabLst>
            </a:pPr>
            <a:r>
              <a:rPr sz="2000" dirty="0">
                <a:latin typeface="Tahoma"/>
                <a:cs typeface="Tahoma"/>
              </a:rPr>
              <a:t>Оплата</a:t>
            </a:r>
            <a:r>
              <a:rPr sz="2000" spc="-8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с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помощью</a:t>
            </a:r>
            <a:r>
              <a:rPr sz="2000" spc="-9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встроенного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модуля</a:t>
            </a:r>
            <a:r>
              <a:rPr sz="2000" spc="-1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NFC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или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платежного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стикера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4965" algn="l"/>
              </a:tabLst>
            </a:pPr>
            <a:r>
              <a:rPr sz="2000" spc="-10" dirty="0">
                <a:latin typeface="Tahoma"/>
                <a:cs typeface="Tahoma"/>
              </a:rPr>
              <a:t>Перевод</a:t>
            </a:r>
            <a:r>
              <a:rPr sz="2000" spc="-10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через</a:t>
            </a:r>
            <a:r>
              <a:rPr sz="2000" spc="-7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Систему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быстрых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платежей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4965" algn="l"/>
              </a:tabLst>
            </a:pPr>
            <a:r>
              <a:rPr sz="2000" dirty="0">
                <a:latin typeface="Tahoma"/>
                <a:cs typeface="Tahoma"/>
              </a:rPr>
              <a:t>Оплата</a:t>
            </a:r>
            <a:r>
              <a:rPr sz="2000" spc="-8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с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помощью</a:t>
            </a:r>
            <a:r>
              <a:rPr sz="2000" spc="-9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электронного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кошелька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4965" algn="l"/>
              </a:tabLst>
            </a:pPr>
            <a:r>
              <a:rPr sz="2000" spc="-20" dirty="0">
                <a:latin typeface="Tahoma"/>
                <a:cs typeface="Tahoma"/>
              </a:rPr>
              <a:t>Перевод/оплата</a:t>
            </a:r>
            <a:r>
              <a:rPr sz="2000" spc="-9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по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банковским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реквизитам</a:t>
            </a:r>
            <a:endParaRPr sz="20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4965" algn="l"/>
              </a:tabLst>
            </a:pPr>
            <a:r>
              <a:rPr sz="2000" spc="-10" dirty="0">
                <a:latin typeface="Tahoma"/>
                <a:cs typeface="Tahoma"/>
              </a:rPr>
              <a:t>Перевод</a:t>
            </a:r>
            <a:r>
              <a:rPr sz="2000" spc="-1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без</a:t>
            </a:r>
            <a:r>
              <a:rPr sz="2000" spc="-114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открытия</a:t>
            </a:r>
            <a:r>
              <a:rPr sz="2000" spc="-10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банковского</a:t>
            </a:r>
            <a:r>
              <a:rPr sz="2000" spc="-8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счета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1545" y="1253270"/>
            <a:ext cx="9539997" cy="4006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84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Классификация</a:t>
            </a:r>
            <a:r>
              <a:rPr spc="-80" dirty="0"/>
              <a:t> </a:t>
            </a:r>
            <a:r>
              <a:rPr spc="-10" dirty="0"/>
              <a:t>электронных</a:t>
            </a:r>
            <a:r>
              <a:rPr spc="-80" dirty="0"/>
              <a:t> </a:t>
            </a:r>
            <a:r>
              <a:rPr dirty="0"/>
              <a:t>платежных</a:t>
            </a:r>
            <a:r>
              <a:rPr spc="-65" dirty="0"/>
              <a:t> </a:t>
            </a:r>
            <a:r>
              <a:rPr spc="-10" dirty="0"/>
              <a:t>систем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9035679" y="2017486"/>
            <a:ext cx="2367280" cy="1684655"/>
            <a:chOff x="9035679" y="2017486"/>
            <a:chExt cx="2367280" cy="1684655"/>
          </a:xfrm>
        </p:grpSpPr>
        <p:sp>
          <p:nvSpPr>
            <p:cNvPr id="5" name="object 5"/>
            <p:cNvSpPr/>
            <p:nvPr/>
          </p:nvSpPr>
          <p:spPr>
            <a:xfrm>
              <a:off x="10219202" y="3201012"/>
              <a:ext cx="0" cy="494665"/>
            </a:xfrm>
            <a:custGeom>
              <a:avLst/>
              <a:gdLst/>
              <a:ahLst/>
              <a:cxnLst/>
              <a:rect l="l" t="t" r="r" b="b"/>
              <a:pathLst>
                <a:path h="494664">
                  <a:moveTo>
                    <a:pt x="0" y="0"/>
                  </a:moveTo>
                  <a:lnTo>
                    <a:pt x="0" y="494414"/>
                  </a:lnTo>
                </a:path>
              </a:pathLst>
            </a:custGeom>
            <a:ln w="12700">
              <a:solidFill>
                <a:srgbClr val="007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042029" y="2023835"/>
              <a:ext cx="2354580" cy="1177290"/>
            </a:xfrm>
            <a:custGeom>
              <a:avLst/>
              <a:gdLst/>
              <a:ahLst/>
              <a:cxnLst/>
              <a:rect l="l" t="t" r="r" b="b"/>
              <a:pathLst>
                <a:path w="2354579" h="1177289">
                  <a:moveTo>
                    <a:pt x="2354348" y="0"/>
                  </a:moveTo>
                  <a:lnTo>
                    <a:pt x="0" y="0"/>
                  </a:lnTo>
                  <a:lnTo>
                    <a:pt x="0" y="1177174"/>
                  </a:lnTo>
                  <a:lnTo>
                    <a:pt x="2354348" y="1177174"/>
                  </a:lnTo>
                  <a:lnTo>
                    <a:pt x="2354348" y="0"/>
                  </a:lnTo>
                  <a:close/>
                </a:path>
              </a:pathLst>
            </a:custGeom>
            <a:solidFill>
              <a:srgbClr val="004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042029" y="2023836"/>
              <a:ext cx="2354580" cy="1177290"/>
            </a:xfrm>
            <a:custGeom>
              <a:avLst/>
              <a:gdLst/>
              <a:ahLst/>
              <a:cxnLst/>
              <a:rect l="l" t="t" r="r" b="b"/>
              <a:pathLst>
                <a:path w="2354579" h="1177289">
                  <a:moveTo>
                    <a:pt x="0" y="0"/>
                  </a:moveTo>
                  <a:lnTo>
                    <a:pt x="2354350" y="0"/>
                  </a:lnTo>
                  <a:lnTo>
                    <a:pt x="2354350" y="1177175"/>
                  </a:lnTo>
                  <a:lnTo>
                    <a:pt x="0" y="117717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6186915" y="2017486"/>
            <a:ext cx="2367280" cy="1684655"/>
            <a:chOff x="6186915" y="2017486"/>
            <a:chExt cx="2367280" cy="1684655"/>
          </a:xfrm>
        </p:grpSpPr>
        <p:sp>
          <p:nvSpPr>
            <p:cNvPr id="9" name="object 9"/>
            <p:cNvSpPr/>
            <p:nvPr/>
          </p:nvSpPr>
          <p:spPr>
            <a:xfrm>
              <a:off x="7370439" y="3201012"/>
              <a:ext cx="0" cy="494665"/>
            </a:xfrm>
            <a:custGeom>
              <a:avLst/>
              <a:gdLst/>
              <a:ahLst/>
              <a:cxnLst/>
              <a:rect l="l" t="t" r="r" b="b"/>
              <a:pathLst>
                <a:path h="494664">
                  <a:moveTo>
                    <a:pt x="0" y="0"/>
                  </a:moveTo>
                  <a:lnTo>
                    <a:pt x="0" y="494414"/>
                  </a:lnTo>
                </a:path>
              </a:pathLst>
            </a:custGeom>
            <a:ln w="12700">
              <a:solidFill>
                <a:srgbClr val="007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93265" y="2023835"/>
              <a:ext cx="2354580" cy="1177290"/>
            </a:xfrm>
            <a:custGeom>
              <a:avLst/>
              <a:gdLst/>
              <a:ahLst/>
              <a:cxnLst/>
              <a:rect l="l" t="t" r="r" b="b"/>
              <a:pathLst>
                <a:path w="2354579" h="1177289">
                  <a:moveTo>
                    <a:pt x="2354348" y="0"/>
                  </a:moveTo>
                  <a:lnTo>
                    <a:pt x="0" y="0"/>
                  </a:lnTo>
                  <a:lnTo>
                    <a:pt x="0" y="1177174"/>
                  </a:lnTo>
                  <a:lnTo>
                    <a:pt x="2354348" y="1177174"/>
                  </a:lnTo>
                  <a:lnTo>
                    <a:pt x="2354348" y="0"/>
                  </a:lnTo>
                  <a:close/>
                </a:path>
              </a:pathLst>
            </a:custGeom>
            <a:solidFill>
              <a:srgbClr val="E618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93265" y="2023836"/>
              <a:ext cx="2354580" cy="1177290"/>
            </a:xfrm>
            <a:custGeom>
              <a:avLst/>
              <a:gdLst/>
              <a:ahLst/>
              <a:cxnLst/>
              <a:rect l="l" t="t" r="r" b="b"/>
              <a:pathLst>
                <a:path w="2354579" h="1177289">
                  <a:moveTo>
                    <a:pt x="0" y="0"/>
                  </a:moveTo>
                  <a:lnTo>
                    <a:pt x="2354350" y="0"/>
                  </a:lnTo>
                  <a:lnTo>
                    <a:pt x="2354350" y="1177175"/>
                  </a:lnTo>
                  <a:lnTo>
                    <a:pt x="0" y="117717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2849684" y="3201010"/>
            <a:ext cx="494030" cy="2764155"/>
          </a:xfrm>
          <a:custGeom>
            <a:avLst/>
            <a:gdLst/>
            <a:ahLst/>
            <a:cxnLst/>
            <a:rect l="l" t="t" r="r" b="b"/>
            <a:pathLst>
              <a:path w="494029" h="2764154">
                <a:moveTo>
                  <a:pt x="247014" y="0"/>
                </a:moveTo>
                <a:lnTo>
                  <a:pt x="247014" y="2764112"/>
                </a:lnTo>
              </a:path>
              <a:path w="494029" h="2764154">
                <a:moveTo>
                  <a:pt x="0" y="1083000"/>
                </a:moveTo>
                <a:lnTo>
                  <a:pt x="494028" y="1083000"/>
                </a:lnTo>
              </a:path>
              <a:path w="494029" h="2764154">
                <a:moveTo>
                  <a:pt x="0" y="2754587"/>
                </a:moveTo>
                <a:lnTo>
                  <a:pt x="494028" y="2754587"/>
                </a:lnTo>
              </a:path>
            </a:pathLst>
          </a:custGeom>
          <a:ln w="19050">
            <a:solidFill>
              <a:srgbClr val="00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920119" y="2023835"/>
            <a:ext cx="2354580" cy="1177290"/>
          </a:xfrm>
          <a:prstGeom prst="rect">
            <a:avLst/>
          </a:prstGeom>
          <a:solidFill>
            <a:srgbClr val="F07D00"/>
          </a:solidFill>
        </p:spPr>
        <p:txBody>
          <a:bodyPr vert="horz" wrap="square" lIns="0" tIns="29845" rIns="0" bIns="0" rtlCol="0">
            <a:spAutoFit/>
          </a:bodyPr>
          <a:lstStyle/>
          <a:p>
            <a:pPr marL="304800" marR="290830" indent="-635" algn="ctr">
              <a:lnSpc>
                <a:spcPct val="89300"/>
              </a:lnSpc>
              <a:spcBef>
                <a:spcPts val="235"/>
              </a:spcBef>
            </a:pPr>
            <a:r>
              <a:rPr sz="2700" spc="-10" dirty="0">
                <a:solidFill>
                  <a:srgbClr val="FFFFFF"/>
                </a:solidFill>
                <a:latin typeface="Tahoma"/>
                <a:cs typeface="Tahoma"/>
              </a:rPr>
              <a:t>Сервисы мобильных платежей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5739" y="3695425"/>
            <a:ext cx="2354580" cy="1177290"/>
          </a:xfrm>
          <a:prstGeom prst="rect">
            <a:avLst/>
          </a:prstGeom>
          <a:solidFill>
            <a:srgbClr val="F07D00"/>
          </a:solidFill>
        </p:spPr>
        <p:txBody>
          <a:bodyPr vert="horz" wrap="square" lIns="0" tIns="222250" rIns="0" bIns="0" rtlCol="0">
            <a:spAutoFit/>
          </a:bodyPr>
          <a:lstStyle/>
          <a:p>
            <a:pPr marL="546100" marR="260350" indent="-278765">
              <a:lnSpc>
                <a:spcPts val="2900"/>
              </a:lnSpc>
              <a:spcBef>
                <a:spcPts val="1750"/>
              </a:spcBef>
            </a:pPr>
            <a:r>
              <a:rPr sz="2700" spc="-10" dirty="0">
                <a:solidFill>
                  <a:srgbClr val="FFFFFF"/>
                </a:solidFill>
                <a:latin typeface="Tahoma"/>
                <a:cs typeface="Tahoma"/>
              </a:rPr>
              <a:t>Мобильный банкинг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44500" y="3695425"/>
            <a:ext cx="2354580" cy="1177290"/>
          </a:xfrm>
          <a:prstGeom prst="rect">
            <a:avLst/>
          </a:prstGeom>
          <a:solidFill>
            <a:srgbClr val="F07D00"/>
          </a:solidFill>
        </p:spPr>
        <p:txBody>
          <a:bodyPr vert="horz" wrap="square" lIns="0" tIns="362585" rIns="0" bIns="0" rtlCol="0">
            <a:spAutoFit/>
          </a:bodyPr>
          <a:lstStyle/>
          <a:p>
            <a:pPr marL="160020">
              <a:lnSpc>
                <a:spcPct val="100000"/>
              </a:lnSpc>
              <a:spcBef>
                <a:spcPts val="2855"/>
              </a:spcBef>
            </a:pPr>
            <a:r>
              <a:rPr sz="2700" spc="-20" dirty="0">
                <a:solidFill>
                  <a:srgbClr val="FFFFFF"/>
                </a:solidFill>
                <a:latin typeface="Tahoma"/>
                <a:cs typeface="Tahoma"/>
              </a:rPr>
              <a:t>SMS-</a:t>
            </a:r>
            <a:r>
              <a:rPr sz="2700" spc="-10" dirty="0">
                <a:solidFill>
                  <a:srgbClr val="FFFFFF"/>
                </a:solidFill>
                <a:latin typeface="Tahoma"/>
                <a:cs typeface="Tahoma"/>
              </a:rPr>
              <a:t>банкинг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5739" y="5367013"/>
            <a:ext cx="2354580" cy="1177290"/>
          </a:xfrm>
          <a:prstGeom prst="rect">
            <a:avLst/>
          </a:prstGeom>
          <a:solidFill>
            <a:srgbClr val="F07D00"/>
          </a:solidFill>
        </p:spPr>
        <p:txBody>
          <a:bodyPr vert="horz" wrap="square" lIns="0" tIns="30480" rIns="0" bIns="0" rtlCol="0">
            <a:spAutoFit/>
          </a:bodyPr>
          <a:lstStyle/>
          <a:p>
            <a:pPr marL="266700" marR="252729" indent="-1270" algn="ctr">
              <a:lnSpc>
                <a:spcPct val="89300"/>
              </a:lnSpc>
              <a:spcBef>
                <a:spcPts val="240"/>
              </a:spcBef>
            </a:pPr>
            <a:r>
              <a:rPr sz="2700" spc="-10" dirty="0">
                <a:solidFill>
                  <a:srgbClr val="FFFFFF"/>
                </a:solidFill>
                <a:latin typeface="Tahoma"/>
                <a:cs typeface="Tahoma"/>
              </a:rPr>
              <a:t>Платежи через операторов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44500" y="5367013"/>
            <a:ext cx="2354580" cy="1177290"/>
          </a:xfrm>
          <a:prstGeom prst="rect">
            <a:avLst/>
          </a:prstGeom>
          <a:solidFill>
            <a:srgbClr val="F07D00"/>
          </a:solidFill>
        </p:spPr>
        <p:txBody>
          <a:bodyPr vert="horz" wrap="square" lIns="0" tIns="36449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2870"/>
              </a:spcBef>
            </a:pPr>
            <a:r>
              <a:rPr sz="2700" spc="-35" dirty="0">
                <a:solidFill>
                  <a:srgbClr val="FFFFFF"/>
                </a:solidFill>
                <a:latin typeface="Tahoma"/>
                <a:cs typeface="Tahoma"/>
              </a:rPr>
              <a:t>NFC-</a:t>
            </a:r>
            <a:r>
              <a:rPr sz="2700" spc="-10" dirty="0">
                <a:solidFill>
                  <a:srgbClr val="FFFFFF"/>
                </a:solidFill>
                <a:latin typeface="Tahoma"/>
                <a:cs typeface="Tahoma"/>
              </a:rPr>
              <a:t>платежи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93265" y="2023835"/>
            <a:ext cx="2354580" cy="117729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12395" marR="97790" algn="ctr">
              <a:lnSpc>
                <a:spcPct val="89300"/>
              </a:lnSpc>
              <a:spcBef>
                <a:spcPts val="235"/>
              </a:spcBef>
            </a:pPr>
            <a:r>
              <a:rPr sz="2700" spc="-10" dirty="0">
                <a:solidFill>
                  <a:srgbClr val="FFFFFF"/>
                </a:solidFill>
                <a:latin typeface="Tahoma"/>
                <a:cs typeface="Tahoma"/>
              </a:rPr>
              <a:t>Банковские немобильные сервисы</a:t>
            </a:r>
            <a:endParaRPr sz="27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186915" y="3689074"/>
            <a:ext cx="2367280" cy="1189990"/>
            <a:chOff x="6186915" y="3689074"/>
            <a:chExt cx="2367280" cy="1189990"/>
          </a:xfrm>
        </p:grpSpPr>
        <p:sp>
          <p:nvSpPr>
            <p:cNvPr id="20" name="object 20"/>
            <p:cNvSpPr/>
            <p:nvPr/>
          </p:nvSpPr>
          <p:spPr>
            <a:xfrm>
              <a:off x="6193265" y="3695425"/>
              <a:ext cx="2354580" cy="1177290"/>
            </a:xfrm>
            <a:custGeom>
              <a:avLst/>
              <a:gdLst/>
              <a:ahLst/>
              <a:cxnLst/>
              <a:rect l="l" t="t" r="r" b="b"/>
              <a:pathLst>
                <a:path w="2354579" h="1177289">
                  <a:moveTo>
                    <a:pt x="2354348" y="0"/>
                  </a:moveTo>
                  <a:lnTo>
                    <a:pt x="0" y="0"/>
                  </a:lnTo>
                  <a:lnTo>
                    <a:pt x="0" y="1177174"/>
                  </a:lnTo>
                  <a:lnTo>
                    <a:pt x="2354348" y="1177174"/>
                  </a:lnTo>
                  <a:lnTo>
                    <a:pt x="2354348" y="0"/>
                  </a:lnTo>
                  <a:close/>
                </a:path>
              </a:pathLst>
            </a:custGeom>
            <a:solidFill>
              <a:srgbClr val="E618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193265" y="3695424"/>
              <a:ext cx="2354580" cy="1177290"/>
            </a:xfrm>
            <a:custGeom>
              <a:avLst/>
              <a:gdLst/>
              <a:ahLst/>
              <a:cxnLst/>
              <a:rect l="l" t="t" r="r" b="b"/>
              <a:pathLst>
                <a:path w="2354579" h="1177289">
                  <a:moveTo>
                    <a:pt x="0" y="0"/>
                  </a:moveTo>
                  <a:lnTo>
                    <a:pt x="2354350" y="0"/>
                  </a:lnTo>
                  <a:lnTo>
                    <a:pt x="2354350" y="1177175"/>
                  </a:lnTo>
                  <a:lnTo>
                    <a:pt x="0" y="117717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193265" y="3695425"/>
            <a:ext cx="2354580" cy="1177290"/>
          </a:xfrm>
          <a:prstGeom prst="rect">
            <a:avLst/>
          </a:prstGeom>
        </p:spPr>
        <p:txBody>
          <a:bodyPr vert="horz" wrap="square" lIns="0" tIns="222250" rIns="0" bIns="0" rtlCol="0">
            <a:spAutoFit/>
          </a:bodyPr>
          <a:lstStyle/>
          <a:p>
            <a:pPr marL="546735" marR="363220" indent="-175260">
              <a:lnSpc>
                <a:spcPts val="2900"/>
              </a:lnSpc>
              <a:spcBef>
                <a:spcPts val="1750"/>
              </a:spcBef>
            </a:pPr>
            <a:r>
              <a:rPr sz="2700" spc="-10" dirty="0">
                <a:solidFill>
                  <a:srgbClr val="FFFFFF"/>
                </a:solidFill>
                <a:latin typeface="Tahoma"/>
                <a:cs typeface="Tahoma"/>
              </a:rPr>
              <a:t>Интернет- банкинг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042029" y="2023835"/>
            <a:ext cx="2354580" cy="117729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73660" marR="57785" algn="ctr">
              <a:lnSpc>
                <a:spcPct val="89300"/>
              </a:lnSpc>
              <a:spcBef>
                <a:spcPts val="235"/>
              </a:spcBef>
            </a:pPr>
            <a:r>
              <a:rPr sz="2700" spc="-10" dirty="0">
                <a:solidFill>
                  <a:srgbClr val="FFFFFF"/>
                </a:solidFill>
                <a:latin typeface="Tahoma"/>
                <a:cs typeface="Tahoma"/>
              </a:rPr>
              <a:t>Небанковские немобильные сервисы</a:t>
            </a:r>
            <a:endParaRPr sz="27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035679" y="3689074"/>
            <a:ext cx="2367280" cy="1189990"/>
            <a:chOff x="9035679" y="3689074"/>
            <a:chExt cx="2367280" cy="1189990"/>
          </a:xfrm>
        </p:grpSpPr>
        <p:sp>
          <p:nvSpPr>
            <p:cNvPr id="25" name="object 25"/>
            <p:cNvSpPr/>
            <p:nvPr/>
          </p:nvSpPr>
          <p:spPr>
            <a:xfrm>
              <a:off x="9042029" y="3695425"/>
              <a:ext cx="2354580" cy="1177290"/>
            </a:xfrm>
            <a:custGeom>
              <a:avLst/>
              <a:gdLst/>
              <a:ahLst/>
              <a:cxnLst/>
              <a:rect l="l" t="t" r="r" b="b"/>
              <a:pathLst>
                <a:path w="2354579" h="1177289">
                  <a:moveTo>
                    <a:pt x="2354348" y="0"/>
                  </a:moveTo>
                  <a:lnTo>
                    <a:pt x="0" y="0"/>
                  </a:lnTo>
                  <a:lnTo>
                    <a:pt x="0" y="1177174"/>
                  </a:lnTo>
                  <a:lnTo>
                    <a:pt x="2354348" y="1177174"/>
                  </a:lnTo>
                  <a:lnTo>
                    <a:pt x="2354348" y="0"/>
                  </a:lnTo>
                  <a:close/>
                </a:path>
              </a:pathLst>
            </a:custGeom>
            <a:solidFill>
              <a:srgbClr val="004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042029" y="3695424"/>
              <a:ext cx="2354580" cy="1177290"/>
            </a:xfrm>
            <a:custGeom>
              <a:avLst/>
              <a:gdLst/>
              <a:ahLst/>
              <a:cxnLst/>
              <a:rect l="l" t="t" r="r" b="b"/>
              <a:pathLst>
                <a:path w="2354579" h="1177289">
                  <a:moveTo>
                    <a:pt x="0" y="0"/>
                  </a:moveTo>
                  <a:lnTo>
                    <a:pt x="2354350" y="0"/>
                  </a:lnTo>
                  <a:lnTo>
                    <a:pt x="2354350" y="1177175"/>
                  </a:lnTo>
                  <a:lnTo>
                    <a:pt x="0" y="117717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9042029" y="3695425"/>
            <a:ext cx="2354580" cy="117729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64465" marR="148590" algn="ctr">
              <a:lnSpc>
                <a:spcPts val="2900"/>
              </a:lnSpc>
              <a:spcBef>
                <a:spcPts val="285"/>
              </a:spcBef>
            </a:pPr>
            <a:r>
              <a:rPr sz="2700" spc="-10" dirty="0">
                <a:solidFill>
                  <a:srgbClr val="FFFFFF"/>
                </a:solidFill>
                <a:latin typeface="Tahoma"/>
                <a:cs typeface="Tahoma"/>
              </a:rPr>
              <a:t>Системы электронных денег</a:t>
            </a:r>
            <a:endParaRPr sz="2700">
              <a:latin typeface="Tahoma"/>
              <a:cs typeface="Tahoma"/>
            </a:endParaRPr>
          </a:p>
        </p:txBody>
      </p:sp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98414" y="5122628"/>
            <a:ext cx="3215560" cy="1423606"/>
          </a:xfrm>
          <a:prstGeom prst="rect">
            <a:avLst/>
          </a:prstGeom>
        </p:spPr>
      </p:pic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1545" y="1253270"/>
            <a:ext cx="9539997" cy="4006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0785">
              <a:lnSpc>
                <a:spcPct val="100000"/>
              </a:lnSpc>
              <a:spcBef>
                <a:spcPts val="100"/>
              </a:spcBef>
            </a:pPr>
            <a:r>
              <a:rPr dirty="0"/>
              <a:t>Доля</a:t>
            </a:r>
            <a:r>
              <a:rPr spc="-40" dirty="0"/>
              <a:t> </a:t>
            </a:r>
            <a:r>
              <a:rPr spc="-10" dirty="0"/>
              <a:t>безналичных</a:t>
            </a:r>
            <a:r>
              <a:rPr spc="-80" dirty="0"/>
              <a:t> </a:t>
            </a:r>
            <a:r>
              <a:rPr spc="-10" dirty="0"/>
              <a:t>платежей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0723" y="2462913"/>
            <a:ext cx="11107304" cy="367208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355230" y="6125971"/>
            <a:ext cx="59493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Летом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2023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года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доля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безналичных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платежей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составила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81%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1545" y="1253270"/>
            <a:ext cx="9539997" cy="4006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0785">
              <a:lnSpc>
                <a:spcPct val="100000"/>
              </a:lnSpc>
              <a:spcBef>
                <a:spcPts val="100"/>
              </a:spcBef>
            </a:pPr>
            <a:r>
              <a:rPr dirty="0"/>
              <a:t>Доля</a:t>
            </a:r>
            <a:r>
              <a:rPr spc="-80" dirty="0"/>
              <a:t> </a:t>
            </a:r>
            <a:r>
              <a:rPr dirty="0"/>
              <a:t>наличных</a:t>
            </a:r>
            <a:r>
              <a:rPr spc="-90" dirty="0"/>
              <a:t> </a:t>
            </a:r>
            <a:r>
              <a:rPr dirty="0"/>
              <a:t>денежных</a:t>
            </a:r>
            <a:r>
              <a:rPr spc="-90" dirty="0"/>
              <a:t> </a:t>
            </a:r>
            <a:r>
              <a:rPr spc="-10" dirty="0"/>
              <a:t>средств</a:t>
            </a:r>
          </a:p>
        </p:txBody>
      </p:sp>
      <p:sp>
        <p:nvSpPr>
          <p:cNvPr id="5" name="object 5"/>
          <p:cNvSpPr/>
          <p:nvPr/>
        </p:nvSpPr>
        <p:spPr>
          <a:xfrm>
            <a:off x="1667624" y="1793574"/>
            <a:ext cx="9014460" cy="0"/>
          </a:xfrm>
          <a:custGeom>
            <a:avLst/>
            <a:gdLst/>
            <a:ahLst/>
            <a:cxnLst/>
            <a:rect l="l" t="t" r="r" b="b"/>
            <a:pathLst>
              <a:path w="9014460">
                <a:moveTo>
                  <a:pt x="0" y="0"/>
                </a:moveTo>
                <a:lnTo>
                  <a:pt x="9014219" y="0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662861" y="2084832"/>
            <a:ext cx="9023985" cy="3355340"/>
            <a:chOff x="1662861" y="2084832"/>
            <a:chExt cx="9023985" cy="3355340"/>
          </a:xfrm>
        </p:grpSpPr>
        <p:sp>
          <p:nvSpPr>
            <p:cNvPr id="7" name="object 7"/>
            <p:cNvSpPr/>
            <p:nvPr/>
          </p:nvSpPr>
          <p:spPr>
            <a:xfrm>
              <a:off x="1667624" y="2194560"/>
              <a:ext cx="9014460" cy="2807335"/>
            </a:xfrm>
            <a:custGeom>
              <a:avLst/>
              <a:gdLst/>
              <a:ahLst/>
              <a:cxnLst/>
              <a:rect l="l" t="t" r="r" b="b"/>
              <a:pathLst>
                <a:path w="9014460" h="2807335">
                  <a:moveTo>
                    <a:pt x="8610231" y="2807208"/>
                  </a:moveTo>
                  <a:lnTo>
                    <a:pt x="8817495" y="2807208"/>
                  </a:lnTo>
                </a:path>
                <a:path w="9014460" h="2807335">
                  <a:moveTo>
                    <a:pt x="8911983" y="2807208"/>
                  </a:moveTo>
                  <a:lnTo>
                    <a:pt x="9014219" y="2807208"/>
                  </a:lnTo>
                </a:path>
                <a:path w="9014460" h="2807335">
                  <a:moveTo>
                    <a:pt x="8311527" y="2807208"/>
                  </a:moveTo>
                  <a:lnTo>
                    <a:pt x="8515743" y="2807208"/>
                  </a:lnTo>
                </a:path>
                <a:path w="9014460" h="2807335">
                  <a:moveTo>
                    <a:pt x="4102239" y="2807208"/>
                  </a:moveTo>
                  <a:lnTo>
                    <a:pt x="4309503" y="2807208"/>
                  </a:lnTo>
                </a:path>
                <a:path w="9014460" h="2807335">
                  <a:moveTo>
                    <a:pt x="4705743" y="2807208"/>
                  </a:moveTo>
                  <a:lnTo>
                    <a:pt x="4909959" y="2807208"/>
                  </a:lnTo>
                </a:path>
                <a:path w="9014460" h="2807335">
                  <a:moveTo>
                    <a:pt x="2901327" y="2807208"/>
                  </a:moveTo>
                  <a:lnTo>
                    <a:pt x="3108591" y="2807208"/>
                  </a:lnTo>
                </a:path>
                <a:path w="9014460" h="2807335">
                  <a:moveTo>
                    <a:pt x="5004447" y="2807208"/>
                  </a:moveTo>
                  <a:lnTo>
                    <a:pt x="5211711" y="2807208"/>
                  </a:lnTo>
                </a:path>
                <a:path w="9014460" h="2807335">
                  <a:moveTo>
                    <a:pt x="3203079" y="2807208"/>
                  </a:moveTo>
                  <a:lnTo>
                    <a:pt x="3407295" y="2807208"/>
                  </a:lnTo>
                </a:path>
                <a:path w="9014460" h="2807335">
                  <a:moveTo>
                    <a:pt x="3803535" y="2807208"/>
                  </a:moveTo>
                  <a:lnTo>
                    <a:pt x="4010799" y="2807208"/>
                  </a:lnTo>
                </a:path>
                <a:path w="9014460" h="2807335">
                  <a:moveTo>
                    <a:pt x="2300871" y="2807208"/>
                  </a:moveTo>
                  <a:lnTo>
                    <a:pt x="2508135" y="2807208"/>
                  </a:lnTo>
                </a:path>
                <a:path w="9014460" h="2807335">
                  <a:moveTo>
                    <a:pt x="1398663" y="2807208"/>
                  </a:moveTo>
                  <a:lnTo>
                    <a:pt x="1605927" y="2807208"/>
                  </a:lnTo>
                </a:path>
                <a:path w="9014460" h="2807335">
                  <a:moveTo>
                    <a:pt x="6808863" y="2807208"/>
                  </a:moveTo>
                  <a:lnTo>
                    <a:pt x="7013079" y="2807208"/>
                  </a:lnTo>
                </a:path>
                <a:path w="9014460" h="2807335">
                  <a:moveTo>
                    <a:pt x="6205359" y="2807208"/>
                  </a:moveTo>
                  <a:lnTo>
                    <a:pt x="6412623" y="2807208"/>
                  </a:lnTo>
                </a:path>
                <a:path w="9014460" h="2807335">
                  <a:moveTo>
                    <a:pt x="496455" y="2807208"/>
                  </a:moveTo>
                  <a:lnTo>
                    <a:pt x="703719" y="2807208"/>
                  </a:lnTo>
                </a:path>
                <a:path w="9014460" h="2807335">
                  <a:moveTo>
                    <a:pt x="5604903" y="2807208"/>
                  </a:moveTo>
                  <a:lnTo>
                    <a:pt x="5812167" y="2807208"/>
                  </a:lnTo>
                </a:path>
                <a:path w="9014460" h="2807335">
                  <a:moveTo>
                    <a:pt x="7107567" y="2807208"/>
                  </a:moveTo>
                  <a:lnTo>
                    <a:pt x="7314831" y="2807208"/>
                  </a:lnTo>
                </a:path>
                <a:path w="9014460" h="2807335">
                  <a:moveTo>
                    <a:pt x="8009775" y="2807208"/>
                  </a:moveTo>
                  <a:lnTo>
                    <a:pt x="8217039" y="2807208"/>
                  </a:lnTo>
                </a:path>
                <a:path w="9014460" h="2807335">
                  <a:moveTo>
                    <a:pt x="3501783" y="2807208"/>
                  </a:moveTo>
                  <a:lnTo>
                    <a:pt x="3709047" y="2807208"/>
                  </a:lnTo>
                </a:path>
                <a:path w="9014460" h="2807335">
                  <a:moveTo>
                    <a:pt x="1999119" y="2807208"/>
                  </a:moveTo>
                  <a:lnTo>
                    <a:pt x="2206383" y="2807208"/>
                  </a:lnTo>
                </a:path>
                <a:path w="9014460" h="2807335">
                  <a:moveTo>
                    <a:pt x="5306199" y="2807208"/>
                  </a:moveTo>
                  <a:lnTo>
                    <a:pt x="5510415" y="2807208"/>
                  </a:lnTo>
                </a:path>
                <a:path w="9014460" h="2807335">
                  <a:moveTo>
                    <a:pt x="1099959" y="2807208"/>
                  </a:moveTo>
                  <a:lnTo>
                    <a:pt x="1304175" y="2807208"/>
                  </a:lnTo>
                </a:path>
                <a:path w="9014460" h="2807335">
                  <a:moveTo>
                    <a:pt x="5906655" y="2807208"/>
                  </a:moveTo>
                  <a:lnTo>
                    <a:pt x="6113919" y="2807208"/>
                  </a:lnTo>
                </a:path>
                <a:path w="9014460" h="2807335">
                  <a:moveTo>
                    <a:pt x="1700415" y="2807208"/>
                  </a:moveTo>
                  <a:lnTo>
                    <a:pt x="1904631" y="2807208"/>
                  </a:lnTo>
                </a:path>
                <a:path w="9014460" h="2807335">
                  <a:moveTo>
                    <a:pt x="7708023" y="2807208"/>
                  </a:moveTo>
                  <a:lnTo>
                    <a:pt x="7915287" y="2807208"/>
                  </a:lnTo>
                </a:path>
                <a:path w="9014460" h="2807335">
                  <a:moveTo>
                    <a:pt x="0" y="2807208"/>
                  </a:moveTo>
                  <a:lnTo>
                    <a:pt x="103263" y="2807208"/>
                  </a:lnTo>
                </a:path>
                <a:path w="9014460" h="2807335">
                  <a:moveTo>
                    <a:pt x="197751" y="2807208"/>
                  </a:moveTo>
                  <a:lnTo>
                    <a:pt x="405015" y="2807208"/>
                  </a:lnTo>
                </a:path>
                <a:path w="9014460" h="2807335">
                  <a:moveTo>
                    <a:pt x="4403991" y="2807208"/>
                  </a:moveTo>
                  <a:lnTo>
                    <a:pt x="4611255" y="2807208"/>
                  </a:lnTo>
                </a:path>
                <a:path w="9014460" h="2807335">
                  <a:moveTo>
                    <a:pt x="2602623" y="2807208"/>
                  </a:moveTo>
                  <a:lnTo>
                    <a:pt x="2806839" y="2807208"/>
                  </a:lnTo>
                </a:path>
                <a:path w="9014460" h="2807335">
                  <a:moveTo>
                    <a:pt x="6507111" y="2807208"/>
                  </a:moveTo>
                  <a:lnTo>
                    <a:pt x="6714375" y="2807208"/>
                  </a:lnTo>
                </a:path>
                <a:path w="9014460" h="2807335">
                  <a:moveTo>
                    <a:pt x="798207" y="2807208"/>
                  </a:moveTo>
                  <a:lnTo>
                    <a:pt x="1005471" y="2807208"/>
                  </a:lnTo>
                </a:path>
                <a:path w="9014460" h="2807335">
                  <a:moveTo>
                    <a:pt x="7409319" y="2807208"/>
                  </a:moveTo>
                  <a:lnTo>
                    <a:pt x="7613535" y="2807208"/>
                  </a:lnTo>
                </a:path>
                <a:path w="9014460" h="2807335">
                  <a:moveTo>
                    <a:pt x="197751" y="2407920"/>
                  </a:moveTo>
                  <a:lnTo>
                    <a:pt x="405015" y="2407920"/>
                  </a:lnTo>
                </a:path>
                <a:path w="9014460" h="2807335">
                  <a:moveTo>
                    <a:pt x="6808863" y="2407920"/>
                  </a:moveTo>
                  <a:lnTo>
                    <a:pt x="7013079" y="2407920"/>
                  </a:lnTo>
                </a:path>
                <a:path w="9014460" h="2807335">
                  <a:moveTo>
                    <a:pt x="496455" y="2407920"/>
                  </a:moveTo>
                  <a:lnTo>
                    <a:pt x="703719" y="2407920"/>
                  </a:lnTo>
                </a:path>
                <a:path w="9014460" h="2807335">
                  <a:moveTo>
                    <a:pt x="7409319" y="2407920"/>
                  </a:moveTo>
                  <a:lnTo>
                    <a:pt x="7613535" y="2407920"/>
                  </a:lnTo>
                </a:path>
                <a:path w="9014460" h="2807335">
                  <a:moveTo>
                    <a:pt x="0" y="2407920"/>
                  </a:moveTo>
                  <a:lnTo>
                    <a:pt x="103263" y="2407920"/>
                  </a:lnTo>
                </a:path>
                <a:path w="9014460" h="2807335">
                  <a:moveTo>
                    <a:pt x="1999119" y="2407920"/>
                  </a:moveTo>
                  <a:lnTo>
                    <a:pt x="2206383" y="2407920"/>
                  </a:lnTo>
                </a:path>
                <a:path w="9014460" h="2807335">
                  <a:moveTo>
                    <a:pt x="798207" y="2407920"/>
                  </a:moveTo>
                  <a:lnTo>
                    <a:pt x="1005471" y="2407920"/>
                  </a:lnTo>
                </a:path>
                <a:path w="9014460" h="2807335">
                  <a:moveTo>
                    <a:pt x="6205359" y="2407920"/>
                  </a:moveTo>
                  <a:lnTo>
                    <a:pt x="6412623" y="2407920"/>
                  </a:lnTo>
                </a:path>
                <a:path w="9014460" h="2807335">
                  <a:moveTo>
                    <a:pt x="3203079" y="2407920"/>
                  </a:moveTo>
                  <a:lnTo>
                    <a:pt x="3407295" y="2407920"/>
                  </a:lnTo>
                </a:path>
                <a:path w="9014460" h="2807335">
                  <a:moveTo>
                    <a:pt x="6507111" y="2407920"/>
                  </a:moveTo>
                  <a:lnTo>
                    <a:pt x="6714375" y="2407920"/>
                  </a:lnTo>
                </a:path>
                <a:path w="9014460" h="2807335">
                  <a:moveTo>
                    <a:pt x="4102239" y="2407920"/>
                  </a:moveTo>
                  <a:lnTo>
                    <a:pt x="4309503" y="2407920"/>
                  </a:lnTo>
                </a:path>
                <a:path w="9014460" h="2807335">
                  <a:moveTo>
                    <a:pt x="5906655" y="2407920"/>
                  </a:moveTo>
                  <a:lnTo>
                    <a:pt x="6113919" y="2407920"/>
                  </a:lnTo>
                </a:path>
                <a:path w="9014460" h="2807335">
                  <a:moveTo>
                    <a:pt x="8009775" y="2407920"/>
                  </a:moveTo>
                  <a:lnTo>
                    <a:pt x="8217039" y="2407920"/>
                  </a:lnTo>
                </a:path>
                <a:path w="9014460" h="2807335">
                  <a:moveTo>
                    <a:pt x="5604903" y="2407920"/>
                  </a:moveTo>
                  <a:lnTo>
                    <a:pt x="5812167" y="2407920"/>
                  </a:lnTo>
                </a:path>
                <a:path w="9014460" h="2807335">
                  <a:moveTo>
                    <a:pt x="1398663" y="2407920"/>
                  </a:moveTo>
                  <a:lnTo>
                    <a:pt x="1605927" y="2407920"/>
                  </a:lnTo>
                </a:path>
                <a:path w="9014460" h="2807335">
                  <a:moveTo>
                    <a:pt x="2901327" y="2407920"/>
                  </a:moveTo>
                  <a:lnTo>
                    <a:pt x="3108591" y="2407920"/>
                  </a:lnTo>
                </a:path>
                <a:path w="9014460" h="2807335">
                  <a:moveTo>
                    <a:pt x="8911983" y="2407920"/>
                  </a:moveTo>
                  <a:lnTo>
                    <a:pt x="9014219" y="2407920"/>
                  </a:lnTo>
                </a:path>
                <a:path w="9014460" h="2807335">
                  <a:moveTo>
                    <a:pt x="4403991" y="2407920"/>
                  </a:moveTo>
                  <a:lnTo>
                    <a:pt x="4611255" y="2407920"/>
                  </a:lnTo>
                </a:path>
                <a:path w="9014460" h="2807335">
                  <a:moveTo>
                    <a:pt x="3803535" y="2407920"/>
                  </a:moveTo>
                  <a:lnTo>
                    <a:pt x="4010799" y="2407920"/>
                  </a:lnTo>
                </a:path>
                <a:path w="9014460" h="2807335">
                  <a:moveTo>
                    <a:pt x="3501783" y="2407920"/>
                  </a:moveTo>
                  <a:lnTo>
                    <a:pt x="3709047" y="2407920"/>
                  </a:lnTo>
                </a:path>
                <a:path w="9014460" h="2807335">
                  <a:moveTo>
                    <a:pt x="1099959" y="2407920"/>
                  </a:moveTo>
                  <a:lnTo>
                    <a:pt x="1304175" y="2407920"/>
                  </a:lnTo>
                </a:path>
                <a:path w="9014460" h="2807335">
                  <a:moveTo>
                    <a:pt x="7708023" y="2407920"/>
                  </a:moveTo>
                  <a:lnTo>
                    <a:pt x="7915287" y="2407920"/>
                  </a:lnTo>
                </a:path>
                <a:path w="9014460" h="2807335">
                  <a:moveTo>
                    <a:pt x="7107567" y="2407920"/>
                  </a:moveTo>
                  <a:lnTo>
                    <a:pt x="7314831" y="2407920"/>
                  </a:lnTo>
                </a:path>
                <a:path w="9014460" h="2807335">
                  <a:moveTo>
                    <a:pt x="2602623" y="2407920"/>
                  </a:moveTo>
                  <a:lnTo>
                    <a:pt x="2806839" y="2407920"/>
                  </a:lnTo>
                </a:path>
                <a:path w="9014460" h="2807335">
                  <a:moveTo>
                    <a:pt x="8610231" y="2407920"/>
                  </a:moveTo>
                  <a:lnTo>
                    <a:pt x="8817495" y="2407920"/>
                  </a:lnTo>
                </a:path>
                <a:path w="9014460" h="2807335">
                  <a:moveTo>
                    <a:pt x="5004447" y="2407920"/>
                  </a:moveTo>
                  <a:lnTo>
                    <a:pt x="5211711" y="2407920"/>
                  </a:lnTo>
                </a:path>
                <a:path w="9014460" h="2807335">
                  <a:moveTo>
                    <a:pt x="1700415" y="2407920"/>
                  </a:moveTo>
                  <a:lnTo>
                    <a:pt x="1904631" y="2407920"/>
                  </a:lnTo>
                </a:path>
                <a:path w="9014460" h="2807335">
                  <a:moveTo>
                    <a:pt x="5306199" y="2407920"/>
                  </a:moveTo>
                  <a:lnTo>
                    <a:pt x="5510415" y="2407920"/>
                  </a:lnTo>
                </a:path>
                <a:path w="9014460" h="2807335">
                  <a:moveTo>
                    <a:pt x="2300871" y="2407920"/>
                  </a:moveTo>
                  <a:lnTo>
                    <a:pt x="2508135" y="2407920"/>
                  </a:lnTo>
                </a:path>
                <a:path w="9014460" h="2807335">
                  <a:moveTo>
                    <a:pt x="4705743" y="2407920"/>
                  </a:moveTo>
                  <a:lnTo>
                    <a:pt x="4909959" y="2407920"/>
                  </a:lnTo>
                </a:path>
                <a:path w="9014460" h="2807335">
                  <a:moveTo>
                    <a:pt x="8311527" y="2407920"/>
                  </a:moveTo>
                  <a:lnTo>
                    <a:pt x="8515743" y="2407920"/>
                  </a:lnTo>
                </a:path>
                <a:path w="9014460" h="2807335">
                  <a:moveTo>
                    <a:pt x="4403991" y="2005584"/>
                  </a:moveTo>
                  <a:lnTo>
                    <a:pt x="4611255" y="2005584"/>
                  </a:lnTo>
                </a:path>
                <a:path w="9014460" h="2807335">
                  <a:moveTo>
                    <a:pt x="8911983" y="2005584"/>
                  </a:moveTo>
                  <a:lnTo>
                    <a:pt x="9014219" y="2005584"/>
                  </a:lnTo>
                </a:path>
                <a:path w="9014460" h="2807335">
                  <a:moveTo>
                    <a:pt x="5004447" y="2005584"/>
                  </a:moveTo>
                  <a:lnTo>
                    <a:pt x="5211711" y="2005584"/>
                  </a:lnTo>
                </a:path>
                <a:path w="9014460" h="2807335">
                  <a:moveTo>
                    <a:pt x="5306199" y="2005584"/>
                  </a:moveTo>
                  <a:lnTo>
                    <a:pt x="5510415" y="2005584"/>
                  </a:lnTo>
                </a:path>
                <a:path w="9014460" h="2807335">
                  <a:moveTo>
                    <a:pt x="7107567" y="2005584"/>
                  </a:moveTo>
                  <a:lnTo>
                    <a:pt x="7314831" y="2005584"/>
                  </a:lnTo>
                </a:path>
                <a:path w="9014460" h="2807335">
                  <a:moveTo>
                    <a:pt x="5906655" y="2005584"/>
                  </a:moveTo>
                  <a:lnTo>
                    <a:pt x="6113919" y="2005584"/>
                  </a:lnTo>
                </a:path>
                <a:path w="9014460" h="2807335">
                  <a:moveTo>
                    <a:pt x="4102239" y="2005584"/>
                  </a:moveTo>
                  <a:lnTo>
                    <a:pt x="4309503" y="2005584"/>
                  </a:lnTo>
                </a:path>
                <a:path w="9014460" h="2807335">
                  <a:moveTo>
                    <a:pt x="4705743" y="2005584"/>
                  </a:moveTo>
                  <a:lnTo>
                    <a:pt x="4909959" y="2005584"/>
                  </a:lnTo>
                </a:path>
                <a:path w="9014460" h="2807335">
                  <a:moveTo>
                    <a:pt x="7409319" y="2005584"/>
                  </a:moveTo>
                  <a:lnTo>
                    <a:pt x="7613535" y="2005584"/>
                  </a:lnTo>
                </a:path>
                <a:path w="9014460" h="2807335">
                  <a:moveTo>
                    <a:pt x="2300871" y="2005584"/>
                  </a:moveTo>
                  <a:lnTo>
                    <a:pt x="2508135" y="2005584"/>
                  </a:lnTo>
                </a:path>
                <a:path w="9014460" h="2807335">
                  <a:moveTo>
                    <a:pt x="2602623" y="2005584"/>
                  </a:moveTo>
                  <a:lnTo>
                    <a:pt x="2806839" y="2005584"/>
                  </a:lnTo>
                </a:path>
                <a:path w="9014460" h="2807335">
                  <a:moveTo>
                    <a:pt x="6507111" y="2005584"/>
                  </a:moveTo>
                  <a:lnTo>
                    <a:pt x="6714375" y="2005584"/>
                  </a:lnTo>
                </a:path>
                <a:path w="9014460" h="2807335">
                  <a:moveTo>
                    <a:pt x="3203079" y="2005584"/>
                  </a:moveTo>
                  <a:lnTo>
                    <a:pt x="3407295" y="2005584"/>
                  </a:lnTo>
                </a:path>
                <a:path w="9014460" h="2807335">
                  <a:moveTo>
                    <a:pt x="3501783" y="2005584"/>
                  </a:moveTo>
                  <a:lnTo>
                    <a:pt x="3709047" y="2005584"/>
                  </a:lnTo>
                </a:path>
                <a:path w="9014460" h="2807335">
                  <a:moveTo>
                    <a:pt x="1700415" y="2005584"/>
                  </a:moveTo>
                  <a:lnTo>
                    <a:pt x="1904631" y="2005584"/>
                  </a:lnTo>
                </a:path>
                <a:path w="9014460" h="2807335">
                  <a:moveTo>
                    <a:pt x="8311527" y="2005584"/>
                  </a:moveTo>
                  <a:lnTo>
                    <a:pt x="8515743" y="2005584"/>
                  </a:lnTo>
                </a:path>
                <a:path w="9014460" h="2807335">
                  <a:moveTo>
                    <a:pt x="5604903" y="2005584"/>
                  </a:moveTo>
                  <a:lnTo>
                    <a:pt x="5812167" y="2005584"/>
                  </a:lnTo>
                </a:path>
                <a:path w="9014460" h="2807335">
                  <a:moveTo>
                    <a:pt x="8610231" y="2005584"/>
                  </a:moveTo>
                  <a:lnTo>
                    <a:pt x="8817495" y="2005584"/>
                  </a:lnTo>
                </a:path>
                <a:path w="9014460" h="2807335">
                  <a:moveTo>
                    <a:pt x="7708023" y="2005584"/>
                  </a:moveTo>
                  <a:lnTo>
                    <a:pt x="7915287" y="2005584"/>
                  </a:lnTo>
                </a:path>
                <a:path w="9014460" h="2807335">
                  <a:moveTo>
                    <a:pt x="496455" y="2005584"/>
                  </a:moveTo>
                  <a:lnTo>
                    <a:pt x="703719" y="2005584"/>
                  </a:lnTo>
                </a:path>
                <a:path w="9014460" h="2807335">
                  <a:moveTo>
                    <a:pt x="1099959" y="2005584"/>
                  </a:moveTo>
                  <a:lnTo>
                    <a:pt x="1304175" y="2005584"/>
                  </a:lnTo>
                </a:path>
                <a:path w="9014460" h="2807335">
                  <a:moveTo>
                    <a:pt x="0" y="2005584"/>
                  </a:moveTo>
                  <a:lnTo>
                    <a:pt x="103263" y="2005584"/>
                  </a:lnTo>
                </a:path>
                <a:path w="9014460" h="2807335">
                  <a:moveTo>
                    <a:pt x="6808863" y="2005584"/>
                  </a:moveTo>
                  <a:lnTo>
                    <a:pt x="7013079" y="2005584"/>
                  </a:lnTo>
                </a:path>
                <a:path w="9014460" h="2807335">
                  <a:moveTo>
                    <a:pt x="197751" y="2005584"/>
                  </a:moveTo>
                  <a:lnTo>
                    <a:pt x="405015" y="2005584"/>
                  </a:lnTo>
                </a:path>
                <a:path w="9014460" h="2807335">
                  <a:moveTo>
                    <a:pt x="1398663" y="2005584"/>
                  </a:moveTo>
                  <a:lnTo>
                    <a:pt x="1605927" y="2005584"/>
                  </a:lnTo>
                </a:path>
                <a:path w="9014460" h="2807335">
                  <a:moveTo>
                    <a:pt x="798207" y="2005584"/>
                  </a:moveTo>
                  <a:lnTo>
                    <a:pt x="1005471" y="2005584"/>
                  </a:lnTo>
                </a:path>
                <a:path w="9014460" h="2807335">
                  <a:moveTo>
                    <a:pt x="8009775" y="2005584"/>
                  </a:moveTo>
                  <a:lnTo>
                    <a:pt x="8217039" y="2005584"/>
                  </a:lnTo>
                </a:path>
                <a:path w="9014460" h="2807335">
                  <a:moveTo>
                    <a:pt x="6205359" y="2005584"/>
                  </a:moveTo>
                  <a:lnTo>
                    <a:pt x="6412623" y="2005584"/>
                  </a:lnTo>
                </a:path>
                <a:path w="9014460" h="2807335">
                  <a:moveTo>
                    <a:pt x="3803535" y="2005584"/>
                  </a:moveTo>
                  <a:lnTo>
                    <a:pt x="4010799" y="2005584"/>
                  </a:lnTo>
                </a:path>
                <a:path w="9014460" h="2807335">
                  <a:moveTo>
                    <a:pt x="2901327" y="2005584"/>
                  </a:moveTo>
                  <a:lnTo>
                    <a:pt x="3108591" y="2005584"/>
                  </a:lnTo>
                </a:path>
                <a:path w="9014460" h="2807335">
                  <a:moveTo>
                    <a:pt x="1999119" y="2005584"/>
                  </a:moveTo>
                  <a:lnTo>
                    <a:pt x="2206383" y="2005584"/>
                  </a:lnTo>
                </a:path>
                <a:path w="9014460" h="2807335">
                  <a:moveTo>
                    <a:pt x="197751" y="1603248"/>
                  </a:moveTo>
                  <a:lnTo>
                    <a:pt x="405015" y="1603248"/>
                  </a:lnTo>
                </a:path>
                <a:path w="9014460" h="2807335">
                  <a:moveTo>
                    <a:pt x="5906655" y="1603248"/>
                  </a:moveTo>
                  <a:lnTo>
                    <a:pt x="6113919" y="1603248"/>
                  </a:lnTo>
                </a:path>
                <a:path w="9014460" h="2807335">
                  <a:moveTo>
                    <a:pt x="1398663" y="1603248"/>
                  </a:moveTo>
                  <a:lnTo>
                    <a:pt x="1605927" y="1603248"/>
                  </a:lnTo>
                </a:path>
                <a:path w="9014460" h="2807335">
                  <a:moveTo>
                    <a:pt x="1099959" y="1603248"/>
                  </a:moveTo>
                  <a:lnTo>
                    <a:pt x="1304175" y="1603248"/>
                  </a:lnTo>
                </a:path>
                <a:path w="9014460" h="2807335">
                  <a:moveTo>
                    <a:pt x="4102239" y="1603248"/>
                  </a:moveTo>
                  <a:lnTo>
                    <a:pt x="4309503" y="1603248"/>
                  </a:lnTo>
                </a:path>
                <a:path w="9014460" h="2807335">
                  <a:moveTo>
                    <a:pt x="5604903" y="1603248"/>
                  </a:moveTo>
                  <a:lnTo>
                    <a:pt x="5812167" y="1603248"/>
                  </a:lnTo>
                </a:path>
                <a:path w="9014460" h="2807335">
                  <a:moveTo>
                    <a:pt x="3203079" y="1603248"/>
                  </a:moveTo>
                  <a:lnTo>
                    <a:pt x="3407295" y="1603248"/>
                  </a:lnTo>
                </a:path>
                <a:path w="9014460" h="2807335">
                  <a:moveTo>
                    <a:pt x="6808863" y="1603248"/>
                  </a:moveTo>
                  <a:lnTo>
                    <a:pt x="7013079" y="1603248"/>
                  </a:lnTo>
                </a:path>
                <a:path w="9014460" h="2807335">
                  <a:moveTo>
                    <a:pt x="6205359" y="1603248"/>
                  </a:moveTo>
                  <a:lnTo>
                    <a:pt x="6412623" y="1603248"/>
                  </a:lnTo>
                </a:path>
                <a:path w="9014460" h="2807335">
                  <a:moveTo>
                    <a:pt x="1999119" y="1603248"/>
                  </a:moveTo>
                  <a:lnTo>
                    <a:pt x="2206383" y="1603248"/>
                  </a:lnTo>
                </a:path>
                <a:path w="9014460" h="2807335">
                  <a:moveTo>
                    <a:pt x="5306199" y="1603248"/>
                  </a:moveTo>
                  <a:lnTo>
                    <a:pt x="5510415" y="1603248"/>
                  </a:lnTo>
                </a:path>
                <a:path w="9014460" h="2807335">
                  <a:moveTo>
                    <a:pt x="4705743" y="1603248"/>
                  </a:moveTo>
                  <a:lnTo>
                    <a:pt x="4909959" y="1603248"/>
                  </a:lnTo>
                </a:path>
                <a:path w="9014460" h="2807335">
                  <a:moveTo>
                    <a:pt x="5004447" y="1603248"/>
                  </a:moveTo>
                  <a:lnTo>
                    <a:pt x="5211711" y="1603248"/>
                  </a:lnTo>
                </a:path>
                <a:path w="9014460" h="2807335">
                  <a:moveTo>
                    <a:pt x="2901327" y="1603248"/>
                  </a:moveTo>
                  <a:lnTo>
                    <a:pt x="3108591" y="1603248"/>
                  </a:lnTo>
                </a:path>
                <a:path w="9014460" h="2807335">
                  <a:moveTo>
                    <a:pt x="3803535" y="1603248"/>
                  </a:moveTo>
                  <a:lnTo>
                    <a:pt x="4010799" y="1603248"/>
                  </a:lnTo>
                </a:path>
                <a:path w="9014460" h="2807335">
                  <a:moveTo>
                    <a:pt x="3501783" y="1603248"/>
                  </a:moveTo>
                  <a:lnTo>
                    <a:pt x="3709047" y="1603248"/>
                  </a:lnTo>
                </a:path>
                <a:path w="9014460" h="2807335">
                  <a:moveTo>
                    <a:pt x="4403991" y="1603248"/>
                  </a:moveTo>
                  <a:lnTo>
                    <a:pt x="4611255" y="1603248"/>
                  </a:lnTo>
                </a:path>
                <a:path w="9014460" h="2807335">
                  <a:moveTo>
                    <a:pt x="0" y="1603248"/>
                  </a:moveTo>
                  <a:lnTo>
                    <a:pt x="103263" y="1603248"/>
                  </a:lnTo>
                </a:path>
                <a:path w="9014460" h="2807335">
                  <a:moveTo>
                    <a:pt x="7107567" y="1603248"/>
                  </a:moveTo>
                  <a:lnTo>
                    <a:pt x="8217039" y="1603248"/>
                  </a:lnTo>
                </a:path>
                <a:path w="9014460" h="2807335">
                  <a:moveTo>
                    <a:pt x="6507111" y="1603248"/>
                  </a:moveTo>
                  <a:lnTo>
                    <a:pt x="6714375" y="1603248"/>
                  </a:lnTo>
                </a:path>
                <a:path w="9014460" h="2807335">
                  <a:moveTo>
                    <a:pt x="8311527" y="1603248"/>
                  </a:moveTo>
                  <a:lnTo>
                    <a:pt x="9014219" y="1603248"/>
                  </a:lnTo>
                </a:path>
                <a:path w="9014460" h="2807335">
                  <a:moveTo>
                    <a:pt x="1700415" y="1603248"/>
                  </a:moveTo>
                  <a:lnTo>
                    <a:pt x="1904631" y="1603248"/>
                  </a:lnTo>
                </a:path>
                <a:path w="9014460" h="2807335">
                  <a:moveTo>
                    <a:pt x="798207" y="1603248"/>
                  </a:moveTo>
                  <a:lnTo>
                    <a:pt x="1005471" y="1603248"/>
                  </a:lnTo>
                </a:path>
                <a:path w="9014460" h="2807335">
                  <a:moveTo>
                    <a:pt x="2300871" y="1603248"/>
                  </a:moveTo>
                  <a:lnTo>
                    <a:pt x="2508135" y="1603248"/>
                  </a:lnTo>
                </a:path>
                <a:path w="9014460" h="2807335">
                  <a:moveTo>
                    <a:pt x="496455" y="1603248"/>
                  </a:moveTo>
                  <a:lnTo>
                    <a:pt x="703719" y="1603248"/>
                  </a:lnTo>
                </a:path>
                <a:path w="9014460" h="2807335">
                  <a:moveTo>
                    <a:pt x="2602623" y="1603248"/>
                  </a:moveTo>
                  <a:lnTo>
                    <a:pt x="2806839" y="1603248"/>
                  </a:lnTo>
                </a:path>
                <a:path w="9014460" h="2807335">
                  <a:moveTo>
                    <a:pt x="2901327" y="1203960"/>
                  </a:moveTo>
                  <a:lnTo>
                    <a:pt x="3108591" y="1203960"/>
                  </a:lnTo>
                </a:path>
                <a:path w="9014460" h="2807335">
                  <a:moveTo>
                    <a:pt x="2300871" y="1203960"/>
                  </a:moveTo>
                  <a:lnTo>
                    <a:pt x="2508135" y="1203960"/>
                  </a:lnTo>
                </a:path>
                <a:path w="9014460" h="2807335">
                  <a:moveTo>
                    <a:pt x="4403991" y="1203960"/>
                  </a:moveTo>
                  <a:lnTo>
                    <a:pt x="4611255" y="1203960"/>
                  </a:lnTo>
                </a:path>
                <a:path w="9014460" h="2807335">
                  <a:moveTo>
                    <a:pt x="3803535" y="1203960"/>
                  </a:moveTo>
                  <a:lnTo>
                    <a:pt x="4010799" y="1203960"/>
                  </a:lnTo>
                </a:path>
                <a:path w="9014460" h="2807335">
                  <a:moveTo>
                    <a:pt x="1398663" y="1203960"/>
                  </a:moveTo>
                  <a:lnTo>
                    <a:pt x="1605927" y="1203960"/>
                  </a:lnTo>
                </a:path>
                <a:path w="9014460" h="2807335">
                  <a:moveTo>
                    <a:pt x="3203079" y="1203960"/>
                  </a:moveTo>
                  <a:lnTo>
                    <a:pt x="3407295" y="1203960"/>
                  </a:lnTo>
                </a:path>
                <a:path w="9014460" h="2807335">
                  <a:moveTo>
                    <a:pt x="1700415" y="1203960"/>
                  </a:moveTo>
                  <a:lnTo>
                    <a:pt x="1904631" y="1203960"/>
                  </a:lnTo>
                </a:path>
                <a:path w="9014460" h="2807335">
                  <a:moveTo>
                    <a:pt x="1099959" y="1203960"/>
                  </a:moveTo>
                  <a:lnTo>
                    <a:pt x="1304175" y="1203960"/>
                  </a:lnTo>
                </a:path>
                <a:path w="9014460" h="2807335">
                  <a:moveTo>
                    <a:pt x="5004447" y="1203960"/>
                  </a:moveTo>
                  <a:lnTo>
                    <a:pt x="5211711" y="1203960"/>
                  </a:lnTo>
                </a:path>
                <a:path w="9014460" h="2807335">
                  <a:moveTo>
                    <a:pt x="0" y="1203960"/>
                  </a:moveTo>
                  <a:lnTo>
                    <a:pt x="103263" y="1203960"/>
                  </a:lnTo>
                </a:path>
                <a:path w="9014460" h="2807335">
                  <a:moveTo>
                    <a:pt x="1999119" y="1203960"/>
                  </a:moveTo>
                  <a:lnTo>
                    <a:pt x="2206383" y="1203960"/>
                  </a:lnTo>
                </a:path>
                <a:path w="9014460" h="2807335">
                  <a:moveTo>
                    <a:pt x="4102239" y="1203960"/>
                  </a:moveTo>
                  <a:lnTo>
                    <a:pt x="4309503" y="1203960"/>
                  </a:lnTo>
                </a:path>
                <a:path w="9014460" h="2807335">
                  <a:moveTo>
                    <a:pt x="4705743" y="1203960"/>
                  </a:moveTo>
                  <a:lnTo>
                    <a:pt x="4909959" y="1203960"/>
                  </a:lnTo>
                </a:path>
                <a:path w="9014460" h="2807335">
                  <a:moveTo>
                    <a:pt x="496455" y="1203960"/>
                  </a:moveTo>
                  <a:lnTo>
                    <a:pt x="703719" y="1203960"/>
                  </a:lnTo>
                </a:path>
                <a:path w="9014460" h="2807335">
                  <a:moveTo>
                    <a:pt x="197751" y="1203960"/>
                  </a:moveTo>
                  <a:lnTo>
                    <a:pt x="405015" y="1203960"/>
                  </a:lnTo>
                </a:path>
                <a:path w="9014460" h="2807335">
                  <a:moveTo>
                    <a:pt x="798207" y="1203960"/>
                  </a:moveTo>
                  <a:lnTo>
                    <a:pt x="1005471" y="1203960"/>
                  </a:lnTo>
                </a:path>
                <a:path w="9014460" h="2807335">
                  <a:moveTo>
                    <a:pt x="5306199" y="1203960"/>
                  </a:moveTo>
                  <a:lnTo>
                    <a:pt x="9014219" y="1203960"/>
                  </a:lnTo>
                </a:path>
                <a:path w="9014460" h="2807335">
                  <a:moveTo>
                    <a:pt x="3501783" y="1203960"/>
                  </a:moveTo>
                  <a:lnTo>
                    <a:pt x="3709047" y="1203960"/>
                  </a:lnTo>
                </a:path>
                <a:path w="9014460" h="2807335">
                  <a:moveTo>
                    <a:pt x="2602623" y="1203960"/>
                  </a:moveTo>
                  <a:lnTo>
                    <a:pt x="2806839" y="1203960"/>
                  </a:lnTo>
                </a:path>
                <a:path w="9014460" h="2807335">
                  <a:moveTo>
                    <a:pt x="3203079" y="801624"/>
                  </a:moveTo>
                  <a:lnTo>
                    <a:pt x="3407295" y="801624"/>
                  </a:lnTo>
                </a:path>
                <a:path w="9014460" h="2807335">
                  <a:moveTo>
                    <a:pt x="1999119" y="801624"/>
                  </a:moveTo>
                  <a:lnTo>
                    <a:pt x="2206383" y="801624"/>
                  </a:lnTo>
                </a:path>
                <a:path w="9014460" h="2807335">
                  <a:moveTo>
                    <a:pt x="1398663" y="801624"/>
                  </a:moveTo>
                  <a:lnTo>
                    <a:pt x="1605927" y="801624"/>
                  </a:lnTo>
                </a:path>
                <a:path w="9014460" h="2807335">
                  <a:moveTo>
                    <a:pt x="197751" y="801624"/>
                  </a:moveTo>
                  <a:lnTo>
                    <a:pt x="405015" y="801624"/>
                  </a:lnTo>
                </a:path>
                <a:path w="9014460" h="2807335">
                  <a:moveTo>
                    <a:pt x="2602623" y="801624"/>
                  </a:moveTo>
                  <a:lnTo>
                    <a:pt x="2806839" y="801624"/>
                  </a:lnTo>
                </a:path>
                <a:path w="9014460" h="2807335">
                  <a:moveTo>
                    <a:pt x="1099959" y="801624"/>
                  </a:moveTo>
                  <a:lnTo>
                    <a:pt x="1304175" y="801624"/>
                  </a:lnTo>
                </a:path>
                <a:path w="9014460" h="2807335">
                  <a:moveTo>
                    <a:pt x="496455" y="801624"/>
                  </a:moveTo>
                  <a:lnTo>
                    <a:pt x="703719" y="801624"/>
                  </a:lnTo>
                </a:path>
                <a:path w="9014460" h="2807335">
                  <a:moveTo>
                    <a:pt x="3803535" y="801624"/>
                  </a:moveTo>
                  <a:lnTo>
                    <a:pt x="4010799" y="801624"/>
                  </a:lnTo>
                </a:path>
                <a:path w="9014460" h="2807335">
                  <a:moveTo>
                    <a:pt x="798207" y="801624"/>
                  </a:moveTo>
                  <a:lnTo>
                    <a:pt x="1005471" y="801624"/>
                  </a:lnTo>
                </a:path>
                <a:path w="9014460" h="2807335">
                  <a:moveTo>
                    <a:pt x="2300871" y="801624"/>
                  </a:moveTo>
                  <a:lnTo>
                    <a:pt x="2508135" y="801624"/>
                  </a:lnTo>
                </a:path>
                <a:path w="9014460" h="2807335">
                  <a:moveTo>
                    <a:pt x="1700415" y="801624"/>
                  </a:moveTo>
                  <a:lnTo>
                    <a:pt x="1904631" y="801624"/>
                  </a:lnTo>
                </a:path>
                <a:path w="9014460" h="2807335">
                  <a:moveTo>
                    <a:pt x="2901327" y="801624"/>
                  </a:moveTo>
                  <a:lnTo>
                    <a:pt x="3108591" y="801624"/>
                  </a:lnTo>
                </a:path>
                <a:path w="9014460" h="2807335">
                  <a:moveTo>
                    <a:pt x="4102239" y="801624"/>
                  </a:moveTo>
                  <a:lnTo>
                    <a:pt x="9014219" y="801624"/>
                  </a:lnTo>
                </a:path>
                <a:path w="9014460" h="2807335">
                  <a:moveTo>
                    <a:pt x="0" y="801624"/>
                  </a:moveTo>
                  <a:lnTo>
                    <a:pt x="103263" y="801624"/>
                  </a:lnTo>
                </a:path>
                <a:path w="9014460" h="2807335">
                  <a:moveTo>
                    <a:pt x="3501783" y="801624"/>
                  </a:moveTo>
                  <a:lnTo>
                    <a:pt x="3709047" y="801624"/>
                  </a:lnTo>
                </a:path>
                <a:path w="9014460" h="2807335">
                  <a:moveTo>
                    <a:pt x="1099959" y="402336"/>
                  </a:moveTo>
                  <a:lnTo>
                    <a:pt x="1605927" y="402336"/>
                  </a:lnTo>
                </a:path>
                <a:path w="9014460" h="2807335">
                  <a:moveTo>
                    <a:pt x="798207" y="402336"/>
                  </a:moveTo>
                  <a:lnTo>
                    <a:pt x="1005471" y="402336"/>
                  </a:lnTo>
                </a:path>
                <a:path w="9014460" h="2807335">
                  <a:moveTo>
                    <a:pt x="1999119" y="402336"/>
                  </a:moveTo>
                  <a:lnTo>
                    <a:pt x="2206383" y="402336"/>
                  </a:lnTo>
                </a:path>
                <a:path w="9014460" h="2807335">
                  <a:moveTo>
                    <a:pt x="2300871" y="402336"/>
                  </a:moveTo>
                  <a:lnTo>
                    <a:pt x="2508135" y="402336"/>
                  </a:lnTo>
                </a:path>
                <a:path w="9014460" h="2807335">
                  <a:moveTo>
                    <a:pt x="197751" y="402336"/>
                  </a:moveTo>
                  <a:lnTo>
                    <a:pt x="405015" y="402336"/>
                  </a:lnTo>
                </a:path>
                <a:path w="9014460" h="2807335">
                  <a:moveTo>
                    <a:pt x="2901327" y="402336"/>
                  </a:moveTo>
                  <a:lnTo>
                    <a:pt x="3108591" y="402336"/>
                  </a:lnTo>
                </a:path>
                <a:path w="9014460" h="2807335">
                  <a:moveTo>
                    <a:pt x="0" y="402336"/>
                  </a:moveTo>
                  <a:lnTo>
                    <a:pt x="103263" y="402336"/>
                  </a:lnTo>
                </a:path>
                <a:path w="9014460" h="2807335">
                  <a:moveTo>
                    <a:pt x="3501783" y="402336"/>
                  </a:moveTo>
                  <a:lnTo>
                    <a:pt x="9014219" y="402336"/>
                  </a:lnTo>
                </a:path>
                <a:path w="9014460" h="2807335">
                  <a:moveTo>
                    <a:pt x="496455" y="402336"/>
                  </a:moveTo>
                  <a:lnTo>
                    <a:pt x="703719" y="402336"/>
                  </a:lnTo>
                </a:path>
                <a:path w="9014460" h="2807335">
                  <a:moveTo>
                    <a:pt x="2602623" y="402336"/>
                  </a:moveTo>
                  <a:lnTo>
                    <a:pt x="2806839" y="402336"/>
                  </a:lnTo>
                </a:path>
                <a:path w="9014460" h="2807335">
                  <a:moveTo>
                    <a:pt x="1700415" y="402336"/>
                  </a:moveTo>
                  <a:lnTo>
                    <a:pt x="1904631" y="402336"/>
                  </a:lnTo>
                </a:path>
                <a:path w="9014460" h="2807335">
                  <a:moveTo>
                    <a:pt x="3203079" y="402336"/>
                  </a:moveTo>
                  <a:lnTo>
                    <a:pt x="3407295" y="402336"/>
                  </a:lnTo>
                </a:path>
                <a:path w="9014460" h="2807335">
                  <a:moveTo>
                    <a:pt x="197751" y="0"/>
                  </a:moveTo>
                  <a:lnTo>
                    <a:pt x="1605927" y="0"/>
                  </a:lnTo>
                </a:path>
                <a:path w="9014460" h="2807335">
                  <a:moveTo>
                    <a:pt x="0" y="0"/>
                  </a:moveTo>
                  <a:lnTo>
                    <a:pt x="103263" y="0"/>
                  </a:lnTo>
                </a:path>
                <a:path w="9014460" h="2807335">
                  <a:moveTo>
                    <a:pt x="1700415" y="0"/>
                  </a:moveTo>
                  <a:lnTo>
                    <a:pt x="9014219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70888" y="2084831"/>
              <a:ext cx="8808720" cy="3319145"/>
            </a:xfrm>
            <a:custGeom>
              <a:avLst/>
              <a:gdLst/>
              <a:ahLst/>
              <a:cxnLst/>
              <a:rect l="l" t="t" r="r" b="b"/>
              <a:pathLst>
                <a:path w="8808720" h="3319145">
                  <a:moveTo>
                    <a:pt x="94488" y="103632"/>
                  </a:moveTo>
                  <a:lnTo>
                    <a:pt x="0" y="103632"/>
                  </a:lnTo>
                  <a:lnTo>
                    <a:pt x="0" y="3318637"/>
                  </a:lnTo>
                  <a:lnTo>
                    <a:pt x="94488" y="3318637"/>
                  </a:lnTo>
                  <a:lnTo>
                    <a:pt x="94488" y="103632"/>
                  </a:lnTo>
                  <a:close/>
                </a:path>
                <a:path w="8808720" h="3319145">
                  <a:moveTo>
                    <a:pt x="393192" y="326136"/>
                  </a:moveTo>
                  <a:lnTo>
                    <a:pt x="301752" y="326136"/>
                  </a:lnTo>
                  <a:lnTo>
                    <a:pt x="301752" y="3318637"/>
                  </a:lnTo>
                  <a:lnTo>
                    <a:pt x="393192" y="3318637"/>
                  </a:lnTo>
                  <a:lnTo>
                    <a:pt x="393192" y="326136"/>
                  </a:lnTo>
                  <a:close/>
                </a:path>
                <a:path w="8808720" h="3319145">
                  <a:moveTo>
                    <a:pt x="694944" y="377952"/>
                  </a:moveTo>
                  <a:lnTo>
                    <a:pt x="600456" y="377952"/>
                  </a:lnTo>
                  <a:lnTo>
                    <a:pt x="600456" y="3318637"/>
                  </a:lnTo>
                  <a:lnTo>
                    <a:pt x="694944" y="3318637"/>
                  </a:lnTo>
                  <a:lnTo>
                    <a:pt x="694944" y="377952"/>
                  </a:lnTo>
                  <a:close/>
                </a:path>
                <a:path w="8808720" h="3319145">
                  <a:moveTo>
                    <a:pt x="996696" y="429768"/>
                  </a:moveTo>
                  <a:lnTo>
                    <a:pt x="902208" y="429768"/>
                  </a:lnTo>
                  <a:lnTo>
                    <a:pt x="902208" y="3318637"/>
                  </a:lnTo>
                  <a:lnTo>
                    <a:pt x="996696" y="3318637"/>
                  </a:lnTo>
                  <a:lnTo>
                    <a:pt x="996696" y="429768"/>
                  </a:lnTo>
                  <a:close/>
                </a:path>
                <a:path w="8808720" h="3319145">
                  <a:moveTo>
                    <a:pt x="1295400" y="524256"/>
                  </a:moveTo>
                  <a:lnTo>
                    <a:pt x="1200912" y="524256"/>
                  </a:lnTo>
                  <a:lnTo>
                    <a:pt x="1200912" y="3318637"/>
                  </a:lnTo>
                  <a:lnTo>
                    <a:pt x="1295400" y="3318637"/>
                  </a:lnTo>
                  <a:lnTo>
                    <a:pt x="1295400" y="524256"/>
                  </a:lnTo>
                  <a:close/>
                </a:path>
                <a:path w="8808720" h="3319145">
                  <a:moveTo>
                    <a:pt x="1597152" y="0"/>
                  </a:moveTo>
                  <a:lnTo>
                    <a:pt x="1502664" y="0"/>
                  </a:lnTo>
                  <a:lnTo>
                    <a:pt x="1502664" y="3318637"/>
                  </a:lnTo>
                  <a:lnTo>
                    <a:pt x="1597152" y="3318637"/>
                  </a:lnTo>
                  <a:lnTo>
                    <a:pt x="1597152" y="0"/>
                  </a:lnTo>
                  <a:close/>
                </a:path>
                <a:path w="8808720" h="3319145">
                  <a:moveTo>
                    <a:pt x="1895856" y="332232"/>
                  </a:moveTo>
                  <a:lnTo>
                    <a:pt x="1801368" y="332232"/>
                  </a:lnTo>
                  <a:lnTo>
                    <a:pt x="1801368" y="3318637"/>
                  </a:lnTo>
                  <a:lnTo>
                    <a:pt x="1895856" y="3318637"/>
                  </a:lnTo>
                  <a:lnTo>
                    <a:pt x="1895856" y="332232"/>
                  </a:lnTo>
                  <a:close/>
                </a:path>
                <a:path w="8808720" h="3319145">
                  <a:moveTo>
                    <a:pt x="2197608" y="399288"/>
                  </a:moveTo>
                  <a:lnTo>
                    <a:pt x="2103120" y="399288"/>
                  </a:lnTo>
                  <a:lnTo>
                    <a:pt x="2103120" y="3318637"/>
                  </a:lnTo>
                  <a:lnTo>
                    <a:pt x="2197608" y="3318637"/>
                  </a:lnTo>
                  <a:lnTo>
                    <a:pt x="2197608" y="399288"/>
                  </a:lnTo>
                  <a:close/>
                </a:path>
                <a:path w="8808720" h="3319145">
                  <a:moveTo>
                    <a:pt x="2499360" y="408432"/>
                  </a:moveTo>
                  <a:lnTo>
                    <a:pt x="2404872" y="408432"/>
                  </a:lnTo>
                  <a:lnTo>
                    <a:pt x="2404872" y="3318637"/>
                  </a:lnTo>
                  <a:lnTo>
                    <a:pt x="2499360" y="3318637"/>
                  </a:lnTo>
                  <a:lnTo>
                    <a:pt x="2499360" y="408432"/>
                  </a:lnTo>
                  <a:close/>
                </a:path>
                <a:path w="8808720" h="3319145">
                  <a:moveTo>
                    <a:pt x="2798064" y="445008"/>
                  </a:moveTo>
                  <a:lnTo>
                    <a:pt x="2703576" y="445008"/>
                  </a:lnTo>
                  <a:lnTo>
                    <a:pt x="2703576" y="3318637"/>
                  </a:lnTo>
                  <a:lnTo>
                    <a:pt x="2798064" y="3318637"/>
                  </a:lnTo>
                  <a:lnTo>
                    <a:pt x="2798064" y="445008"/>
                  </a:lnTo>
                  <a:close/>
                </a:path>
                <a:path w="8808720" h="3319145">
                  <a:moveTo>
                    <a:pt x="3099816" y="448056"/>
                  </a:moveTo>
                  <a:lnTo>
                    <a:pt x="3005328" y="448056"/>
                  </a:lnTo>
                  <a:lnTo>
                    <a:pt x="3005328" y="3318637"/>
                  </a:lnTo>
                  <a:lnTo>
                    <a:pt x="3099816" y="3318637"/>
                  </a:lnTo>
                  <a:lnTo>
                    <a:pt x="3099816" y="448056"/>
                  </a:lnTo>
                  <a:close/>
                </a:path>
                <a:path w="8808720" h="3319145">
                  <a:moveTo>
                    <a:pt x="3398520" y="490728"/>
                  </a:moveTo>
                  <a:lnTo>
                    <a:pt x="3304032" y="490728"/>
                  </a:lnTo>
                  <a:lnTo>
                    <a:pt x="3304032" y="3318637"/>
                  </a:lnTo>
                  <a:lnTo>
                    <a:pt x="3398520" y="3318637"/>
                  </a:lnTo>
                  <a:lnTo>
                    <a:pt x="3398520" y="490728"/>
                  </a:lnTo>
                  <a:close/>
                </a:path>
                <a:path w="8808720" h="3319145">
                  <a:moveTo>
                    <a:pt x="3700272" y="646176"/>
                  </a:moveTo>
                  <a:lnTo>
                    <a:pt x="3605784" y="646176"/>
                  </a:lnTo>
                  <a:lnTo>
                    <a:pt x="3605784" y="3318637"/>
                  </a:lnTo>
                  <a:lnTo>
                    <a:pt x="3700272" y="3318637"/>
                  </a:lnTo>
                  <a:lnTo>
                    <a:pt x="3700272" y="646176"/>
                  </a:lnTo>
                  <a:close/>
                </a:path>
                <a:path w="8808720" h="3319145">
                  <a:moveTo>
                    <a:pt x="3998976" y="829056"/>
                  </a:moveTo>
                  <a:lnTo>
                    <a:pt x="3907536" y="829056"/>
                  </a:lnTo>
                  <a:lnTo>
                    <a:pt x="3907536" y="3318637"/>
                  </a:lnTo>
                  <a:lnTo>
                    <a:pt x="3998976" y="3318637"/>
                  </a:lnTo>
                  <a:lnTo>
                    <a:pt x="3998976" y="829056"/>
                  </a:lnTo>
                  <a:close/>
                </a:path>
                <a:path w="8808720" h="3319145">
                  <a:moveTo>
                    <a:pt x="4300728" y="1011936"/>
                  </a:moveTo>
                  <a:lnTo>
                    <a:pt x="4206240" y="1011936"/>
                  </a:lnTo>
                  <a:lnTo>
                    <a:pt x="4206240" y="3318637"/>
                  </a:lnTo>
                  <a:lnTo>
                    <a:pt x="4300728" y="3318637"/>
                  </a:lnTo>
                  <a:lnTo>
                    <a:pt x="4300728" y="1011936"/>
                  </a:lnTo>
                  <a:close/>
                </a:path>
                <a:path w="8808720" h="3319145">
                  <a:moveTo>
                    <a:pt x="4602480" y="972312"/>
                  </a:moveTo>
                  <a:lnTo>
                    <a:pt x="4507992" y="972312"/>
                  </a:lnTo>
                  <a:lnTo>
                    <a:pt x="4507992" y="3318637"/>
                  </a:lnTo>
                  <a:lnTo>
                    <a:pt x="4602480" y="3318637"/>
                  </a:lnTo>
                  <a:lnTo>
                    <a:pt x="4602480" y="972312"/>
                  </a:lnTo>
                  <a:close/>
                </a:path>
                <a:path w="8808720" h="3319145">
                  <a:moveTo>
                    <a:pt x="4901184" y="1197864"/>
                  </a:moveTo>
                  <a:lnTo>
                    <a:pt x="4806683" y="1197864"/>
                  </a:lnTo>
                  <a:lnTo>
                    <a:pt x="4806683" y="3318637"/>
                  </a:lnTo>
                  <a:lnTo>
                    <a:pt x="4901184" y="3318637"/>
                  </a:lnTo>
                  <a:lnTo>
                    <a:pt x="4901184" y="1197864"/>
                  </a:lnTo>
                  <a:close/>
                </a:path>
                <a:path w="8808720" h="3319145">
                  <a:moveTo>
                    <a:pt x="5202936" y="1289304"/>
                  </a:moveTo>
                  <a:lnTo>
                    <a:pt x="5108448" y="1289304"/>
                  </a:lnTo>
                  <a:lnTo>
                    <a:pt x="5108448" y="3318637"/>
                  </a:lnTo>
                  <a:lnTo>
                    <a:pt x="5202936" y="3318637"/>
                  </a:lnTo>
                  <a:lnTo>
                    <a:pt x="5202936" y="1289304"/>
                  </a:lnTo>
                  <a:close/>
                </a:path>
                <a:path w="8808720" h="3319145">
                  <a:moveTo>
                    <a:pt x="5501640" y="1350264"/>
                  </a:moveTo>
                  <a:lnTo>
                    <a:pt x="5407152" y="1350264"/>
                  </a:lnTo>
                  <a:lnTo>
                    <a:pt x="5407152" y="3318637"/>
                  </a:lnTo>
                  <a:lnTo>
                    <a:pt x="5501640" y="3318637"/>
                  </a:lnTo>
                  <a:lnTo>
                    <a:pt x="5501640" y="1350264"/>
                  </a:lnTo>
                  <a:close/>
                </a:path>
                <a:path w="8808720" h="3319145">
                  <a:moveTo>
                    <a:pt x="5803392" y="1420368"/>
                  </a:moveTo>
                  <a:lnTo>
                    <a:pt x="5708904" y="1420368"/>
                  </a:lnTo>
                  <a:lnTo>
                    <a:pt x="5708904" y="3318637"/>
                  </a:lnTo>
                  <a:lnTo>
                    <a:pt x="5803392" y="3318637"/>
                  </a:lnTo>
                  <a:lnTo>
                    <a:pt x="5803392" y="1420368"/>
                  </a:lnTo>
                  <a:close/>
                </a:path>
                <a:path w="8808720" h="3319145">
                  <a:moveTo>
                    <a:pt x="6102096" y="1520964"/>
                  </a:moveTo>
                  <a:lnTo>
                    <a:pt x="6010656" y="1520964"/>
                  </a:lnTo>
                  <a:lnTo>
                    <a:pt x="6010656" y="3318637"/>
                  </a:lnTo>
                  <a:lnTo>
                    <a:pt x="6102096" y="3318637"/>
                  </a:lnTo>
                  <a:lnTo>
                    <a:pt x="6102096" y="1520964"/>
                  </a:lnTo>
                  <a:close/>
                </a:path>
                <a:path w="8808720" h="3319145">
                  <a:moveTo>
                    <a:pt x="6403848" y="1499616"/>
                  </a:moveTo>
                  <a:lnTo>
                    <a:pt x="6309360" y="1499616"/>
                  </a:lnTo>
                  <a:lnTo>
                    <a:pt x="6309360" y="3318637"/>
                  </a:lnTo>
                  <a:lnTo>
                    <a:pt x="6403848" y="3318637"/>
                  </a:lnTo>
                  <a:lnTo>
                    <a:pt x="6403848" y="1499616"/>
                  </a:lnTo>
                  <a:close/>
                </a:path>
                <a:path w="8808720" h="3319145">
                  <a:moveTo>
                    <a:pt x="6705600" y="1667256"/>
                  </a:moveTo>
                  <a:lnTo>
                    <a:pt x="6611112" y="1667256"/>
                  </a:lnTo>
                  <a:lnTo>
                    <a:pt x="6611112" y="3318637"/>
                  </a:lnTo>
                  <a:lnTo>
                    <a:pt x="6705600" y="3318637"/>
                  </a:lnTo>
                  <a:lnTo>
                    <a:pt x="6705600" y="1667256"/>
                  </a:lnTo>
                  <a:close/>
                </a:path>
                <a:path w="8808720" h="3319145">
                  <a:moveTo>
                    <a:pt x="7004304" y="1706880"/>
                  </a:moveTo>
                  <a:lnTo>
                    <a:pt x="6909816" y="1706880"/>
                  </a:lnTo>
                  <a:lnTo>
                    <a:pt x="6909816" y="3318637"/>
                  </a:lnTo>
                  <a:lnTo>
                    <a:pt x="7004304" y="3318637"/>
                  </a:lnTo>
                  <a:lnTo>
                    <a:pt x="7004304" y="1706880"/>
                  </a:lnTo>
                  <a:close/>
                </a:path>
                <a:path w="8808720" h="3319145">
                  <a:moveTo>
                    <a:pt x="7306056" y="1722120"/>
                  </a:moveTo>
                  <a:lnTo>
                    <a:pt x="7211568" y="1722120"/>
                  </a:lnTo>
                  <a:lnTo>
                    <a:pt x="7211568" y="3318637"/>
                  </a:lnTo>
                  <a:lnTo>
                    <a:pt x="7306056" y="3318637"/>
                  </a:lnTo>
                  <a:lnTo>
                    <a:pt x="7306056" y="1722120"/>
                  </a:lnTo>
                  <a:close/>
                </a:path>
                <a:path w="8808720" h="3319145">
                  <a:moveTo>
                    <a:pt x="7604760" y="1728216"/>
                  </a:moveTo>
                  <a:lnTo>
                    <a:pt x="7510272" y="1728216"/>
                  </a:lnTo>
                  <a:lnTo>
                    <a:pt x="7510272" y="3318637"/>
                  </a:lnTo>
                  <a:lnTo>
                    <a:pt x="7604760" y="3318637"/>
                  </a:lnTo>
                  <a:lnTo>
                    <a:pt x="7604760" y="1728216"/>
                  </a:lnTo>
                  <a:close/>
                </a:path>
                <a:path w="8808720" h="3319145">
                  <a:moveTo>
                    <a:pt x="7906512" y="1819656"/>
                  </a:moveTo>
                  <a:lnTo>
                    <a:pt x="7812024" y="1819656"/>
                  </a:lnTo>
                  <a:lnTo>
                    <a:pt x="7812024" y="3318637"/>
                  </a:lnTo>
                  <a:lnTo>
                    <a:pt x="7906512" y="3318637"/>
                  </a:lnTo>
                  <a:lnTo>
                    <a:pt x="7906512" y="1819656"/>
                  </a:lnTo>
                  <a:close/>
                </a:path>
                <a:path w="8808720" h="3319145">
                  <a:moveTo>
                    <a:pt x="8208264" y="1606296"/>
                  </a:moveTo>
                  <a:lnTo>
                    <a:pt x="8113776" y="1606296"/>
                  </a:lnTo>
                  <a:lnTo>
                    <a:pt x="8113776" y="3318637"/>
                  </a:lnTo>
                  <a:lnTo>
                    <a:pt x="8208264" y="3318637"/>
                  </a:lnTo>
                  <a:lnTo>
                    <a:pt x="8208264" y="1606296"/>
                  </a:lnTo>
                  <a:close/>
                </a:path>
                <a:path w="8808720" h="3319145">
                  <a:moveTo>
                    <a:pt x="8506968" y="1719072"/>
                  </a:moveTo>
                  <a:lnTo>
                    <a:pt x="8412480" y="1719072"/>
                  </a:lnTo>
                  <a:lnTo>
                    <a:pt x="8412480" y="3318637"/>
                  </a:lnTo>
                  <a:lnTo>
                    <a:pt x="8506968" y="3318637"/>
                  </a:lnTo>
                  <a:lnTo>
                    <a:pt x="8506968" y="1719072"/>
                  </a:lnTo>
                  <a:close/>
                </a:path>
                <a:path w="8808720" h="3319145">
                  <a:moveTo>
                    <a:pt x="8808720" y="1816608"/>
                  </a:moveTo>
                  <a:lnTo>
                    <a:pt x="8714232" y="1816608"/>
                  </a:lnTo>
                  <a:lnTo>
                    <a:pt x="8714232" y="3318637"/>
                  </a:lnTo>
                  <a:lnTo>
                    <a:pt x="8808720" y="3318637"/>
                  </a:lnTo>
                  <a:lnTo>
                    <a:pt x="8808720" y="1816608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67624" y="5403460"/>
              <a:ext cx="9014460" cy="36830"/>
            </a:xfrm>
            <a:custGeom>
              <a:avLst/>
              <a:gdLst/>
              <a:ahLst/>
              <a:cxnLst/>
              <a:rect l="l" t="t" r="r" b="b"/>
              <a:pathLst>
                <a:path w="9014460" h="36829">
                  <a:moveTo>
                    <a:pt x="0" y="0"/>
                  </a:moveTo>
                  <a:lnTo>
                    <a:pt x="9014219" y="1"/>
                  </a:lnTo>
                </a:path>
                <a:path w="9014460" h="36829">
                  <a:moveTo>
                    <a:pt x="0" y="0"/>
                  </a:moveTo>
                  <a:lnTo>
                    <a:pt x="0" y="36258"/>
                  </a:lnTo>
                </a:path>
                <a:path w="9014460" h="36829">
                  <a:moveTo>
                    <a:pt x="301383" y="0"/>
                  </a:moveTo>
                  <a:lnTo>
                    <a:pt x="301383" y="36258"/>
                  </a:lnTo>
                </a:path>
                <a:path w="9014460" h="36829">
                  <a:moveTo>
                    <a:pt x="600087" y="0"/>
                  </a:moveTo>
                  <a:lnTo>
                    <a:pt x="600087" y="36258"/>
                  </a:lnTo>
                </a:path>
                <a:path w="9014460" h="36829">
                  <a:moveTo>
                    <a:pt x="901839" y="0"/>
                  </a:moveTo>
                  <a:lnTo>
                    <a:pt x="901839" y="36258"/>
                  </a:lnTo>
                </a:path>
                <a:path w="9014460" h="36829">
                  <a:moveTo>
                    <a:pt x="1200543" y="0"/>
                  </a:moveTo>
                  <a:lnTo>
                    <a:pt x="1200543" y="36258"/>
                  </a:lnTo>
                </a:path>
                <a:path w="9014460" h="36829">
                  <a:moveTo>
                    <a:pt x="1502295" y="0"/>
                  </a:moveTo>
                  <a:lnTo>
                    <a:pt x="1502295" y="36258"/>
                  </a:lnTo>
                </a:path>
                <a:path w="9014460" h="36829">
                  <a:moveTo>
                    <a:pt x="1804047" y="0"/>
                  </a:moveTo>
                  <a:lnTo>
                    <a:pt x="1804047" y="36258"/>
                  </a:lnTo>
                </a:path>
                <a:path w="9014460" h="36829">
                  <a:moveTo>
                    <a:pt x="2102751" y="0"/>
                  </a:moveTo>
                  <a:lnTo>
                    <a:pt x="2102751" y="36258"/>
                  </a:lnTo>
                </a:path>
                <a:path w="9014460" h="36829">
                  <a:moveTo>
                    <a:pt x="2404503" y="0"/>
                  </a:moveTo>
                  <a:lnTo>
                    <a:pt x="2404503" y="36258"/>
                  </a:lnTo>
                </a:path>
                <a:path w="9014460" h="36829">
                  <a:moveTo>
                    <a:pt x="2703207" y="0"/>
                  </a:moveTo>
                  <a:lnTo>
                    <a:pt x="2703207" y="36258"/>
                  </a:lnTo>
                </a:path>
                <a:path w="9014460" h="36829">
                  <a:moveTo>
                    <a:pt x="3004959" y="0"/>
                  </a:moveTo>
                  <a:lnTo>
                    <a:pt x="3004959" y="36258"/>
                  </a:lnTo>
                </a:path>
                <a:path w="9014460" h="36829">
                  <a:moveTo>
                    <a:pt x="3306711" y="0"/>
                  </a:moveTo>
                  <a:lnTo>
                    <a:pt x="3306711" y="36258"/>
                  </a:lnTo>
                </a:path>
                <a:path w="9014460" h="36829">
                  <a:moveTo>
                    <a:pt x="3605415" y="0"/>
                  </a:moveTo>
                  <a:lnTo>
                    <a:pt x="3605415" y="36258"/>
                  </a:lnTo>
                </a:path>
                <a:path w="9014460" h="36829">
                  <a:moveTo>
                    <a:pt x="3907167" y="0"/>
                  </a:moveTo>
                  <a:lnTo>
                    <a:pt x="3907167" y="36258"/>
                  </a:lnTo>
                </a:path>
                <a:path w="9014460" h="36829">
                  <a:moveTo>
                    <a:pt x="4205871" y="0"/>
                  </a:moveTo>
                  <a:lnTo>
                    <a:pt x="4205871" y="36258"/>
                  </a:lnTo>
                </a:path>
                <a:path w="9014460" h="36829">
                  <a:moveTo>
                    <a:pt x="4507623" y="0"/>
                  </a:moveTo>
                  <a:lnTo>
                    <a:pt x="4507623" y="36258"/>
                  </a:lnTo>
                </a:path>
                <a:path w="9014460" h="36829">
                  <a:moveTo>
                    <a:pt x="4806327" y="0"/>
                  </a:moveTo>
                  <a:lnTo>
                    <a:pt x="4806327" y="36258"/>
                  </a:lnTo>
                </a:path>
                <a:path w="9014460" h="36829">
                  <a:moveTo>
                    <a:pt x="5108079" y="0"/>
                  </a:moveTo>
                  <a:lnTo>
                    <a:pt x="5108079" y="36258"/>
                  </a:lnTo>
                </a:path>
                <a:path w="9014460" h="36829">
                  <a:moveTo>
                    <a:pt x="5409831" y="0"/>
                  </a:moveTo>
                  <a:lnTo>
                    <a:pt x="5409831" y="36258"/>
                  </a:lnTo>
                </a:path>
                <a:path w="9014460" h="36829">
                  <a:moveTo>
                    <a:pt x="5708535" y="0"/>
                  </a:moveTo>
                  <a:lnTo>
                    <a:pt x="5708535" y="36258"/>
                  </a:lnTo>
                </a:path>
                <a:path w="9014460" h="36829">
                  <a:moveTo>
                    <a:pt x="6010287" y="0"/>
                  </a:moveTo>
                  <a:lnTo>
                    <a:pt x="6010287" y="36258"/>
                  </a:lnTo>
                </a:path>
                <a:path w="9014460" h="36829">
                  <a:moveTo>
                    <a:pt x="6308991" y="0"/>
                  </a:moveTo>
                  <a:lnTo>
                    <a:pt x="6308991" y="36258"/>
                  </a:lnTo>
                </a:path>
                <a:path w="9014460" h="36829">
                  <a:moveTo>
                    <a:pt x="6610743" y="0"/>
                  </a:moveTo>
                  <a:lnTo>
                    <a:pt x="6610743" y="36258"/>
                  </a:lnTo>
                </a:path>
                <a:path w="9014460" h="36829">
                  <a:moveTo>
                    <a:pt x="6909447" y="0"/>
                  </a:moveTo>
                  <a:lnTo>
                    <a:pt x="6909447" y="36258"/>
                  </a:lnTo>
                </a:path>
                <a:path w="9014460" h="36829">
                  <a:moveTo>
                    <a:pt x="7211199" y="0"/>
                  </a:moveTo>
                  <a:lnTo>
                    <a:pt x="7211199" y="36258"/>
                  </a:lnTo>
                </a:path>
                <a:path w="9014460" h="36829">
                  <a:moveTo>
                    <a:pt x="7512951" y="0"/>
                  </a:moveTo>
                  <a:lnTo>
                    <a:pt x="7512951" y="36258"/>
                  </a:lnTo>
                </a:path>
                <a:path w="9014460" h="36829">
                  <a:moveTo>
                    <a:pt x="7811655" y="0"/>
                  </a:moveTo>
                  <a:lnTo>
                    <a:pt x="7811655" y="36258"/>
                  </a:lnTo>
                </a:path>
                <a:path w="9014460" h="36829">
                  <a:moveTo>
                    <a:pt x="8113407" y="0"/>
                  </a:moveTo>
                  <a:lnTo>
                    <a:pt x="8113407" y="36258"/>
                  </a:lnTo>
                </a:path>
                <a:path w="9014460" h="36829">
                  <a:moveTo>
                    <a:pt x="8412111" y="0"/>
                  </a:moveTo>
                  <a:lnTo>
                    <a:pt x="8412111" y="36258"/>
                  </a:lnTo>
                </a:path>
                <a:path w="9014460" h="36829">
                  <a:moveTo>
                    <a:pt x="8713863" y="0"/>
                  </a:moveTo>
                  <a:lnTo>
                    <a:pt x="8713863" y="36258"/>
                  </a:lnTo>
                </a:path>
                <a:path w="9014460" h="36829">
                  <a:moveTo>
                    <a:pt x="9014219" y="0"/>
                  </a:moveTo>
                  <a:lnTo>
                    <a:pt x="9014219" y="36258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351395" y="1701800"/>
            <a:ext cx="234315" cy="3771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595959"/>
                </a:solidFill>
                <a:latin typeface="Calibri"/>
                <a:cs typeface="Calibri"/>
              </a:rPr>
              <a:t>45%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85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spc="-25" dirty="0">
                <a:solidFill>
                  <a:srgbClr val="595959"/>
                </a:solidFill>
                <a:latin typeface="Calibri"/>
                <a:cs typeface="Calibri"/>
              </a:rPr>
              <a:t>40%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spc="-25" dirty="0">
                <a:solidFill>
                  <a:srgbClr val="595959"/>
                </a:solidFill>
                <a:latin typeface="Calibri"/>
                <a:cs typeface="Calibri"/>
              </a:rPr>
              <a:t>35%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85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spc="-25" dirty="0">
                <a:solidFill>
                  <a:srgbClr val="595959"/>
                </a:solidFill>
                <a:latin typeface="Calibri"/>
                <a:cs typeface="Calibri"/>
              </a:rPr>
              <a:t>30%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spc="-25" dirty="0">
                <a:solidFill>
                  <a:srgbClr val="595959"/>
                </a:solidFill>
                <a:latin typeface="Calibri"/>
                <a:cs typeface="Calibri"/>
              </a:rPr>
              <a:t>25%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85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900" spc="-25" dirty="0">
                <a:solidFill>
                  <a:srgbClr val="595959"/>
                </a:solidFill>
                <a:latin typeface="Calibri"/>
                <a:cs typeface="Calibri"/>
              </a:rPr>
              <a:t>20%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900" spc="-25" dirty="0">
                <a:solidFill>
                  <a:srgbClr val="595959"/>
                </a:solidFill>
                <a:latin typeface="Calibri"/>
                <a:cs typeface="Calibri"/>
              </a:rPr>
              <a:t>15%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900" spc="-25" dirty="0">
                <a:solidFill>
                  <a:srgbClr val="595959"/>
                </a:solidFill>
                <a:latin typeface="Calibri"/>
                <a:cs typeface="Calibri"/>
              </a:rPr>
              <a:t>10%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900">
              <a:latin typeface="Calibri"/>
              <a:cs typeface="Calibri"/>
            </a:endParaRPr>
          </a:p>
          <a:p>
            <a:pPr marL="70485">
              <a:lnSpc>
                <a:spcPct val="100000"/>
              </a:lnSpc>
            </a:pPr>
            <a:r>
              <a:rPr sz="900" spc="-25" dirty="0">
                <a:solidFill>
                  <a:srgbClr val="595959"/>
                </a:solidFill>
                <a:latin typeface="Calibri"/>
                <a:cs typeface="Calibri"/>
              </a:rPr>
              <a:t>5%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900">
              <a:latin typeface="Calibri"/>
              <a:cs typeface="Calibri"/>
            </a:endParaRPr>
          </a:p>
          <a:p>
            <a:pPr marL="70485">
              <a:lnSpc>
                <a:spcPct val="100000"/>
              </a:lnSpc>
            </a:pPr>
            <a:r>
              <a:rPr sz="900" spc="-25" dirty="0">
                <a:solidFill>
                  <a:srgbClr val="595959"/>
                </a:solidFill>
                <a:latin typeface="Calibri"/>
                <a:cs typeface="Calibri"/>
              </a:rPr>
              <a:t>0%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11" name="object 11"/>
          <p:cNvSpPr txBox="1"/>
          <p:nvPr/>
        </p:nvSpPr>
        <p:spPr>
          <a:xfrm rot="18900000">
            <a:off x="1473066" y="5620985"/>
            <a:ext cx="417279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</a:pPr>
            <a:r>
              <a:rPr sz="900" spc="-10" dirty="0">
                <a:solidFill>
                  <a:srgbClr val="595959"/>
                </a:solidFill>
                <a:latin typeface="Calibri"/>
                <a:cs typeface="Calibri"/>
              </a:rPr>
              <a:t>01.01.94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 rot="18900000">
            <a:off x="1773540" y="5620985"/>
            <a:ext cx="417279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</a:pPr>
            <a:r>
              <a:rPr sz="900" spc="-10" dirty="0">
                <a:solidFill>
                  <a:srgbClr val="595959"/>
                </a:solidFill>
                <a:latin typeface="Calibri"/>
                <a:cs typeface="Calibri"/>
              </a:rPr>
              <a:t>01.01.95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 rot="18900000">
            <a:off x="2074015" y="5620985"/>
            <a:ext cx="417279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</a:pPr>
            <a:r>
              <a:rPr sz="900" spc="-10" dirty="0">
                <a:solidFill>
                  <a:srgbClr val="595959"/>
                </a:solidFill>
                <a:latin typeface="Calibri"/>
                <a:cs typeface="Calibri"/>
              </a:rPr>
              <a:t>01.01.96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 rot="18900000">
            <a:off x="2374488" y="5620985"/>
            <a:ext cx="417279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</a:pPr>
            <a:r>
              <a:rPr sz="900" spc="-10" dirty="0">
                <a:solidFill>
                  <a:srgbClr val="595959"/>
                </a:solidFill>
                <a:latin typeface="Calibri"/>
                <a:cs typeface="Calibri"/>
              </a:rPr>
              <a:t>01.01.97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 rot="18900000">
            <a:off x="2674962" y="5620985"/>
            <a:ext cx="417279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</a:pPr>
            <a:r>
              <a:rPr sz="900" spc="-10" dirty="0">
                <a:solidFill>
                  <a:srgbClr val="595959"/>
                </a:solidFill>
                <a:latin typeface="Calibri"/>
                <a:cs typeface="Calibri"/>
              </a:rPr>
              <a:t>01.01.98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 rot="18900000">
            <a:off x="2975436" y="5620985"/>
            <a:ext cx="417279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</a:pPr>
            <a:r>
              <a:rPr sz="900" spc="-10" dirty="0">
                <a:solidFill>
                  <a:srgbClr val="595959"/>
                </a:solidFill>
                <a:latin typeface="Calibri"/>
                <a:cs typeface="Calibri"/>
              </a:rPr>
              <a:t>01.01.99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 rot="18900000">
            <a:off x="3275911" y="5620985"/>
            <a:ext cx="417279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</a:pPr>
            <a:r>
              <a:rPr sz="900" spc="-10" dirty="0">
                <a:solidFill>
                  <a:srgbClr val="595959"/>
                </a:solidFill>
                <a:latin typeface="Calibri"/>
                <a:cs typeface="Calibri"/>
              </a:rPr>
              <a:t>01.01.00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 rot="18900000">
            <a:off x="3576384" y="5620985"/>
            <a:ext cx="417279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</a:pPr>
            <a:r>
              <a:rPr sz="900" spc="-10" dirty="0">
                <a:solidFill>
                  <a:srgbClr val="595959"/>
                </a:solidFill>
                <a:latin typeface="Calibri"/>
                <a:cs typeface="Calibri"/>
              </a:rPr>
              <a:t>01.01.01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 rot="18900000">
            <a:off x="3876859" y="5620985"/>
            <a:ext cx="417279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</a:pPr>
            <a:r>
              <a:rPr sz="900" spc="-10" dirty="0">
                <a:solidFill>
                  <a:srgbClr val="595959"/>
                </a:solidFill>
                <a:latin typeface="Calibri"/>
                <a:cs typeface="Calibri"/>
              </a:rPr>
              <a:t>01.01.02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 rot="18900000">
            <a:off x="4177333" y="5620985"/>
            <a:ext cx="417279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</a:pPr>
            <a:r>
              <a:rPr sz="900" spc="-10" dirty="0">
                <a:solidFill>
                  <a:srgbClr val="595959"/>
                </a:solidFill>
                <a:latin typeface="Calibri"/>
                <a:cs typeface="Calibri"/>
              </a:rPr>
              <a:t>01.01.03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 rot="18900000">
            <a:off x="4477806" y="5620985"/>
            <a:ext cx="417279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</a:pPr>
            <a:r>
              <a:rPr sz="900" spc="-10" dirty="0">
                <a:solidFill>
                  <a:srgbClr val="595959"/>
                </a:solidFill>
                <a:latin typeface="Calibri"/>
                <a:cs typeface="Calibri"/>
              </a:rPr>
              <a:t>01.01.04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 rot="18900000">
            <a:off x="4778280" y="5620985"/>
            <a:ext cx="417279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</a:pPr>
            <a:r>
              <a:rPr sz="900" spc="-10" dirty="0">
                <a:solidFill>
                  <a:srgbClr val="595959"/>
                </a:solidFill>
                <a:latin typeface="Calibri"/>
                <a:cs typeface="Calibri"/>
              </a:rPr>
              <a:t>01.01.05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 rot="18900000">
            <a:off x="5078755" y="5620985"/>
            <a:ext cx="417279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</a:pPr>
            <a:r>
              <a:rPr sz="900" spc="-10" dirty="0">
                <a:solidFill>
                  <a:srgbClr val="595959"/>
                </a:solidFill>
                <a:latin typeface="Calibri"/>
                <a:cs typeface="Calibri"/>
              </a:rPr>
              <a:t>01.01.06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 rot="18900000">
            <a:off x="5379228" y="5620985"/>
            <a:ext cx="417279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</a:pPr>
            <a:r>
              <a:rPr sz="900" spc="-10" dirty="0">
                <a:solidFill>
                  <a:srgbClr val="595959"/>
                </a:solidFill>
                <a:latin typeface="Calibri"/>
                <a:cs typeface="Calibri"/>
              </a:rPr>
              <a:t>01.01.07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 rot="18900000">
            <a:off x="5679702" y="5620985"/>
            <a:ext cx="417279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</a:pPr>
            <a:r>
              <a:rPr sz="900" spc="-10" dirty="0">
                <a:solidFill>
                  <a:srgbClr val="595959"/>
                </a:solidFill>
                <a:latin typeface="Calibri"/>
                <a:cs typeface="Calibri"/>
              </a:rPr>
              <a:t>01.01.08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 rot="18900000">
            <a:off x="5980176" y="5620985"/>
            <a:ext cx="417279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</a:pPr>
            <a:r>
              <a:rPr sz="900" spc="-10" dirty="0">
                <a:solidFill>
                  <a:srgbClr val="595959"/>
                </a:solidFill>
                <a:latin typeface="Calibri"/>
                <a:cs typeface="Calibri"/>
              </a:rPr>
              <a:t>01.01.09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 rot="18900000">
            <a:off x="6280650" y="5620985"/>
            <a:ext cx="417279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</a:pPr>
            <a:r>
              <a:rPr sz="900" spc="-10" dirty="0">
                <a:solidFill>
                  <a:srgbClr val="595959"/>
                </a:solidFill>
                <a:latin typeface="Calibri"/>
                <a:cs typeface="Calibri"/>
              </a:rPr>
              <a:t>01.01.10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 rot="18900000">
            <a:off x="6581123" y="5620985"/>
            <a:ext cx="417279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</a:pPr>
            <a:r>
              <a:rPr sz="900" spc="-10" dirty="0">
                <a:solidFill>
                  <a:srgbClr val="595959"/>
                </a:solidFill>
                <a:latin typeface="Calibri"/>
                <a:cs typeface="Calibri"/>
              </a:rPr>
              <a:t>01.01.11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 rot="18900000">
            <a:off x="6881598" y="5620985"/>
            <a:ext cx="417279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</a:pPr>
            <a:r>
              <a:rPr sz="900" spc="-10" dirty="0">
                <a:solidFill>
                  <a:srgbClr val="595959"/>
                </a:solidFill>
                <a:latin typeface="Calibri"/>
                <a:cs typeface="Calibri"/>
              </a:rPr>
              <a:t>01.01.12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 rot="18900000">
            <a:off x="7182072" y="5620985"/>
            <a:ext cx="417279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</a:pPr>
            <a:r>
              <a:rPr sz="900" spc="-10" dirty="0">
                <a:solidFill>
                  <a:srgbClr val="595959"/>
                </a:solidFill>
                <a:latin typeface="Calibri"/>
                <a:cs typeface="Calibri"/>
              </a:rPr>
              <a:t>01.01.13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 rot="18900000">
            <a:off x="7482546" y="5620985"/>
            <a:ext cx="417279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</a:pPr>
            <a:r>
              <a:rPr sz="900" spc="-10" dirty="0">
                <a:solidFill>
                  <a:srgbClr val="595959"/>
                </a:solidFill>
                <a:latin typeface="Calibri"/>
                <a:cs typeface="Calibri"/>
              </a:rPr>
              <a:t>01.01.14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 rot="18900000">
            <a:off x="7783017" y="5620985"/>
            <a:ext cx="417279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</a:pPr>
            <a:r>
              <a:rPr sz="900" spc="-10" dirty="0">
                <a:solidFill>
                  <a:srgbClr val="595959"/>
                </a:solidFill>
                <a:latin typeface="Calibri"/>
                <a:cs typeface="Calibri"/>
              </a:rPr>
              <a:t>01.01.15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 rot="18900000">
            <a:off x="8083499" y="5620985"/>
            <a:ext cx="417279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</a:pPr>
            <a:r>
              <a:rPr sz="900" spc="-10" dirty="0">
                <a:solidFill>
                  <a:srgbClr val="595959"/>
                </a:solidFill>
                <a:latin typeface="Calibri"/>
                <a:cs typeface="Calibri"/>
              </a:rPr>
              <a:t>01.01.16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 rot="18900000">
            <a:off x="8383968" y="5620985"/>
            <a:ext cx="417279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</a:pPr>
            <a:r>
              <a:rPr sz="900" spc="-10" dirty="0">
                <a:solidFill>
                  <a:srgbClr val="595959"/>
                </a:solidFill>
                <a:latin typeface="Calibri"/>
                <a:cs typeface="Calibri"/>
              </a:rPr>
              <a:t>01.01.17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 rot="18900000">
            <a:off x="8684437" y="5620985"/>
            <a:ext cx="417279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</a:pPr>
            <a:r>
              <a:rPr sz="900" spc="-10" dirty="0">
                <a:solidFill>
                  <a:srgbClr val="595959"/>
                </a:solidFill>
                <a:latin typeface="Calibri"/>
                <a:cs typeface="Calibri"/>
              </a:rPr>
              <a:t>01.01.18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 rot="18900000">
            <a:off x="8984920" y="5620985"/>
            <a:ext cx="417279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</a:pPr>
            <a:r>
              <a:rPr sz="900" spc="-10" dirty="0">
                <a:solidFill>
                  <a:srgbClr val="595959"/>
                </a:solidFill>
                <a:latin typeface="Calibri"/>
                <a:cs typeface="Calibri"/>
              </a:rPr>
              <a:t>01.01.19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 rot="18900000">
            <a:off x="9285389" y="5620985"/>
            <a:ext cx="417279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</a:pPr>
            <a:r>
              <a:rPr sz="900" spc="-10" dirty="0">
                <a:solidFill>
                  <a:srgbClr val="595959"/>
                </a:solidFill>
                <a:latin typeface="Calibri"/>
                <a:cs typeface="Calibri"/>
              </a:rPr>
              <a:t>01.01.20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 rot="18900000">
            <a:off x="9585858" y="5620985"/>
            <a:ext cx="417279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</a:pPr>
            <a:r>
              <a:rPr sz="900" spc="-10" dirty="0">
                <a:solidFill>
                  <a:srgbClr val="595959"/>
                </a:solidFill>
                <a:latin typeface="Calibri"/>
                <a:cs typeface="Calibri"/>
              </a:rPr>
              <a:t>01.01.21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 rot="18900000">
            <a:off x="9886340" y="5620985"/>
            <a:ext cx="417279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</a:pPr>
            <a:r>
              <a:rPr sz="900" spc="-10" dirty="0">
                <a:solidFill>
                  <a:srgbClr val="595959"/>
                </a:solidFill>
                <a:latin typeface="Calibri"/>
                <a:cs typeface="Calibri"/>
              </a:rPr>
              <a:t>01.01.22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 rot="18900000">
            <a:off x="10186809" y="5620985"/>
            <a:ext cx="417279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</a:pPr>
            <a:r>
              <a:rPr sz="900" spc="-10" dirty="0">
                <a:solidFill>
                  <a:srgbClr val="595959"/>
                </a:solidFill>
                <a:latin typeface="Calibri"/>
                <a:cs typeface="Calibri"/>
              </a:rPr>
              <a:t>01.01.23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4131" y="458043"/>
            <a:ext cx="5035550" cy="190656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38600" y="3001962"/>
            <a:ext cx="7186611" cy="24606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38600" y="3306761"/>
            <a:ext cx="4039062" cy="25336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65477" y="3360670"/>
            <a:ext cx="2625962" cy="2425834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552792" y="1988032"/>
            <a:ext cx="2927350" cy="2882900"/>
          </a:xfrm>
          <a:custGeom>
            <a:avLst/>
            <a:gdLst/>
            <a:ahLst/>
            <a:cxnLst/>
            <a:rect l="l" t="t" r="r" b="b"/>
            <a:pathLst>
              <a:path w="2927350" h="2882900">
                <a:moveTo>
                  <a:pt x="2857093" y="1447800"/>
                </a:moveTo>
                <a:lnTo>
                  <a:pt x="2855252" y="1371600"/>
                </a:lnTo>
                <a:lnTo>
                  <a:pt x="2849854" y="1308100"/>
                </a:lnTo>
                <a:lnTo>
                  <a:pt x="2840964" y="1231900"/>
                </a:lnTo>
                <a:lnTo>
                  <a:pt x="2828671" y="1168400"/>
                </a:lnTo>
                <a:lnTo>
                  <a:pt x="2813088" y="1104900"/>
                </a:lnTo>
                <a:lnTo>
                  <a:pt x="2794279" y="1041400"/>
                </a:lnTo>
                <a:lnTo>
                  <a:pt x="2772333" y="977900"/>
                </a:lnTo>
                <a:lnTo>
                  <a:pt x="2747353" y="914400"/>
                </a:lnTo>
                <a:lnTo>
                  <a:pt x="2719413" y="850900"/>
                </a:lnTo>
                <a:lnTo>
                  <a:pt x="2688615" y="787400"/>
                </a:lnTo>
                <a:lnTo>
                  <a:pt x="2655036" y="736600"/>
                </a:lnTo>
                <a:lnTo>
                  <a:pt x="2618765" y="685800"/>
                </a:lnTo>
                <a:lnTo>
                  <a:pt x="2579878" y="622300"/>
                </a:lnTo>
                <a:lnTo>
                  <a:pt x="2538488" y="571500"/>
                </a:lnTo>
                <a:lnTo>
                  <a:pt x="2494673" y="520700"/>
                </a:lnTo>
                <a:lnTo>
                  <a:pt x="2448509" y="482600"/>
                </a:lnTo>
                <a:lnTo>
                  <a:pt x="2400096" y="431800"/>
                </a:lnTo>
                <a:lnTo>
                  <a:pt x="2349512" y="393700"/>
                </a:lnTo>
                <a:lnTo>
                  <a:pt x="2296858" y="342900"/>
                </a:lnTo>
                <a:lnTo>
                  <a:pt x="2242210" y="304800"/>
                </a:lnTo>
                <a:lnTo>
                  <a:pt x="2185657" y="279400"/>
                </a:lnTo>
                <a:lnTo>
                  <a:pt x="2127288" y="241300"/>
                </a:lnTo>
                <a:lnTo>
                  <a:pt x="2067191" y="215900"/>
                </a:lnTo>
                <a:lnTo>
                  <a:pt x="2005444" y="177800"/>
                </a:lnTo>
                <a:lnTo>
                  <a:pt x="1942147" y="152400"/>
                </a:lnTo>
                <a:lnTo>
                  <a:pt x="1877390" y="139700"/>
                </a:lnTo>
                <a:lnTo>
                  <a:pt x="1811248" y="114300"/>
                </a:lnTo>
                <a:lnTo>
                  <a:pt x="1605470" y="76200"/>
                </a:lnTo>
                <a:lnTo>
                  <a:pt x="1320584" y="76200"/>
                </a:lnTo>
                <a:lnTo>
                  <a:pt x="1114831" y="114300"/>
                </a:lnTo>
                <a:lnTo>
                  <a:pt x="1048702" y="139700"/>
                </a:lnTo>
                <a:lnTo>
                  <a:pt x="983957" y="152400"/>
                </a:lnTo>
                <a:lnTo>
                  <a:pt x="920686" y="177800"/>
                </a:lnTo>
                <a:lnTo>
                  <a:pt x="858964" y="215900"/>
                </a:lnTo>
                <a:lnTo>
                  <a:pt x="798893" y="241300"/>
                </a:lnTo>
                <a:lnTo>
                  <a:pt x="740537" y="279400"/>
                </a:lnTo>
                <a:lnTo>
                  <a:pt x="684009" y="304800"/>
                </a:lnTo>
                <a:lnTo>
                  <a:pt x="629386" y="342900"/>
                </a:lnTo>
                <a:lnTo>
                  <a:pt x="576745" y="393700"/>
                </a:lnTo>
                <a:lnTo>
                  <a:pt x="526199" y="431800"/>
                </a:lnTo>
                <a:lnTo>
                  <a:pt x="477812" y="482600"/>
                </a:lnTo>
                <a:lnTo>
                  <a:pt x="431673" y="520700"/>
                </a:lnTo>
                <a:lnTo>
                  <a:pt x="387883" y="571500"/>
                </a:lnTo>
                <a:lnTo>
                  <a:pt x="346519" y="622300"/>
                </a:lnTo>
                <a:lnTo>
                  <a:pt x="307682" y="685800"/>
                </a:lnTo>
                <a:lnTo>
                  <a:pt x="271437" y="736600"/>
                </a:lnTo>
                <a:lnTo>
                  <a:pt x="237883" y="787400"/>
                </a:lnTo>
                <a:lnTo>
                  <a:pt x="207111" y="850900"/>
                </a:lnTo>
                <a:lnTo>
                  <a:pt x="179222" y="914400"/>
                </a:lnTo>
                <a:lnTo>
                  <a:pt x="154266" y="977900"/>
                </a:lnTo>
                <a:lnTo>
                  <a:pt x="132372" y="1041400"/>
                </a:lnTo>
                <a:lnTo>
                  <a:pt x="113601" y="1104900"/>
                </a:lnTo>
                <a:lnTo>
                  <a:pt x="98056" y="1168400"/>
                </a:lnTo>
                <a:lnTo>
                  <a:pt x="85813" y="1244600"/>
                </a:lnTo>
                <a:lnTo>
                  <a:pt x="76974" y="1308100"/>
                </a:lnTo>
                <a:lnTo>
                  <a:pt x="71615" y="1371600"/>
                </a:lnTo>
                <a:lnTo>
                  <a:pt x="69824" y="1447800"/>
                </a:lnTo>
                <a:lnTo>
                  <a:pt x="71666" y="1524000"/>
                </a:lnTo>
                <a:lnTo>
                  <a:pt x="77063" y="1587500"/>
                </a:lnTo>
                <a:lnTo>
                  <a:pt x="85953" y="1651000"/>
                </a:lnTo>
                <a:lnTo>
                  <a:pt x="98234" y="1727200"/>
                </a:lnTo>
                <a:lnTo>
                  <a:pt x="113830" y="1790700"/>
                </a:lnTo>
                <a:lnTo>
                  <a:pt x="132638" y="1854200"/>
                </a:lnTo>
                <a:lnTo>
                  <a:pt x="154571" y="1917700"/>
                </a:lnTo>
                <a:lnTo>
                  <a:pt x="179552" y="1981200"/>
                </a:lnTo>
                <a:lnTo>
                  <a:pt x="207492" y="2044700"/>
                </a:lnTo>
                <a:lnTo>
                  <a:pt x="238302" y="2095500"/>
                </a:lnTo>
                <a:lnTo>
                  <a:pt x="271881" y="2159000"/>
                </a:lnTo>
                <a:lnTo>
                  <a:pt x="308152" y="2209800"/>
                </a:lnTo>
                <a:lnTo>
                  <a:pt x="347027" y="2273300"/>
                </a:lnTo>
                <a:lnTo>
                  <a:pt x="388416" y="2324100"/>
                </a:lnTo>
                <a:lnTo>
                  <a:pt x="432244" y="2374900"/>
                </a:lnTo>
                <a:lnTo>
                  <a:pt x="478409" y="2413000"/>
                </a:lnTo>
                <a:lnTo>
                  <a:pt x="526821" y="2463800"/>
                </a:lnTo>
                <a:lnTo>
                  <a:pt x="577392" y="2501900"/>
                </a:lnTo>
                <a:lnTo>
                  <a:pt x="630059" y="2552700"/>
                </a:lnTo>
                <a:lnTo>
                  <a:pt x="684707" y="2590800"/>
                </a:lnTo>
                <a:lnTo>
                  <a:pt x="741260" y="2616200"/>
                </a:lnTo>
                <a:lnTo>
                  <a:pt x="799630" y="2654300"/>
                </a:lnTo>
                <a:lnTo>
                  <a:pt x="859726" y="2679700"/>
                </a:lnTo>
                <a:lnTo>
                  <a:pt x="921473" y="2717800"/>
                </a:lnTo>
                <a:lnTo>
                  <a:pt x="984758" y="2730500"/>
                </a:lnTo>
                <a:lnTo>
                  <a:pt x="1115656" y="2781300"/>
                </a:lnTo>
                <a:lnTo>
                  <a:pt x="1251712" y="2806700"/>
                </a:lnTo>
                <a:lnTo>
                  <a:pt x="1321447" y="2806700"/>
                </a:lnTo>
                <a:lnTo>
                  <a:pt x="1392199" y="2819400"/>
                </a:lnTo>
                <a:lnTo>
                  <a:pt x="1535582" y="2819400"/>
                </a:lnTo>
                <a:lnTo>
                  <a:pt x="1606334" y="2806700"/>
                </a:lnTo>
                <a:lnTo>
                  <a:pt x="1676057" y="2806700"/>
                </a:lnTo>
                <a:lnTo>
                  <a:pt x="1812086" y="2781300"/>
                </a:lnTo>
                <a:lnTo>
                  <a:pt x="1942947" y="2730500"/>
                </a:lnTo>
                <a:lnTo>
                  <a:pt x="2006231" y="2717800"/>
                </a:lnTo>
                <a:lnTo>
                  <a:pt x="2067953" y="2679700"/>
                </a:lnTo>
                <a:lnTo>
                  <a:pt x="2128024" y="2654300"/>
                </a:lnTo>
                <a:lnTo>
                  <a:pt x="2186368" y="2616200"/>
                </a:lnTo>
                <a:lnTo>
                  <a:pt x="2242909" y="2590800"/>
                </a:lnTo>
                <a:lnTo>
                  <a:pt x="2297531" y="2552700"/>
                </a:lnTo>
                <a:lnTo>
                  <a:pt x="2350160" y="2501900"/>
                </a:lnTo>
                <a:lnTo>
                  <a:pt x="2400719" y="2463800"/>
                </a:lnTo>
                <a:lnTo>
                  <a:pt x="2449106" y="2413000"/>
                </a:lnTo>
                <a:lnTo>
                  <a:pt x="2495232" y="2374900"/>
                </a:lnTo>
                <a:lnTo>
                  <a:pt x="2539034" y="2324100"/>
                </a:lnTo>
                <a:lnTo>
                  <a:pt x="2580386" y="2273300"/>
                </a:lnTo>
                <a:lnTo>
                  <a:pt x="2619235" y="2209800"/>
                </a:lnTo>
                <a:lnTo>
                  <a:pt x="2655481" y="2159000"/>
                </a:lnTo>
                <a:lnTo>
                  <a:pt x="2689034" y="2095500"/>
                </a:lnTo>
                <a:lnTo>
                  <a:pt x="2719794" y="2044700"/>
                </a:lnTo>
                <a:lnTo>
                  <a:pt x="2747695" y="1981200"/>
                </a:lnTo>
                <a:lnTo>
                  <a:pt x="2772638" y="1917700"/>
                </a:lnTo>
                <a:lnTo>
                  <a:pt x="2794546" y="1854200"/>
                </a:lnTo>
                <a:lnTo>
                  <a:pt x="2813304" y="1790700"/>
                </a:lnTo>
                <a:lnTo>
                  <a:pt x="2828861" y="1727200"/>
                </a:lnTo>
                <a:lnTo>
                  <a:pt x="2841091" y="1651000"/>
                </a:lnTo>
                <a:lnTo>
                  <a:pt x="2849943" y="1587500"/>
                </a:lnTo>
                <a:lnTo>
                  <a:pt x="2855303" y="1511300"/>
                </a:lnTo>
                <a:lnTo>
                  <a:pt x="2857093" y="1447800"/>
                </a:lnTo>
                <a:close/>
              </a:path>
              <a:path w="2927350" h="2882900">
                <a:moveTo>
                  <a:pt x="2926918" y="1447800"/>
                </a:moveTo>
                <a:lnTo>
                  <a:pt x="2924899" y="1371600"/>
                </a:lnTo>
                <a:lnTo>
                  <a:pt x="2919120" y="1295400"/>
                </a:lnTo>
                <a:lnTo>
                  <a:pt x="2909684" y="1219200"/>
                </a:lnTo>
                <a:lnTo>
                  <a:pt x="2896679" y="1155700"/>
                </a:lnTo>
                <a:lnTo>
                  <a:pt x="2892006" y="1134097"/>
                </a:lnTo>
                <a:lnTo>
                  <a:pt x="2892006" y="1447800"/>
                </a:lnTo>
                <a:lnTo>
                  <a:pt x="2890215" y="1524000"/>
                </a:lnTo>
                <a:lnTo>
                  <a:pt x="2884767" y="1587500"/>
                </a:lnTo>
                <a:lnTo>
                  <a:pt x="2875737" y="1663700"/>
                </a:lnTo>
                <a:lnTo>
                  <a:pt x="2863215" y="1727200"/>
                </a:lnTo>
                <a:lnTo>
                  <a:pt x="2847314" y="1803400"/>
                </a:lnTo>
                <a:lnTo>
                  <a:pt x="2828099" y="1866900"/>
                </a:lnTo>
                <a:lnTo>
                  <a:pt x="2805671" y="1930400"/>
                </a:lnTo>
                <a:lnTo>
                  <a:pt x="2780119" y="1993900"/>
                </a:lnTo>
                <a:lnTo>
                  <a:pt x="2751531" y="2057400"/>
                </a:lnTo>
                <a:lnTo>
                  <a:pt x="2720009" y="2120900"/>
                </a:lnTo>
                <a:lnTo>
                  <a:pt x="2685631" y="2171700"/>
                </a:lnTo>
                <a:lnTo>
                  <a:pt x="2648508" y="2235200"/>
                </a:lnTo>
                <a:lnTo>
                  <a:pt x="2608707" y="2286000"/>
                </a:lnTo>
                <a:lnTo>
                  <a:pt x="2566327" y="2336800"/>
                </a:lnTo>
                <a:lnTo>
                  <a:pt x="2521458" y="2387600"/>
                </a:lnTo>
                <a:lnTo>
                  <a:pt x="2474188" y="2438400"/>
                </a:lnTo>
                <a:lnTo>
                  <a:pt x="2424620" y="2489200"/>
                </a:lnTo>
                <a:lnTo>
                  <a:pt x="2372817" y="2527300"/>
                </a:lnTo>
                <a:lnTo>
                  <a:pt x="2318893" y="2578100"/>
                </a:lnTo>
                <a:lnTo>
                  <a:pt x="2262936" y="2616200"/>
                </a:lnTo>
                <a:lnTo>
                  <a:pt x="2205012" y="2654300"/>
                </a:lnTo>
                <a:lnTo>
                  <a:pt x="2145233" y="2679700"/>
                </a:lnTo>
                <a:lnTo>
                  <a:pt x="2083676" y="2717800"/>
                </a:lnTo>
                <a:lnTo>
                  <a:pt x="2020430" y="2743200"/>
                </a:lnTo>
                <a:lnTo>
                  <a:pt x="1889239" y="2794000"/>
                </a:lnTo>
                <a:lnTo>
                  <a:pt x="1538185" y="2857500"/>
                </a:lnTo>
                <a:lnTo>
                  <a:pt x="1391335" y="2857500"/>
                </a:lnTo>
                <a:lnTo>
                  <a:pt x="1247381" y="2832100"/>
                </a:lnTo>
                <a:lnTo>
                  <a:pt x="1177036" y="2832100"/>
                </a:lnTo>
                <a:lnTo>
                  <a:pt x="1107922" y="2806700"/>
                </a:lnTo>
                <a:lnTo>
                  <a:pt x="1040117" y="2794000"/>
                </a:lnTo>
                <a:lnTo>
                  <a:pt x="908837" y="2743200"/>
                </a:lnTo>
                <a:lnTo>
                  <a:pt x="845527" y="2717800"/>
                </a:lnTo>
                <a:lnTo>
                  <a:pt x="783907" y="2679700"/>
                </a:lnTo>
                <a:lnTo>
                  <a:pt x="724052" y="2654300"/>
                </a:lnTo>
                <a:lnTo>
                  <a:pt x="666064" y="2616200"/>
                </a:lnTo>
                <a:lnTo>
                  <a:pt x="610031" y="2578100"/>
                </a:lnTo>
                <a:lnTo>
                  <a:pt x="556031" y="2540000"/>
                </a:lnTo>
                <a:lnTo>
                  <a:pt x="504151" y="2489200"/>
                </a:lnTo>
                <a:lnTo>
                  <a:pt x="454507" y="2438400"/>
                </a:lnTo>
                <a:lnTo>
                  <a:pt x="407162" y="2400300"/>
                </a:lnTo>
                <a:lnTo>
                  <a:pt x="362204" y="2349500"/>
                </a:lnTo>
                <a:lnTo>
                  <a:pt x="319735" y="2286000"/>
                </a:lnTo>
                <a:lnTo>
                  <a:pt x="279844" y="2235200"/>
                </a:lnTo>
                <a:lnTo>
                  <a:pt x="242620" y="2184400"/>
                </a:lnTo>
                <a:lnTo>
                  <a:pt x="208140" y="2120900"/>
                </a:lnTo>
                <a:lnTo>
                  <a:pt x="176517" y="2057400"/>
                </a:lnTo>
                <a:lnTo>
                  <a:pt x="147815" y="1993900"/>
                </a:lnTo>
                <a:lnTo>
                  <a:pt x="122148" y="1930400"/>
                </a:lnTo>
                <a:lnTo>
                  <a:pt x="99606" y="1866900"/>
                </a:lnTo>
                <a:lnTo>
                  <a:pt x="80276" y="1803400"/>
                </a:lnTo>
                <a:lnTo>
                  <a:pt x="64236" y="1727200"/>
                </a:lnTo>
                <a:lnTo>
                  <a:pt x="51587" y="1663700"/>
                </a:lnTo>
                <a:lnTo>
                  <a:pt x="42430" y="1587500"/>
                </a:lnTo>
                <a:lnTo>
                  <a:pt x="36842" y="1524000"/>
                </a:lnTo>
                <a:lnTo>
                  <a:pt x="34912" y="1447800"/>
                </a:lnTo>
                <a:lnTo>
                  <a:pt x="36703" y="1371600"/>
                </a:lnTo>
                <a:lnTo>
                  <a:pt x="42151" y="1308100"/>
                </a:lnTo>
                <a:lnTo>
                  <a:pt x="51181" y="1231900"/>
                </a:lnTo>
                <a:lnTo>
                  <a:pt x="63690" y="1168400"/>
                </a:lnTo>
                <a:lnTo>
                  <a:pt x="79603" y="1092200"/>
                </a:lnTo>
                <a:lnTo>
                  <a:pt x="98818" y="1028700"/>
                </a:lnTo>
                <a:lnTo>
                  <a:pt x="121246" y="965200"/>
                </a:lnTo>
                <a:lnTo>
                  <a:pt x="146799" y="901700"/>
                </a:lnTo>
                <a:lnTo>
                  <a:pt x="175374" y="838200"/>
                </a:lnTo>
                <a:lnTo>
                  <a:pt x="206908" y="774700"/>
                </a:lnTo>
                <a:lnTo>
                  <a:pt x="241274" y="723900"/>
                </a:lnTo>
                <a:lnTo>
                  <a:pt x="278409" y="660400"/>
                </a:lnTo>
                <a:lnTo>
                  <a:pt x="318211" y="609600"/>
                </a:lnTo>
                <a:lnTo>
                  <a:pt x="360591" y="558800"/>
                </a:lnTo>
                <a:lnTo>
                  <a:pt x="405460" y="508000"/>
                </a:lnTo>
                <a:lnTo>
                  <a:pt x="452716" y="457200"/>
                </a:lnTo>
                <a:lnTo>
                  <a:pt x="502297" y="406400"/>
                </a:lnTo>
                <a:lnTo>
                  <a:pt x="554088" y="368300"/>
                </a:lnTo>
                <a:lnTo>
                  <a:pt x="608012" y="317500"/>
                </a:lnTo>
                <a:lnTo>
                  <a:pt x="663981" y="279400"/>
                </a:lnTo>
                <a:lnTo>
                  <a:pt x="721906" y="241300"/>
                </a:lnTo>
                <a:lnTo>
                  <a:pt x="781685" y="215900"/>
                </a:lnTo>
                <a:lnTo>
                  <a:pt x="843241" y="177800"/>
                </a:lnTo>
                <a:lnTo>
                  <a:pt x="971321" y="127000"/>
                </a:lnTo>
                <a:lnTo>
                  <a:pt x="1037666" y="101600"/>
                </a:lnTo>
                <a:lnTo>
                  <a:pt x="1105420" y="88900"/>
                </a:lnTo>
                <a:lnTo>
                  <a:pt x="1174508" y="63500"/>
                </a:lnTo>
                <a:lnTo>
                  <a:pt x="1244803" y="50800"/>
                </a:lnTo>
                <a:lnTo>
                  <a:pt x="1316253" y="50800"/>
                </a:lnTo>
                <a:lnTo>
                  <a:pt x="1388732" y="38100"/>
                </a:lnTo>
                <a:lnTo>
                  <a:pt x="1535582" y="38100"/>
                </a:lnTo>
                <a:lnTo>
                  <a:pt x="1608074" y="50800"/>
                </a:lnTo>
                <a:lnTo>
                  <a:pt x="1679536" y="50800"/>
                </a:lnTo>
                <a:lnTo>
                  <a:pt x="1749869" y="63500"/>
                </a:lnTo>
                <a:lnTo>
                  <a:pt x="1818995" y="88900"/>
                </a:lnTo>
                <a:lnTo>
                  <a:pt x="1886788" y="101600"/>
                </a:lnTo>
                <a:lnTo>
                  <a:pt x="1953183" y="127000"/>
                </a:lnTo>
                <a:lnTo>
                  <a:pt x="2081390" y="177800"/>
                </a:lnTo>
                <a:lnTo>
                  <a:pt x="2143010" y="203200"/>
                </a:lnTo>
                <a:lnTo>
                  <a:pt x="2202853" y="241300"/>
                </a:lnTo>
                <a:lnTo>
                  <a:pt x="2260854" y="279400"/>
                </a:lnTo>
                <a:lnTo>
                  <a:pt x="2316886" y="317500"/>
                </a:lnTo>
                <a:lnTo>
                  <a:pt x="2370886" y="355600"/>
                </a:lnTo>
                <a:lnTo>
                  <a:pt x="2422753" y="406400"/>
                </a:lnTo>
                <a:lnTo>
                  <a:pt x="2472410" y="457200"/>
                </a:lnTo>
                <a:lnTo>
                  <a:pt x="2519756" y="495300"/>
                </a:lnTo>
                <a:lnTo>
                  <a:pt x="2564714" y="546100"/>
                </a:lnTo>
                <a:lnTo>
                  <a:pt x="2607183" y="609600"/>
                </a:lnTo>
                <a:lnTo>
                  <a:pt x="2647073" y="660400"/>
                </a:lnTo>
                <a:lnTo>
                  <a:pt x="2684297" y="711200"/>
                </a:lnTo>
                <a:lnTo>
                  <a:pt x="2718765" y="774700"/>
                </a:lnTo>
                <a:lnTo>
                  <a:pt x="2750401" y="838200"/>
                </a:lnTo>
                <a:lnTo>
                  <a:pt x="2779090" y="901700"/>
                </a:lnTo>
                <a:lnTo>
                  <a:pt x="2804757" y="965200"/>
                </a:lnTo>
                <a:lnTo>
                  <a:pt x="2827312" y="1028700"/>
                </a:lnTo>
                <a:lnTo>
                  <a:pt x="2846641" y="1092200"/>
                </a:lnTo>
                <a:lnTo>
                  <a:pt x="2862681" y="1168400"/>
                </a:lnTo>
                <a:lnTo>
                  <a:pt x="2875318" y="1231900"/>
                </a:lnTo>
                <a:lnTo>
                  <a:pt x="2884487" y="1308100"/>
                </a:lnTo>
                <a:lnTo>
                  <a:pt x="2890075" y="1371600"/>
                </a:lnTo>
                <a:lnTo>
                  <a:pt x="2892006" y="1447800"/>
                </a:lnTo>
                <a:lnTo>
                  <a:pt x="2892006" y="1134097"/>
                </a:lnTo>
                <a:lnTo>
                  <a:pt x="2880195" y="1079500"/>
                </a:lnTo>
                <a:lnTo>
                  <a:pt x="2860332" y="1016000"/>
                </a:lnTo>
                <a:lnTo>
                  <a:pt x="2837180" y="952500"/>
                </a:lnTo>
                <a:lnTo>
                  <a:pt x="2810827" y="889000"/>
                </a:lnTo>
                <a:lnTo>
                  <a:pt x="2781389" y="825500"/>
                </a:lnTo>
                <a:lnTo>
                  <a:pt x="2748927" y="762000"/>
                </a:lnTo>
                <a:lnTo>
                  <a:pt x="2713558" y="698500"/>
                </a:lnTo>
                <a:lnTo>
                  <a:pt x="2675382" y="635000"/>
                </a:lnTo>
                <a:lnTo>
                  <a:pt x="2634475" y="584200"/>
                </a:lnTo>
                <a:lnTo>
                  <a:pt x="2590927" y="533400"/>
                </a:lnTo>
                <a:lnTo>
                  <a:pt x="2544838" y="469900"/>
                </a:lnTo>
                <a:lnTo>
                  <a:pt x="2496312" y="431800"/>
                </a:lnTo>
                <a:lnTo>
                  <a:pt x="2445423" y="381000"/>
                </a:lnTo>
                <a:lnTo>
                  <a:pt x="2392261" y="330200"/>
                </a:lnTo>
                <a:lnTo>
                  <a:pt x="2336914" y="292100"/>
                </a:lnTo>
                <a:lnTo>
                  <a:pt x="2279485" y="254000"/>
                </a:lnTo>
                <a:lnTo>
                  <a:pt x="2220061" y="215900"/>
                </a:lnTo>
                <a:lnTo>
                  <a:pt x="2158733" y="177800"/>
                </a:lnTo>
                <a:lnTo>
                  <a:pt x="2095588" y="152400"/>
                </a:lnTo>
                <a:lnTo>
                  <a:pt x="2030717" y="114300"/>
                </a:lnTo>
                <a:lnTo>
                  <a:pt x="1896198" y="63500"/>
                </a:lnTo>
                <a:lnTo>
                  <a:pt x="1755927" y="38100"/>
                </a:lnTo>
                <a:lnTo>
                  <a:pt x="1610677" y="12700"/>
                </a:lnTo>
                <a:lnTo>
                  <a:pt x="1536446" y="12700"/>
                </a:lnTo>
                <a:lnTo>
                  <a:pt x="1461287" y="0"/>
                </a:lnTo>
                <a:lnTo>
                  <a:pt x="1386116" y="12700"/>
                </a:lnTo>
                <a:lnTo>
                  <a:pt x="1311910" y="12700"/>
                </a:lnTo>
                <a:lnTo>
                  <a:pt x="1096022" y="50800"/>
                </a:lnTo>
                <a:lnTo>
                  <a:pt x="1026629" y="76200"/>
                </a:lnTo>
                <a:lnTo>
                  <a:pt x="958684" y="88900"/>
                </a:lnTo>
                <a:lnTo>
                  <a:pt x="892289" y="114300"/>
                </a:lnTo>
                <a:lnTo>
                  <a:pt x="827519" y="152400"/>
                </a:lnTo>
                <a:lnTo>
                  <a:pt x="764476" y="177800"/>
                </a:lnTo>
                <a:lnTo>
                  <a:pt x="703262" y="215900"/>
                </a:lnTo>
                <a:lnTo>
                  <a:pt x="643953" y="254000"/>
                </a:lnTo>
                <a:lnTo>
                  <a:pt x="586651" y="292100"/>
                </a:lnTo>
                <a:lnTo>
                  <a:pt x="531431" y="330200"/>
                </a:lnTo>
                <a:lnTo>
                  <a:pt x="478396" y="381000"/>
                </a:lnTo>
                <a:lnTo>
                  <a:pt x="427634" y="431800"/>
                </a:lnTo>
                <a:lnTo>
                  <a:pt x="379234" y="482600"/>
                </a:lnTo>
                <a:lnTo>
                  <a:pt x="333298" y="533400"/>
                </a:lnTo>
                <a:lnTo>
                  <a:pt x="289902" y="584200"/>
                </a:lnTo>
                <a:lnTo>
                  <a:pt x="249148" y="647700"/>
                </a:lnTo>
                <a:lnTo>
                  <a:pt x="211124" y="698500"/>
                </a:lnTo>
                <a:lnTo>
                  <a:pt x="175920" y="762000"/>
                </a:lnTo>
                <a:lnTo>
                  <a:pt x="143637" y="825500"/>
                </a:lnTo>
                <a:lnTo>
                  <a:pt x="114376" y="889000"/>
                </a:lnTo>
                <a:lnTo>
                  <a:pt x="88214" y="952500"/>
                </a:lnTo>
                <a:lnTo>
                  <a:pt x="65252" y="1016000"/>
                </a:lnTo>
                <a:lnTo>
                  <a:pt x="29324" y="1155700"/>
                </a:lnTo>
                <a:lnTo>
                  <a:pt x="16548" y="1231900"/>
                </a:lnTo>
                <a:lnTo>
                  <a:pt x="7327" y="1308100"/>
                </a:lnTo>
                <a:lnTo>
                  <a:pt x="1790" y="1371600"/>
                </a:lnTo>
                <a:lnTo>
                  <a:pt x="0" y="1447800"/>
                </a:lnTo>
                <a:lnTo>
                  <a:pt x="2019" y="1524000"/>
                </a:lnTo>
                <a:lnTo>
                  <a:pt x="7785" y="1600200"/>
                </a:lnTo>
                <a:lnTo>
                  <a:pt x="17221" y="1663700"/>
                </a:lnTo>
                <a:lnTo>
                  <a:pt x="30226" y="1739900"/>
                </a:lnTo>
                <a:lnTo>
                  <a:pt x="46710" y="1816100"/>
                </a:lnTo>
                <a:lnTo>
                  <a:pt x="66586" y="1879600"/>
                </a:lnTo>
                <a:lnTo>
                  <a:pt x="89738" y="1943100"/>
                </a:lnTo>
                <a:lnTo>
                  <a:pt x="116078" y="2006600"/>
                </a:lnTo>
                <a:lnTo>
                  <a:pt x="145529" y="2070100"/>
                </a:lnTo>
                <a:lnTo>
                  <a:pt x="177990" y="2133600"/>
                </a:lnTo>
                <a:lnTo>
                  <a:pt x="213347" y="2197100"/>
                </a:lnTo>
                <a:lnTo>
                  <a:pt x="251536" y="2260600"/>
                </a:lnTo>
                <a:lnTo>
                  <a:pt x="292442" y="2311400"/>
                </a:lnTo>
                <a:lnTo>
                  <a:pt x="335978" y="2362200"/>
                </a:lnTo>
                <a:lnTo>
                  <a:pt x="382066" y="2413000"/>
                </a:lnTo>
                <a:lnTo>
                  <a:pt x="430606" y="2463800"/>
                </a:lnTo>
                <a:lnTo>
                  <a:pt x="481495" y="2514600"/>
                </a:lnTo>
                <a:lnTo>
                  <a:pt x="534657" y="2565400"/>
                </a:lnTo>
                <a:lnTo>
                  <a:pt x="590003" y="2603500"/>
                </a:lnTo>
                <a:lnTo>
                  <a:pt x="647420" y="2641600"/>
                </a:lnTo>
                <a:lnTo>
                  <a:pt x="706856" y="2679700"/>
                </a:lnTo>
                <a:lnTo>
                  <a:pt x="768184" y="2717800"/>
                </a:lnTo>
                <a:lnTo>
                  <a:pt x="831329" y="2743200"/>
                </a:lnTo>
                <a:lnTo>
                  <a:pt x="896200" y="2781300"/>
                </a:lnTo>
                <a:lnTo>
                  <a:pt x="962685" y="2806700"/>
                </a:lnTo>
                <a:lnTo>
                  <a:pt x="1030719" y="2819400"/>
                </a:lnTo>
                <a:lnTo>
                  <a:pt x="1100188" y="2844800"/>
                </a:lnTo>
                <a:lnTo>
                  <a:pt x="1316228" y="2882900"/>
                </a:lnTo>
                <a:lnTo>
                  <a:pt x="1614995" y="2882900"/>
                </a:lnTo>
                <a:lnTo>
                  <a:pt x="1760143" y="2857500"/>
                </a:lnTo>
                <a:lnTo>
                  <a:pt x="1830895" y="2844800"/>
                </a:lnTo>
                <a:lnTo>
                  <a:pt x="1900275" y="2819400"/>
                </a:lnTo>
                <a:lnTo>
                  <a:pt x="1968220" y="2806700"/>
                </a:lnTo>
                <a:lnTo>
                  <a:pt x="2034628" y="2781300"/>
                </a:lnTo>
                <a:lnTo>
                  <a:pt x="2099398" y="2743200"/>
                </a:lnTo>
                <a:lnTo>
                  <a:pt x="2162429" y="2717800"/>
                </a:lnTo>
                <a:lnTo>
                  <a:pt x="2223655" y="2679700"/>
                </a:lnTo>
                <a:lnTo>
                  <a:pt x="2282964" y="2641600"/>
                </a:lnTo>
                <a:lnTo>
                  <a:pt x="2340267" y="2603500"/>
                </a:lnTo>
                <a:lnTo>
                  <a:pt x="2395486" y="2565400"/>
                </a:lnTo>
                <a:lnTo>
                  <a:pt x="2448522" y="2514600"/>
                </a:lnTo>
                <a:lnTo>
                  <a:pt x="2499283" y="2463800"/>
                </a:lnTo>
                <a:lnTo>
                  <a:pt x="2547670" y="2413000"/>
                </a:lnTo>
                <a:lnTo>
                  <a:pt x="2593619" y="2362200"/>
                </a:lnTo>
                <a:lnTo>
                  <a:pt x="2637015" y="2311400"/>
                </a:lnTo>
                <a:lnTo>
                  <a:pt x="2677769" y="2247900"/>
                </a:lnTo>
                <a:lnTo>
                  <a:pt x="2715793" y="2197100"/>
                </a:lnTo>
                <a:lnTo>
                  <a:pt x="2750997" y="2133600"/>
                </a:lnTo>
                <a:lnTo>
                  <a:pt x="2783268" y="2070100"/>
                </a:lnTo>
                <a:lnTo>
                  <a:pt x="2812542" y="2006600"/>
                </a:lnTo>
                <a:lnTo>
                  <a:pt x="2838704" y="1943100"/>
                </a:lnTo>
                <a:lnTo>
                  <a:pt x="2861653" y="1879600"/>
                </a:lnTo>
                <a:lnTo>
                  <a:pt x="2897581" y="1739900"/>
                </a:lnTo>
                <a:lnTo>
                  <a:pt x="2910370" y="1663700"/>
                </a:lnTo>
                <a:lnTo>
                  <a:pt x="2919577" y="1587500"/>
                </a:lnTo>
                <a:lnTo>
                  <a:pt x="2925127" y="1524000"/>
                </a:lnTo>
                <a:lnTo>
                  <a:pt x="2926918" y="144780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190756" y="2820923"/>
            <a:ext cx="1660525" cy="115633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 indent="-2540" algn="ctr">
              <a:lnSpc>
                <a:spcPct val="90300"/>
              </a:lnSpc>
              <a:spcBef>
                <a:spcPts val="330"/>
              </a:spcBef>
            </a:pPr>
            <a:r>
              <a:rPr spc="-25" dirty="0">
                <a:solidFill>
                  <a:srgbClr val="FFFFFF"/>
                </a:solidFill>
              </a:rPr>
              <a:t>Что </a:t>
            </a:r>
            <a:r>
              <a:rPr spc="-10" dirty="0">
                <a:solidFill>
                  <a:srgbClr val="FFFFFF"/>
                </a:solidFill>
              </a:rPr>
              <a:t>оплачивают через интернет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083320" y="6433745"/>
            <a:ext cx="189230" cy="209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Tahoma"/>
                <a:cs typeface="Tahoma"/>
              </a:rPr>
              <a:t>13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1545" y="1253270"/>
            <a:ext cx="9539997" cy="4006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65275">
              <a:lnSpc>
                <a:spcPct val="100000"/>
              </a:lnSpc>
              <a:spcBef>
                <a:spcPts val="100"/>
              </a:spcBef>
            </a:pPr>
            <a:r>
              <a:rPr dirty="0"/>
              <a:t>Как</a:t>
            </a:r>
            <a:r>
              <a:rPr spc="-85" dirty="0"/>
              <a:t> </a:t>
            </a:r>
            <a:r>
              <a:rPr dirty="0"/>
              <a:t>происходит</a:t>
            </a:r>
            <a:r>
              <a:rPr spc="-85" dirty="0"/>
              <a:t> </a:t>
            </a:r>
            <a:r>
              <a:rPr dirty="0"/>
              <a:t>оплата</a:t>
            </a:r>
            <a:r>
              <a:rPr spc="-80" dirty="0"/>
              <a:t> </a:t>
            </a:r>
            <a:r>
              <a:rPr spc="-10" dirty="0"/>
              <a:t>банковской</a:t>
            </a:r>
            <a:r>
              <a:rPr spc="-100" dirty="0"/>
              <a:t> </a:t>
            </a:r>
            <a:r>
              <a:rPr spc="-10" dirty="0"/>
              <a:t>картой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47750" y="2343150"/>
            <a:ext cx="2800350" cy="1085850"/>
          </a:xfrm>
          <a:prstGeom prst="rect">
            <a:avLst/>
          </a:prstGeom>
          <a:solidFill>
            <a:srgbClr val="009999"/>
          </a:solidFill>
          <a:ln w="12700">
            <a:solidFill>
              <a:srgbClr val="003E3E"/>
            </a:solidFill>
          </a:ln>
        </p:spPr>
        <p:txBody>
          <a:bodyPr vert="horz" wrap="square" lIns="0" tIns="1612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70"/>
              </a:spcBef>
            </a:pPr>
            <a:endParaRPr sz="1800">
              <a:latin typeface="Times New Roman"/>
              <a:cs typeface="Times New Roman"/>
            </a:endParaRPr>
          </a:p>
          <a:p>
            <a:pPr marL="788035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Покупатель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43900" y="2271463"/>
            <a:ext cx="2800350" cy="1085850"/>
          </a:xfrm>
          <a:prstGeom prst="rect">
            <a:avLst/>
          </a:prstGeom>
          <a:solidFill>
            <a:srgbClr val="009999"/>
          </a:solidFill>
          <a:ln w="12700">
            <a:solidFill>
              <a:srgbClr val="003E3E"/>
            </a:solidFill>
          </a:ln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endParaRPr sz="1800">
              <a:latin typeface="Times New Roman"/>
              <a:cs typeface="Times New Roman"/>
            </a:endParaRPr>
          </a:p>
          <a:p>
            <a:pPr marL="58737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Торговая</a:t>
            </a:r>
            <a:r>
              <a:rPr sz="18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точка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27051" y="3956050"/>
            <a:ext cx="3327400" cy="984250"/>
            <a:chOff x="527051" y="3956050"/>
            <a:chExt cx="3327400" cy="984250"/>
          </a:xfrm>
        </p:grpSpPr>
        <p:sp>
          <p:nvSpPr>
            <p:cNvPr id="8" name="object 8"/>
            <p:cNvSpPr/>
            <p:nvPr/>
          </p:nvSpPr>
          <p:spPr>
            <a:xfrm>
              <a:off x="533401" y="3962400"/>
              <a:ext cx="3314700" cy="971550"/>
            </a:xfrm>
            <a:custGeom>
              <a:avLst/>
              <a:gdLst/>
              <a:ahLst/>
              <a:cxnLst/>
              <a:rect l="l" t="t" r="r" b="b"/>
              <a:pathLst>
                <a:path w="3314700" h="971550">
                  <a:moveTo>
                    <a:pt x="3152770" y="0"/>
                  </a:moveTo>
                  <a:lnTo>
                    <a:pt x="161928" y="0"/>
                  </a:lnTo>
                  <a:lnTo>
                    <a:pt x="118881" y="5783"/>
                  </a:lnTo>
                  <a:lnTo>
                    <a:pt x="80199" y="22108"/>
                  </a:lnTo>
                  <a:lnTo>
                    <a:pt x="47427" y="47426"/>
                  </a:lnTo>
                  <a:lnTo>
                    <a:pt x="22108" y="80200"/>
                  </a:lnTo>
                  <a:lnTo>
                    <a:pt x="5783" y="118880"/>
                  </a:lnTo>
                  <a:lnTo>
                    <a:pt x="0" y="161927"/>
                  </a:lnTo>
                  <a:lnTo>
                    <a:pt x="0" y="809621"/>
                  </a:lnTo>
                  <a:lnTo>
                    <a:pt x="5783" y="852667"/>
                  </a:lnTo>
                  <a:lnTo>
                    <a:pt x="22108" y="891349"/>
                  </a:lnTo>
                  <a:lnTo>
                    <a:pt x="47427" y="924121"/>
                  </a:lnTo>
                  <a:lnTo>
                    <a:pt x="80199" y="949440"/>
                  </a:lnTo>
                  <a:lnTo>
                    <a:pt x="118881" y="965765"/>
                  </a:lnTo>
                  <a:lnTo>
                    <a:pt x="161928" y="971550"/>
                  </a:lnTo>
                  <a:lnTo>
                    <a:pt x="3152770" y="971550"/>
                  </a:lnTo>
                  <a:lnTo>
                    <a:pt x="3195816" y="965765"/>
                  </a:lnTo>
                  <a:lnTo>
                    <a:pt x="3234498" y="949440"/>
                  </a:lnTo>
                  <a:lnTo>
                    <a:pt x="3267270" y="924121"/>
                  </a:lnTo>
                  <a:lnTo>
                    <a:pt x="3292589" y="891349"/>
                  </a:lnTo>
                  <a:lnTo>
                    <a:pt x="3308914" y="852667"/>
                  </a:lnTo>
                  <a:lnTo>
                    <a:pt x="3314697" y="809621"/>
                  </a:lnTo>
                  <a:lnTo>
                    <a:pt x="3314697" y="161927"/>
                  </a:lnTo>
                  <a:lnTo>
                    <a:pt x="3308914" y="118880"/>
                  </a:lnTo>
                  <a:lnTo>
                    <a:pt x="3292589" y="80200"/>
                  </a:lnTo>
                  <a:lnTo>
                    <a:pt x="3267270" y="47426"/>
                  </a:lnTo>
                  <a:lnTo>
                    <a:pt x="3234498" y="22108"/>
                  </a:lnTo>
                  <a:lnTo>
                    <a:pt x="3195816" y="5783"/>
                  </a:lnTo>
                  <a:lnTo>
                    <a:pt x="3152770" y="0"/>
                  </a:lnTo>
                  <a:close/>
                </a:path>
              </a:pathLst>
            </a:custGeom>
            <a:solidFill>
              <a:srgbClr val="E618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3401" y="3962400"/>
              <a:ext cx="3314700" cy="971550"/>
            </a:xfrm>
            <a:custGeom>
              <a:avLst/>
              <a:gdLst/>
              <a:ahLst/>
              <a:cxnLst/>
              <a:rect l="l" t="t" r="r" b="b"/>
              <a:pathLst>
                <a:path w="3314700" h="971550">
                  <a:moveTo>
                    <a:pt x="0" y="161929"/>
                  </a:moveTo>
                  <a:lnTo>
                    <a:pt x="5784" y="118882"/>
                  </a:lnTo>
                  <a:lnTo>
                    <a:pt x="22108" y="80200"/>
                  </a:lnTo>
                  <a:lnTo>
                    <a:pt x="47427" y="47427"/>
                  </a:lnTo>
                  <a:lnTo>
                    <a:pt x="80200" y="22108"/>
                  </a:lnTo>
                  <a:lnTo>
                    <a:pt x="118881" y="5784"/>
                  </a:lnTo>
                  <a:lnTo>
                    <a:pt x="161928" y="0"/>
                  </a:lnTo>
                  <a:lnTo>
                    <a:pt x="3152770" y="0"/>
                  </a:lnTo>
                  <a:lnTo>
                    <a:pt x="3195817" y="5784"/>
                  </a:lnTo>
                  <a:lnTo>
                    <a:pt x="3234498" y="22108"/>
                  </a:lnTo>
                  <a:lnTo>
                    <a:pt x="3267271" y="47427"/>
                  </a:lnTo>
                  <a:lnTo>
                    <a:pt x="3292591" y="80200"/>
                  </a:lnTo>
                  <a:lnTo>
                    <a:pt x="3308914" y="118882"/>
                  </a:lnTo>
                  <a:lnTo>
                    <a:pt x="3314699" y="161929"/>
                  </a:lnTo>
                  <a:lnTo>
                    <a:pt x="3314699" y="809620"/>
                  </a:lnTo>
                  <a:lnTo>
                    <a:pt x="3308914" y="852667"/>
                  </a:lnTo>
                  <a:lnTo>
                    <a:pt x="3292591" y="891349"/>
                  </a:lnTo>
                  <a:lnTo>
                    <a:pt x="3267271" y="924122"/>
                  </a:lnTo>
                  <a:lnTo>
                    <a:pt x="3234498" y="949441"/>
                  </a:lnTo>
                  <a:lnTo>
                    <a:pt x="3195817" y="965765"/>
                  </a:lnTo>
                  <a:lnTo>
                    <a:pt x="3152770" y="971550"/>
                  </a:lnTo>
                  <a:lnTo>
                    <a:pt x="161928" y="971550"/>
                  </a:lnTo>
                  <a:lnTo>
                    <a:pt x="118881" y="965765"/>
                  </a:lnTo>
                  <a:lnTo>
                    <a:pt x="80200" y="949441"/>
                  </a:lnTo>
                  <a:lnTo>
                    <a:pt x="47427" y="924122"/>
                  </a:lnTo>
                  <a:lnTo>
                    <a:pt x="22108" y="891349"/>
                  </a:lnTo>
                  <a:lnTo>
                    <a:pt x="5784" y="852667"/>
                  </a:lnTo>
                  <a:lnTo>
                    <a:pt x="0" y="809620"/>
                  </a:lnTo>
                  <a:lnTo>
                    <a:pt x="0" y="161929"/>
                  </a:lnTo>
                  <a:close/>
                </a:path>
              </a:pathLst>
            </a:custGeom>
            <a:ln w="12700">
              <a:solidFill>
                <a:srgbClr val="00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17581" y="4004564"/>
            <a:ext cx="2947670" cy="85788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596900" marR="581660" algn="ctr">
              <a:lnSpc>
                <a:spcPct val="101099"/>
              </a:lnSpc>
              <a:spcBef>
                <a:spcPts val="75"/>
              </a:spcBef>
            </a:pP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Банк-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эмитент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(банк,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в</a:t>
            </a: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котором</a:t>
            </a:r>
            <a:endParaRPr sz="1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обслуживается</a:t>
            </a:r>
            <a:r>
              <a:rPr sz="18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покупатель)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547097" y="3946525"/>
            <a:ext cx="3117850" cy="984250"/>
            <a:chOff x="8547097" y="3946525"/>
            <a:chExt cx="3117850" cy="984250"/>
          </a:xfrm>
        </p:grpSpPr>
        <p:sp>
          <p:nvSpPr>
            <p:cNvPr id="12" name="object 12"/>
            <p:cNvSpPr/>
            <p:nvPr/>
          </p:nvSpPr>
          <p:spPr>
            <a:xfrm>
              <a:off x="8553447" y="3952875"/>
              <a:ext cx="3105150" cy="971550"/>
            </a:xfrm>
            <a:custGeom>
              <a:avLst/>
              <a:gdLst/>
              <a:ahLst/>
              <a:cxnLst/>
              <a:rect l="l" t="t" r="r" b="b"/>
              <a:pathLst>
                <a:path w="3105150" h="971550">
                  <a:moveTo>
                    <a:pt x="3076577" y="0"/>
                  </a:moveTo>
                  <a:lnTo>
                    <a:pt x="28571" y="0"/>
                  </a:lnTo>
                  <a:lnTo>
                    <a:pt x="17449" y="2245"/>
                  </a:lnTo>
                  <a:lnTo>
                    <a:pt x="8366" y="8368"/>
                  </a:lnTo>
                  <a:lnTo>
                    <a:pt x="2244" y="17449"/>
                  </a:lnTo>
                  <a:lnTo>
                    <a:pt x="0" y="28572"/>
                  </a:lnTo>
                  <a:lnTo>
                    <a:pt x="0" y="942976"/>
                  </a:lnTo>
                  <a:lnTo>
                    <a:pt x="2244" y="954098"/>
                  </a:lnTo>
                  <a:lnTo>
                    <a:pt x="8366" y="963180"/>
                  </a:lnTo>
                  <a:lnTo>
                    <a:pt x="17449" y="969303"/>
                  </a:lnTo>
                  <a:lnTo>
                    <a:pt x="28571" y="971550"/>
                  </a:lnTo>
                  <a:lnTo>
                    <a:pt x="3076577" y="971550"/>
                  </a:lnTo>
                  <a:lnTo>
                    <a:pt x="3087698" y="969303"/>
                  </a:lnTo>
                  <a:lnTo>
                    <a:pt x="3096780" y="963180"/>
                  </a:lnTo>
                  <a:lnTo>
                    <a:pt x="3102904" y="954098"/>
                  </a:lnTo>
                  <a:lnTo>
                    <a:pt x="3105150" y="942976"/>
                  </a:lnTo>
                  <a:lnTo>
                    <a:pt x="3105150" y="28572"/>
                  </a:lnTo>
                  <a:lnTo>
                    <a:pt x="3102904" y="17449"/>
                  </a:lnTo>
                  <a:lnTo>
                    <a:pt x="3096780" y="8368"/>
                  </a:lnTo>
                  <a:lnTo>
                    <a:pt x="3087698" y="2245"/>
                  </a:lnTo>
                  <a:lnTo>
                    <a:pt x="3076577" y="0"/>
                  </a:lnTo>
                  <a:close/>
                </a:path>
              </a:pathLst>
            </a:custGeom>
            <a:solidFill>
              <a:srgbClr val="E618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553447" y="3952875"/>
              <a:ext cx="3105150" cy="971550"/>
            </a:xfrm>
            <a:custGeom>
              <a:avLst/>
              <a:gdLst/>
              <a:ahLst/>
              <a:cxnLst/>
              <a:rect l="l" t="t" r="r" b="b"/>
              <a:pathLst>
                <a:path w="3105150" h="971550">
                  <a:moveTo>
                    <a:pt x="0" y="28572"/>
                  </a:moveTo>
                  <a:lnTo>
                    <a:pt x="2245" y="17450"/>
                  </a:lnTo>
                  <a:lnTo>
                    <a:pt x="8368" y="8368"/>
                  </a:lnTo>
                  <a:lnTo>
                    <a:pt x="17450" y="2245"/>
                  </a:lnTo>
                  <a:lnTo>
                    <a:pt x="28572" y="0"/>
                  </a:lnTo>
                  <a:lnTo>
                    <a:pt x="3076578" y="0"/>
                  </a:lnTo>
                  <a:lnTo>
                    <a:pt x="3087700" y="2245"/>
                  </a:lnTo>
                  <a:lnTo>
                    <a:pt x="3096782" y="8368"/>
                  </a:lnTo>
                  <a:lnTo>
                    <a:pt x="3102905" y="17450"/>
                  </a:lnTo>
                  <a:lnTo>
                    <a:pt x="3105151" y="28572"/>
                  </a:lnTo>
                  <a:lnTo>
                    <a:pt x="3105151" y="942977"/>
                  </a:lnTo>
                  <a:lnTo>
                    <a:pt x="3102905" y="954099"/>
                  </a:lnTo>
                  <a:lnTo>
                    <a:pt x="3096782" y="963181"/>
                  </a:lnTo>
                  <a:lnTo>
                    <a:pt x="3087700" y="969304"/>
                  </a:lnTo>
                  <a:lnTo>
                    <a:pt x="3076578" y="971550"/>
                  </a:lnTo>
                  <a:lnTo>
                    <a:pt x="28572" y="971550"/>
                  </a:lnTo>
                  <a:lnTo>
                    <a:pt x="17450" y="969304"/>
                  </a:lnTo>
                  <a:lnTo>
                    <a:pt x="8368" y="963181"/>
                  </a:lnTo>
                  <a:lnTo>
                    <a:pt x="2245" y="954099"/>
                  </a:lnTo>
                  <a:lnTo>
                    <a:pt x="0" y="942977"/>
                  </a:lnTo>
                  <a:lnTo>
                    <a:pt x="0" y="28572"/>
                  </a:lnTo>
                  <a:close/>
                </a:path>
              </a:pathLst>
            </a:custGeom>
            <a:ln w="12700">
              <a:solidFill>
                <a:srgbClr val="00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731532" y="3995420"/>
            <a:ext cx="2751455" cy="85788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98475" marR="483870" indent="-2540" algn="ctr">
              <a:lnSpc>
                <a:spcPct val="101099"/>
              </a:lnSpc>
              <a:spcBef>
                <a:spcPts val="75"/>
              </a:spcBef>
            </a:pP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Банк-эквайер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(банк,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в</a:t>
            </a: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котором</a:t>
            </a:r>
            <a:endParaRPr sz="1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обслуживается</a:t>
            </a:r>
            <a:r>
              <a:rPr sz="18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продавец)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794247" y="3930948"/>
            <a:ext cx="2813050" cy="984250"/>
            <a:chOff x="4794247" y="3930948"/>
            <a:chExt cx="2813050" cy="984250"/>
          </a:xfrm>
        </p:grpSpPr>
        <p:sp>
          <p:nvSpPr>
            <p:cNvPr id="16" name="object 16"/>
            <p:cNvSpPr/>
            <p:nvPr/>
          </p:nvSpPr>
          <p:spPr>
            <a:xfrm>
              <a:off x="4800597" y="3937298"/>
              <a:ext cx="2800350" cy="971550"/>
            </a:xfrm>
            <a:custGeom>
              <a:avLst/>
              <a:gdLst/>
              <a:ahLst/>
              <a:cxnLst/>
              <a:rect l="l" t="t" r="r" b="b"/>
              <a:pathLst>
                <a:path w="2800350" h="971550">
                  <a:moveTo>
                    <a:pt x="2638423" y="0"/>
                  </a:moveTo>
                  <a:lnTo>
                    <a:pt x="161926" y="0"/>
                  </a:lnTo>
                  <a:lnTo>
                    <a:pt x="118879" y="5784"/>
                  </a:lnTo>
                  <a:lnTo>
                    <a:pt x="80197" y="22106"/>
                  </a:lnTo>
                  <a:lnTo>
                    <a:pt x="47428" y="47426"/>
                  </a:lnTo>
                  <a:lnTo>
                    <a:pt x="22108" y="80199"/>
                  </a:lnTo>
                  <a:lnTo>
                    <a:pt x="5784" y="118880"/>
                  </a:lnTo>
                  <a:lnTo>
                    <a:pt x="0" y="161927"/>
                  </a:lnTo>
                  <a:lnTo>
                    <a:pt x="0" y="809623"/>
                  </a:lnTo>
                  <a:lnTo>
                    <a:pt x="5784" y="852670"/>
                  </a:lnTo>
                  <a:lnTo>
                    <a:pt x="22108" y="891352"/>
                  </a:lnTo>
                  <a:lnTo>
                    <a:pt x="47428" y="924121"/>
                  </a:lnTo>
                  <a:lnTo>
                    <a:pt x="80197" y="949441"/>
                  </a:lnTo>
                  <a:lnTo>
                    <a:pt x="118879" y="965765"/>
                  </a:lnTo>
                  <a:lnTo>
                    <a:pt x="161926" y="971550"/>
                  </a:lnTo>
                  <a:lnTo>
                    <a:pt x="2638423" y="971550"/>
                  </a:lnTo>
                  <a:lnTo>
                    <a:pt x="2681470" y="965765"/>
                  </a:lnTo>
                  <a:lnTo>
                    <a:pt x="2720152" y="949441"/>
                  </a:lnTo>
                  <a:lnTo>
                    <a:pt x="2752923" y="924121"/>
                  </a:lnTo>
                  <a:lnTo>
                    <a:pt x="2778243" y="891352"/>
                  </a:lnTo>
                  <a:lnTo>
                    <a:pt x="2794565" y="852670"/>
                  </a:lnTo>
                  <a:lnTo>
                    <a:pt x="2800350" y="809623"/>
                  </a:lnTo>
                  <a:lnTo>
                    <a:pt x="2800350" y="161927"/>
                  </a:lnTo>
                  <a:lnTo>
                    <a:pt x="2794565" y="118880"/>
                  </a:lnTo>
                  <a:lnTo>
                    <a:pt x="2778243" y="80199"/>
                  </a:lnTo>
                  <a:lnTo>
                    <a:pt x="2752923" y="47426"/>
                  </a:lnTo>
                  <a:lnTo>
                    <a:pt x="2720152" y="22106"/>
                  </a:lnTo>
                  <a:lnTo>
                    <a:pt x="2681470" y="5784"/>
                  </a:lnTo>
                  <a:lnTo>
                    <a:pt x="2638423" y="0"/>
                  </a:lnTo>
                  <a:close/>
                </a:path>
              </a:pathLst>
            </a:custGeom>
            <a:solidFill>
              <a:srgbClr val="0096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00597" y="3937298"/>
              <a:ext cx="2800350" cy="971550"/>
            </a:xfrm>
            <a:custGeom>
              <a:avLst/>
              <a:gdLst/>
              <a:ahLst/>
              <a:cxnLst/>
              <a:rect l="l" t="t" r="r" b="b"/>
              <a:pathLst>
                <a:path w="2800350" h="971550">
                  <a:moveTo>
                    <a:pt x="0" y="161927"/>
                  </a:moveTo>
                  <a:lnTo>
                    <a:pt x="5784" y="118880"/>
                  </a:lnTo>
                  <a:lnTo>
                    <a:pt x="22107" y="80199"/>
                  </a:lnTo>
                  <a:lnTo>
                    <a:pt x="47427" y="47427"/>
                  </a:lnTo>
                  <a:lnTo>
                    <a:pt x="80199" y="22107"/>
                  </a:lnTo>
                  <a:lnTo>
                    <a:pt x="118880" y="5784"/>
                  </a:lnTo>
                  <a:lnTo>
                    <a:pt x="161926" y="0"/>
                  </a:lnTo>
                  <a:lnTo>
                    <a:pt x="2638423" y="0"/>
                  </a:lnTo>
                  <a:lnTo>
                    <a:pt x="2681469" y="5784"/>
                  </a:lnTo>
                  <a:lnTo>
                    <a:pt x="2720150" y="22107"/>
                  </a:lnTo>
                  <a:lnTo>
                    <a:pt x="2752922" y="47427"/>
                  </a:lnTo>
                  <a:lnTo>
                    <a:pt x="2778242" y="80199"/>
                  </a:lnTo>
                  <a:lnTo>
                    <a:pt x="2794565" y="118880"/>
                  </a:lnTo>
                  <a:lnTo>
                    <a:pt x="2800350" y="161927"/>
                  </a:lnTo>
                  <a:lnTo>
                    <a:pt x="2800350" y="809623"/>
                  </a:lnTo>
                  <a:lnTo>
                    <a:pt x="2794565" y="852669"/>
                  </a:lnTo>
                  <a:lnTo>
                    <a:pt x="2778242" y="891350"/>
                  </a:lnTo>
                  <a:lnTo>
                    <a:pt x="2752922" y="924122"/>
                  </a:lnTo>
                  <a:lnTo>
                    <a:pt x="2720150" y="949442"/>
                  </a:lnTo>
                  <a:lnTo>
                    <a:pt x="2681469" y="965765"/>
                  </a:lnTo>
                  <a:lnTo>
                    <a:pt x="2638423" y="971550"/>
                  </a:lnTo>
                  <a:lnTo>
                    <a:pt x="161926" y="971550"/>
                  </a:lnTo>
                  <a:lnTo>
                    <a:pt x="118880" y="965765"/>
                  </a:lnTo>
                  <a:lnTo>
                    <a:pt x="80199" y="949442"/>
                  </a:lnTo>
                  <a:lnTo>
                    <a:pt x="47427" y="924122"/>
                  </a:lnTo>
                  <a:lnTo>
                    <a:pt x="22107" y="891350"/>
                  </a:lnTo>
                  <a:lnTo>
                    <a:pt x="5784" y="852669"/>
                  </a:lnTo>
                  <a:lnTo>
                    <a:pt x="0" y="809623"/>
                  </a:lnTo>
                  <a:lnTo>
                    <a:pt x="0" y="161927"/>
                  </a:lnTo>
                  <a:close/>
                </a:path>
              </a:pathLst>
            </a:custGeom>
            <a:ln w="12700">
              <a:solidFill>
                <a:srgbClr val="00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349080" y="4272788"/>
            <a:ext cx="1687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Расчетный</a:t>
            </a: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банк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155950" y="5331199"/>
            <a:ext cx="6203950" cy="1240155"/>
            <a:chOff x="3155950" y="5331199"/>
            <a:chExt cx="6203950" cy="1240155"/>
          </a:xfrm>
        </p:grpSpPr>
        <p:sp>
          <p:nvSpPr>
            <p:cNvPr id="20" name="object 20"/>
            <p:cNvSpPr/>
            <p:nvPr/>
          </p:nvSpPr>
          <p:spPr>
            <a:xfrm>
              <a:off x="3162300" y="5337873"/>
              <a:ext cx="6191250" cy="1226820"/>
            </a:xfrm>
            <a:custGeom>
              <a:avLst/>
              <a:gdLst/>
              <a:ahLst/>
              <a:cxnLst/>
              <a:rect l="l" t="t" r="r" b="b"/>
              <a:pathLst>
                <a:path w="6191250" h="1226820">
                  <a:moveTo>
                    <a:pt x="6191250" y="613410"/>
                  </a:moveTo>
                  <a:lnTo>
                    <a:pt x="6177077" y="554990"/>
                  </a:lnTo>
                  <a:lnTo>
                    <a:pt x="6148336" y="511810"/>
                  </a:lnTo>
                  <a:lnTo>
                    <a:pt x="6120866" y="482600"/>
                  </a:lnTo>
                  <a:lnTo>
                    <a:pt x="6067603" y="441960"/>
                  </a:lnTo>
                  <a:lnTo>
                    <a:pt x="6024270" y="414020"/>
                  </a:lnTo>
                  <a:lnTo>
                    <a:pt x="5947969" y="374650"/>
                  </a:lnTo>
                  <a:lnTo>
                    <a:pt x="5889803" y="349250"/>
                  </a:lnTo>
                  <a:lnTo>
                    <a:pt x="5825985" y="325120"/>
                  </a:lnTo>
                  <a:lnTo>
                    <a:pt x="5792000" y="312420"/>
                  </a:lnTo>
                  <a:lnTo>
                    <a:pt x="5720004" y="288290"/>
                  </a:lnTo>
                  <a:lnTo>
                    <a:pt x="5642762" y="265430"/>
                  </a:lnTo>
                  <a:lnTo>
                    <a:pt x="5560441" y="242570"/>
                  </a:lnTo>
                  <a:lnTo>
                    <a:pt x="5517413" y="231140"/>
                  </a:lnTo>
                  <a:lnTo>
                    <a:pt x="5381168" y="200660"/>
                  </a:lnTo>
                  <a:lnTo>
                    <a:pt x="5234571" y="170180"/>
                  </a:lnTo>
                  <a:lnTo>
                    <a:pt x="5183505" y="161290"/>
                  </a:lnTo>
                  <a:lnTo>
                    <a:pt x="5131371" y="151130"/>
                  </a:lnTo>
                  <a:lnTo>
                    <a:pt x="5023967" y="133350"/>
                  </a:lnTo>
                  <a:lnTo>
                    <a:pt x="4968748" y="125730"/>
                  </a:lnTo>
                  <a:lnTo>
                    <a:pt x="4912538" y="116840"/>
                  </a:lnTo>
                  <a:lnTo>
                    <a:pt x="4678223" y="86360"/>
                  </a:lnTo>
                  <a:lnTo>
                    <a:pt x="4617377" y="80010"/>
                  </a:lnTo>
                  <a:lnTo>
                    <a:pt x="4555668" y="72390"/>
                  </a:lnTo>
                  <a:lnTo>
                    <a:pt x="4429734" y="59690"/>
                  </a:lnTo>
                  <a:lnTo>
                    <a:pt x="4365549" y="54610"/>
                  </a:lnTo>
                  <a:lnTo>
                    <a:pt x="4300575" y="48260"/>
                  </a:lnTo>
                  <a:lnTo>
                    <a:pt x="4101160" y="33020"/>
                  </a:lnTo>
                  <a:lnTo>
                    <a:pt x="3754983" y="13970"/>
                  </a:lnTo>
                  <a:lnTo>
                    <a:pt x="3539883" y="6350"/>
                  </a:lnTo>
                  <a:lnTo>
                    <a:pt x="3467074" y="5080"/>
                  </a:lnTo>
                  <a:lnTo>
                    <a:pt x="3393744" y="2540"/>
                  </a:lnTo>
                  <a:lnTo>
                    <a:pt x="3319919" y="1270"/>
                  </a:lnTo>
                  <a:lnTo>
                    <a:pt x="3245599" y="1270"/>
                  </a:lnTo>
                  <a:lnTo>
                    <a:pt x="3170834" y="0"/>
                  </a:lnTo>
                  <a:lnTo>
                    <a:pt x="3020403" y="0"/>
                  </a:lnTo>
                  <a:lnTo>
                    <a:pt x="2945638" y="1270"/>
                  </a:lnTo>
                  <a:lnTo>
                    <a:pt x="2871317" y="1270"/>
                  </a:lnTo>
                  <a:lnTo>
                    <a:pt x="2797492" y="2540"/>
                  </a:lnTo>
                  <a:lnTo>
                    <a:pt x="2724162" y="5080"/>
                  </a:lnTo>
                  <a:lnTo>
                    <a:pt x="2651353" y="6350"/>
                  </a:lnTo>
                  <a:lnTo>
                    <a:pt x="2436253" y="13970"/>
                  </a:lnTo>
                  <a:lnTo>
                    <a:pt x="2090077" y="33020"/>
                  </a:lnTo>
                  <a:lnTo>
                    <a:pt x="1890661" y="48260"/>
                  </a:lnTo>
                  <a:lnTo>
                    <a:pt x="1825688" y="54610"/>
                  </a:lnTo>
                  <a:lnTo>
                    <a:pt x="1761502" y="59690"/>
                  </a:lnTo>
                  <a:lnTo>
                    <a:pt x="1635569" y="72390"/>
                  </a:lnTo>
                  <a:lnTo>
                    <a:pt x="1573860" y="80010"/>
                  </a:lnTo>
                  <a:lnTo>
                    <a:pt x="1513014" y="86360"/>
                  </a:lnTo>
                  <a:lnTo>
                    <a:pt x="1278699" y="116840"/>
                  </a:lnTo>
                  <a:lnTo>
                    <a:pt x="1222489" y="125730"/>
                  </a:lnTo>
                  <a:lnTo>
                    <a:pt x="1167269" y="133350"/>
                  </a:lnTo>
                  <a:lnTo>
                    <a:pt x="1059865" y="151130"/>
                  </a:lnTo>
                  <a:lnTo>
                    <a:pt x="1007732" y="161290"/>
                  </a:lnTo>
                  <a:lnTo>
                    <a:pt x="956665" y="170180"/>
                  </a:lnTo>
                  <a:lnTo>
                    <a:pt x="810069" y="200660"/>
                  </a:lnTo>
                  <a:lnTo>
                    <a:pt x="673823" y="231140"/>
                  </a:lnTo>
                  <a:lnTo>
                    <a:pt x="630796" y="242570"/>
                  </a:lnTo>
                  <a:lnTo>
                    <a:pt x="548474" y="265430"/>
                  </a:lnTo>
                  <a:lnTo>
                    <a:pt x="471233" y="288290"/>
                  </a:lnTo>
                  <a:lnTo>
                    <a:pt x="434568" y="299720"/>
                  </a:lnTo>
                  <a:lnTo>
                    <a:pt x="365252" y="325120"/>
                  </a:lnTo>
                  <a:lnTo>
                    <a:pt x="332651" y="336550"/>
                  </a:lnTo>
                  <a:lnTo>
                    <a:pt x="301434" y="349250"/>
                  </a:lnTo>
                  <a:lnTo>
                    <a:pt x="271627" y="361950"/>
                  </a:lnTo>
                  <a:lnTo>
                    <a:pt x="243268" y="374650"/>
                  </a:lnTo>
                  <a:lnTo>
                    <a:pt x="216344" y="388620"/>
                  </a:lnTo>
                  <a:lnTo>
                    <a:pt x="190906" y="401320"/>
                  </a:lnTo>
                  <a:lnTo>
                    <a:pt x="144538" y="427990"/>
                  </a:lnTo>
                  <a:lnTo>
                    <a:pt x="86537" y="468630"/>
                  </a:lnTo>
                  <a:lnTo>
                    <a:pt x="55816" y="497840"/>
                  </a:lnTo>
                  <a:lnTo>
                    <a:pt x="22047" y="539750"/>
                  </a:lnTo>
                  <a:lnTo>
                    <a:pt x="3568" y="584200"/>
                  </a:lnTo>
                  <a:lnTo>
                    <a:pt x="0" y="613410"/>
                  </a:lnTo>
                  <a:lnTo>
                    <a:pt x="889" y="628650"/>
                  </a:lnTo>
                  <a:lnTo>
                    <a:pt x="14160" y="673100"/>
                  </a:lnTo>
                  <a:lnTo>
                    <a:pt x="42900" y="716280"/>
                  </a:lnTo>
                  <a:lnTo>
                    <a:pt x="70370" y="744220"/>
                  </a:lnTo>
                  <a:lnTo>
                    <a:pt x="104305" y="772160"/>
                  </a:lnTo>
                  <a:lnTo>
                    <a:pt x="144538" y="800100"/>
                  </a:lnTo>
                  <a:lnTo>
                    <a:pt x="166966" y="812800"/>
                  </a:lnTo>
                  <a:lnTo>
                    <a:pt x="190906" y="826770"/>
                  </a:lnTo>
                  <a:lnTo>
                    <a:pt x="216344" y="839470"/>
                  </a:lnTo>
                  <a:lnTo>
                    <a:pt x="243268" y="852170"/>
                  </a:lnTo>
                  <a:lnTo>
                    <a:pt x="271627" y="866140"/>
                  </a:lnTo>
                  <a:lnTo>
                    <a:pt x="301434" y="878840"/>
                  </a:lnTo>
                  <a:lnTo>
                    <a:pt x="332651" y="890270"/>
                  </a:lnTo>
                  <a:lnTo>
                    <a:pt x="365252" y="902970"/>
                  </a:lnTo>
                  <a:lnTo>
                    <a:pt x="399237" y="915670"/>
                  </a:lnTo>
                  <a:lnTo>
                    <a:pt x="434568" y="927100"/>
                  </a:lnTo>
                  <a:lnTo>
                    <a:pt x="471233" y="939800"/>
                  </a:lnTo>
                  <a:lnTo>
                    <a:pt x="548474" y="962660"/>
                  </a:lnTo>
                  <a:lnTo>
                    <a:pt x="630796" y="985520"/>
                  </a:lnTo>
                  <a:lnTo>
                    <a:pt x="673823" y="995680"/>
                  </a:lnTo>
                  <a:lnTo>
                    <a:pt x="718058" y="1007110"/>
                  </a:lnTo>
                  <a:lnTo>
                    <a:pt x="810069" y="1027430"/>
                  </a:lnTo>
                  <a:lnTo>
                    <a:pt x="956665" y="1057910"/>
                  </a:lnTo>
                  <a:lnTo>
                    <a:pt x="1007732" y="1066800"/>
                  </a:lnTo>
                  <a:lnTo>
                    <a:pt x="1278699" y="1111250"/>
                  </a:lnTo>
                  <a:lnTo>
                    <a:pt x="1513014" y="1141730"/>
                  </a:lnTo>
                  <a:lnTo>
                    <a:pt x="1635569" y="1154430"/>
                  </a:lnTo>
                  <a:lnTo>
                    <a:pt x="1698117" y="1162050"/>
                  </a:lnTo>
                  <a:lnTo>
                    <a:pt x="1761502" y="1167130"/>
                  </a:lnTo>
                  <a:lnTo>
                    <a:pt x="1890661" y="1179830"/>
                  </a:lnTo>
                  <a:lnTo>
                    <a:pt x="2022881" y="1189990"/>
                  </a:lnTo>
                  <a:lnTo>
                    <a:pt x="2090077" y="1193800"/>
                  </a:lnTo>
                  <a:lnTo>
                    <a:pt x="2157984" y="1198880"/>
                  </a:lnTo>
                  <a:lnTo>
                    <a:pt x="2436253" y="1214120"/>
                  </a:lnTo>
                  <a:lnTo>
                    <a:pt x="2651353" y="1221740"/>
                  </a:lnTo>
                  <a:lnTo>
                    <a:pt x="2945638" y="1226820"/>
                  </a:lnTo>
                  <a:lnTo>
                    <a:pt x="3245599" y="1226820"/>
                  </a:lnTo>
                  <a:lnTo>
                    <a:pt x="3539883" y="1221740"/>
                  </a:lnTo>
                  <a:lnTo>
                    <a:pt x="3754983" y="1214120"/>
                  </a:lnTo>
                  <a:lnTo>
                    <a:pt x="4033253" y="1198880"/>
                  </a:lnTo>
                  <a:lnTo>
                    <a:pt x="4101160" y="1193800"/>
                  </a:lnTo>
                  <a:lnTo>
                    <a:pt x="4168356" y="1189990"/>
                  </a:lnTo>
                  <a:lnTo>
                    <a:pt x="4300575" y="1179830"/>
                  </a:lnTo>
                  <a:lnTo>
                    <a:pt x="4429734" y="1167130"/>
                  </a:lnTo>
                  <a:lnTo>
                    <a:pt x="4493120" y="1162050"/>
                  </a:lnTo>
                  <a:lnTo>
                    <a:pt x="4555668" y="1154430"/>
                  </a:lnTo>
                  <a:lnTo>
                    <a:pt x="4678223" y="1141730"/>
                  </a:lnTo>
                  <a:lnTo>
                    <a:pt x="4912538" y="1111250"/>
                  </a:lnTo>
                  <a:lnTo>
                    <a:pt x="5183505" y="1066800"/>
                  </a:lnTo>
                  <a:lnTo>
                    <a:pt x="5234571" y="1057910"/>
                  </a:lnTo>
                  <a:lnTo>
                    <a:pt x="5381168" y="1027430"/>
                  </a:lnTo>
                  <a:lnTo>
                    <a:pt x="5473179" y="1007110"/>
                  </a:lnTo>
                  <a:lnTo>
                    <a:pt x="5517413" y="995680"/>
                  </a:lnTo>
                  <a:lnTo>
                    <a:pt x="5560441" y="985520"/>
                  </a:lnTo>
                  <a:lnTo>
                    <a:pt x="5642762" y="962660"/>
                  </a:lnTo>
                  <a:lnTo>
                    <a:pt x="5720004" y="939800"/>
                  </a:lnTo>
                  <a:lnTo>
                    <a:pt x="5756668" y="927100"/>
                  </a:lnTo>
                  <a:lnTo>
                    <a:pt x="5792000" y="915670"/>
                  </a:lnTo>
                  <a:lnTo>
                    <a:pt x="5825985" y="902970"/>
                  </a:lnTo>
                  <a:lnTo>
                    <a:pt x="5858586" y="890270"/>
                  </a:lnTo>
                  <a:lnTo>
                    <a:pt x="5889803" y="878840"/>
                  </a:lnTo>
                  <a:lnTo>
                    <a:pt x="5919609" y="866140"/>
                  </a:lnTo>
                  <a:lnTo>
                    <a:pt x="5947969" y="852170"/>
                  </a:lnTo>
                  <a:lnTo>
                    <a:pt x="5974893" y="839470"/>
                  </a:lnTo>
                  <a:lnTo>
                    <a:pt x="6000331" y="826770"/>
                  </a:lnTo>
                  <a:lnTo>
                    <a:pt x="6024270" y="812800"/>
                  </a:lnTo>
                  <a:lnTo>
                    <a:pt x="6046698" y="800100"/>
                  </a:lnTo>
                  <a:lnTo>
                    <a:pt x="6086932" y="772160"/>
                  </a:lnTo>
                  <a:lnTo>
                    <a:pt x="6120866" y="744220"/>
                  </a:lnTo>
                  <a:lnTo>
                    <a:pt x="6148336" y="716280"/>
                  </a:lnTo>
                  <a:lnTo>
                    <a:pt x="6177077" y="673100"/>
                  </a:lnTo>
                  <a:lnTo>
                    <a:pt x="6190348" y="628650"/>
                  </a:lnTo>
                  <a:lnTo>
                    <a:pt x="6191250" y="613410"/>
                  </a:lnTo>
                  <a:close/>
                </a:path>
              </a:pathLst>
            </a:custGeom>
            <a:solidFill>
              <a:srgbClr val="F07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162300" y="5337549"/>
              <a:ext cx="6191250" cy="1227455"/>
            </a:xfrm>
            <a:custGeom>
              <a:avLst/>
              <a:gdLst/>
              <a:ahLst/>
              <a:cxnLst/>
              <a:rect l="l" t="t" r="r" b="b"/>
              <a:pathLst>
                <a:path w="6191250" h="1227454">
                  <a:moveTo>
                    <a:pt x="0" y="613568"/>
                  </a:moveTo>
                  <a:lnTo>
                    <a:pt x="8001" y="569111"/>
                  </a:lnTo>
                  <a:lnTo>
                    <a:pt x="31641" y="525512"/>
                  </a:lnTo>
                  <a:lnTo>
                    <a:pt x="70371" y="482879"/>
                  </a:lnTo>
                  <a:lnTo>
                    <a:pt x="104306" y="455047"/>
                  </a:lnTo>
                  <a:lnTo>
                    <a:pt x="144541" y="427725"/>
                  </a:lnTo>
                  <a:lnTo>
                    <a:pt x="190917" y="400945"/>
                  </a:lnTo>
                  <a:lnTo>
                    <a:pt x="243269" y="374739"/>
                  </a:lnTo>
                  <a:lnTo>
                    <a:pt x="301437" y="349140"/>
                  </a:lnTo>
                  <a:lnTo>
                    <a:pt x="365258" y="324179"/>
                  </a:lnTo>
                  <a:lnTo>
                    <a:pt x="434570" y="299888"/>
                  </a:lnTo>
                  <a:lnTo>
                    <a:pt x="471234" y="288004"/>
                  </a:lnTo>
                  <a:lnTo>
                    <a:pt x="509210" y="276300"/>
                  </a:lnTo>
                  <a:lnTo>
                    <a:pt x="548478" y="264779"/>
                  </a:lnTo>
                  <a:lnTo>
                    <a:pt x="589017" y="253446"/>
                  </a:lnTo>
                  <a:lnTo>
                    <a:pt x="630807" y="242305"/>
                  </a:lnTo>
                  <a:lnTo>
                    <a:pt x="673829" y="231360"/>
                  </a:lnTo>
                  <a:lnTo>
                    <a:pt x="718060" y="220614"/>
                  </a:lnTo>
                  <a:lnTo>
                    <a:pt x="763482" y="210072"/>
                  </a:lnTo>
                  <a:lnTo>
                    <a:pt x="810074" y="199738"/>
                  </a:lnTo>
                  <a:lnTo>
                    <a:pt x="857816" y="189616"/>
                  </a:lnTo>
                  <a:lnTo>
                    <a:pt x="906687" y="179710"/>
                  </a:lnTo>
                  <a:lnTo>
                    <a:pt x="956668" y="170023"/>
                  </a:lnTo>
                  <a:lnTo>
                    <a:pt x="1007737" y="160560"/>
                  </a:lnTo>
                  <a:lnTo>
                    <a:pt x="1059875" y="151326"/>
                  </a:lnTo>
                  <a:lnTo>
                    <a:pt x="1113062" y="142323"/>
                  </a:lnTo>
                  <a:lnTo>
                    <a:pt x="1167276" y="133556"/>
                  </a:lnTo>
                  <a:lnTo>
                    <a:pt x="1222499" y="125029"/>
                  </a:lnTo>
                  <a:lnTo>
                    <a:pt x="1278709" y="116746"/>
                  </a:lnTo>
                  <a:lnTo>
                    <a:pt x="1335886" y="108711"/>
                  </a:lnTo>
                  <a:lnTo>
                    <a:pt x="1394011" y="100928"/>
                  </a:lnTo>
                  <a:lnTo>
                    <a:pt x="1453062" y="93401"/>
                  </a:lnTo>
                  <a:lnTo>
                    <a:pt x="1513020" y="86133"/>
                  </a:lnTo>
                  <a:lnTo>
                    <a:pt x="1573864" y="79130"/>
                  </a:lnTo>
                  <a:lnTo>
                    <a:pt x="1635574" y="72396"/>
                  </a:lnTo>
                  <a:lnTo>
                    <a:pt x="1698129" y="65933"/>
                  </a:lnTo>
                  <a:lnTo>
                    <a:pt x="1761510" y="59746"/>
                  </a:lnTo>
                  <a:lnTo>
                    <a:pt x="1825697" y="53839"/>
                  </a:lnTo>
                  <a:lnTo>
                    <a:pt x="1890668" y="48217"/>
                  </a:lnTo>
                  <a:lnTo>
                    <a:pt x="1956404" y="42882"/>
                  </a:lnTo>
                  <a:lnTo>
                    <a:pt x="2022884" y="37840"/>
                  </a:lnTo>
                  <a:lnTo>
                    <a:pt x="2090088" y="33094"/>
                  </a:lnTo>
                  <a:lnTo>
                    <a:pt x="2157996" y="28648"/>
                  </a:lnTo>
                  <a:lnTo>
                    <a:pt x="2226587" y="24507"/>
                  </a:lnTo>
                  <a:lnTo>
                    <a:pt x="2295842" y="20673"/>
                  </a:lnTo>
                  <a:lnTo>
                    <a:pt x="2365740" y="17152"/>
                  </a:lnTo>
                  <a:lnTo>
                    <a:pt x="2436261" y="13948"/>
                  </a:lnTo>
                  <a:lnTo>
                    <a:pt x="2507384" y="11063"/>
                  </a:lnTo>
                  <a:lnTo>
                    <a:pt x="2579089" y="8503"/>
                  </a:lnTo>
                  <a:lnTo>
                    <a:pt x="2651356" y="6271"/>
                  </a:lnTo>
                  <a:lnTo>
                    <a:pt x="2724165" y="4371"/>
                  </a:lnTo>
                  <a:lnTo>
                    <a:pt x="2797495" y="2808"/>
                  </a:lnTo>
                  <a:lnTo>
                    <a:pt x="2871327" y="1585"/>
                  </a:lnTo>
                  <a:lnTo>
                    <a:pt x="2945639" y="707"/>
                  </a:lnTo>
                  <a:lnTo>
                    <a:pt x="3020411" y="177"/>
                  </a:lnTo>
                  <a:lnTo>
                    <a:pt x="3095625" y="0"/>
                  </a:lnTo>
                  <a:lnTo>
                    <a:pt x="3170838" y="177"/>
                  </a:lnTo>
                  <a:lnTo>
                    <a:pt x="3245610" y="707"/>
                  </a:lnTo>
                  <a:lnTo>
                    <a:pt x="3319923" y="1585"/>
                  </a:lnTo>
                  <a:lnTo>
                    <a:pt x="3393754" y="2808"/>
                  </a:lnTo>
                  <a:lnTo>
                    <a:pt x="3467084" y="4371"/>
                  </a:lnTo>
                  <a:lnTo>
                    <a:pt x="3539893" y="6271"/>
                  </a:lnTo>
                  <a:lnTo>
                    <a:pt x="3612160" y="8503"/>
                  </a:lnTo>
                  <a:lnTo>
                    <a:pt x="3683865" y="11063"/>
                  </a:lnTo>
                  <a:lnTo>
                    <a:pt x="3754988" y="13948"/>
                  </a:lnTo>
                  <a:lnTo>
                    <a:pt x="3825509" y="17152"/>
                  </a:lnTo>
                  <a:lnTo>
                    <a:pt x="3895407" y="20673"/>
                  </a:lnTo>
                  <a:lnTo>
                    <a:pt x="3964662" y="24507"/>
                  </a:lnTo>
                  <a:lnTo>
                    <a:pt x="4033253" y="28648"/>
                  </a:lnTo>
                  <a:lnTo>
                    <a:pt x="4101161" y="33094"/>
                  </a:lnTo>
                  <a:lnTo>
                    <a:pt x="4168365" y="37840"/>
                  </a:lnTo>
                  <a:lnTo>
                    <a:pt x="4234846" y="42882"/>
                  </a:lnTo>
                  <a:lnTo>
                    <a:pt x="4300581" y="48217"/>
                  </a:lnTo>
                  <a:lnTo>
                    <a:pt x="4365552" y="53839"/>
                  </a:lnTo>
                  <a:lnTo>
                    <a:pt x="4429739" y="59746"/>
                  </a:lnTo>
                  <a:lnTo>
                    <a:pt x="4493120" y="65933"/>
                  </a:lnTo>
                  <a:lnTo>
                    <a:pt x="4555675" y="72396"/>
                  </a:lnTo>
                  <a:lnTo>
                    <a:pt x="4617385" y="79130"/>
                  </a:lnTo>
                  <a:lnTo>
                    <a:pt x="4678229" y="86133"/>
                  </a:lnTo>
                  <a:lnTo>
                    <a:pt x="4738187" y="93401"/>
                  </a:lnTo>
                  <a:lnTo>
                    <a:pt x="4797238" y="100928"/>
                  </a:lnTo>
                  <a:lnTo>
                    <a:pt x="4855363" y="108711"/>
                  </a:lnTo>
                  <a:lnTo>
                    <a:pt x="4912540" y="116746"/>
                  </a:lnTo>
                  <a:lnTo>
                    <a:pt x="4968750" y="125029"/>
                  </a:lnTo>
                  <a:lnTo>
                    <a:pt x="5023973" y="133556"/>
                  </a:lnTo>
                  <a:lnTo>
                    <a:pt x="5078187" y="142323"/>
                  </a:lnTo>
                  <a:lnTo>
                    <a:pt x="5131374" y="151326"/>
                  </a:lnTo>
                  <a:lnTo>
                    <a:pt x="5183512" y="160560"/>
                  </a:lnTo>
                  <a:lnTo>
                    <a:pt x="5234581" y="170023"/>
                  </a:lnTo>
                  <a:lnTo>
                    <a:pt x="5284562" y="179710"/>
                  </a:lnTo>
                  <a:lnTo>
                    <a:pt x="5333433" y="189616"/>
                  </a:lnTo>
                  <a:lnTo>
                    <a:pt x="5381175" y="199738"/>
                  </a:lnTo>
                  <a:lnTo>
                    <a:pt x="5427767" y="210072"/>
                  </a:lnTo>
                  <a:lnTo>
                    <a:pt x="5473189" y="220614"/>
                  </a:lnTo>
                  <a:lnTo>
                    <a:pt x="5517421" y="231360"/>
                  </a:lnTo>
                  <a:lnTo>
                    <a:pt x="5560442" y="242305"/>
                  </a:lnTo>
                  <a:lnTo>
                    <a:pt x="5602232" y="253446"/>
                  </a:lnTo>
                  <a:lnTo>
                    <a:pt x="5642771" y="264779"/>
                  </a:lnTo>
                  <a:lnTo>
                    <a:pt x="5682039" y="276300"/>
                  </a:lnTo>
                  <a:lnTo>
                    <a:pt x="5720015" y="288004"/>
                  </a:lnTo>
                  <a:lnTo>
                    <a:pt x="5756680" y="299888"/>
                  </a:lnTo>
                  <a:lnTo>
                    <a:pt x="5825991" y="324179"/>
                  </a:lnTo>
                  <a:lnTo>
                    <a:pt x="5889812" y="349140"/>
                  </a:lnTo>
                  <a:lnTo>
                    <a:pt x="5947980" y="374739"/>
                  </a:lnTo>
                  <a:lnTo>
                    <a:pt x="6000333" y="400945"/>
                  </a:lnTo>
                  <a:lnTo>
                    <a:pt x="6046708" y="427725"/>
                  </a:lnTo>
                  <a:lnTo>
                    <a:pt x="6086944" y="455047"/>
                  </a:lnTo>
                  <a:lnTo>
                    <a:pt x="6120878" y="482879"/>
                  </a:lnTo>
                  <a:lnTo>
                    <a:pt x="6148348" y="511188"/>
                  </a:lnTo>
                  <a:lnTo>
                    <a:pt x="6177079" y="554477"/>
                  </a:lnTo>
                  <a:lnTo>
                    <a:pt x="6190354" y="598660"/>
                  </a:lnTo>
                  <a:lnTo>
                    <a:pt x="6191250" y="613568"/>
                  </a:lnTo>
                  <a:lnTo>
                    <a:pt x="6190354" y="628476"/>
                  </a:lnTo>
                  <a:lnTo>
                    <a:pt x="6177079" y="672659"/>
                  </a:lnTo>
                  <a:lnTo>
                    <a:pt x="6148348" y="715948"/>
                  </a:lnTo>
                  <a:lnTo>
                    <a:pt x="6120878" y="744257"/>
                  </a:lnTo>
                  <a:lnTo>
                    <a:pt x="6086944" y="772089"/>
                  </a:lnTo>
                  <a:lnTo>
                    <a:pt x="6046708" y="799411"/>
                  </a:lnTo>
                  <a:lnTo>
                    <a:pt x="6000333" y="826191"/>
                  </a:lnTo>
                  <a:lnTo>
                    <a:pt x="5947980" y="852397"/>
                  </a:lnTo>
                  <a:lnTo>
                    <a:pt x="5889812" y="877996"/>
                  </a:lnTo>
                  <a:lnTo>
                    <a:pt x="5825991" y="902958"/>
                  </a:lnTo>
                  <a:lnTo>
                    <a:pt x="5756680" y="927248"/>
                  </a:lnTo>
                  <a:lnTo>
                    <a:pt x="5720015" y="939132"/>
                  </a:lnTo>
                  <a:lnTo>
                    <a:pt x="5682039" y="950836"/>
                  </a:lnTo>
                  <a:lnTo>
                    <a:pt x="5642771" y="962357"/>
                  </a:lnTo>
                  <a:lnTo>
                    <a:pt x="5602232" y="973690"/>
                  </a:lnTo>
                  <a:lnTo>
                    <a:pt x="5560442" y="984831"/>
                  </a:lnTo>
                  <a:lnTo>
                    <a:pt x="5517421" y="995776"/>
                  </a:lnTo>
                  <a:lnTo>
                    <a:pt x="5473189" y="1006523"/>
                  </a:lnTo>
                  <a:lnTo>
                    <a:pt x="5427767" y="1017065"/>
                  </a:lnTo>
                  <a:lnTo>
                    <a:pt x="5381175" y="1027399"/>
                  </a:lnTo>
                  <a:lnTo>
                    <a:pt x="5333433" y="1037521"/>
                  </a:lnTo>
                  <a:lnTo>
                    <a:pt x="5284562" y="1047427"/>
                  </a:lnTo>
                  <a:lnTo>
                    <a:pt x="5234581" y="1057114"/>
                  </a:lnTo>
                  <a:lnTo>
                    <a:pt x="5183512" y="1066577"/>
                  </a:lnTo>
                  <a:lnTo>
                    <a:pt x="5131374" y="1075811"/>
                  </a:lnTo>
                  <a:lnTo>
                    <a:pt x="5078187" y="1084814"/>
                  </a:lnTo>
                  <a:lnTo>
                    <a:pt x="5023973" y="1093581"/>
                  </a:lnTo>
                  <a:lnTo>
                    <a:pt x="4968750" y="1102108"/>
                  </a:lnTo>
                  <a:lnTo>
                    <a:pt x="4912540" y="1110391"/>
                  </a:lnTo>
                  <a:lnTo>
                    <a:pt x="4855363" y="1118426"/>
                  </a:lnTo>
                  <a:lnTo>
                    <a:pt x="4797238" y="1126209"/>
                  </a:lnTo>
                  <a:lnTo>
                    <a:pt x="4738187" y="1133737"/>
                  </a:lnTo>
                  <a:lnTo>
                    <a:pt x="4678229" y="1141004"/>
                  </a:lnTo>
                  <a:lnTo>
                    <a:pt x="4617385" y="1148007"/>
                  </a:lnTo>
                  <a:lnTo>
                    <a:pt x="4555675" y="1154741"/>
                  </a:lnTo>
                  <a:lnTo>
                    <a:pt x="4493120" y="1161204"/>
                  </a:lnTo>
                  <a:lnTo>
                    <a:pt x="4429739" y="1167391"/>
                  </a:lnTo>
                  <a:lnTo>
                    <a:pt x="4365552" y="1173298"/>
                  </a:lnTo>
                  <a:lnTo>
                    <a:pt x="4300581" y="1178920"/>
                  </a:lnTo>
                  <a:lnTo>
                    <a:pt x="4234846" y="1184255"/>
                  </a:lnTo>
                  <a:lnTo>
                    <a:pt x="4168365" y="1189297"/>
                  </a:lnTo>
                  <a:lnTo>
                    <a:pt x="4101161" y="1194043"/>
                  </a:lnTo>
                  <a:lnTo>
                    <a:pt x="4033253" y="1198489"/>
                  </a:lnTo>
                  <a:lnTo>
                    <a:pt x="3964662" y="1202630"/>
                  </a:lnTo>
                  <a:lnTo>
                    <a:pt x="3895407" y="1206464"/>
                  </a:lnTo>
                  <a:lnTo>
                    <a:pt x="3825509" y="1209985"/>
                  </a:lnTo>
                  <a:lnTo>
                    <a:pt x="3754988" y="1213189"/>
                  </a:lnTo>
                  <a:lnTo>
                    <a:pt x="3683865" y="1216074"/>
                  </a:lnTo>
                  <a:lnTo>
                    <a:pt x="3612160" y="1218634"/>
                  </a:lnTo>
                  <a:lnTo>
                    <a:pt x="3539893" y="1220866"/>
                  </a:lnTo>
                  <a:lnTo>
                    <a:pt x="3467084" y="1222766"/>
                  </a:lnTo>
                  <a:lnTo>
                    <a:pt x="3393754" y="1224329"/>
                  </a:lnTo>
                  <a:lnTo>
                    <a:pt x="3319923" y="1225552"/>
                  </a:lnTo>
                  <a:lnTo>
                    <a:pt x="3245610" y="1226430"/>
                  </a:lnTo>
                  <a:lnTo>
                    <a:pt x="3170838" y="1226960"/>
                  </a:lnTo>
                  <a:lnTo>
                    <a:pt x="3095625" y="1227138"/>
                  </a:lnTo>
                  <a:lnTo>
                    <a:pt x="3020411" y="1226960"/>
                  </a:lnTo>
                  <a:lnTo>
                    <a:pt x="2945639" y="1226430"/>
                  </a:lnTo>
                  <a:lnTo>
                    <a:pt x="2871327" y="1225552"/>
                  </a:lnTo>
                  <a:lnTo>
                    <a:pt x="2797495" y="1224329"/>
                  </a:lnTo>
                  <a:lnTo>
                    <a:pt x="2724165" y="1222766"/>
                  </a:lnTo>
                  <a:lnTo>
                    <a:pt x="2651356" y="1220866"/>
                  </a:lnTo>
                  <a:lnTo>
                    <a:pt x="2579089" y="1218634"/>
                  </a:lnTo>
                  <a:lnTo>
                    <a:pt x="2507384" y="1216074"/>
                  </a:lnTo>
                  <a:lnTo>
                    <a:pt x="2436261" y="1213189"/>
                  </a:lnTo>
                  <a:lnTo>
                    <a:pt x="2365740" y="1209985"/>
                  </a:lnTo>
                  <a:lnTo>
                    <a:pt x="2295842" y="1206464"/>
                  </a:lnTo>
                  <a:lnTo>
                    <a:pt x="2226587" y="1202630"/>
                  </a:lnTo>
                  <a:lnTo>
                    <a:pt x="2157996" y="1198489"/>
                  </a:lnTo>
                  <a:lnTo>
                    <a:pt x="2090088" y="1194043"/>
                  </a:lnTo>
                  <a:lnTo>
                    <a:pt x="2022884" y="1189297"/>
                  </a:lnTo>
                  <a:lnTo>
                    <a:pt x="1956404" y="1184255"/>
                  </a:lnTo>
                  <a:lnTo>
                    <a:pt x="1890668" y="1178920"/>
                  </a:lnTo>
                  <a:lnTo>
                    <a:pt x="1825697" y="1173298"/>
                  </a:lnTo>
                  <a:lnTo>
                    <a:pt x="1761510" y="1167391"/>
                  </a:lnTo>
                  <a:lnTo>
                    <a:pt x="1698129" y="1161204"/>
                  </a:lnTo>
                  <a:lnTo>
                    <a:pt x="1635574" y="1154741"/>
                  </a:lnTo>
                  <a:lnTo>
                    <a:pt x="1573864" y="1148007"/>
                  </a:lnTo>
                  <a:lnTo>
                    <a:pt x="1513020" y="1141004"/>
                  </a:lnTo>
                  <a:lnTo>
                    <a:pt x="1453062" y="1133737"/>
                  </a:lnTo>
                  <a:lnTo>
                    <a:pt x="1394011" y="1126209"/>
                  </a:lnTo>
                  <a:lnTo>
                    <a:pt x="1335886" y="1118426"/>
                  </a:lnTo>
                  <a:lnTo>
                    <a:pt x="1278709" y="1110391"/>
                  </a:lnTo>
                  <a:lnTo>
                    <a:pt x="1222499" y="1102108"/>
                  </a:lnTo>
                  <a:lnTo>
                    <a:pt x="1167276" y="1093581"/>
                  </a:lnTo>
                  <a:lnTo>
                    <a:pt x="1113062" y="1084814"/>
                  </a:lnTo>
                  <a:lnTo>
                    <a:pt x="1059875" y="1075811"/>
                  </a:lnTo>
                  <a:lnTo>
                    <a:pt x="1007737" y="1066577"/>
                  </a:lnTo>
                  <a:lnTo>
                    <a:pt x="956668" y="1057114"/>
                  </a:lnTo>
                  <a:lnTo>
                    <a:pt x="906687" y="1047427"/>
                  </a:lnTo>
                  <a:lnTo>
                    <a:pt x="857816" y="1037521"/>
                  </a:lnTo>
                  <a:lnTo>
                    <a:pt x="810074" y="1027399"/>
                  </a:lnTo>
                  <a:lnTo>
                    <a:pt x="763482" y="1017065"/>
                  </a:lnTo>
                  <a:lnTo>
                    <a:pt x="718060" y="1006523"/>
                  </a:lnTo>
                  <a:lnTo>
                    <a:pt x="673829" y="995776"/>
                  </a:lnTo>
                  <a:lnTo>
                    <a:pt x="630807" y="984831"/>
                  </a:lnTo>
                  <a:lnTo>
                    <a:pt x="589017" y="973690"/>
                  </a:lnTo>
                  <a:lnTo>
                    <a:pt x="548478" y="962357"/>
                  </a:lnTo>
                  <a:lnTo>
                    <a:pt x="509210" y="950836"/>
                  </a:lnTo>
                  <a:lnTo>
                    <a:pt x="471234" y="939132"/>
                  </a:lnTo>
                  <a:lnTo>
                    <a:pt x="434570" y="927248"/>
                  </a:lnTo>
                  <a:lnTo>
                    <a:pt x="365258" y="902958"/>
                  </a:lnTo>
                  <a:lnTo>
                    <a:pt x="301437" y="877996"/>
                  </a:lnTo>
                  <a:lnTo>
                    <a:pt x="243269" y="852397"/>
                  </a:lnTo>
                  <a:lnTo>
                    <a:pt x="190917" y="826191"/>
                  </a:lnTo>
                  <a:lnTo>
                    <a:pt x="144541" y="799411"/>
                  </a:lnTo>
                  <a:lnTo>
                    <a:pt x="104306" y="772089"/>
                  </a:lnTo>
                  <a:lnTo>
                    <a:pt x="70371" y="744257"/>
                  </a:lnTo>
                  <a:lnTo>
                    <a:pt x="42901" y="715948"/>
                  </a:lnTo>
                  <a:lnTo>
                    <a:pt x="14170" y="672659"/>
                  </a:lnTo>
                  <a:lnTo>
                    <a:pt x="895" y="628476"/>
                  </a:lnTo>
                  <a:lnTo>
                    <a:pt x="0" y="613568"/>
                  </a:lnTo>
                  <a:close/>
                </a:path>
              </a:pathLst>
            </a:custGeom>
            <a:ln w="12700">
              <a:solidFill>
                <a:srgbClr val="003E3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028406" y="5799835"/>
            <a:ext cx="2439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Процессинговый</a:t>
            </a:r>
            <a:r>
              <a:rPr sz="18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центр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48100" y="2447926"/>
            <a:ext cx="4495800" cy="95250"/>
            <a:chOff x="3848100" y="2447926"/>
            <a:chExt cx="4495800" cy="95250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48650" y="2447926"/>
              <a:ext cx="95250" cy="9525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848100" y="2479673"/>
              <a:ext cx="4400550" cy="31750"/>
            </a:xfrm>
            <a:custGeom>
              <a:avLst/>
              <a:gdLst/>
              <a:ahLst/>
              <a:cxnLst/>
              <a:rect l="l" t="t" r="r" b="b"/>
              <a:pathLst>
                <a:path w="4400550" h="31750">
                  <a:moveTo>
                    <a:pt x="4400550" y="1"/>
                  </a:moveTo>
                  <a:lnTo>
                    <a:pt x="0" y="0"/>
                  </a:lnTo>
                  <a:lnTo>
                    <a:pt x="0" y="31750"/>
                  </a:lnTo>
                  <a:lnTo>
                    <a:pt x="4400550" y="31751"/>
                  </a:lnTo>
                  <a:lnTo>
                    <a:pt x="4400550" y="1"/>
                  </a:lnTo>
                  <a:close/>
                </a:path>
              </a:pathLst>
            </a:custGeom>
            <a:solidFill>
              <a:srgbClr val="004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3848100" y="3038476"/>
            <a:ext cx="4495800" cy="95250"/>
            <a:chOff x="3848100" y="3038476"/>
            <a:chExt cx="4495800" cy="95250"/>
          </a:xfrm>
        </p:grpSpPr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48100" y="3038476"/>
              <a:ext cx="95250" cy="9525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943350" y="3070223"/>
              <a:ext cx="4400550" cy="31750"/>
            </a:xfrm>
            <a:custGeom>
              <a:avLst/>
              <a:gdLst/>
              <a:ahLst/>
              <a:cxnLst/>
              <a:rect l="l" t="t" r="r" b="b"/>
              <a:pathLst>
                <a:path w="4400550" h="31750">
                  <a:moveTo>
                    <a:pt x="4400550" y="0"/>
                  </a:moveTo>
                  <a:lnTo>
                    <a:pt x="0" y="1"/>
                  </a:lnTo>
                  <a:lnTo>
                    <a:pt x="0" y="31751"/>
                  </a:lnTo>
                  <a:lnTo>
                    <a:pt x="4400550" y="31750"/>
                  </a:lnTo>
                  <a:lnTo>
                    <a:pt x="4400550" y="0"/>
                  </a:lnTo>
                  <a:close/>
                </a:path>
              </a:pathLst>
            </a:custGeom>
            <a:solidFill>
              <a:srgbClr val="004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1628775" y="3322820"/>
            <a:ext cx="9191625" cy="2505075"/>
            <a:chOff x="1628775" y="3322820"/>
            <a:chExt cx="9191625" cy="2505075"/>
          </a:xfrm>
        </p:grpSpPr>
        <p:sp>
          <p:nvSpPr>
            <p:cNvPr id="30" name="object 30"/>
            <p:cNvSpPr/>
            <p:nvPr/>
          </p:nvSpPr>
          <p:spPr>
            <a:xfrm>
              <a:off x="3845982" y="3354285"/>
              <a:ext cx="4405630" cy="624205"/>
            </a:xfrm>
            <a:custGeom>
              <a:avLst/>
              <a:gdLst/>
              <a:ahLst/>
              <a:cxnLst/>
              <a:rect l="l" t="t" r="r" b="b"/>
              <a:pathLst>
                <a:path w="4405630" h="624204">
                  <a:moveTo>
                    <a:pt x="4401399" y="0"/>
                  </a:moveTo>
                  <a:lnTo>
                    <a:pt x="0" y="592380"/>
                  </a:lnTo>
                  <a:lnTo>
                    <a:pt x="4234" y="623845"/>
                  </a:lnTo>
                  <a:lnTo>
                    <a:pt x="4405635" y="31466"/>
                  </a:lnTo>
                  <a:lnTo>
                    <a:pt x="4401399" y="0"/>
                  </a:lnTo>
                  <a:close/>
                </a:path>
              </a:pathLst>
            </a:custGeom>
            <a:solidFill>
              <a:srgbClr val="004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43147" y="3322820"/>
              <a:ext cx="100752" cy="9439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89218" y="3855916"/>
              <a:ext cx="85797" cy="106481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217817" y="3422105"/>
              <a:ext cx="244475" cy="461645"/>
            </a:xfrm>
            <a:custGeom>
              <a:avLst/>
              <a:gdLst/>
              <a:ahLst/>
              <a:cxnLst/>
              <a:rect l="l" t="t" r="r" b="b"/>
              <a:pathLst>
                <a:path w="244475" h="461645">
                  <a:moveTo>
                    <a:pt x="215806" y="0"/>
                  </a:moveTo>
                  <a:lnTo>
                    <a:pt x="0" y="447601"/>
                  </a:lnTo>
                  <a:lnTo>
                    <a:pt x="28599" y="461389"/>
                  </a:lnTo>
                  <a:lnTo>
                    <a:pt x="244406" y="13788"/>
                  </a:lnTo>
                  <a:lnTo>
                    <a:pt x="215806" y="0"/>
                  </a:lnTo>
                  <a:close/>
                </a:path>
              </a:pathLst>
            </a:custGeom>
            <a:solidFill>
              <a:srgbClr val="004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15856" y="3846742"/>
              <a:ext cx="90166" cy="10613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9730509" y="3349068"/>
              <a:ext cx="339725" cy="530860"/>
            </a:xfrm>
            <a:custGeom>
              <a:avLst/>
              <a:gdLst/>
              <a:ahLst/>
              <a:cxnLst/>
              <a:rect l="l" t="t" r="r" b="b"/>
              <a:pathLst>
                <a:path w="339725" h="530860">
                  <a:moveTo>
                    <a:pt x="27132" y="0"/>
                  </a:moveTo>
                  <a:lnTo>
                    <a:pt x="0" y="16489"/>
                  </a:lnTo>
                  <a:lnTo>
                    <a:pt x="312479" y="530651"/>
                  </a:lnTo>
                  <a:lnTo>
                    <a:pt x="339611" y="514163"/>
                  </a:lnTo>
                  <a:lnTo>
                    <a:pt x="27132" y="0"/>
                  </a:lnTo>
                  <a:close/>
                </a:path>
              </a:pathLst>
            </a:custGeom>
            <a:solidFill>
              <a:srgbClr val="004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05799" y="4409295"/>
              <a:ext cx="94797" cy="6389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3847681" y="4377981"/>
              <a:ext cx="923925" cy="86360"/>
            </a:xfrm>
            <a:custGeom>
              <a:avLst/>
              <a:gdLst/>
              <a:ahLst/>
              <a:cxnLst/>
              <a:rect l="l" t="t" r="r" b="b"/>
              <a:pathLst>
                <a:path w="923925" h="86360">
                  <a:moveTo>
                    <a:pt x="923442" y="31318"/>
                  </a:moveTo>
                  <a:lnTo>
                    <a:pt x="856437" y="0"/>
                  </a:lnTo>
                  <a:lnTo>
                    <a:pt x="857275" y="31737"/>
                  </a:lnTo>
                  <a:lnTo>
                    <a:pt x="0" y="54330"/>
                  </a:lnTo>
                  <a:lnTo>
                    <a:pt x="825" y="86067"/>
                  </a:lnTo>
                  <a:lnTo>
                    <a:pt x="858113" y="63474"/>
                  </a:lnTo>
                  <a:lnTo>
                    <a:pt x="873988" y="63055"/>
                  </a:lnTo>
                  <a:lnTo>
                    <a:pt x="873150" y="31318"/>
                  </a:lnTo>
                  <a:lnTo>
                    <a:pt x="923442" y="31318"/>
                  </a:lnTo>
                  <a:close/>
                </a:path>
              </a:pathLst>
            </a:custGeom>
            <a:solidFill>
              <a:srgbClr val="004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58649" y="4429019"/>
              <a:ext cx="94797" cy="63896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2922193" y="4397705"/>
              <a:ext cx="5601970" cy="1103630"/>
            </a:xfrm>
            <a:custGeom>
              <a:avLst/>
              <a:gdLst/>
              <a:ahLst/>
              <a:cxnLst/>
              <a:rect l="l" t="t" r="r" b="b"/>
              <a:pathLst>
                <a:path w="5601970" h="1103629">
                  <a:moveTo>
                    <a:pt x="1407680" y="1073823"/>
                  </a:moveTo>
                  <a:lnTo>
                    <a:pt x="11061" y="554558"/>
                  </a:lnTo>
                  <a:lnTo>
                    <a:pt x="0" y="584327"/>
                  </a:lnTo>
                  <a:lnTo>
                    <a:pt x="1396619" y="1103579"/>
                  </a:lnTo>
                  <a:lnTo>
                    <a:pt x="1407680" y="1073823"/>
                  </a:lnTo>
                  <a:close/>
                </a:path>
                <a:path w="5601970" h="1103629">
                  <a:moveTo>
                    <a:pt x="5601767" y="31318"/>
                  </a:moveTo>
                  <a:lnTo>
                    <a:pt x="5534774" y="0"/>
                  </a:lnTo>
                  <a:lnTo>
                    <a:pt x="5535612" y="31737"/>
                  </a:lnTo>
                  <a:lnTo>
                    <a:pt x="4678324" y="54330"/>
                  </a:lnTo>
                  <a:lnTo>
                    <a:pt x="4679162" y="86067"/>
                  </a:lnTo>
                  <a:lnTo>
                    <a:pt x="5536450" y="63474"/>
                  </a:lnTo>
                  <a:lnTo>
                    <a:pt x="5552325" y="63055"/>
                  </a:lnTo>
                  <a:lnTo>
                    <a:pt x="5551487" y="31318"/>
                  </a:lnTo>
                  <a:lnTo>
                    <a:pt x="5601767" y="31318"/>
                  </a:lnTo>
                  <a:close/>
                </a:path>
              </a:pathLst>
            </a:custGeom>
            <a:solidFill>
              <a:srgbClr val="004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38450" y="4922502"/>
              <a:ext cx="105876" cy="8927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708904" y="5015052"/>
              <a:ext cx="1565275" cy="734695"/>
            </a:xfrm>
            <a:custGeom>
              <a:avLst/>
              <a:gdLst/>
              <a:ahLst/>
              <a:cxnLst/>
              <a:rect l="l" t="t" r="r" b="b"/>
              <a:pathLst>
                <a:path w="1565275" h="734695">
                  <a:moveTo>
                    <a:pt x="13145" y="0"/>
                  </a:moveTo>
                  <a:lnTo>
                    <a:pt x="0" y="28900"/>
                  </a:lnTo>
                  <a:lnTo>
                    <a:pt x="1551597" y="734631"/>
                  </a:lnTo>
                  <a:lnTo>
                    <a:pt x="1564742" y="705730"/>
                  </a:lnTo>
                  <a:lnTo>
                    <a:pt x="13145" y="0"/>
                  </a:lnTo>
                  <a:close/>
                </a:path>
              </a:pathLst>
            </a:custGeom>
            <a:solidFill>
              <a:srgbClr val="004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28775" y="4986152"/>
              <a:ext cx="106419" cy="86701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242050" y="5022550"/>
              <a:ext cx="31750" cy="315595"/>
            </a:xfrm>
            <a:custGeom>
              <a:avLst/>
              <a:gdLst/>
              <a:ahLst/>
              <a:cxnLst/>
              <a:rect l="l" t="t" r="r" b="b"/>
              <a:pathLst>
                <a:path w="31750" h="315595">
                  <a:moveTo>
                    <a:pt x="31751" y="0"/>
                  </a:moveTo>
                  <a:lnTo>
                    <a:pt x="1" y="0"/>
                  </a:lnTo>
                  <a:lnTo>
                    <a:pt x="0" y="314998"/>
                  </a:lnTo>
                  <a:lnTo>
                    <a:pt x="31750" y="314998"/>
                  </a:lnTo>
                  <a:lnTo>
                    <a:pt x="31751" y="0"/>
                  </a:lnTo>
                  <a:close/>
                </a:path>
              </a:pathLst>
            </a:custGeom>
            <a:solidFill>
              <a:srgbClr val="004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10300" y="4927300"/>
              <a:ext cx="95250" cy="9525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446860" y="5421306"/>
              <a:ext cx="104477" cy="95952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8512481" y="4935867"/>
              <a:ext cx="679450" cy="535940"/>
            </a:xfrm>
            <a:custGeom>
              <a:avLst/>
              <a:gdLst/>
              <a:ahLst/>
              <a:cxnLst/>
              <a:rect l="l" t="t" r="r" b="b"/>
              <a:pathLst>
                <a:path w="679450" h="535939">
                  <a:moveTo>
                    <a:pt x="659903" y="0"/>
                  </a:moveTo>
                  <a:lnTo>
                    <a:pt x="0" y="510550"/>
                  </a:lnTo>
                  <a:lnTo>
                    <a:pt x="19428" y="535661"/>
                  </a:lnTo>
                  <a:lnTo>
                    <a:pt x="679331" y="25111"/>
                  </a:lnTo>
                  <a:lnTo>
                    <a:pt x="659903" y="0"/>
                  </a:lnTo>
                  <a:close/>
                </a:path>
              </a:pathLst>
            </a:custGeom>
            <a:solidFill>
              <a:srgbClr val="004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924927" y="5512121"/>
              <a:ext cx="105630" cy="92608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8995181" y="4920767"/>
              <a:ext cx="1751330" cy="906780"/>
            </a:xfrm>
            <a:custGeom>
              <a:avLst/>
              <a:gdLst/>
              <a:ahLst/>
              <a:cxnLst/>
              <a:rect l="l" t="t" r="r" b="b"/>
              <a:pathLst>
                <a:path w="1751329" h="906779">
                  <a:moveTo>
                    <a:pt x="938707" y="26365"/>
                  </a:moveTo>
                  <a:lnTo>
                    <a:pt x="921016" y="0"/>
                  </a:lnTo>
                  <a:lnTo>
                    <a:pt x="0" y="617728"/>
                  </a:lnTo>
                  <a:lnTo>
                    <a:pt x="17691" y="644093"/>
                  </a:lnTo>
                  <a:lnTo>
                    <a:pt x="938707" y="26365"/>
                  </a:lnTo>
                  <a:close/>
                </a:path>
                <a:path w="1751329" h="906779">
                  <a:moveTo>
                    <a:pt x="1751241" y="89738"/>
                  </a:moveTo>
                  <a:lnTo>
                    <a:pt x="1735112" y="62382"/>
                  </a:lnTo>
                  <a:lnTo>
                    <a:pt x="350291" y="879360"/>
                  </a:lnTo>
                  <a:lnTo>
                    <a:pt x="366433" y="906716"/>
                  </a:lnTo>
                  <a:lnTo>
                    <a:pt x="1751241" y="89738"/>
                  </a:lnTo>
                  <a:close/>
                </a:path>
              </a:pathLst>
            </a:custGeom>
            <a:solidFill>
              <a:srgbClr val="004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714163" y="4948424"/>
              <a:ext cx="106236" cy="89418"/>
            </a:xfrm>
            <a:prstGeom prst="rect">
              <a:avLst/>
            </a:prstGeom>
          </p:spPr>
        </p:pic>
      </p:grp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1545" y="1253270"/>
            <a:ext cx="9539997" cy="4006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66189" y="251459"/>
            <a:ext cx="4229735" cy="61087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 indent="250825">
              <a:lnSpc>
                <a:spcPts val="2210"/>
              </a:lnSpc>
              <a:spcBef>
                <a:spcPts val="330"/>
              </a:spcBef>
            </a:pPr>
            <a:r>
              <a:rPr dirty="0"/>
              <a:t>Система</a:t>
            </a:r>
            <a:r>
              <a:rPr spc="-100" dirty="0"/>
              <a:t> </a:t>
            </a:r>
            <a:r>
              <a:rPr dirty="0"/>
              <a:t>быстрых</a:t>
            </a:r>
            <a:r>
              <a:rPr spc="-95" dirty="0"/>
              <a:t> </a:t>
            </a:r>
            <a:r>
              <a:rPr spc="-10" dirty="0"/>
              <a:t>платежей </a:t>
            </a:r>
            <a:r>
              <a:rPr dirty="0"/>
              <a:t>Как</a:t>
            </a:r>
            <a:r>
              <a:rPr spc="-95" dirty="0"/>
              <a:t> </a:t>
            </a:r>
            <a:r>
              <a:rPr dirty="0"/>
              <a:t>сделать</a:t>
            </a:r>
            <a:r>
              <a:rPr spc="-90" dirty="0"/>
              <a:t> </a:t>
            </a:r>
            <a:r>
              <a:rPr dirty="0"/>
              <a:t>перевод</a:t>
            </a:r>
            <a:r>
              <a:rPr spc="-80" dirty="0"/>
              <a:t> </a:t>
            </a:r>
            <a:r>
              <a:rPr dirty="0"/>
              <a:t>через</a:t>
            </a:r>
            <a:r>
              <a:rPr spc="-90" dirty="0"/>
              <a:t> </a:t>
            </a:r>
            <a:r>
              <a:rPr spc="-25" dirty="0"/>
              <a:t>СБП</a:t>
            </a:r>
          </a:p>
        </p:txBody>
      </p:sp>
      <p:sp>
        <p:nvSpPr>
          <p:cNvPr id="5" name="object 5"/>
          <p:cNvSpPr/>
          <p:nvPr/>
        </p:nvSpPr>
        <p:spPr>
          <a:xfrm>
            <a:off x="443097" y="2833781"/>
            <a:ext cx="2163445" cy="2028189"/>
          </a:xfrm>
          <a:custGeom>
            <a:avLst/>
            <a:gdLst/>
            <a:ahLst/>
            <a:cxnLst/>
            <a:rect l="l" t="t" r="r" b="b"/>
            <a:pathLst>
              <a:path w="2163445" h="2028189">
                <a:moveTo>
                  <a:pt x="1960402" y="0"/>
                </a:moveTo>
                <a:lnTo>
                  <a:pt x="202799" y="0"/>
                </a:lnTo>
                <a:lnTo>
                  <a:pt x="156298" y="5356"/>
                </a:lnTo>
                <a:lnTo>
                  <a:pt x="113612" y="20612"/>
                </a:lnTo>
                <a:lnTo>
                  <a:pt x="75957" y="44552"/>
                </a:lnTo>
                <a:lnTo>
                  <a:pt x="44551" y="75959"/>
                </a:lnTo>
                <a:lnTo>
                  <a:pt x="20611" y="113612"/>
                </a:lnTo>
                <a:lnTo>
                  <a:pt x="5355" y="156300"/>
                </a:lnTo>
                <a:lnTo>
                  <a:pt x="0" y="202799"/>
                </a:lnTo>
                <a:lnTo>
                  <a:pt x="0" y="1825202"/>
                </a:lnTo>
                <a:lnTo>
                  <a:pt x="5355" y="1871701"/>
                </a:lnTo>
                <a:lnTo>
                  <a:pt x="20611" y="1914387"/>
                </a:lnTo>
                <a:lnTo>
                  <a:pt x="44551" y="1952043"/>
                </a:lnTo>
                <a:lnTo>
                  <a:pt x="75957" y="1983449"/>
                </a:lnTo>
                <a:lnTo>
                  <a:pt x="113612" y="2007389"/>
                </a:lnTo>
                <a:lnTo>
                  <a:pt x="156298" y="2022645"/>
                </a:lnTo>
                <a:lnTo>
                  <a:pt x="202799" y="2028002"/>
                </a:lnTo>
                <a:lnTo>
                  <a:pt x="1960402" y="2028002"/>
                </a:lnTo>
                <a:lnTo>
                  <a:pt x="2006901" y="2022645"/>
                </a:lnTo>
                <a:lnTo>
                  <a:pt x="2049587" y="2007389"/>
                </a:lnTo>
                <a:lnTo>
                  <a:pt x="2087242" y="1983449"/>
                </a:lnTo>
                <a:lnTo>
                  <a:pt x="2118647" y="1952043"/>
                </a:lnTo>
                <a:lnTo>
                  <a:pt x="2142588" y="1914387"/>
                </a:lnTo>
                <a:lnTo>
                  <a:pt x="2157845" y="1871701"/>
                </a:lnTo>
                <a:lnTo>
                  <a:pt x="2163202" y="1825202"/>
                </a:lnTo>
                <a:lnTo>
                  <a:pt x="2163202" y="202799"/>
                </a:lnTo>
                <a:lnTo>
                  <a:pt x="2157845" y="156300"/>
                </a:lnTo>
                <a:lnTo>
                  <a:pt x="2142588" y="113612"/>
                </a:lnTo>
                <a:lnTo>
                  <a:pt x="2118647" y="75959"/>
                </a:lnTo>
                <a:lnTo>
                  <a:pt x="2087242" y="44552"/>
                </a:lnTo>
                <a:lnTo>
                  <a:pt x="2049587" y="20612"/>
                </a:lnTo>
                <a:lnTo>
                  <a:pt x="2006901" y="5356"/>
                </a:lnTo>
                <a:lnTo>
                  <a:pt x="1960402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79067" y="2940811"/>
            <a:ext cx="1699895" cy="177228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indent="-635" algn="ctr">
              <a:lnSpc>
                <a:spcPct val="90700"/>
              </a:lnSpc>
              <a:spcBef>
                <a:spcPts val="300"/>
              </a:spcBef>
            </a:pP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В</a:t>
            </a:r>
            <a:r>
              <a:rPr sz="18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мобильном приложении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банка</a:t>
            </a:r>
            <a:r>
              <a:rPr sz="18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выберите перевод</a:t>
            </a:r>
            <a:endParaRPr sz="1800">
              <a:latin typeface="Tahoma"/>
              <a:cs typeface="Tahoma"/>
            </a:endParaRPr>
          </a:p>
          <a:p>
            <a:pPr marR="635" algn="ctr">
              <a:lnSpc>
                <a:spcPts val="1680"/>
              </a:lnSpc>
            </a:pP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«по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номеру</a:t>
            </a:r>
            <a:endParaRPr sz="1800">
              <a:latin typeface="Tahoma"/>
              <a:cs typeface="Tahoma"/>
            </a:endParaRPr>
          </a:p>
          <a:p>
            <a:pPr algn="ctr">
              <a:lnSpc>
                <a:spcPts val="1955"/>
              </a:lnSpc>
            </a:pP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телефона»</a:t>
            </a:r>
            <a:r>
              <a:rPr sz="18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или</a:t>
            </a:r>
            <a:endParaRPr sz="1800">
              <a:latin typeface="Tahoma"/>
              <a:cs typeface="Tahoma"/>
            </a:endParaRPr>
          </a:p>
          <a:p>
            <a:pPr marR="635" algn="ctr">
              <a:lnSpc>
                <a:spcPts val="2075"/>
              </a:lnSpc>
            </a:pP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«через</a:t>
            </a:r>
            <a:r>
              <a:rPr sz="18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СБП»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22619" y="3579547"/>
            <a:ext cx="459105" cy="536575"/>
          </a:xfrm>
          <a:custGeom>
            <a:avLst/>
            <a:gdLst/>
            <a:ahLst/>
            <a:cxnLst/>
            <a:rect l="l" t="t" r="r" b="b"/>
            <a:pathLst>
              <a:path w="459104" h="536575">
                <a:moveTo>
                  <a:pt x="229298" y="0"/>
                </a:moveTo>
                <a:lnTo>
                  <a:pt x="229298" y="107293"/>
                </a:lnTo>
                <a:lnTo>
                  <a:pt x="0" y="107293"/>
                </a:lnTo>
                <a:lnTo>
                  <a:pt x="0" y="429177"/>
                </a:lnTo>
                <a:lnTo>
                  <a:pt x="229298" y="429177"/>
                </a:lnTo>
                <a:lnTo>
                  <a:pt x="229298" y="536473"/>
                </a:lnTo>
                <a:lnTo>
                  <a:pt x="458599" y="268235"/>
                </a:lnTo>
                <a:lnTo>
                  <a:pt x="229298" y="0"/>
                </a:lnTo>
                <a:close/>
              </a:path>
            </a:pathLst>
          </a:custGeom>
          <a:solidFill>
            <a:srgbClr val="A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471580" y="2833781"/>
            <a:ext cx="2163445" cy="2028189"/>
          </a:xfrm>
          <a:custGeom>
            <a:avLst/>
            <a:gdLst/>
            <a:ahLst/>
            <a:cxnLst/>
            <a:rect l="l" t="t" r="r" b="b"/>
            <a:pathLst>
              <a:path w="2163445" h="2028189">
                <a:moveTo>
                  <a:pt x="1960401" y="0"/>
                </a:moveTo>
                <a:lnTo>
                  <a:pt x="202798" y="0"/>
                </a:lnTo>
                <a:lnTo>
                  <a:pt x="156298" y="5356"/>
                </a:lnTo>
                <a:lnTo>
                  <a:pt x="113612" y="20612"/>
                </a:lnTo>
                <a:lnTo>
                  <a:pt x="75958" y="44552"/>
                </a:lnTo>
                <a:lnTo>
                  <a:pt x="44552" y="75959"/>
                </a:lnTo>
                <a:lnTo>
                  <a:pt x="20610" y="113612"/>
                </a:lnTo>
                <a:lnTo>
                  <a:pt x="5355" y="156300"/>
                </a:lnTo>
                <a:lnTo>
                  <a:pt x="0" y="202799"/>
                </a:lnTo>
                <a:lnTo>
                  <a:pt x="0" y="1825202"/>
                </a:lnTo>
                <a:lnTo>
                  <a:pt x="5355" y="1871701"/>
                </a:lnTo>
                <a:lnTo>
                  <a:pt x="20610" y="1914387"/>
                </a:lnTo>
                <a:lnTo>
                  <a:pt x="44552" y="1952043"/>
                </a:lnTo>
                <a:lnTo>
                  <a:pt x="75958" y="1983449"/>
                </a:lnTo>
                <a:lnTo>
                  <a:pt x="113612" y="2007389"/>
                </a:lnTo>
                <a:lnTo>
                  <a:pt x="156298" y="2022645"/>
                </a:lnTo>
                <a:lnTo>
                  <a:pt x="202798" y="2028002"/>
                </a:lnTo>
                <a:lnTo>
                  <a:pt x="1960401" y="2028002"/>
                </a:lnTo>
                <a:lnTo>
                  <a:pt x="2006900" y="2022645"/>
                </a:lnTo>
                <a:lnTo>
                  <a:pt x="2049586" y="2007389"/>
                </a:lnTo>
                <a:lnTo>
                  <a:pt x="2087242" y="1983449"/>
                </a:lnTo>
                <a:lnTo>
                  <a:pt x="2118648" y="1952043"/>
                </a:lnTo>
                <a:lnTo>
                  <a:pt x="2142587" y="1914387"/>
                </a:lnTo>
                <a:lnTo>
                  <a:pt x="2157845" y="1871701"/>
                </a:lnTo>
                <a:lnTo>
                  <a:pt x="2163201" y="1825202"/>
                </a:lnTo>
                <a:lnTo>
                  <a:pt x="2163201" y="202799"/>
                </a:lnTo>
                <a:lnTo>
                  <a:pt x="2157845" y="156300"/>
                </a:lnTo>
                <a:lnTo>
                  <a:pt x="2142587" y="113612"/>
                </a:lnTo>
                <a:lnTo>
                  <a:pt x="2118648" y="75959"/>
                </a:lnTo>
                <a:lnTo>
                  <a:pt x="2087242" y="44552"/>
                </a:lnTo>
                <a:lnTo>
                  <a:pt x="2049586" y="20612"/>
                </a:lnTo>
                <a:lnTo>
                  <a:pt x="2006900" y="5356"/>
                </a:lnTo>
                <a:lnTo>
                  <a:pt x="1960401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763112" y="3065779"/>
            <a:ext cx="1586865" cy="154368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065" marR="5080" algn="ctr">
              <a:lnSpc>
                <a:spcPct val="90700"/>
              </a:lnSpc>
              <a:spcBef>
                <a:spcPts val="300"/>
              </a:spcBef>
            </a:pP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Введите</a:t>
            </a:r>
            <a:r>
              <a:rPr sz="18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номер телефона получателя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или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 выберите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его</a:t>
            </a:r>
            <a:r>
              <a:rPr sz="18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из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списка контактов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851103" y="3579547"/>
            <a:ext cx="459105" cy="536575"/>
          </a:xfrm>
          <a:custGeom>
            <a:avLst/>
            <a:gdLst/>
            <a:ahLst/>
            <a:cxnLst/>
            <a:rect l="l" t="t" r="r" b="b"/>
            <a:pathLst>
              <a:path w="459104" h="536575">
                <a:moveTo>
                  <a:pt x="229298" y="0"/>
                </a:moveTo>
                <a:lnTo>
                  <a:pt x="229298" y="107293"/>
                </a:lnTo>
                <a:lnTo>
                  <a:pt x="0" y="107293"/>
                </a:lnTo>
                <a:lnTo>
                  <a:pt x="0" y="429177"/>
                </a:lnTo>
                <a:lnTo>
                  <a:pt x="229298" y="429177"/>
                </a:lnTo>
                <a:lnTo>
                  <a:pt x="229298" y="536473"/>
                </a:lnTo>
                <a:lnTo>
                  <a:pt x="458599" y="268235"/>
                </a:lnTo>
                <a:lnTo>
                  <a:pt x="229298" y="0"/>
                </a:lnTo>
                <a:close/>
              </a:path>
            </a:pathLst>
          </a:custGeom>
          <a:solidFill>
            <a:srgbClr val="A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500063" y="2833781"/>
            <a:ext cx="2163445" cy="2028189"/>
          </a:xfrm>
          <a:custGeom>
            <a:avLst/>
            <a:gdLst/>
            <a:ahLst/>
            <a:cxnLst/>
            <a:rect l="l" t="t" r="r" b="b"/>
            <a:pathLst>
              <a:path w="2163445" h="2028189">
                <a:moveTo>
                  <a:pt x="1960401" y="0"/>
                </a:moveTo>
                <a:lnTo>
                  <a:pt x="202799" y="0"/>
                </a:lnTo>
                <a:lnTo>
                  <a:pt x="156300" y="5356"/>
                </a:lnTo>
                <a:lnTo>
                  <a:pt x="113612" y="20612"/>
                </a:lnTo>
                <a:lnTo>
                  <a:pt x="75959" y="44552"/>
                </a:lnTo>
                <a:lnTo>
                  <a:pt x="44554" y="75959"/>
                </a:lnTo>
                <a:lnTo>
                  <a:pt x="20612" y="113612"/>
                </a:lnTo>
                <a:lnTo>
                  <a:pt x="5356" y="156300"/>
                </a:lnTo>
                <a:lnTo>
                  <a:pt x="0" y="202799"/>
                </a:lnTo>
                <a:lnTo>
                  <a:pt x="0" y="1825202"/>
                </a:lnTo>
                <a:lnTo>
                  <a:pt x="5356" y="1871701"/>
                </a:lnTo>
                <a:lnTo>
                  <a:pt x="20612" y="1914387"/>
                </a:lnTo>
                <a:lnTo>
                  <a:pt x="44554" y="1952043"/>
                </a:lnTo>
                <a:lnTo>
                  <a:pt x="75959" y="1983449"/>
                </a:lnTo>
                <a:lnTo>
                  <a:pt x="113612" y="2007389"/>
                </a:lnTo>
                <a:lnTo>
                  <a:pt x="156300" y="2022645"/>
                </a:lnTo>
                <a:lnTo>
                  <a:pt x="202799" y="2028002"/>
                </a:lnTo>
                <a:lnTo>
                  <a:pt x="1960401" y="2028002"/>
                </a:lnTo>
                <a:lnTo>
                  <a:pt x="2006900" y="2022645"/>
                </a:lnTo>
                <a:lnTo>
                  <a:pt x="2049586" y="2007389"/>
                </a:lnTo>
                <a:lnTo>
                  <a:pt x="2087242" y="1983449"/>
                </a:lnTo>
                <a:lnTo>
                  <a:pt x="2118649" y="1952043"/>
                </a:lnTo>
                <a:lnTo>
                  <a:pt x="2142589" y="1914387"/>
                </a:lnTo>
                <a:lnTo>
                  <a:pt x="2157846" y="1871701"/>
                </a:lnTo>
                <a:lnTo>
                  <a:pt x="2163202" y="1825202"/>
                </a:lnTo>
                <a:lnTo>
                  <a:pt x="2163202" y="202799"/>
                </a:lnTo>
                <a:lnTo>
                  <a:pt x="2157846" y="156300"/>
                </a:lnTo>
                <a:lnTo>
                  <a:pt x="2142589" y="113612"/>
                </a:lnTo>
                <a:lnTo>
                  <a:pt x="2118649" y="75959"/>
                </a:lnTo>
                <a:lnTo>
                  <a:pt x="2087242" y="44552"/>
                </a:lnTo>
                <a:lnTo>
                  <a:pt x="2049586" y="20612"/>
                </a:lnTo>
                <a:lnTo>
                  <a:pt x="2006900" y="5356"/>
                </a:lnTo>
                <a:lnTo>
                  <a:pt x="1960401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678345" y="2940811"/>
            <a:ext cx="1814195" cy="177546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 algn="ctr">
              <a:lnSpc>
                <a:spcPct val="89600"/>
              </a:lnSpc>
              <a:spcBef>
                <a:spcPts val="325"/>
              </a:spcBef>
            </a:pP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Если</a:t>
            </a:r>
            <a:r>
              <a:rPr sz="18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у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получателя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несколько</a:t>
            </a:r>
            <a:r>
              <a:rPr sz="18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карт</a:t>
            </a:r>
            <a:r>
              <a:rPr sz="1800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в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разных</a:t>
            </a: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банках, выберите необходимый </a:t>
            </a:r>
            <a:r>
              <a:rPr sz="1800" spc="-20" dirty="0">
                <a:solidFill>
                  <a:srgbClr val="FFFFFF"/>
                </a:solidFill>
                <a:latin typeface="Tahoma"/>
                <a:cs typeface="Tahoma"/>
              </a:rPr>
              <a:t>банк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879588" y="3579547"/>
            <a:ext cx="459105" cy="536575"/>
          </a:xfrm>
          <a:custGeom>
            <a:avLst/>
            <a:gdLst/>
            <a:ahLst/>
            <a:cxnLst/>
            <a:rect l="l" t="t" r="r" b="b"/>
            <a:pathLst>
              <a:path w="459104" h="536575">
                <a:moveTo>
                  <a:pt x="229298" y="0"/>
                </a:moveTo>
                <a:lnTo>
                  <a:pt x="229298" y="107293"/>
                </a:lnTo>
                <a:lnTo>
                  <a:pt x="0" y="107293"/>
                </a:lnTo>
                <a:lnTo>
                  <a:pt x="0" y="429177"/>
                </a:lnTo>
                <a:lnTo>
                  <a:pt x="229298" y="429177"/>
                </a:lnTo>
                <a:lnTo>
                  <a:pt x="229298" y="536473"/>
                </a:lnTo>
                <a:lnTo>
                  <a:pt x="458598" y="268235"/>
                </a:lnTo>
                <a:lnTo>
                  <a:pt x="229298" y="0"/>
                </a:lnTo>
                <a:close/>
              </a:path>
            </a:pathLst>
          </a:custGeom>
          <a:solidFill>
            <a:srgbClr val="A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528548" y="2833781"/>
            <a:ext cx="2163445" cy="2028189"/>
          </a:xfrm>
          <a:custGeom>
            <a:avLst/>
            <a:gdLst/>
            <a:ahLst/>
            <a:cxnLst/>
            <a:rect l="l" t="t" r="r" b="b"/>
            <a:pathLst>
              <a:path w="2163445" h="2028189">
                <a:moveTo>
                  <a:pt x="1960401" y="0"/>
                </a:moveTo>
                <a:lnTo>
                  <a:pt x="202798" y="0"/>
                </a:lnTo>
                <a:lnTo>
                  <a:pt x="156298" y="5356"/>
                </a:lnTo>
                <a:lnTo>
                  <a:pt x="113612" y="20612"/>
                </a:lnTo>
                <a:lnTo>
                  <a:pt x="75958" y="44552"/>
                </a:lnTo>
                <a:lnTo>
                  <a:pt x="44552" y="75959"/>
                </a:lnTo>
                <a:lnTo>
                  <a:pt x="20612" y="113612"/>
                </a:lnTo>
                <a:lnTo>
                  <a:pt x="5355" y="156300"/>
                </a:lnTo>
                <a:lnTo>
                  <a:pt x="0" y="202799"/>
                </a:lnTo>
                <a:lnTo>
                  <a:pt x="0" y="1825202"/>
                </a:lnTo>
                <a:lnTo>
                  <a:pt x="5355" y="1871701"/>
                </a:lnTo>
                <a:lnTo>
                  <a:pt x="20612" y="1914387"/>
                </a:lnTo>
                <a:lnTo>
                  <a:pt x="44552" y="1952043"/>
                </a:lnTo>
                <a:lnTo>
                  <a:pt x="75958" y="1983449"/>
                </a:lnTo>
                <a:lnTo>
                  <a:pt x="113612" y="2007389"/>
                </a:lnTo>
                <a:lnTo>
                  <a:pt x="156298" y="2022645"/>
                </a:lnTo>
                <a:lnTo>
                  <a:pt x="202798" y="2028002"/>
                </a:lnTo>
                <a:lnTo>
                  <a:pt x="1960401" y="2028002"/>
                </a:lnTo>
                <a:lnTo>
                  <a:pt x="2006900" y="2022645"/>
                </a:lnTo>
                <a:lnTo>
                  <a:pt x="2049586" y="2007389"/>
                </a:lnTo>
                <a:lnTo>
                  <a:pt x="2087242" y="1983449"/>
                </a:lnTo>
                <a:lnTo>
                  <a:pt x="2118648" y="1952043"/>
                </a:lnTo>
                <a:lnTo>
                  <a:pt x="2142587" y="1914387"/>
                </a:lnTo>
                <a:lnTo>
                  <a:pt x="2157845" y="1871701"/>
                </a:lnTo>
                <a:lnTo>
                  <a:pt x="2163201" y="1825202"/>
                </a:lnTo>
                <a:lnTo>
                  <a:pt x="2163201" y="202799"/>
                </a:lnTo>
                <a:lnTo>
                  <a:pt x="2157845" y="156300"/>
                </a:lnTo>
                <a:lnTo>
                  <a:pt x="2142587" y="113612"/>
                </a:lnTo>
                <a:lnTo>
                  <a:pt x="2118648" y="75959"/>
                </a:lnTo>
                <a:lnTo>
                  <a:pt x="2087242" y="44552"/>
                </a:lnTo>
                <a:lnTo>
                  <a:pt x="2049586" y="20612"/>
                </a:lnTo>
                <a:lnTo>
                  <a:pt x="2006900" y="5356"/>
                </a:lnTo>
                <a:lnTo>
                  <a:pt x="1960401" y="0"/>
                </a:lnTo>
                <a:close/>
              </a:path>
            </a:pathLst>
          </a:custGeom>
          <a:solidFill>
            <a:srgbClr val="00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796140" y="3065779"/>
            <a:ext cx="1636395" cy="154368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 algn="ctr">
              <a:lnSpc>
                <a:spcPct val="91100"/>
              </a:lnSpc>
              <a:spcBef>
                <a:spcPts val="290"/>
              </a:spcBef>
            </a:pP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Введите</a:t>
            </a:r>
            <a:r>
              <a:rPr sz="18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сумму, проверьте данные получателя</a:t>
            </a:r>
            <a:endParaRPr sz="1800">
              <a:latin typeface="Tahoma"/>
              <a:cs typeface="Tahoma"/>
            </a:endParaRPr>
          </a:p>
          <a:p>
            <a:pPr algn="ctr">
              <a:lnSpc>
                <a:spcPts val="1764"/>
              </a:lnSpc>
            </a:pP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и</a:t>
            </a:r>
            <a:r>
              <a:rPr sz="18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подтвердите</a:t>
            </a:r>
            <a:endParaRPr sz="1800">
              <a:latin typeface="Tahoma"/>
              <a:cs typeface="Tahoma"/>
            </a:endParaRPr>
          </a:p>
          <a:p>
            <a:pPr algn="ctr">
              <a:lnSpc>
                <a:spcPts val="2125"/>
              </a:lnSpc>
            </a:pP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перевод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8187" y="5203210"/>
            <a:ext cx="3038475" cy="1343023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9692" y="595883"/>
            <a:ext cx="4372610" cy="61087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 indent="324485">
              <a:lnSpc>
                <a:spcPts val="2210"/>
              </a:lnSpc>
              <a:spcBef>
                <a:spcPts val="330"/>
              </a:spcBef>
            </a:pPr>
            <a:r>
              <a:rPr dirty="0"/>
              <a:t>Система</a:t>
            </a:r>
            <a:r>
              <a:rPr spc="-100" dirty="0"/>
              <a:t> </a:t>
            </a:r>
            <a:r>
              <a:rPr dirty="0"/>
              <a:t>быстрых</a:t>
            </a:r>
            <a:r>
              <a:rPr spc="-95" dirty="0"/>
              <a:t> </a:t>
            </a:r>
            <a:r>
              <a:rPr spc="-10" dirty="0"/>
              <a:t>платежей </a:t>
            </a:r>
            <a:r>
              <a:rPr dirty="0"/>
              <a:t>Как</a:t>
            </a:r>
            <a:r>
              <a:rPr spc="-90" dirty="0"/>
              <a:t> </a:t>
            </a:r>
            <a:r>
              <a:rPr dirty="0"/>
              <a:t>оплатить</a:t>
            </a:r>
            <a:r>
              <a:rPr spc="-85" dirty="0"/>
              <a:t> </a:t>
            </a:r>
            <a:r>
              <a:rPr dirty="0"/>
              <a:t>покупку</a:t>
            </a:r>
            <a:r>
              <a:rPr spc="-100" dirty="0"/>
              <a:t> </a:t>
            </a:r>
            <a:r>
              <a:rPr dirty="0"/>
              <a:t>через</a:t>
            </a:r>
            <a:r>
              <a:rPr spc="-95" dirty="0"/>
              <a:t> </a:t>
            </a:r>
            <a:r>
              <a:rPr spc="-25" dirty="0"/>
              <a:t>СБП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3135" y="1935988"/>
            <a:ext cx="4116070" cy="946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spc="-10" dirty="0">
                <a:solidFill>
                  <a:srgbClr val="009657"/>
                </a:solidFill>
                <a:latin typeface="Tahoma"/>
                <a:cs typeface="Tahoma"/>
              </a:rPr>
              <a:t>Сканирование</a:t>
            </a:r>
            <a:r>
              <a:rPr sz="2200" b="1" spc="-90" dirty="0">
                <a:solidFill>
                  <a:srgbClr val="009657"/>
                </a:solidFill>
                <a:latin typeface="Tahoma"/>
                <a:cs typeface="Tahoma"/>
              </a:rPr>
              <a:t> </a:t>
            </a:r>
            <a:r>
              <a:rPr sz="2200" b="1" spc="-20" dirty="0">
                <a:solidFill>
                  <a:srgbClr val="009657"/>
                </a:solidFill>
                <a:latin typeface="Tahoma"/>
                <a:cs typeface="Tahoma"/>
              </a:rPr>
              <a:t>QR-кода</a:t>
            </a:r>
            <a:endParaRPr sz="2200">
              <a:latin typeface="Tahoma"/>
              <a:cs typeface="Tahoma"/>
            </a:endParaRPr>
          </a:p>
          <a:p>
            <a:pPr marL="12700">
              <a:lnSpc>
                <a:spcPts val="2280"/>
              </a:lnSpc>
              <a:spcBef>
                <a:spcPts val="45"/>
              </a:spcBef>
            </a:pPr>
            <a:r>
              <a:rPr sz="2200" b="1" spc="-10" dirty="0">
                <a:solidFill>
                  <a:srgbClr val="141414"/>
                </a:solidFill>
                <a:latin typeface="Calibri"/>
                <a:cs typeface="Calibri"/>
              </a:rPr>
              <a:t>1.Покупатель </a:t>
            </a:r>
            <a:r>
              <a:rPr sz="2200" b="1" spc="-25" dirty="0">
                <a:solidFill>
                  <a:srgbClr val="141414"/>
                </a:solidFill>
                <a:latin typeface="Calibri"/>
                <a:cs typeface="Calibri"/>
              </a:rPr>
              <a:t>сканирует</a:t>
            </a:r>
            <a:r>
              <a:rPr sz="2200" b="1" spc="-65" dirty="0">
                <a:solidFill>
                  <a:srgbClr val="141414"/>
                </a:solidFill>
                <a:latin typeface="Calibri"/>
                <a:cs typeface="Calibri"/>
              </a:rPr>
              <a:t> </a:t>
            </a:r>
            <a:r>
              <a:rPr sz="2200" b="1" spc="-40" dirty="0">
                <a:solidFill>
                  <a:srgbClr val="141414"/>
                </a:solidFill>
                <a:latin typeface="Calibri"/>
                <a:cs typeface="Calibri"/>
              </a:rPr>
              <a:t>QR-</a:t>
            </a:r>
            <a:r>
              <a:rPr sz="2200" b="1" spc="-25" dirty="0">
                <a:solidFill>
                  <a:srgbClr val="141414"/>
                </a:solidFill>
                <a:latin typeface="Calibri"/>
                <a:cs typeface="Calibri"/>
              </a:rPr>
              <a:t>код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2280"/>
              </a:lnSpc>
            </a:pPr>
            <a:r>
              <a:rPr sz="2200" dirty="0">
                <a:latin typeface="Calibri"/>
                <a:cs typeface="Calibri"/>
              </a:rPr>
              <a:t>В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35" dirty="0">
                <a:latin typeface="Calibri"/>
                <a:cs typeface="Calibri"/>
              </a:rPr>
              <a:t>офлайн-</a:t>
            </a:r>
            <a:r>
              <a:rPr sz="2200" spc="-10" dirty="0">
                <a:latin typeface="Calibri"/>
                <a:cs typeface="Calibri"/>
              </a:rPr>
              <a:t>среде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и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на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десктопной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1735" y="2755900"/>
            <a:ext cx="4679950" cy="601980"/>
          </a:xfrm>
          <a:prstGeom prst="rect">
            <a:avLst/>
          </a:prstGeom>
        </p:spPr>
        <p:txBody>
          <a:bodyPr vert="horz" wrap="square" lIns="0" tIns="107315" rIns="0" bIns="0" rtlCol="0">
            <a:spAutoFit/>
          </a:bodyPr>
          <a:lstStyle/>
          <a:p>
            <a:pPr marL="12700" marR="5080">
              <a:lnSpc>
                <a:spcPct val="71800"/>
              </a:lnSpc>
              <a:spcBef>
                <a:spcPts val="845"/>
              </a:spcBef>
            </a:pPr>
            <a:r>
              <a:rPr sz="2200" dirty="0">
                <a:latin typeface="Calibri"/>
                <a:cs typeface="Calibri"/>
              </a:rPr>
              <a:t>версии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сайта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покупатель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сканирует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QR- </a:t>
            </a:r>
            <a:r>
              <a:rPr sz="2200" spc="-55" dirty="0">
                <a:latin typeface="Calibri"/>
                <a:cs typeface="Calibri"/>
              </a:rPr>
              <a:t>код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с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помощью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камеры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смартфона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или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1735" y="3219196"/>
            <a:ext cx="462089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Calibri"/>
                <a:cs typeface="Calibri"/>
              </a:rPr>
              <a:t>сразу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в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мобильном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приложении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банка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3135" y="3588004"/>
            <a:ext cx="478282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10" dirty="0">
                <a:solidFill>
                  <a:srgbClr val="141414"/>
                </a:solidFill>
                <a:latin typeface="Calibri"/>
                <a:cs typeface="Calibri"/>
              </a:rPr>
              <a:t>2.Покупатель</a:t>
            </a:r>
            <a:r>
              <a:rPr sz="2200" b="1" spc="-50" dirty="0">
                <a:solidFill>
                  <a:srgbClr val="141414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141414"/>
                </a:solidFill>
                <a:latin typeface="Calibri"/>
                <a:cs typeface="Calibri"/>
              </a:rPr>
              <a:t>выбирает</a:t>
            </a:r>
            <a:r>
              <a:rPr sz="2200" b="1" spc="-55" dirty="0">
                <a:solidFill>
                  <a:srgbClr val="141414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141414"/>
                </a:solidFill>
                <a:latin typeface="Calibri"/>
                <a:cs typeface="Calibri"/>
              </a:rPr>
              <a:t>банк</a:t>
            </a:r>
            <a:r>
              <a:rPr sz="2200" b="1" spc="-50" dirty="0">
                <a:solidFill>
                  <a:srgbClr val="141414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На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экране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1735" y="3816604"/>
            <a:ext cx="381063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0" dirty="0">
                <a:latin typeface="Calibri"/>
                <a:cs typeface="Calibri"/>
              </a:rPr>
              <a:t>смартфона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появляется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окно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для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1735" y="4057396"/>
            <a:ext cx="435927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30" dirty="0">
                <a:latin typeface="Calibri"/>
                <a:cs typeface="Calibri"/>
              </a:rPr>
              <a:t>перехода </a:t>
            </a:r>
            <a:r>
              <a:rPr sz="2200" dirty="0">
                <a:latin typeface="Calibri"/>
                <a:cs typeface="Calibri"/>
              </a:rPr>
              <a:t>в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банковское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приложение.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1735" y="4292092"/>
            <a:ext cx="4740910" cy="601980"/>
          </a:xfrm>
          <a:prstGeom prst="rect">
            <a:avLst/>
          </a:prstGeom>
        </p:spPr>
        <p:txBody>
          <a:bodyPr vert="horz" wrap="square" lIns="0" tIns="107315" rIns="0" bIns="0" rtlCol="0">
            <a:spAutoFit/>
          </a:bodyPr>
          <a:lstStyle/>
          <a:p>
            <a:pPr marL="12700" marR="5080">
              <a:lnSpc>
                <a:spcPct val="71800"/>
              </a:lnSpc>
              <a:spcBef>
                <a:spcPts val="845"/>
              </a:spcBef>
            </a:pPr>
            <a:r>
              <a:rPr sz="2200" spc="-20" dirty="0">
                <a:latin typeface="Calibri"/>
                <a:cs typeface="Calibri"/>
              </a:rPr>
              <a:t>Покупатель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может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выбрать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другой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банк </a:t>
            </a:r>
            <a:r>
              <a:rPr sz="2200" dirty="0">
                <a:latin typeface="Calibri"/>
                <a:cs typeface="Calibri"/>
              </a:rPr>
              <a:t>для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оплаты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путём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длинного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нажатия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1735" y="4755388"/>
            <a:ext cx="169608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Calibri"/>
                <a:cs typeface="Calibri"/>
              </a:rPr>
              <a:t>на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эту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область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3135" y="5124196"/>
            <a:ext cx="432562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10" dirty="0">
                <a:solidFill>
                  <a:srgbClr val="141414"/>
                </a:solidFill>
                <a:latin typeface="Calibri"/>
                <a:cs typeface="Calibri"/>
              </a:rPr>
              <a:t>3.Покупатель</a:t>
            </a:r>
            <a:r>
              <a:rPr sz="2200" b="1" spc="-20" dirty="0">
                <a:solidFill>
                  <a:srgbClr val="141414"/>
                </a:solidFill>
                <a:latin typeface="Calibri"/>
                <a:cs typeface="Calibri"/>
              </a:rPr>
              <a:t> </a:t>
            </a:r>
            <a:r>
              <a:rPr sz="2200" b="1" spc="-30" dirty="0">
                <a:solidFill>
                  <a:srgbClr val="141414"/>
                </a:solidFill>
                <a:latin typeface="Calibri"/>
                <a:cs typeface="Calibri"/>
              </a:rPr>
              <a:t>подтверждает </a:t>
            </a:r>
            <a:r>
              <a:rPr sz="2200" b="1" spc="-10" dirty="0">
                <a:solidFill>
                  <a:srgbClr val="141414"/>
                </a:solidFill>
                <a:latin typeface="Calibri"/>
                <a:cs typeface="Calibri"/>
              </a:rPr>
              <a:t>оплату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1735" y="5358891"/>
            <a:ext cx="4678045" cy="601980"/>
          </a:xfrm>
          <a:prstGeom prst="rect">
            <a:avLst/>
          </a:prstGeom>
        </p:spPr>
        <p:txBody>
          <a:bodyPr vert="horz" wrap="square" lIns="0" tIns="107315" rIns="0" bIns="0" rtlCol="0">
            <a:spAutoFit/>
          </a:bodyPr>
          <a:lstStyle/>
          <a:p>
            <a:pPr marL="12700" marR="5080">
              <a:lnSpc>
                <a:spcPct val="71800"/>
              </a:lnSpc>
              <a:spcBef>
                <a:spcPts val="845"/>
              </a:spcBef>
            </a:pPr>
            <a:r>
              <a:rPr sz="2200" dirty="0">
                <a:latin typeface="Calibri"/>
                <a:cs typeface="Calibri"/>
              </a:rPr>
              <a:t>В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мобильном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приложении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выбранного </a:t>
            </a:r>
            <a:r>
              <a:rPr sz="2200" dirty="0">
                <a:latin typeface="Calibri"/>
                <a:cs typeface="Calibri"/>
              </a:rPr>
              <a:t>банка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покупатель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подтверждает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1735" y="5828284"/>
            <a:ext cx="4718685" cy="601980"/>
          </a:xfrm>
          <a:prstGeom prst="rect">
            <a:avLst/>
          </a:prstGeom>
        </p:spPr>
        <p:txBody>
          <a:bodyPr vert="horz" wrap="square" lIns="0" tIns="107315" rIns="0" bIns="0" rtlCol="0">
            <a:spAutoFit/>
          </a:bodyPr>
          <a:lstStyle/>
          <a:p>
            <a:pPr marL="12700" marR="5080">
              <a:lnSpc>
                <a:spcPct val="71800"/>
              </a:lnSpc>
              <a:spcBef>
                <a:spcPts val="845"/>
              </a:spcBef>
            </a:pPr>
            <a:r>
              <a:rPr sz="2200" spc="-20" dirty="0">
                <a:latin typeface="Calibri"/>
                <a:cs typeface="Calibri"/>
              </a:rPr>
              <a:t>платеж.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Средства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мгновенно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поступают </a:t>
            </a:r>
            <a:r>
              <a:rPr sz="2200" dirty="0">
                <a:latin typeface="Calibri"/>
                <a:cs typeface="Calibri"/>
              </a:rPr>
              <a:t>на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счёт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продавца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50942" y="1935988"/>
            <a:ext cx="4226560" cy="946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b="1" dirty="0">
                <a:solidFill>
                  <a:srgbClr val="009657"/>
                </a:solidFill>
                <a:latin typeface="Tahoma"/>
                <a:cs typeface="Tahoma"/>
              </a:rPr>
              <a:t>Оплата</a:t>
            </a:r>
            <a:r>
              <a:rPr sz="2200" b="1" spc="-60" dirty="0">
                <a:solidFill>
                  <a:srgbClr val="009657"/>
                </a:solidFill>
                <a:latin typeface="Tahoma"/>
                <a:cs typeface="Tahoma"/>
              </a:rPr>
              <a:t> </a:t>
            </a:r>
            <a:r>
              <a:rPr sz="2200" b="1" dirty="0">
                <a:solidFill>
                  <a:srgbClr val="009657"/>
                </a:solidFill>
                <a:latin typeface="Tahoma"/>
                <a:cs typeface="Tahoma"/>
              </a:rPr>
              <a:t>по</a:t>
            </a:r>
            <a:r>
              <a:rPr sz="2200" b="1" spc="-40" dirty="0">
                <a:solidFill>
                  <a:srgbClr val="009657"/>
                </a:solidFill>
                <a:latin typeface="Tahoma"/>
                <a:cs typeface="Tahoma"/>
              </a:rPr>
              <a:t> </a:t>
            </a:r>
            <a:r>
              <a:rPr sz="2200" b="1" spc="-10" dirty="0">
                <a:solidFill>
                  <a:srgbClr val="009657"/>
                </a:solidFill>
                <a:latin typeface="Tahoma"/>
                <a:cs typeface="Tahoma"/>
              </a:rPr>
              <a:t>кнопке</a:t>
            </a:r>
            <a:endParaRPr sz="2200">
              <a:latin typeface="Tahoma"/>
              <a:cs typeface="Tahoma"/>
            </a:endParaRPr>
          </a:p>
          <a:p>
            <a:pPr algn="ctr">
              <a:lnSpc>
                <a:spcPts val="2280"/>
              </a:lnSpc>
              <a:spcBef>
                <a:spcPts val="45"/>
              </a:spcBef>
            </a:pPr>
            <a:r>
              <a:rPr sz="2200" b="1" spc="-10" dirty="0">
                <a:solidFill>
                  <a:srgbClr val="141414"/>
                </a:solidFill>
                <a:latin typeface="Calibri"/>
                <a:cs typeface="Calibri"/>
              </a:rPr>
              <a:t>1.Покупатель</a:t>
            </a:r>
            <a:r>
              <a:rPr sz="2200" b="1" spc="-40" dirty="0">
                <a:solidFill>
                  <a:srgbClr val="141414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141414"/>
                </a:solidFill>
                <a:latin typeface="Calibri"/>
                <a:cs typeface="Calibri"/>
              </a:rPr>
              <a:t>нажимает</a:t>
            </a:r>
            <a:r>
              <a:rPr sz="2200" b="1" spc="-40" dirty="0">
                <a:solidFill>
                  <a:srgbClr val="141414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141414"/>
                </a:solidFill>
                <a:latin typeface="Calibri"/>
                <a:cs typeface="Calibri"/>
              </a:rPr>
              <a:t>на</a:t>
            </a:r>
            <a:r>
              <a:rPr sz="2200" b="1" spc="-40" dirty="0">
                <a:solidFill>
                  <a:srgbClr val="141414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141414"/>
                </a:solidFill>
                <a:latin typeface="Calibri"/>
                <a:cs typeface="Calibri"/>
              </a:rPr>
              <a:t>кнопку</a:t>
            </a:r>
            <a:endParaRPr sz="2200">
              <a:latin typeface="Calibri"/>
              <a:cs typeface="Calibri"/>
            </a:endParaRPr>
          </a:p>
          <a:p>
            <a:pPr marR="62230" algn="ctr">
              <a:lnSpc>
                <a:spcPts val="2280"/>
              </a:lnSpc>
            </a:pPr>
            <a:r>
              <a:rPr sz="2200" dirty="0">
                <a:latin typeface="Calibri"/>
                <a:cs typeface="Calibri"/>
              </a:rPr>
              <a:t>В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мобильном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приложении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или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79542" y="2755900"/>
            <a:ext cx="4718050" cy="601980"/>
          </a:xfrm>
          <a:prstGeom prst="rect">
            <a:avLst/>
          </a:prstGeom>
        </p:spPr>
        <p:txBody>
          <a:bodyPr vert="horz" wrap="square" lIns="0" tIns="107315" rIns="0" bIns="0" rtlCol="0">
            <a:spAutoFit/>
          </a:bodyPr>
          <a:lstStyle/>
          <a:p>
            <a:pPr marL="12700" marR="5080">
              <a:lnSpc>
                <a:spcPct val="71800"/>
              </a:lnSpc>
              <a:spcBef>
                <a:spcPts val="845"/>
              </a:spcBef>
            </a:pPr>
            <a:r>
              <a:rPr sz="2200" dirty="0">
                <a:latin typeface="Calibri"/>
                <a:cs typeface="Calibri"/>
              </a:rPr>
              <a:t>на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мобильной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версии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сайта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покупатель </a:t>
            </a:r>
            <a:r>
              <a:rPr sz="2200" dirty="0">
                <a:latin typeface="Calibri"/>
                <a:cs typeface="Calibri"/>
              </a:rPr>
              <a:t>нажимает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на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кнопку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оплаты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79542" y="3225291"/>
            <a:ext cx="3795395" cy="601980"/>
          </a:xfrm>
          <a:prstGeom prst="rect">
            <a:avLst/>
          </a:prstGeom>
        </p:spPr>
        <p:txBody>
          <a:bodyPr vert="horz" wrap="square" lIns="0" tIns="107315" rIns="0" bIns="0" rtlCol="0">
            <a:spAutoFit/>
          </a:bodyPr>
          <a:lstStyle/>
          <a:p>
            <a:pPr marL="12700" marR="5080">
              <a:lnSpc>
                <a:spcPct val="71800"/>
              </a:lnSpc>
              <a:spcBef>
                <a:spcPts val="845"/>
              </a:spcBef>
            </a:pPr>
            <a:r>
              <a:rPr sz="2200" dirty="0">
                <a:latin typeface="Calibri"/>
                <a:cs typeface="Calibri"/>
              </a:rPr>
              <a:t>с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логотипом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СБП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или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переходит </a:t>
            </a:r>
            <a:r>
              <a:rPr sz="2200" dirty="0">
                <a:latin typeface="Calibri"/>
                <a:cs typeface="Calibri"/>
              </a:rPr>
              <a:t>по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платёжной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ссылке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50942" y="3822700"/>
            <a:ext cx="478282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10" dirty="0">
                <a:solidFill>
                  <a:srgbClr val="141414"/>
                </a:solidFill>
                <a:latin typeface="Calibri"/>
                <a:cs typeface="Calibri"/>
              </a:rPr>
              <a:t>2.Покупатель</a:t>
            </a:r>
            <a:r>
              <a:rPr sz="2200" b="1" spc="-50" dirty="0">
                <a:solidFill>
                  <a:srgbClr val="141414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141414"/>
                </a:solidFill>
                <a:latin typeface="Calibri"/>
                <a:cs typeface="Calibri"/>
              </a:rPr>
              <a:t>выбирает</a:t>
            </a:r>
            <a:r>
              <a:rPr sz="2200" b="1" spc="-55" dirty="0">
                <a:solidFill>
                  <a:srgbClr val="141414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141414"/>
                </a:solidFill>
                <a:latin typeface="Calibri"/>
                <a:cs typeface="Calibri"/>
              </a:rPr>
              <a:t>банк</a:t>
            </a:r>
            <a:r>
              <a:rPr sz="2200" b="1" spc="-50" dirty="0">
                <a:solidFill>
                  <a:srgbClr val="141414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На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экране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79542" y="4057396"/>
            <a:ext cx="444690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0" dirty="0">
                <a:latin typeface="Calibri"/>
                <a:cs typeface="Calibri"/>
              </a:rPr>
              <a:t>смартфона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появляется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список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банков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50942" y="4292092"/>
            <a:ext cx="4325620" cy="958215"/>
          </a:xfrm>
          <a:prstGeom prst="rect">
            <a:avLst/>
          </a:prstGeom>
        </p:spPr>
        <p:txBody>
          <a:bodyPr vert="horz" wrap="square" lIns="0" tIns="107315" rIns="0" bIns="0" rtlCol="0">
            <a:spAutoFit/>
          </a:bodyPr>
          <a:lstStyle/>
          <a:p>
            <a:pPr marL="241300" marR="363855">
              <a:lnSpc>
                <a:spcPct val="71800"/>
              </a:lnSpc>
              <a:spcBef>
                <a:spcPts val="845"/>
              </a:spcBef>
            </a:pPr>
            <a:r>
              <a:rPr sz="2200" dirty="0">
                <a:latin typeface="Calibri"/>
                <a:cs typeface="Calibri"/>
              </a:rPr>
              <a:t>и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покупатель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выбирает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нужное приложение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2200" b="1" spc="-10" dirty="0">
                <a:solidFill>
                  <a:srgbClr val="141414"/>
                </a:solidFill>
                <a:latin typeface="Calibri"/>
                <a:cs typeface="Calibri"/>
              </a:rPr>
              <a:t>3.Покупатель</a:t>
            </a:r>
            <a:r>
              <a:rPr sz="2200" b="1" spc="-20" dirty="0">
                <a:solidFill>
                  <a:srgbClr val="141414"/>
                </a:solidFill>
                <a:latin typeface="Calibri"/>
                <a:cs typeface="Calibri"/>
              </a:rPr>
              <a:t> </a:t>
            </a:r>
            <a:r>
              <a:rPr sz="2200" b="1" spc="-30" dirty="0">
                <a:solidFill>
                  <a:srgbClr val="141414"/>
                </a:solidFill>
                <a:latin typeface="Calibri"/>
                <a:cs typeface="Calibri"/>
              </a:rPr>
              <a:t>подтверждает </a:t>
            </a:r>
            <a:r>
              <a:rPr sz="2200" b="1" spc="-10" dirty="0">
                <a:solidFill>
                  <a:srgbClr val="141414"/>
                </a:solidFill>
                <a:latin typeface="Calibri"/>
                <a:cs typeface="Calibri"/>
              </a:rPr>
              <a:t>оплату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79542" y="5124196"/>
            <a:ext cx="46831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Calibri"/>
                <a:cs typeface="Calibri"/>
              </a:rPr>
              <a:t>В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мобильном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приложении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выбранного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79542" y="5352796"/>
            <a:ext cx="383984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Calibri"/>
                <a:cs typeface="Calibri"/>
              </a:rPr>
              <a:t>банка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покупатель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подтверждает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79542" y="5593588"/>
            <a:ext cx="471360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0" dirty="0">
                <a:latin typeface="Calibri"/>
                <a:cs typeface="Calibri"/>
              </a:rPr>
              <a:t>платеж.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Средства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мгновенно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поступают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79542" y="5822188"/>
            <a:ext cx="204533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Calibri"/>
                <a:cs typeface="Calibri"/>
              </a:rPr>
              <a:t>на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счёт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продавца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083290" y="6433820"/>
            <a:ext cx="1892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98989"/>
                </a:solidFill>
                <a:latin typeface="Tahoma"/>
                <a:cs typeface="Tahoma"/>
              </a:rPr>
              <a:t>16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9735" y="1148420"/>
            <a:ext cx="9753103" cy="5527184"/>
            <a:chOff x="1219447" y="1253270"/>
            <a:chExt cx="9753103" cy="552718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1545" y="1253270"/>
              <a:ext cx="9539997" cy="4006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9447" y="1690466"/>
              <a:ext cx="9753103" cy="508998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55900">
              <a:lnSpc>
                <a:spcPct val="100000"/>
              </a:lnSpc>
              <a:spcBef>
                <a:spcPts val="100"/>
              </a:spcBef>
            </a:pPr>
            <a:r>
              <a:rPr dirty="0"/>
              <a:t>Платежи</a:t>
            </a:r>
            <a:r>
              <a:rPr spc="-60" dirty="0"/>
              <a:t> </a:t>
            </a:r>
            <a:r>
              <a:rPr dirty="0"/>
              <a:t>с</a:t>
            </a:r>
            <a:r>
              <a:rPr spc="-45" dirty="0"/>
              <a:t> </a:t>
            </a:r>
            <a:r>
              <a:rPr spc="-10" dirty="0"/>
              <a:t>помощью</a:t>
            </a:r>
            <a:r>
              <a:rPr spc="-95" dirty="0"/>
              <a:t> </a:t>
            </a:r>
            <a:r>
              <a:rPr spc="-25" dirty="0"/>
              <a:t>NFC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1545" y="1253270"/>
            <a:ext cx="9539997" cy="4006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498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Платежные</a:t>
            </a:r>
            <a:r>
              <a:rPr spc="-114" dirty="0"/>
              <a:t> </a:t>
            </a:r>
            <a:r>
              <a:rPr spc="-10" dirty="0"/>
              <a:t>аксессуары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9900" y="2670963"/>
            <a:ext cx="2222500" cy="22224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70343" y="1874981"/>
            <a:ext cx="3232148" cy="32321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16946" y="2569363"/>
            <a:ext cx="2197100" cy="232409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96246" y="5391403"/>
            <a:ext cx="21482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921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ahoma"/>
                <a:cs typeface="Tahoma"/>
              </a:rPr>
              <a:t>Платежное </a:t>
            </a:r>
            <a:r>
              <a:rPr sz="2400" dirty="0">
                <a:latin typeface="Tahoma"/>
                <a:cs typeface="Tahoma"/>
              </a:rPr>
              <a:t>кольцо</a:t>
            </a:r>
            <a:r>
              <a:rPr sz="2400" spc="-16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PayRing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4864657" y="5391403"/>
            <a:ext cx="16402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8295" marR="5080" indent="-31623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ahoma"/>
                <a:cs typeface="Tahoma"/>
              </a:rPr>
              <a:t>Платежный брелок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69928" y="5391403"/>
            <a:ext cx="16402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4795" marR="5080" indent="-252729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ahoma"/>
                <a:cs typeface="Tahoma"/>
              </a:rPr>
              <a:t>Платежный браслет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1911" y="2420619"/>
            <a:ext cx="7089289" cy="448841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207260" marR="5080" indent="-2194560">
              <a:lnSpc>
                <a:spcPts val="3000"/>
              </a:lnSpc>
              <a:spcBef>
                <a:spcPts val="500"/>
              </a:spcBef>
            </a:pPr>
            <a:r>
              <a:rPr sz="2800" dirty="0">
                <a:latin typeface="Times New Roman"/>
                <a:cs typeface="Times New Roman"/>
              </a:rPr>
              <a:t>3.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Мобильный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банк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и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интернет- </a:t>
            </a:r>
            <a:r>
              <a:rPr sz="2800" spc="-20" dirty="0">
                <a:latin typeface="Times New Roman"/>
                <a:cs typeface="Times New Roman"/>
              </a:rPr>
              <a:t>банк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5999" y="939063"/>
            <a:ext cx="9539997" cy="4006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674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Мобильный</a:t>
            </a:r>
            <a:r>
              <a:rPr spc="-85" dirty="0"/>
              <a:t> </a:t>
            </a:r>
            <a:r>
              <a:rPr spc="-20" dirty="0"/>
              <a:t>банк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83590" y="1578355"/>
            <a:ext cx="10147935" cy="454469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55600" marR="5080" indent="-342900">
              <a:lnSpc>
                <a:spcPct val="100600"/>
              </a:lnSpc>
              <a:spcBef>
                <a:spcPts val="8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b="1" spc="-10" dirty="0">
                <a:solidFill>
                  <a:srgbClr val="333333"/>
                </a:solidFill>
                <a:latin typeface="Calibri"/>
                <a:cs typeface="Calibri"/>
              </a:rPr>
              <a:t>Мобильный</a:t>
            </a:r>
            <a:r>
              <a:rPr sz="2400" b="1" spc="-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33333"/>
                </a:solidFill>
                <a:latin typeface="Calibri"/>
                <a:cs typeface="Calibri"/>
              </a:rPr>
              <a:t>банк</a:t>
            </a:r>
            <a:r>
              <a:rPr sz="2400" b="1" spc="-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–</a:t>
            </a:r>
            <a:r>
              <a:rPr sz="2400" spc="-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это</a:t>
            </a:r>
            <a:r>
              <a:rPr sz="2400" spc="-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дистанционное</a:t>
            </a:r>
            <a:r>
              <a:rPr sz="2400" spc="-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33333"/>
                </a:solidFill>
                <a:latin typeface="Calibri"/>
                <a:cs typeface="Calibri"/>
              </a:rPr>
              <a:t>получение</a:t>
            </a:r>
            <a:r>
              <a:rPr sz="2400" spc="-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33333"/>
                </a:solidFill>
                <a:latin typeface="Calibri"/>
                <a:cs typeface="Calibri"/>
              </a:rPr>
              <a:t>банковской</a:t>
            </a:r>
            <a:r>
              <a:rPr sz="2400" spc="-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услуги</a:t>
            </a:r>
            <a:r>
              <a:rPr sz="2400" spc="-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через приложение,</a:t>
            </a:r>
            <a:r>
              <a:rPr sz="2400" spc="-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установленное</a:t>
            </a:r>
            <a:r>
              <a:rPr sz="2400" spc="-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на</a:t>
            </a:r>
            <a:r>
              <a:rPr sz="2400" spc="-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33333"/>
                </a:solidFill>
                <a:latin typeface="Calibri"/>
                <a:cs typeface="Calibri"/>
              </a:rPr>
              <a:t>телефоне,</a:t>
            </a:r>
            <a:r>
              <a:rPr sz="2400" spc="-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33333"/>
                </a:solidFill>
                <a:latin typeface="Calibri"/>
                <a:cs typeface="Calibri"/>
              </a:rPr>
              <a:t>компьютере</a:t>
            </a:r>
            <a:r>
              <a:rPr sz="2400" spc="-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или</a:t>
            </a:r>
            <a:r>
              <a:rPr sz="2400" spc="-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планшете.</a:t>
            </a:r>
            <a:r>
              <a:rPr sz="2400" spc="-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333333"/>
                </a:solidFill>
                <a:latin typeface="Calibri"/>
                <a:cs typeface="Calibri"/>
              </a:rPr>
              <a:t>С </a:t>
            </a: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помощью</a:t>
            </a:r>
            <a:r>
              <a:rPr sz="2400" spc="-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мобильного</a:t>
            </a:r>
            <a:r>
              <a:rPr sz="2400" spc="-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банка</a:t>
            </a:r>
            <a:r>
              <a:rPr sz="2400" spc="-10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можно</a:t>
            </a:r>
            <a:r>
              <a:rPr sz="2400" spc="-1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осуществить</a:t>
            </a:r>
            <a:r>
              <a:rPr sz="2400" spc="-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почти</a:t>
            </a:r>
            <a:r>
              <a:rPr sz="2400" spc="-9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любую</a:t>
            </a:r>
            <a:r>
              <a:rPr sz="2400" spc="-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банковскую операцию.</a:t>
            </a:r>
            <a:endParaRPr sz="2400">
              <a:latin typeface="Calibri"/>
              <a:cs typeface="Calibri"/>
            </a:endParaRPr>
          </a:p>
          <a:p>
            <a:pPr marL="355600" marR="153670" indent="-342900">
              <a:lnSpc>
                <a:spcPct val="100800"/>
              </a:lnSpc>
              <a:spcBef>
                <a:spcPts val="269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b="1" spc="-30" dirty="0">
                <a:solidFill>
                  <a:srgbClr val="333333"/>
                </a:solidFill>
                <a:latin typeface="Calibri"/>
                <a:cs typeface="Calibri"/>
              </a:rPr>
              <a:t>SMS-</a:t>
            </a:r>
            <a:r>
              <a:rPr sz="2400" b="1" dirty="0">
                <a:solidFill>
                  <a:srgbClr val="333333"/>
                </a:solidFill>
                <a:latin typeface="Calibri"/>
                <a:cs typeface="Calibri"/>
              </a:rPr>
              <a:t>банкинг</a:t>
            </a:r>
            <a:r>
              <a:rPr sz="2400" b="1" spc="-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–</a:t>
            </a:r>
            <a:r>
              <a:rPr sz="2400" spc="-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это</a:t>
            </a:r>
            <a:r>
              <a:rPr sz="2400" spc="-10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дистанционное</a:t>
            </a:r>
            <a:r>
              <a:rPr sz="2400" spc="-7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33333"/>
                </a:solidFill>
                <a:latin typeface="Calibri"/>
                <a:cs typeface="Calibri"/>
              </a:rPr>
              <a:t>получение</a:t>
            </a:r>
            <a:r>
              <a:rPr sz="2400" spc="-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банковских</a:t>
            </a:r>
            <a:r>
              <a:rPr sz="2400" spc="-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услуг</a:t>
            </a:r>
            <a:r>
              <a:rPr sz="2400" spc="-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через</a:t>
            </a:r>
            <a:r>
              <a:rPr sz="2400" spc="-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33333"/>
                </a:solidFill>
                <a:latin typeface="Calibri"/>
                <a:cs typeface="Calibri"/>
              </a:rPr>
              <a:t>sms-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сообщения.</a:t>
            </a:r>
            <a:r>
              <a:rPr sz="240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33333"/>
                </a:solidFill>
                <a:latin typeface="Calibri"/>
                <a:cs typeface="Calibri"/>
              </a:rPr>
              <a:t>Обладает</a:t>
            </a:r>
            <a:r>
              <a:rPr sz="2400" spc="-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33333"/>
                </a:solidFill>
                <a:latin typeface="Calibri"/>
                <a:cs typeface="Calibri"/>
              </a:rPr>
              <a:t>небольшим</a:t>
            </a:r>
            <a:r>
              <a:rPr sz="2400" spc="-7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функционалом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Clr>
                <a:srgbClr val="333333"/>
              </a:buClr>
              <a:buFont typeface="Wingdings"/>
              <a:buChar char=""/>
            </a:pP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400" b="1" spc="-30" dirty="0">
                <a:solidFill>
                  <a:srgbClr val="333333"/>
                </a:solidFill>
                <a:latin typeface="Calibri"/>
                <a:cs typeface="Calibri"/>
              </a:rPr>
              <a:t>Интернет-</a:t>
            </a:r>
            <a:r>
              <a:rPr sz="2400" b="1" dirty="0">
                <a:solidFill>
                  <a:srgbClr val="333333"/>
                </a:solidFill>
                <a:latin typeface="Calibri"/>
                <a:cs typeface="Calibri"/>
              </a:rPr>
              <a:t>банк</a:t>
            </a:r>
            <a:r>
              <a:rPr sz="2400" b="1" spc="-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–</a:t>
            </a:r>
            <a:r>
              <a:rPr sz="2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это</a:t>
            </a:r>
            <a:r>
              <a:rPr sz="2400" spc="-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доступ</a:t>
            </a:r>
            <a:r>
              <a:rPr sz="2400" spc="-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в</a:t>
            </a:r>
            <a:r>
              <a:rPr sz="24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банковским</a:t>
            </a:r>
            <a:r>
              <a:rPr sz="2400" spc="-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операциям</a:t>
            </a:r>
            <a:r>
              <a:rPr sz="2400" spc="-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33333"/>
                </a:solidFill>
                <a:latin typeface="Calibri"/>
                <a:cs typeface="Calibri"/>
              </a:rPr>
              <a:t>через</a:t>
            </a:r>
            <a:r>
              <a:rPr sz="24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33333"/>
                </a:solidFill>
                <a:latin typeface="Calibri"/>
                <a:cs typeface="Calibri"/>
              </a:rPr>
              <a:t>интернет</a:t>
            </a:r>
            <a:endParaRPr sz="2400">
              <a:latin typeface="Calibri"/>
              <a:cs typeface="Calibri"/>
            </a:endParaRPr>
          </a:p>
          <a:p>
            <a:pPr marL="812800" marR="119380" lvl="1" indent="-342900">
              <a:lnSpc>
                <a:spcPct val="100000"/>
              </a:lnSpc>
              <a:spcBef>
                <a:spcPts val="2415"/>
              </a:spcBef>
              <a:buFont typeface="Arial MT"/>
              <a:buChar char="•"/>
              <a:tabLst>
                <a:tab pos="812800" algn="l"/>
              </a:tabLst>
            </a:pPr>
            <a:r>
              <a:rPr sz="2000" spc="-70" dirty="0">
                <a:solidFill>
                  <a:srgbClr val="333333"/>
                </a:solidFill>
                <a:latin typeface="Calibri"/>
                <a:cs typeface="Calibri"/>
              </a:rPr>
              <a:t>Толстый</a:t>
            </a:r>
            <a:r>
              <a:rPr sz="2000" spc="-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333333"/>
                </a:solidFill>
                <a:latin typeface="Calibri"/>
                <a:cs typeface="Calibri"/>
              </a:rPr>
              <a:t>банк-</a:t>
            </a:r>
            <a:r>
              <a:rPr sz="2000" dirty="0">
                <a:solidFill>
                  <a:srgbClr val="333333"/>
                </a:solidFill>
                <a:latin typeface="Calibri"/>
                <a:cs typeface="Calibri"/>
              </a:rPr>
              <a:t>клиент</a:t>
            </a:r>
            <a:r>
              <a:rPr sz="200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33"/>
                </a:solidFill>
                <a:latin typeface="Calibri"/>
                <a:cs typeface="Calibri"/>
              </a:rPr>
              <a:t>–</a:t>
            </a:r>
            <a:r>
              <a:rPr sz="2000" spc="-20" dirty="0">
                <a:solidFill>
                  <a:srgbClr val="333333"/>
                </a:solidFill>
                <a:latin typeface="Calibri"/>
                <a:cs typeface="Calibri"/>
              </a:rPr>
              <a:t> полноценное</a:t>
            </a:r>
            <a:r>
              <a:rPr sz="20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33333"/>
                </a:solidFill>
                <a:latin typeface="Calibri"/>
                <a:cs typeface="Calibri"/>
              </a:rPr>
              <a:t>программное</a:t>
            </a:r>
            <a:r>
              <a:rPr sz="20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33333"/>
                </a:solidFill>
                <a:latin typeface="Calibri"/>
                <a:cs typeface="Calibri"/>
              </a:rPr>
              <a:t>обеспечение,</a:t>
            </a:r>
            <a:r>
              <a:rPr sz="2000" spc="-3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33333"/>
                </a:solidFill>
                <a:latin typeface="Calibri"/>
                <a:cs typeface="Calibri"/>
              </a:rPr>
              <a:t>устанавливаемое</a:t>
            </a:r>
            <a:r>
              <a:rPr sz="2000" spc="-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333333"/>
                </a:solidFill>
                <a:latin typeface="Calibri"/>
                <a:cs typeface="Calibri"/>
              </a:rPr>
              <a:t>на </a:t>
            </a:r>
            <a:r>
              <a:rPr sz="2000" spc="-10" dirty="0">
                <a:solidFill>
                  <a:srgbClr val="333333"/>
                </a:solidFill>
                <a:latin typeface="Calibri"/>
                <a:cs typeface="Calibri"/>
              </a:rPr>
              <a:t>компьютер</a:t>
            </a:r>
            <a:endParaRPr sz="20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buFont typeface="Arial MT"/>
              <a:buChar char="•"/>
              <a:tabLst>
                <a:tab pos="812165" algn="l"/>
              </a:tabLst>
            </a:pPr>
            <a:r>
              <a:rPr sz="2000" spc="-75" dirty="0">
                <a:solidFill>
                  <a:srgbClr val="333333"/>
                </a:solidFill>
                <a:latin typeface="Calibri"/>
                <a:cs typeface="Calibri"/>
              </a:rPr>
              <a:t>Тонкий</a:t>
            </a:r>
            <a:r>
              <a:rPr sz="2000" spc="-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33333"/>
                </a:solidFill>
                <a:latin typeface="Calibri"/>
                <a:cs typeface="Calibri"/>
              </a:rPr>
              <a:t>банк-</a:t>
            </a:r>
            <a:r>
              <a:rPr sz="2000" dirty="0">
                <a:solidFill>
                  <a:srgbClr val="333333"/>
                </a:solidFill>
                <a:latin typeface="Calibri"/>
                <a:cs typeface="Calibri"/>
              </a:rPr>
              <a:t>клиент</a:t>
            </a:r>
            <a:r>
              <a:rPr sz="200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33"/>
                </a:solidFill>
                <a:latin typeface="Calibri"/>
                <a:cs typeface="Calibri"/>
              </a:rPr>
              <a:t>–</a:t>
            </a:r>
            <a:r>
              <a:rPr sz="2000" spc="-2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33333"/>
                </a:solidFill>
                <a:latin typeface="Calibri"/>
                <a:cs typeface="Calibri"/>
              </a:rPr>
              <a:t>доступ</a:t>
            </a:r>
            <a:r>
              <a:rPr sz="20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33333"/>
                </a:solidFill>
                <a:latin typeface="Calibri"/>
                <a:cs typeface="Calibri"/>
              </a:rPr>
              <a:t>через</a:t>
            </a:r>
            <a:r>
              <a:rPr sz="2000" spc="-1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33333"/>
                </a:solidFill>
                <a:latin typeface="Calibri"/>
                <a:cs typeface="Calibri"/>
              </a:rPr>
              <a:t>браузер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4898" y="2420619"/>
            <a:ext cx="7960701" cy="448841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930400" marR="5080" indent="-1917700">
              <a:lnSpc>
                <a:spcPts val="3000"/>
              </a:lnSpc>
              <a:spcBef>
                <a:spcPts val="500"/>
              </a:spcBef>
            </a:pPr>
            <a:r>
              <a:rPr sz="2800" dirty="0">
                <a:latin typeface="Times New Roman"/>
                <a:cs typeface="Times New Roman"/>
              </a:rPr>
              <a:t>4.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Цифровой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рубль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и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цифровые активы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5999" y="939063"/>
            <a:ext cx="9539997" cy="4006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1960">
              <a:lnSpc>
                <a:spcPct val="100000"/>
              </a:lnSpc>
              <a:spcBef>
                <a:spcPts val="100"/>
              </a:spcBef>
            </a:pPr>
            <a:r>
              <a:rPr dirty="0"/>
              <a:t>Что</a:t>
            </a:r>
            <a:r>
              <a:rPr spc="-60" dirty="0"/>
              <a:t> </a:t>
            </a:r>
            <a:r>
              <a:rPr dirty="0"/>
              <a:t>такое</a:t>
            </a:r>
            <a:r>
              <a:rPr spc="-95" dirty="0"/>
              <a:t> </a:t>
            </a:r>
            <a:r>
              <a:rPr spc="-10" dirty="0"/>
              <a:t>блокчейн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83590" y="1632203"/>
            <a:ext cx="10152380" cy="283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950" marR="261620"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2407F"/>
                </a:solidFill>
                <a:latin typeface="Tahoma"/>
                <a:cs typeface="Tahoma"/>
              </a:rPr>
              <a:t>Блокчейн</a:t>
            </a:r>
            <a:r>
              <a:rPr sz="2000" b="1" spc="-60" dirty="0">
                <a:solidFill>
                  <a:srgbClr val="02407F"/>
                </a:solidFill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–</a:t>
            </a:r>
            <a:r>
              <a:rPr sz="2000" b="1" spc="-5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это</a:t>
            </a:r>
            <a:r>
              <a:rPr sz="2000" b="1" spc="-60" dirty="0">
                <a:latin typeface="Tahoma"/>
                <a:cs typeface="Tahoma"/>
              </a:rPr>
              <a:t> </a:t>
            </a:r>
            <a:r>
              <a:rPr sz="2000" b="1" spc="-10" dirty="0">
                <a:latin typeface="Tahoma"/>
                <a:cs typeface="Tahoma"/>
              </a:rPr>
              <a:t>выстроенная</a:t>
            </a:r>
            <a:r>
              <a:rPr sz="2000" b="1" spc="-55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по</a:t>
            </a:r>
            <a:r>
              <a:rPr sz="2000" b="1" spc="-65" dirty="0">
                <a:latin typeface="Tahoma"/>
                <a:cs typeface="Tahoma"/>
              </a:rPr>
              <a:t> </a:t>
            </a:r>
            <a:r>
              <a:rPr sz="2000" b="1" spc="-10" dirty="0">
                <a:latin typeface="Tahoma"/>
                <a:cs typeface="Tahoma"/>
              </a:rPr>
              <a:t>определённым</a:t>
            </a:r>
            <a:r>
              <a:rPr sz="2000" b="1" spc="-6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правилам</a:t>
            </a:r>
            <a:r>
              <a:rPr sz="2000" b="1" spc="-60" dirty="0">
                <a:latin typeface="Tahoma"/>
                <a:cs typeface="Tahoma"/>
              </a:rPr>
              <a:t> </a:t>
            </a:r>
            <a:r>
              <a:rPr sz="2000" b="1" spc="-10" dirty="0">
                <a:latin typeface="Tahoma"/>
                <a:cs typeface="Tahoma"/>
              </a:rPr>
              <a:t>непрерывная последовательная</a:t>
            </a:r>
            <a:r>
              <a:rPr sz="2000" b="1" spc="-85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цепочка</a:t>
            </a:r>
            <a:r>
              <a:rPr sz="2000" b="1" spc="-85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блоков</a:t>
            </a:r>
            <a:r>
              <a:rPr sz="2000" b="1" spc="-9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(связный</a:t>
            </a:r>
            <a:r>
              <a:rPr sz="2000" b="1" spc="-9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список),</a:t>
            </a:r>
            <a:r>
              <a:rPr sz="2000" b="1" spc="-85" dirty="0">
                <a:latin typeface="Tahoma"/>
                <a:cs typeface="Tahoma"/>
              </a:rPr>
              <a:t> </a:t>
            </a:r>
            <a:r>
              <a:rPr sz="2000" b="1" spc="-10" dirty="0">
                <a:latin typeface="Tahoma"/>
                <a:cs typeface="Tahoma"/>
              </a:rPr>
              <a:t>содержащих информацию.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2000">
              <a:latin typeface="Tahoma"/>
              <a:cs typeface="Tahoma"/>
            </a:endParaRPr>
          </a:p>
          <a:p>
            <a:pPr marL="298450" marR="5080" indent="-2857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8450" algn="l"/>
              </a:tabLst>
            </a:pPr>
            <a:r>
              <a:rPr sz="2000" dirty="0">
                <a:latin typeface="Tahoma"/>
                <a:cs typeface="Tahoma"/>
              </a:rPr>
              <a:t>Связь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между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блоками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обеспечивается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не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только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нумерацией,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но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и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тем,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что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каждый </a:t>
            </a:r>
            <a:r>
              <a:rPr sz="2000" dirty="0">
                <a:latin typeface="Tahoma"/>
                <a:cs typeface="Tahoma"/>
              </a:rPr>
              <a:t>блок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содержит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свою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собственную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хеш-</a:t>
            </a:r>
            <a:r>
              <a:rPr sz="2000" dirty="0">
                <a:latin typeface="Tahoma"/>
                <a:cs typeface="Tahoma"/>
              </a:rPr>
              <a:t>сумму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и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хеш-</a:t>
            </a:r>
            <a:r>
              <a:rPr sz="2000" dirty="0">
                <a:latin typeface="Tahoma"/>
                <a:cs typeface="Tahoma"/>
              </a:rPr>
              <a:t>сумму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предыдущего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блока.</a:t>
            </a:r>
            <a:endParaRPr sz="2000">
              <a:latin typeface="Tahoma"/>
              <a:cs typeface="Tahoma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sz="2000" dirty="0">
                <a:latin typeface="Tahoma"/>
                <a:cs typeface="Tahoma"/>
              </a:rPr>
              <a:t>Изменение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любой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информации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в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блоке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изменит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его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хеш-</a:t>
            </a:r>
            <a:r>
              <a:rPr sz="2000" spc="-10" dirty="0">
                <a:latin typeface="Tahoma"/>
                <a:cs typeface="Tahoma"/>
              </a:rPr>
              <a:t>сумму.</a:t>
            </a:r>
            <a:endParaRPr sz="2000">
              <a:latin typeface="Tahoma"/>
              <a:cs typeface="Tahoma"/>
            </a:endParaRPr>
          </a:p>
          <a:p>
            <a:pPr marL="298450" marR="77851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2000" dirty="0">
                <a:latin typeface="Tahoma"/>
                <a:cs typeface="Tahoma"/>
              </a:rPr>
              <a:t>В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отличие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от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обычных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баз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данных,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изменить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или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удалить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эти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блоки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(записи) </a:t>
            </a:r>
            <a:r>
              <a:rPr sz="2000" dirty="0">
                <a:latin typeface="Tahoma"/>
                <a:cs typeface="Tahoma"/>
              </a:rPr>
              <a:t>нельзя,</a:t>
            </a:r>
            <a:r>
              <a:rPr sz="2000" spc="-10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можно</a:t>
            </a:r>
            <a:r>
              <a:rPr sz="2000" spc="-9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только</a:t>
            </a:r>
            <a:r>
              <a:rPr sz="2000" spc="-9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добавить</a:t>
            </a:r>
            <a:r>
              <a:rPr sz="2000" spc="-9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новые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74448" y="4514850"/>
            <a:ext cx="5238750" cy="234314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5999" y="939063"/>
            <a:ext cx="9539997" cy="4006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730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Преимущества</a:t>
            </a:r>
            <a:r>
              <a:rPr spc="-80" dirty="0"/>
              <a:t> </a:t>
            </a:r>
            <a:r>
              <a:rPr spc="-10" dirty="0"/>
              <a:t>блокчейна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718046" y="1748731"/>
            <a:ext cx="10528300" cy="1816735"/>
            <a:chOff x="718046" y="1748731"/>
            <a:chExt cx="10528300" cy="1816735"/>
          </a:xfrm>
        </p:grpSpPr>
        <p:sp>
          <p:nvSpPr>
            <p:cNvPr id="6" name="object 6"/>
            <p:cNvSpPr/>
            <p:nvPr/>
          </p:nvSpPr>
          <p:spPr>
            <a:xfrm>
              <a:off x="724396" y="2006003"/>
              <a:ext cx="10515600" cy="1553210"/>
            </a:xfrm>
            <a:custGeom>
              <a:avLst/>
              <a:gdLst/>
              <a:ahLst/>
              <a:cxnLst/>
              <a:rect l="l" t="t" r="r" b="b"/>
              <a:pathLst>
                <a:path w="10515600" h="1553210">
                  <a:moveTo>
                    <a:pt x="0" y="0"/>
                  </a:moveTo>
                  <a:lnTo>
                    <a:pt x="10515600" y="0"/>
                  </a:lnTo>
                  <a:lnTo>
                    <a:pt x="10515600" y="1552949"/>
                  </a:lnTo>
                  <a:lnTo>
                    <a:pt x="0" y="155294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50175" y="1755081"/>
              <a:ext cx="7360920" cy="502284"/>
            </a:xfrm>
            <a:custGeom>
              <a:avLst/>
              <a:gdLst/>
              <a:ahLst/>
              <a:cxnLst/>
              <a:rect l="l" t="t" r="r" b="b"/>
              <a:pathLst>
                <a:path w="7360920" h="502285">
                  <a:moveTo>
                    <a:pt x="7277278" y="0"/>
                  </a:moveTo>
                  <a:lnTo>
                    <a:pt x="83639" y="0"/>
                  </a:lnTo>
                  <a:lnTo>
                    <a:pt x="51082" y="6572"/>
                  </a:lnTo>
                  <a:lnTo>
                    <a:pt x="24496" y="24497"/>
                  </a:lnTo>
                  <a:lnTo>
                    <a:pt x="6571" y="51083"/>
                  </a:lnTo>
                  <a:lnTo>
                    <a:pt x="0" y="83639"/>
                  </a:lnTo>
                  <a:lnTo>
                    <a:pt x="0" y="418198"/>
                  </a:lnTo>
                  <a:lnTo>
                    <a:pt x="6571" y="450756"/>
                  </a:lnTo>
                  <a:lnTo>
                    <a:pt x="24496" y="477340"/>
                  </a:lnTo>
                  <a:lnTo>
                    <a:pt x="51082" y="495266"/>
                  </a:lnTo>
                  <a:lnTo>
                    <a:pt x="83639" y="501839"/>
                  </a:lnTo>
                  <a:lnTo>
                    <a:pt x="7277278" y="501839"/>
                  </a:lnTo>
                  <a:lnTo>
                    <a:pt x="7309836" y="495266"/>
                  </a:lnTo>
                  <a:lnTo>
                    <a:pt x="7336422" y="477340"/>
                  </a:lnTo>
                  <a:lnTo>
                    <a:pt x="7354345" y="450756"/>
                  </a:lnTo>
                  <a:lnTo>
                    <a:pt x="7360919" y="418198"/>
                  </a:lnTo>
                  <a:lnTo>
                    <a:pt x="7360919" y="83639"/>
                  </a:lnTo>
                  <a:lnTo>
                    <a:pt x="7354345" y="51083"/>
                  </a:lnTo>
                  <a:lnTo>
                    <a:pt x="7336422" y="24497"/>
                  </a:lnTo>
                  <a:lnTo>
                    <a:pt x="7309836" y="6572"/>
                  </a:lnTo>
                  <a:lnTo>
                    <a:pt x="7277278" y="0"/>
                  </a:lnTo>
                  <a:close/>
                </a:path>
              </a:pathLst>
            </a:custGeom>
            <a:solidFill>
              <a:srgbClr val="F07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50175" y="1755081"/>
              <a:ext cx="7360920" cy="502284"/>
            </a:xfrm>
            <a:custGeom>
              <a:avLst/>
              <a:gdLst/>
              <a:ahLst/>
              <a:cxnLst/>
              <a:rect l="l" t="t" r="r" b="b"/>
              <a:pathLst>
                <a:path w="7360920" h="502285">
                  <a:moveTo>
                    <a:pt x="0" y="83639"/>
                  </a:moveTo>
                  <a:lnTo>
                    <a:pt x="6572" y="51082"/>
                  </a:lnTo>
                  <a:lnTo>
                    <a:pt x="24497" y="24496"/>
                  </a:lnTo>
                  <a:lnTo>
                    <a:pt x="51083" y="6571"/>
                  </a:lnTo>
                  <a:lnTo>
                    <a:pt x="83639" y="0"/>
                  </a:lnTo>
                  <a:lnTo>
                    <a:pt x="7277281" y="0"/>
                  </a:lnTo>
                  <a:lnTo>
                    <a:pt x="7309837" y="6571"/>
                  </a:lnTo>
                  <a:lnTo>
                    <a:pt x="7336422" y="24496"/>
                  </a:lnTo>
                  <a:lnTo>
                    <a:pt x="7354347" y="51082"/>
                  </a:lnTo>
                  <a:lnTo>
                    <a:pt x="7360920" y="83639"/>
                  </a:lnTo>
                  <a:lnTo>
                    <a:pt x="7360920" y="418199"/>
                  </a:lnTo>
                  <a:lnTo>
                    <a:pt x="7354347" y="450755"/>
                  </a:lnTo>
                  <a:lnTo>
                    <a:pt x="7336422" y="477341"/>
                  </a:lnTo>
                  <a:lnTo>
                    <a:pt x="7309837" y="495266"/>
                  </a:lnTo>
                  <a:lnTo>
                    <a:pt x="7277281" y="501839"/>
                  </a:lnTo>
                  <a:lnTo>
                    <a:pt x="83639" y="501839"/>
                  </a:lnTo>
                  <a:lnTo>
                    <a:pt x="51083" y="495266"/>
                  </a:lnTo>
                  <a:lnTo>
                    <a:pt x="24497" y="477341"/>
                  </a:lnTo>
                  <a:lnTo>
                    <a:pt x="6572" y="450755"/>
                  </a:lnTo>
                  <a:lnTo>
                    <a:pt x="0" y="418199"/>
                  </a:lnTo>
                  <a:lnTo>
                    <a:pt x="0" y="8363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527822" y="1850135"/>
            <a:ext cx="4164965" cy="159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FFFFFF"/>
                </a:solidFill>
                <a:latin typeface="Tahoma"/>
                <a:cs typeface="Tahoma"/>
              </a:rPr>
              <a:t>Преимущества</a:t>
            </a:r>
            <a:r>
              <a:rPr sz="17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Tahoma"/>
                <a:cs typeface="Tahoma"/>
              </a:rPr>
              <a:t>блокчейна</a:t>
            </a:r>
            <a:endParaRPr sz="1700">
              <a:latin typeface="Tahoma"/>
              <a:cs typeface="Tahoma"/>
            </a:endParaRPr>
          </a:p>
          <a:p>
            <a:pPr marL="184785" indent="-172085">
              <a:lnSpc>
                <a:spcPct val="100000"/>
              </a:lnSpc>
              <a:spcBef>
                <a:spcPts val="1655"/>
              </a:spcBef>
              <a:buChar char="•"/>
              <a:tabLst>
                <a:tab pos="184785" algn="l"/>
              </a:tabLst>
            </a:pPr>
            <a:r>
              <a:rPr sz="1700" dirty="0">
                <a:latin typeface="Tahoma"/>
                <a:cs typeface="Tahoma"/>
              </a:rPr>
              <a:t>высокая</a:t>
            </a:r>
            <a:r>
              <a:rPr sz="1700" spc="-8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скорость</a:t>
            </a:r>
            <a:r>
              <a:rPr sz="1700" spc="-8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обмена</a:t>
            </a:r>
            <a:r>
              <a:rPr sz="1700" spc="-85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информацией</a:t>
            </a:r>
            <a:endParaRPr sz="1700">
              <a:latin typeface="Tahoma"/>
              <a:cs typeface="Tahoma"/>
            </a:endParaRPr>
          </a:p>
          <a:p>
            <a:pPr marL="184785" indent="-172085">
              <a:lnSpc>
                <a:spcPct val="100000"/>
              </a:lnSpc>
              <a:spcBef>
                <a:spcPts val="170"/>
              </a:spcBef>
              <a:buChar char="•"/>
              <a:tabLst>
                <a:tab pos="184785" algn="l"/>
              </a:tabLst>
            </a:pPr>
            <a:r>
              <a:rPr sz="1700" spc="-10" dirty="0">
                <a:latin typeface="Tahoma"/>
                <a:cs typeface="Tahoma"/>
              </a:rPr>
              <a:t>надежность</a:t>
            </a:r>
            <a:endParaRPr sz="1700">
              <a:latin typeface="Tahoma"/>
              <a:cs typeface="Tahoma"/>
            </a:endParaRPr>
          </a:p>
          <a:p>
            <a:pPr marL="184785" indent="-172085">
              <a:lnSpc>
                <a:spcPct val="100000"/>
              </a:lnSpc>
              <a:spcBef>
                <a:spcPts val="45"/>
              </a:spcBef>
              <a:buChar char="•"/>
              <a:tabLst>
                <a:tab pos="184785" algn="l"/>
              </a:tabLst>
            </a:pPr>
            <a:r>
              <a:rPr sz="1700" spc="-10" dirty="0">
                <a:latin typeface="Tahoma"/>
                <a:cs typeface="Tahoma"/>
              </a:rPr>
              <a:t>доступность</a:t>
            </a:r>
            <a:endParaRPr sz="1700">
              <a:latin typeface="Tahoma"/>
              <a:cs typeface="Tahoma"/>
            </a:endParaRPr>
          </a:p>
          <a:p>
            <a:pPr marL="184785" indent="-172085">
              <a:lnSpc>
                <a:spcPct val="100000"/>
              </a:lnSpc>
              <a:spcBef>
                <a:spcPts val="265"/>
              </a:spcBef>
              <a:buChar char="•"/>
              <a:tabLst>
                <a:tab pos="184785" algn="l"/>
              </a:tabLst>
            </a:pPr>
            <a:r>
              <a:rPr sz="1700" spc="-10" dirty="0">
                <a:latin typeface="Tahoma"/>
                <a:cs typeface="Tahoma"/>
              </a:rPr>
              <a:t>прозрачность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18046" y="3644403"/>
            <a:ext cx="10528300" cy="2352675"/>
            <a:chOff x="718046" y="3644403"/>
            <a:chExt cx="10528300" cy="2352675"/>
          </a:xfrm>
        </p:grpSpPr>
        <p:sp>
          <p:nvSpPr>
            <p:cNvPr id="11" name="object 11"/>
            <p:cNvSpPr/>
            <p:nvPr/>
          </p:nvSpPr>
          <p:spPr>
            <a:xfrm>
              <a:off x="724396" y="3901672"/>
              <a:ext cx="10515600" cy="2088514"/>
            </a:xfrm>
            <a:custGeom>
              <a:avLst/>
              <a:gdLst/>
              <a:ahLst/>
              <a:cxnLst/>
              <a:rect l="l" t="t" r="r" b="b"/>
              <a:pathLst>
                <a:path w="10515600" h="2088514">
                  <a:moveTo>
                    <a:pt x="0" y="0"/>
                  </a:moveTo>
                  <a:lnTo>
                    <a:pt x="10515600" y="0"/>
                  </a:lnTo>
                  <a:lnTo>
                    <a:pt x="10515600" y="2088450"/>
                  </a:lnTo>
                  <a:lnTo>
                    <a:pt x="0" y="208845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50175" y="3650753"/>
              <a:ext cx="7360920" cy="502284"/>
            </a:xfrm>
            <a:custGeom>
              <a:avLst/>
              <a:gdLst/>
              <a:ahLst/>
              <a:cxnLst/>
              <a:rect l="l" t="t" r="r" b="b"/>
              <a:pathLst>
                <a:path w="7360920" h="502285">
                  <a:moveTo>
                    <a:pt x="7277278" y="0"/>
                  </a:moveTo>
                  <a:lnTo>
                    <a:pt x="83639" y="0"/>
                  </a:lnTo>
                  <a:lnTo>
                    <a:pt x="51082" y="6572"/>
                  </a:lnTo>
                  <a:lnTo>
                    <a:pt x="24496" y="24497"/>
                  </a:lnTo>
                  <a:lnTo>
                    <a:pt x="6571" y="51081"/>
                  </a:lnTo>
                  <a:lnTo>
                    <a:pt x="0" y="83638"/>
                  </a:lnTo>
                  <a:lnTo>
                    <a:pt x="0" y="418198"/>
                  </a:lnTo>
                  <a:lnTo>
                    <a:pt x="6571" y="450754"/>
                  </a:lnTo>
                  <a:lnTo>
                    <a:pt x="24496" y="477340"/>
                  </a:lnTo>
                  <a:lnTo>
                    <a:pt x="51082" y="495264"/>
                  </a:lnTo>
                  <a:lnTo>
                    <a:pt x="83639" y="501837"/>
                  </a:lnTo>
                  <a:lnTo>
                    <a:pt x="7277278" y="501837"/>
                  </a:lnTo>
                  <a:lnTo>
                    <a:pt x="7309836" y="495264"/>
                  </a:lnTo>
                  <a:lnTo>
                    <a:pt x="7336422" y="477340"/>
                  </a:lnTo>
                  <a:lnTo>
                    <a:pt x="7354345" y="450754"/>
                  </a:lnTo>
                  <a:lnTo>
                    <a:pt x="7360919" y="418198"/>
                  </a:lnTo>
                  <a:lnTo>
                    <a:pt x="7360919" y="83638"/>
                  </a:lnTo>
                  <a:lnTo>
                    <a:pt x="7354345" y="51081"/>
                  </a:lnTo>
                  <a:lnTo>
                    <a:pt x="7336422" y="24497"/>
                  </a:lnTo>
                  <a:lnTo>
                    <a:pt x="7309836" y="6572"/>
                  </a:lnTo>
                  <a:lnTo>
                    <a:pt x="7277278" y="0"/>
                  </a:lnTo>
                  <a:close/>
                </a:path>
              </a:pathLst>
            </a:custGeom>
            <a:solidFill>
              <a:srgbClr val="F07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50175" y="3650753"/>
              <a:ext cx="7360920" cy="502284"/>
            </a:xfrm>
            <a:custGeom>
              <a:avLst/>
              <a:gdLst/>
              <a:ahLst/>
              <a:cxnLst/>
              <a:rect l="l" t="t" r="r" b="b"/>
              <a:pathLst>
                <a:path w="7360920" h="502285">
                  <a:moveTo>
                    <a:pt x="0" y="83639"/>
                  </a:moveTo>
                  <a:lnTo>
                    <a:pt x="6572" y="51082"/>
                  </a:lnTo>
                  <a:lnTo>
                    <a:pt x="24497" y="24496"/>
                  </a:lnTo>
                  <a:lnTo>
                    <a:pt x="51083" y="6571"/>
                  </a:lnTo>
                  <a:lnTo>
                    <a:pt x="83639" y="0"/>
                  </a:lnTo>
                  <a:lnTo>
                    <a:pt x="7277281" y="0"/>
                  </a:lnTo>
                  <a:lnTo>
                    <a:pt x="7309837" y="6571"/>
                  </a:lnTo>
                  <a:lnTo>
                    <a:pt x="7336422" y="24496"/>
                  </a:lnTo>
                  <a:lnTo>
                    <a:pt x="7354347" y="51082"/>
                  </a:lnTo>
                  <a:lnTo>
                    <a:pt x="7360920" y="83639"/>
                  </a:lnTo>
                  <a:lnTo>
                    <a:pt x="7360920" y="418199"/>
                  </a:lnTo>
                  <a:lnTo>
                    <a:pt x="7354347" y="450755"/>
                  </a:lnTo>
                  <a:lnTo>
                    <a:pt x="7336422" y="477341"/>
                  </a:lnTo>
                  <a:lnTo>
                    <a:pt x="7309837" y="495266"/>
                  </a:lnTo>
                  <a:lnTo>
                    <a:pt x="7277281" y="501839"/>
                  </a:lnTo>
                  <a:lnTo>
                    <a:pt x="83639" y="501839"/>
                  </a:lnTo>
                  <a:lnTo>
                    <a:pt x="51083" y="495266"/>
                  </a:lnTo>
                  <a:lnTo>
                    <a:pt x="24497" y="477341"/>
                  </a:lnTo>
                  <a:lnTo>
                    <a:pt x="6572" y="450755"/>
                  </a:lnTo>
                  <a:lnTo>
                    <a:pt x="0" y="418199"/>
                  </a:lnTo>
                  <a:lnTo>
                    <a:pt x="0" y="8363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527822" y="3745992"/>
            <a:ext cx="2153920" cy="2138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Tahoma"/>
                <a:cs typeface="Tahoma"/>
              </a:rPr>
              <a:t>Сфера</a:t>
            </a:r>
            <a:r>
              <a:rPr sz="17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Tahoma"/>
                <a:cs typeface="Tahoma"/>
              </a:rPr>
              <a:t>применения</a:t>
            </a:r>
            <a:endParaRPr sz="1700">
              <a:latin typeface="Tahoma"/>
              <a:cs typeface="Tahoma"/>
            </a:endParaRPr>
          </a:p>
          <a:p>
            <a:pPr marL="184785" indent="-172085">
              <a:lnSpc>
                <a:spcPct val="100000"/>
              </a:lnSpc>
              <a:spcBef>
                <a:spcPts val="1655"/>
              </a:spcBef>
              <a:buChar char="•"/>
              <a:tabLst>
                <a:tab pos="184785" algn="l"/>
              </a:tabLst>
            </a:pPr>
            <a:r>
              <a:rPr sz="1700" spc="-10" dirty="0">
                <a:latin typeface="Tahoma"/>
                <a:cs typeface="Tahoma"/>
              </a:rPr>
              <a:t>криптовалюты</a:t>
            </a:r>
            <a:endParaRPr sz="1700">
              <a:latin typeface="Tahoma"/>
              <a:cs typeface="Tahoma"/>
            </a:endParaRPr>
          </a:p>
          <a:p>
            <a:pPr marL="184785" indent="-172085">
              <a:lnSpc>
                <a:spcPct val="100000"/>
              </a:lnSpc>
              <a:spcBef>
                <a:spcPts val="165"/>
              </a:spcBef>
              <a:buChar char="•"/>
              <a:tabLst>
                <a:tab pos="184785" algn="l"/>
              </a:tabLst>
            </a:pPr>
            <a:r>
              <a:rPr sz="1700" spc="-10" dirty="0">
                <a:latin typeface="Tahoma"/>
                <a:cs typeface="Tahoma"/>
              </a:rPr>
              <a:t>банковский</a:t>
            </a:r>
            <a:r>
              <a:rPr sz="1700" spc="-50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сектор</a:t>
            </a:r>
            <a:endParaRPr sz="1700">
              <a:latin typeface="Tahoma"/>
              <a:cs typeface="Tahoma"/>
            </a:endParaRPr>
          </a:p>
          <a:p>
            <a:pPr marL="184785" indent="-172085">
              <a:lnSpc>
                <a:spcPct val="100000"/>
              </a:lnSpc>
              <a:spcBef>
                <a:spcPts val="50"/>
              </a:spcBef>
              <a:buChar char="•"/>
              <a:tabLst>
                <a:tab pos="184785" algn="l"/>
              </a:tabLst>
            </a:pPr>
            <a:r>
              <a:rPr sz="1700" spc="-10" dirty="0">
                <a:latin typeface="Tahoma"/>
                <a:cs typeface="Tahoma"/>
              </a:rPr>
              <a:t>финансовый</a:t>
            </a:r>
            <a:r>
              <a:rPr sz="1700" spc="-85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сектор</a:t>
            </a:r>
            <a:endParaRPr sz="1700">
              <a:latin typeface="Tahoma"/>
              <a:cs typeface="Tahoma"/>
            </a:endParaRPr>
          </a:p>
          <a:p>
            <a:pPr marL="184785" indent="-172085">
              <a:lnSpc>
                <a:spcPct val="100000"/>
              </a:lnSpc>
              <a:spcBef>
                <a:spcPts val="265"/>
              </a:spcBef>
              <a:buChar char="•"/>
              <a:tabLst>
                <a:tab pos="184785" algn="l"/>
              </a:tabLst>
            </a:pPr>
            <a:r>
              <a:rPr sz="1700" spc="-10" dirty="0">
                <a:latin typeface="Tahoma"/>
                <a:cs typeface="Tahoma"/>
              </a:rPr>
              <a:t>логистика</a:t>
            </a:r>
            <a:endParaRPr sz="1700">
              <a:latin typeface="Tahoma"/>
              <a:cs typeface="Tahoma"/>
            </a:endParaRPr>
          </a:p>
          <a:p>
            <a:pPr marL="184785" indent="-172085">
              <a:lnSpc>
                <a:spcPct val="100000"/>
              </a:lnSpc>
              <a:spcBef>
                <a:spcPts val="70"/>
              </a:spcBef>
              <a:buChar char="•"/>
              <a:tabLst>
                <a:tab pos="184785" algn="l"/>
              </a:tabLst>
            </a:pPr>
            <a:r>
              <a:rPr sz="1700" spc="-10" dirty="0">
                <a:latin typeface="Tahoma"/>
                <a:cs typeface="Tahoma"/>
              </a:rPr>
              <a:t>здравоохранение</a:t>
            </a:r>
            <a:endParaRPr sz="1700">
              <a:latin typeface="Tahoma"/>
              <a:cs typeface="Tahoma"/>
            </a:endParaRPr>
          </a:p>
          <a:p>
            <a:pPr marL="184785" indent="-172085">
              <a:lnSpc>
                <a:spcPct val="100000"/>
              </a:lnSpc>
              <a:spcBef>
                <a:spcPts val="145"/>
              </a:spcBef>
              <a:buChar char="•"/>
              <a:tabLst>
                <a:tab pos="184785" algn="l"/>
              </a:tabLst>
            </a:pPr>
            <a:r>
              <a:rPr sz="1700" dirty="0">
                <a:latin typeface="Tahoma"/>
                <a:cs typeface="Tahoma"/>
              </a:rPr>
              <a:t>другие</a:t>
            </a:r>
            <a:r>
              <a:rPr sz="1700" spc="-75" dirty="0">
                <a:latin typeface="Tahoma"/>
                <a:cs typeface="Tahoma"/>
              </a:rPr>
              <a:t> </a:t>
            </a:r>
            <a:r>
              <a:rPr sz="1700" spc="-10" dirty="0">
                <a:latin typeface="Tahoma"/>
                <a:cs typeface="Tahoma"/>
              </a:rPr>
              <a:t>отрасли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5999" y="939063"/>
            <a:ext cx="9539997" cy="4006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303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Транзакции</a:t>
            </a:r>
            <a:r>
              <a:rPr spc="-35" dirty="0"/>
              <a:t> </a:t>
            </a:r>
            <a:r>
              <a:rPr dirty="0"/>
              <a:t>в</a:t>
            </a:r>
            <a:r>
              <a:rPr spc="-65" dirty="0"/>
              <a:t> </a:t>
            </a:r>
            <a:r>
              <a:rPr spc="-10" dirty="0"/>
              <a:t>блокчейне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24396" y="5541600"/>
            <a:ext cx="10515600" cy="504825"/>
          </a:xfrm>
          <a:prstGeom prst="rect">
            <a:avLst/>
          </a:prstGeom>
          <a:solidFill>
            <a:srgbClr val="0356A9"/>
          </a:solidFill>
        </p:spPr>
        <p:txBody>
          <a:bodyPr vert="horz" wrap="square" lIns="0" tIns="482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80"/>
              </a:spcBef>
            </a:pP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Транзакция</a:t>
            </a:r>
            <a:r>
              <a:rPr sz="24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завершена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18046" y="1692640"/>
            <a:ext cx="10528300" cy="3863340"/>
            <a:chOff x="718046" y="1692640"/>
            <a:chExt cx="10528300" cy="3863340"/>
          </a:xfrm>
        </p:grpSpPr>
        <p:sp>
          <p:nvSpPr>
            <p:cNvPr id="7" name="object 7"/>
            <p:cNvSpPr/>
            <p:nvPr/>
          </p:nvSpPr>
          <p:spPr>
            <a:xfrm>
              <a:off x="724395" y="4773091"/>
              <a:ext cx="10515600" cy="776605"/>
            </a:xfrm>
            <a:custGeom>
              <a:avLst/>
              <a:gdLst/>
              <a:ahLst/>
              <a:cxnLst/>
              <a:rect l="l" t="t" r="r" b="b"/>
              <a:pathLst>
                <a:path w="10515600" h="776604">
                  <a:moveTo>
                    <a:pt x="10515600" y="0"/>
                  </a:moveTo>
                  <a:lnTo>
                    <a:pt x="0" y="0"/>
                  </a:lnTo>
                  <a:lnTo>
                    <a:pt x="0" y="504266"/>
                  </a:lnTo>
                  <a:lnTo>
                    <a:pt x="5160784" y="504266"/>
                  </a:lnTo>
                  <a:lnTo>
                    <a:pt x="5160784" y="582053"/>
                  </a:lnTo>
                  <a:lnTo>
                    <a:pt x="5063769" y="582053"/>
                  </a:lnTo>
                  <a:lnTo>
                    <a:pt x="5257800" y="776084"/>
                  </a:lnTo>
                  <a:lnTo>
                    <a:pt x="5451818" y="582053"/>
                  </a:lnTo>
                  <a:lnTo>
                    <a:pt x="5354802" y="582053"/>
                  </a:lnTo>
                  <a:lnTo>
                    <a:pt x="5354802" y="504266"/>
                  </a:lnTo>
                  <a:lnTo>
                    <a:pt x="10515600" y="504266"/>
                  </a:lnTo>
                  <a:lnTo>
                    <a:pt x="10515600" y="0"/>
                  </a:lnTo>
                  <a:close/>
                </a:path>
              </a:pathLst>
            </a:custGeom>
            <a:solidFill>
              <a:srgbClr val="0356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24396" y="4773079"/>
              <a:ext cx="10515600" cy="776605"/>
            </a:xfrm>
            <a:custGeom>
              <a:avLst/>
              <a:gdLst/>
              <a:ahLst/>
              <a:cxnLst/>
              <a:rect l="l" t="t" r="r" b="b"/>
              <a:pathLst>
                <a:path w="10515600" h="776604">
                  <a:moveTo>
                    <a:pt x="10515600" y="504276"/>
                  </a:moveTo>
                  <a:lnTo>
                    <a:pt x="5354814" y="504276"/>
                  </a:lnTo>
                  <a:lnTo>
                    <a:pt x="5354814" y="582062"/>
                  </a:lnTo>
                  <a:lnTo>
                    <a:pt x="5451817" y="582062"/>
                  </a:lnTo>
                  <a:lnTo>
                    <a:pt x="5257800" y="776092"/>
                  </a:lnTo>
                  <a:lnTo>
                    <a:pt x="5063772" y="582062"/>
                  </a:lnTo>
                  <a:lnTo>
                    <a:pt x="5160786" y="582062"/>
                  </a:lnTo>
                  <a:lnTo>
                    <a:pt x="5160786" y="504276"/>
                  </a:lnTo>
                  <a:lnTo>
                    <a:pt x="0" y="504276"/>
                  </a:lnTo>
                  <a:lnTo>
                    <a:pt x="0" y="0"/>
                  </a:lnTo>
                  <a:lnTo>
                    <a:pt x="10515600" y="0"/>
                  </a:lnTo>
                  <a:lnTo>
                    <a:pt x="10515600" y="50427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4395" y="4004563"/>
              <a:ext cx="10515600" cy="776605"/>
            </a:xfrm>
            <a:custGeom>
              <a:avLst/>
              <a:gdLst/>
              <a:ahLst/>
              <a:cxnLst/>
              <a:rect l="l" t="t" r="r" b="b"/>
              <a:pathLst>
                <a:path w="10515600" h="776604">
                  <a:moveTo>
                    <a:pt x="10515600" y="0"/>
                  </a:moveTo>
                  <a:lnTo>
                    <a:pt x="0" y="0"/>
                  </a:lnTo>
                  <a:lnTo>
                    <a:pt x="0" y="504278"/>
                  </a:lnTo>
                  <a:lnTo>
                    <a:pt x="5160784" y="504278"/>
                  </a:lnTo>
                  <a:lnTo>
                    <a:pt x="5160784" y="582066"/>
                  </a:lnTo>
                  <a:lnTo>
                    <a:pt x="5063769" y="582066"/>
                  </a:lnTo>
                  <a:lnTo>
                    <a:pt x="5257800" y="776084"/>
                  </a:lnTo>
                  <a:lnTo>
                    <a:pt x="5451818" y="582066"/>
                  </a:lnTo>
                  <a:lnTo>
                    <a:pt x="5354802" y="582066"/>
                  </a:lnTo>
                  <a:lnTo>
                    <a:pt x="5354802" y="504278"/>
                  </a:lnTo>
                  <a:lnTo>
                    <a:pt x="10515600" y="504278"/>
                  </a:lnTo>
                  <a:lnTo>
                    <a:pt x="10515600" y="0"/>
                  </a:lnTo>
                  <a:close/>
                </a:path>
              </a:pathLst>
            </a:custGeom>
            <a:solidFill>
              <a:srgbClr val="0356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24396" y="4004556"/>
              <a:ext cx="10515600" cy="776605"/>
            </a:xfrm>
            <a:custGeom>
              <a:avLst/>
              <a:gdLst/>
              <a:ahLst/>
              <a:cxnLst/>
              <a:rect l="l" t="t" r="r" b="b"/>
              <a:pathLst>
                <a:path w="10515600" h="776604">
                  <a:moveTo>
                    <a:pt x="10515600" y="504276"/>
                  </a:moveTo>
                  <a:lnTo>
                    <a:pt x="5354814" y="504276"/>
                  </a:lnTo>
                  <a:lnTo>
                    <a:pt x="5354814" y="582062"/>
                  </a:lnTo>
                  <a:lnTo>
                    <a:pt x="5451817" y="582062"/>
                  </a:lnTo>
                  <a:lnTo>
                    <a:pt x="5257800" y="776092"/>
                  </a:lnTo>
                  <a:lnTo>
                    <a:pt x="5063772" y="582062"/>
                  </a:lnTo>
                  <a:lnTo>
                    <a:pt x="5160786" y="582062"/>
                  </a:lnTo>
                  <a:lnTo>
                    <a:pt x="5160786" y="504276"/>
                  </a:lnTo>
                  <a:lnTo>
                    <a:pt x="0" y="504276"/>
                  </a:lnTo>
                  <a:lnTo>
                    <a:pt x="0" y="0"/>
                  </a:lnTo>
                  <a:lnTo>
                    <a:pt x="10515600" y="0"/>
                  </a:lnTo>
                  <a:lnTo>
                    <a:pt x="10515600" y="50427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4395" y="3236035"/>
              <a:ext cx="10515600" cy="776605"/>
            </a:xfrm>
            <a:custGeom>
              <a:avLst/>
              <a:gdLst/>
              <a:ahLst/>
              <a:cxnLst/>
              <a:rect l="l" t="t" r="r" b="b"/>
              <a:pathLst>
                <a:path w="10515600" h="776604">
                  <a:moveTo>
                    <a:pt x="10515600" y="0"/>
                  </a:moveTo>
                  <a:lnTo>
                    <a:pt x="0" y="0"/>
                  </a:lnTo>
                  <a:lnTo>
                    <a:pt x="0" y="504278"/>
                  </a:lnTo>
                  <a:lnTo>
                    <a:pt x="5160784" y="504278"/>
                  </a:lnTo>
                  <a:lnTo>
                    <a:pt x="5160784" y="582066"/>
                  </a:lnTo>
                  <a:lnTo>
                    <a:pt x="5063769" y="582066"/>
                  </a:lnTo>
                  <a:lnTo>
                    <a:pt x="5257800" y="776097"/>
                  </a:lnTo>
                  <a:lnTo>
                    <a:pt x="5451818" y="582066"/>
                  </a:lnTo>
                  <a:lnTo>
                    <a:pt x="5354802" y="582066"/>
                  </a:lnTo>
                  <a:lnTo>
                    <a:pt x="5354802" y="504278"/>
                  </a:lnTo>
                  <a:lnTo>
                    <a:pt x="10515600" y="504278"/>
                  </a:lnTo>
                  <a:lnTo>
                    <a:pt x="10515600" y="0"/>
                  </a:lnTo>
                  <a:close/>
                </a:path>
              </a:pathLst>
            </a:custGeom>
            <a:solidFill>
              <a:srgbClr val="0356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4396" y="3236034"/>
              <a:ext cx="10515600" cy="776605"/>
            </a:xfrm>
            <a:custGeom>
              <a:avLst/>
              <a:gdLst/>
              <a:ahLst/>
              <a:cxnLst/>
              <a:rect l="l" t="t" r="r" b="b"/>
              <a:pathLst>
                <a:path w="10515600" h="776604">
                  <a:moveTo>
                    <a:pt x="10515600" y="504276"/>
                  </a:moveTo>
                  <a:lnTo>
                    <a:pt x="5354814" y="504276"/>
                  </a:lnTo>
                  <a:lnTo>
                    <a:pt x="5354814" y="582062"/>
                  </a:lnTo>
                  <a:lnTo>
                    <a:pt x="5451817" y="582062"/>
                  </a:lnTo>
                  <a:lnTo>
                    <a:pt x="5257800" y="776092"/>
                  </a:lnTo>
                  <a:lnTo>
                    <a:pt x="5063772" y="582062"/>
                  </a:lnTo>
                  <a:lnTo>
                    <a:pt x="5160786" y="582062"/>
                  </a:lnTo>
                  <a:lnTo>
                    <a:pt x="5160786" y="504276"/>
                  </a:lnTo>
                  <a:lnTo>
                    <a:pt x="0" y="504276"/>
                  </a:lnTo>
                  <a:lnTo>
                    <a:pt x="0" y="0"/>
                  </a:lnTo>
                  <a:lnTo>
                    <a:pt x="10515600" y="0"/>
                  </a:lnTo>
                  <a:lnTo>
                    <a:pt x="10515600" y="50427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4395" y="2467520"/>
              <a:ext cx="10515600" cy="776605"/>
            </a:xfrm>
            <a:custGeom>
              <a:avLst/>
              <a:gdLst/>
              <a:ahLst/>
              <a:cxnLst/>
              <a:rect l="l" t="t" r="r" b="b"/>
              <a:pathLst>
                <a:path w="10515600" h="776605">
                  <a:moveTo>
                    <a:pt x="10515600" y="0"/>
                  </a:moveTo>
                  <a:lnTo>
                    <a:pt x="0" y="0"/>
                  </a:lnTo>
                  <a:lnTo>
                    <a:pt x="0" y="504278"/>
                  </a:lnTo>
                  <a:lnTo>
                    <a:pt x="5160784" y="504278"/>
                  </a:lnTo>
                  <a:lnTo>
                    <a:pt x="5160784" y="582053"/>
                  </a:lnTo>
                  <a:lnTo>
                    <a:pt x="5063769" y="582053"/>
                  </a:lnTo>
                  <a:lnTo>
                    <a:pt x="5257800" y="776084"/>
                  </a:lnTo>
                  <a:lnTo>
                    <a:pt x="5451818" y="582053"/>
                  </a:lnTo>
                  <a:lnTo>
                    <a:pt x="5354802" y="582053"/>
                  </a:lnTo>
                  <a:lnTo>
                    <a:pt x="5354802" y="504278"/>
                  </a:lnTo>
                  <a:lnTo>
                    <a:pt x="10515600" y="504278"/>
                  </a:lnTo>
                  <a:lnTo>
                    <a:pt x="10515600" y="0"/>
                  </a:lnTo>
                  <a:close/>
                </a:path>
              </a:pathLst>
            </a:custGeom>
            <a:solidFill>
              <a:srgbClr val="0356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4396" y="2467513"/>
              <a:ext cx="10515600" cy="776605"/>
            </a:xfrm>
            <a:custGeom>
              <a:avLst/>
              <a:gdLst/>
              <a:ahLst/>
              <a:cxnLst/>
              <a:rect l="l" t="t" r="r" b="b"/>
              <a:pathLst>
                <a:path w="10515600" h="776605">
                  <a:moveTo>
                    <a:pt x="10515600" y="504276"/>
                  </a:moveTo>
                  <a:lnTo>
                    <a:pt x="5354814" y="504276"/>
                  </a:lnTo>
                  <a:lnTo>
                    <a:pt x="5354814" y="582062"/>
                  </a:lnTo>
                  <a:lnTo>
                    <a:pt x="5451817" y="582062"/>
                  </a:lnTo>
                  <a:lnTo>
                    <a:pt x="5257800" y="776091"/>
                  </a:lnTo>
                  <a:lnTo>
                    <a:pt x="5063772" y="582062"/>
                  </a:lnTo>
                  <a:lnTo>
                    <a:pt x="5160786" y="582062"/>
                  </a:lnTo>
                  <a:lnTo>
                    <a:pt x="5160786" y="504276"/>
                  </a:lnTo>
                  <a:lnTo>
                    <a:pt x="0" y="504276"/>
                  </a:lnTo>
                  <a:lnTo>
                    <a:pt x="0" y="0"/>
                  </a:lnTo>
                  <a:lnTo>
                    <a:pt x="10515600" y="0"/>
                  </a:lnTo>
                  <a:lnTo>
                    <a:pt x="10515600" y="50427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24395" y="1698992"/>
              <a:ext cx="10515600" cy="776605"/>
            </a:xfrm>
            <a:custGeom>
              <a:avLst/>
              <a:gdLst/>
              <a:ahLst/>
              <a:cxnLst/>
              <a:rect l="l" t="t" r="r" b="b"/>
              <a:pathLst>
                <a:path w="10515600" h="776605">
                  <a:moveTo>
                    <a:pt x="10515600" y="0"/>
                  </a:moveTo>
                  <a:lnTo>
                    <a:pt x="0" y="0"/>
                  </a:lnTo>
                  <a:lnTo>
                    <a:pt x="0" y="504278"/>
                  </a:lnTo>
                  <a:lnTo>
                    <a:pt x="5160784" y="504278"/>
                  </a:lnTo>
                  <a:lnTo>
                    <a:pt x="5160784" y="582066"/>
                  </a:lnTo>
                  <a:lnTo>
                    <a:pt x="5063769" y="582066"/>
                  </a:lnTo>
                  <a:lnTo>
                    <a:pt x="5257800" y="776097"/>
                  </a:lnTo>
                  <a:lnTo>
                    <a:pt x="5451818" y="582066"/>
                  </a:lnTo>
                  <a:lnTo>
                    <a:pt x="5354802" y="582066"/>
                  </a:lnTo>
                  <a:lnTo>
                    <a:pt x="5354802" y="504278"/>
                  </a:lnTo>
                  <a:lnTo>
                    <a:pt x="10515600" y="504278"/>
                  </a:lnTo>
                  <a:lnTo>
                    <a:pt x="10515600" y="0"/>
                  </a:lnTo>
                  <a:close/>
                </a:path>
              </a:pathLst>
            </a:custGeom>
            <a:solidFill>
              <a:srgbClr val="0356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4396" y="1698990"/>
              <a:ext cx="10515600" cy="776605"/>
            </a:xfrm>
            <a:custGeom>
              <a:avLst/>
              <a:gdLst/>
              <a:ahLst/>
              <a:cxnLst/>
              <a:rect l="l" t="t" r="r" b="b"/>
              <a:pathLst>
                <a:path w="10515600" h="776605">
                  <a:moveTo>
                    <a:pt x="10515600" y="504276"/>
                  </a:moveTo>
                  <a:lnTo>
                    <a:pt x="5354814" y="504276"/>
                  </a:lnTo>
                  <a:lnTo>
                    <a:pt x="5354814" y="582062"/>
                  </a:lnTo>
                  <a:lnTo>
                    <a:pt x="5451817" y="582062"/>
                  </a:lnTo>
                  <a:lnTo>
                    <a:pt x="5257800" y="776091"/>
                  </a:lnTo>
                  <a:lnTo>
                    <a:pt x="5063772" y="582062"/>
                  </a:lnTo>
                  <a:lnTo>
                    <a:pt x="5160786" y="582062"/>
                  </a:lnTo>
                  <a:lnTo>
                    <a:pt x="5160786" y="504276"/>
                  </a:lnTo>
                  <a:lnTo>
                    <a:pt x="0" y="504276"/>
                  </a:lnTo>
                  <a:lnTo>
                    <a:pt x="0" y="0"/>
                  </a:lnTo>
                  <a:lnTo>
                    <a:pt x="10515600" y="0"/>
                  </a:lnTo>
                  <a:lnTo>
                    <a:pt x="10515600" y="50427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24396" y="1733803"/>
            <a:ext cx="10515600" cy="3463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А</a:t>
            </a:r>
            <a:r>
              <a:rPr sz="24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хочет</a:t>
            </a:r>
            <a:r>
              <a:rPr sz="24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переслать</a:t>
            </a:r>
            <a:r>
              <a:rPr sz="240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деньги</a:t>
            </a:r>
            <a:r>
              <a:rPr sz="24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Tahoma"/>
                <a:cs typeface="Tahoma"/>
              </a:rPr>
              <a:t>Б</a:t>
            </a:r>
            <a:endParaRPr sz="2400">
              <a:latin typeface="Tahoma"/>
              <a:cs typeface="Tahoma"/>
            </a:endParaRPr>
          </a:p>
          <a:p>
            <a:pPr marL="1026160" marR="1010285" indent="-1270" algn="ctr">
              <a:lnSpc>
                <a:spcPts val="6100"/>
              </a:lnSpc>
              <a:spcBef>
                <a:spcPts val="445"/>
              </a:spcBef>
            </a:pP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Транзакции</a:t>
            </a:r>
            <a:r>
              <a:rPr sz="24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передаются</a:t>
            </a:r>
            <a:r>
              <a:rPr sz="240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в</a:t>
            </a:r>
            <a:r>
              <a:rPr sz="24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сеть</a:t>
            </a:r>
            <a:r>
              <a:rPr sz="24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и</a:t>
            </a:r>
            <a:r>
              <a:rPr sz="24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собираются</a:t>
            </a:r>
            <a:r>
              <a:rPr sz="24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в</a:t>
            </a:r>
            <a:r>
              <a:rPr sz="24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новый</a:t>
            </a:r>
            <a:r>
              <a:rPr sz="24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Tahoma"/>
                <a:cs typeface="Tahoma"/>
              </a:rPr>
              <a:t>блок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Блоки</a:t>
            </a:r>
            <a:r>
              <a:rPr sz="24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рассылаются</a:t>
            </a:r>
            <a:r>
              <a:rPr sz="24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для</a:t>
            </a:r>
            <a:r>
              <a:rPr sz="2400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проверки</a:t>
            </a:r>
            <a:r>
              <a:rPr sz="24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всем</a:t>
            </a:r>
            <a:r>
              <a:rPr sz="24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участникам</a:t>
            </a:r>
            <a:r>
              <a:rPr sz="2400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системы</a:t>
            </a:r>
            <a:endParaRPr sz="2400">
              <a:latin typeface="Tahoma"/>
              <a:cs typeface="Tahoma"/>
            </a:endParaRPr>
          </a:p>
          <a:p>
            <a:pPr marL="240665" marR="232410" indent="-1270" algn="ctr">
              <a:lnSpc>
                <a:spcPts val="6000"/>
              </a:lnSpc>
              <a:spcBef>
                <a:spcPts val="65"/>
              </a:spcBef>
            </a:pP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Каждый</a:t>
            </a:r>
            <a:r>
              <a:rPr sz="240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участник</a:t>
            </a:r>
            <a:r>
              <a:rPr sz="24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записывает</a:t>
            </a:r>
            <a:r>
              <a:rPr sz="24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блок</a:t>
            </a:r>
            <a:r>
              <a:rPr sz="24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в</a:t>
            </a:r>
            <a:r>
              <a:rPr sz="24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свой</a:t>
            </a:r>
            <a:r>
              <a:rPr sz="240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экземпляр</a:t>
            </a:r>
            <a:r>
              <a:rPr sz="24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базы</a:t>
            </a:r>
            <a:r>
              <a:rPr sz="24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данных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Блок</a:t>
            </a:r>
            <a:r>
              <a:rPr sz="24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попадает</a:t>
            </a:r>
            <a:r>
              <a:rPr sz="24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в</a:t>
            </a:r>
            <a:r>
              <a:rPr sz="24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цепочку</a:t>
            </a:r>
            <a:r>
              <a:rPr sz="24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блоков</a:t>
            </a:r>
            <a:r>
              <a:rPr sz="24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с</a:t>
            </a:r>
            <a:r>
              <a:rPr sz="24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информацией</a:t>
            </a:r>
            <a:r>
              <a:rPr sz="240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обо</a:t>
            </a:r>
            <a:r>
              <a:rPr sz="24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всех</a:t>
            </a:r>
            <a:r>
              <a:rPr sz="24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ahoma"/>
                <a:cs typeface="Tahoma"/>
              </a:rPr>
              <a:t>транзакциях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5999" y="939063"/>
            <a:ext cx="9539997" cy="4006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389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Цифровой</a:t>
            </a:r>
            <a:r>
              <a:rPr spc="-80" dirty="0"/>
              <a:t> </a:t>
            </a:r>
            <a:r>
              <a:rPr spc="-20" dirty="0"/>
              <a:t>рубль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82775" y="1993899"/>
            <a:ext cx="9714230" cy="122936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41300" marR="5080" indent="-228600">
              <a:lnSpc>
                <a:spcPct val="91100"/>
              </a:lnSpc>
              <a:spcBef>
                <a:spcPts val="4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ahoma"/>
                <a:cs typeface="Tahoma"/>
              </a:rPr>
              <a:t>Цифровой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рубль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–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это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цифровая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форма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российской </a:t>
            </a:r>
            <a:r>
              <a:rPr sz="2800" dirty="0">
                <a:latin typeface="Tahoma"/>
                <a:cs typeface="Tahoma"/>
              </a:rPr>
              <a:t>национальной</a:t>
            </a:r>
            <a:r>
              <a:rPr sz="2800" spc="-12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валюты,</a:t>
            </a:r>
            <a:r>
              <a:rPr sz="2800" spc="-11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которую</a:t>
            </a:r>
            <a:r>
              <a:rPr sz="2800" spc="-10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Банк</a:t>
            </a:r>
            <a:r>
              <a:rPr sz="2800" spc="-11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России</a:t>
            </a:r>
            <a:r>
              <a:rPr sz="2800" spc="-12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начинает </a:t>
            </a:r>
            <a:r>
              <a:rPr sz="2800" dirty="0">
                <a:latin typeface="Tahoma"/>
                <a:cs typeface="Tahoma"/>
              </a:rPr>
              <a:t>выпускать</a:t>
            </a:r>
            <a:r>
              <a:rPr sz="2800" spc="-10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в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дополнение</a:t>
            </a:r>
            <a:r>
              <a:rPr sz="2800" spc="-11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к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существующим</a:t>
            </a:r>
            <a:r>
              <a:rPr sz="2800" spc="-10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формам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денег.</a:t>
            </a:r>
            <a:endParaRPr sz="28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9821" y="3828679"/>
            <a:ext cx="6845298" cy="185419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5999" y="939063"/>
            <a:ext cx="9539997" cy="4006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389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Цифровой</a:t>
            </a:r>
            <a:r>
              <a:rPr spc="-80" dirty="0"/>
              <a:t> </a:t>
            </a:r>
            <a:r>
              <a:rPr spc="-20" dirty="0"/>
              <a:t>рубль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50825" indent="-2286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51460" algn="l"/>
              </a:tabLst>
            </a:pPr>
            <a:r>
              <a:rPr dirty="0"/>
              <a:t>Эмитентом</a:t>
            </a:r>
            <a:r>
              <a:rPr spc="-114" dirty="0"/>
              <a:t> </a:t>
            </a:r>
            <a:r>
              <a:rPr dirty="0"/>
              <a:t>цифрового</a:t>
            </a:r>
            <a:r>
              <a:rPr spc="-114" dirty="0"/>
              <a:t> </a:t>
            </a:r>
            <a:r>
              <a:rPr dirty="0"/>
              <a:t>рубля</a:t>
            </a:r>
            <a:r>
              <a:rPr spc="-114" dirty="0"/>
              <a:t> </a:t>
            </a:r>
            <a:r>
              <a:rPr dirty="0"/>
              <a:t>является</a:t>
            </a:r>
            <a:r>
              <a:rPr spc="-114" dirty="0"/>
              <a:t> </a:t>
            </a:r>
            <a:r>
              <a:rPr dirty="0"/>
              <a:t>Банк</a:t>
            </a:r>
            <a:r>
              <a:rPr spc="-85" dirty="0"/>
              <a:t> </a:t>
            </a:r>
            <a:r>
              <a:rPr spc="-10" dirty="0"/>
              <a:t>России</a:t>
            </a:r>
          </a:p>
          <a:p>
            <a:pPr marL="250825" indent="-22860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251460" algn="l"/>
              </a:tabLst>
            </a:pPr>
            <a:r>
              <a:rPr dirty="0"/>
              <a:t>Цифровой</a:t>
            </a:r>
            <a:r>
              <a:rPr spc="-85" dirty="0"/>
              <a:t> </a:t>
            </a:r>
            <a:r>
              <a:rPr dirty="0"/>
              <a:t>рубль</a:t>
            </a:r>
            <a:r>
              <a:rPr spc="-80" dirty="0"/>
              <a:t> </a:t>
            </a:r>
            <a:r>
              <a:rPr dirty="0"/>
              <a:t>—</a:t>
            </a:r>
            <a:r>
              <a:rPr spc="-75" dirty="0"/>
              <a:t> </a:t>
            </a:r>
            <a:r>
              <a:rPr dirty="0"/>
              <a:t>обязательство</a:t>
            </a:r>
            <a:r>
              <a:rPr spc="-90" dirty="0"/>
              <a:t> </a:t>
            </a:r>
            <a:r>
              <a:rPr dirty="0"/>
              <a:t>Банка</a:t>
            </a:r>
            <a:r>
              <a:rPr spc="-90" dirty="0"/>
              <a:t> </a:t>
            </a:r>
            <a:r>
              <a:rPr spc="-10" dirty="0"/>
              <a:t>России</a:t>
            </a:r>
          </a:p>
          <a:p>
            <a:pPr marL="250190" marR="434975" indent="-227965">
              <a:lnSpc>
                <a:spcPct val="83500"/>
              </a:lnSpc>
              <a:spcBef>
                <a:spcPts val="590"/>
              </a:spcBef>
              <a:buFont typeface="Arial MT"/>
              <a:buChar char="•"/>
              <a:tabLst>
                <a:tab pos="250825" algn="l"/>
              </a:tabLst>
            </a:pPr>
            <a:r>
              <a:rPr dirty="0"/>
              <a:t>Банк</a:t>
            </a:r>
            <a:r>
              <a:rPr spc="-75" dirty="0"/>
              <a:t> </a:t>
            </a:r>
            <a:r>
              <a:rPr dirty="0"/>
              <a:t>России</a:t>
            </a:r>
            <a:r>
              <a:rPr spc="-85" dirty="0"/>
              <a:t> </a:t>
            </a:r>
            <a:r>
              <a:rPr dirty="0"/>
              <a:t>открывает</a:t>
            </a:r>
            <a:r>
              <a:rPr spc="-85" dirty="0"/>
              <a:t> </a:t>
            </a:r>
            <a:r>
              <a:rPr dirty="0"/>
              <a:t>кошельки</a:t>
            </a:r>
            <a:r>
              <a:rPr spc="-80" dirty="0"/>
              <a:t> </a:t>
            </a:r>
            <a:r>
              <a:rPr dirty="0"/>
              <a:t>банкам</a:t>
            </a:r>
            <a:r>
              <a:rPr spc="-80" dirty="0"/>
              <a:t> </a:t>
            </a:r>
            <a:r>
              <a:rPr dirty="0"/>
              <a:t>и</a:t>
            </a:r>
            <a:r>
              <a:rPr spc="-65" dirty="0"/>
              <a:t> </a:t>
            </a:r>
            <a:r>
              <a:rPr spc="-10" dirty="0"/>
              <a:t>Федеральному </a:t>
            </a:r>
            <a:r>
              <a:rPr dirty="0"/>
              <a:t>казначейству,</a:t>
            </a:r>
            <a:r>
              <a:rPr spc="-90" dirty="0"/>
              <a:t> </a:t>
            </a:r>
            <a:r>
              <a:rPr dirty="0"/>
              <a:t>а</a:t>
            </a:r>
            <a:r>
              <a:rPr spc="-85" dirty="0"/>
              <a:t> </a:t>
            </a:r>
            <a:r>
              <a:rPr dirty="0"/>
              <a:t>также</a:t>
            </a:r>
            <a:r>
              <a:rPr spc="-100" dirty="0"/>
              <a:t> </a:t>
            </a:r>
            <a:r>
              <a:rPr dirty="0"/>
              <a:t>кошельки</a:t>
            </a:r>
            <a:r>
              <a:rPr spc="-90" dirty="0"/>
              <a:t> </a:t>
            </a:r>
            <a:r>
              <a:rPr dirty="0"/>
              <a:t>физическим</a:t>
            </a:r>
            <a:r>
              <a:rPr spc="-100" dirty="0"/>
              <a:t> </a:t>
            </a:r>
            <a:r>
              <a:rPr dirty="0"/>
              <a:t>и</a:t>
            </a:r>
            <a:r>
              <a:rPr spc="-85" dirty="0"/>
              <a:t> </a:t>
            </a:r>
            <a:r>
              <a:rPr spc="-10" dirty="0"/>
              <a:t>юридическим </a:t>
            </a:r>
            <a:r>
              <a:rPr dirty="0"/>
              <a:t>лицам</a:t>
            </a:r>
            <a:r>
              <a:rPr spc="-75" dirty="0"/>
              <a:t> </a:t>
            </a:r>
            <a:r>
              <a:rPr dirty="0"/>
              <a:t>по</a:t>
            </a:r>
            <a:r>
              <a:rPr spc="-75" dirty="0"/>
              <a:t> </a:t>
            </a:r>
            <a:r>
              <a:rPr dirty="0"/>
              <a:t>их</a:t>
            </a:r>
            <a:r>
              <a:rPr spc="-75" dirty="0"/>
              <a:t> </a:t>
            </a:r>
            <a:r>
              <a:rPr dirty="0"/>
              <a:t>поручению</a:t>
            </a:r>
            <a:r>
              <a:rPr spc="-90" dirty="0"/>
              <a:t> </a:t>
            </a:r>
            <a:r>
              <a:rPr dirty="0"/>
              <a:t>через</a:t>
            </a:r>
            <a:r>
              <a:rPr spc="-75" dirty="0"/>
              <a:t> </a:t>
            </a:r>
            <a:r>
              <a:rPr spc="-10" dirty="0"/>
              <a:t>банки</a:t>
            </a:r>
          </a:p>
          <a:p>
            <a:pPr marL="250190" marR="304800" indent="-228600">
              <a:lnSpc>
                <a:spcPts val="2520"/>
              </a:lnSpc>
              <a:spcBef>
                <a:spcPts val="940"/>
              </a:spcBef>
              <a:buFont typeface="Arial MT"/>
              <a:buChar char="•"/>
              <a:tabLst>
                <a:tab pos="250825" algn="l"/>
              </a:tabLst>
            </a:pPr>
            <a:r>
              <a:rPr dirty="0"/>
              <a:t>Клиентам,</a:t>
            </a:r>
            <a:r>
              <a:rPr spc="-110" dirty="0"/>
              <a:t> </a:t>
            </a:r>
            <a:r>
              <a:rPr dirty="0"/>
              <a:t>банкам</a:t>
            </a:r>
            <a:r>
              <a:rPr spc="-110" dirty="0"/>
              <a:t> </a:t>
            </a:r>
            <a:r>
              <a:rPr dirty="0"/>
              <a:t>и</a:t>
            </a:r>
            <a:r>
              <a:rPr spc="-105" dirty="0"/>
              <a:t> </a:t>
            </a:r>
            <a:r>
              <a:rPr dirty="0"/>
              <a:t>Федеральному</a:t>
            </a:r>
            <a:r>
              <a:rPr spc="-105" dirty="0"/>
              <a:t> </a:t>
            </a:r>
            <a:r>
              <a:rPr dirty="0"/>
              <a:t>казначейству</a:t>
            </a:r>
            <a:r>
              <a:rPr spc="-110" dirty="0"/>
              <a:t> </a:t>
            </a:r>
            <a:r>
              <a:rPr spc="-10" dirty="0"/>
              <a:t>открывается </a:t>
            </a:r>
            <a:r>
              <a:rPr dirty="0"/>
              <a:t>только</a:t>
            </a:r>
            <a:r>
              <a:rPr spc="-65" dirty="0"/>
              <a:t> </a:t>
            </a:r>
            <a:r>
              <a:rPr dirty="0"/>
              <a:t>один</a:t>
            </a:r>
            <a:r>
              <a:rPr spc="-70" dirty="0"/>
              <a:t> </a:t>
            </a:r>
            <a:r>
              <a:rPr dirty="0"/>
              <a:t>кошелек</a:t>
            </a:r>
            <a:r>
              <a:rPr spc="-70" dirty="0"/>
              <a:t> </a:t>
            </a:r>
            <a:r>
              <a:rPr dirty="0"/>
              <a:t>в</a:t>
            </a:r>
            <a:r>
              <a:rPr spc="-60" dirty="0"/>
              <a:t> </a:t>
            </a:r>
            <a:r>
              <a:rPr dirty="0"/>
              <a:t>цифровых</a:t>
            </a:r>
            <a:r>
              <a:rPr spc="-55" dirty="0"/>
              <a:t> </a:t>
            </a:r>
            <a:r>
              <a:rPr spc="-10" dirty="0"/>
              <a:t>рублях</a:t>
            </a:r>
          </a:p>
          <a:p>
            <a:pPr marL="250190" marR="105410" indent="-228600">
              <a:lnSpc>
                <a:spcPts val="2520"/>
              </a:lnSpc>
              <a:spcBef>
                <a:spcPts val="960"/>
              </a:spcBef>
              <a:buFont typeface="Arial MT"/>
              <a:buChar char="•"/>
              <a:tabLst>
                <a:tab pos="250825" algn="l"/>
              </a:tabLst>
            </a:pPr>
            <a:r>
              <a:rPr dirty="0"/>
              <a:t>На</a:t>
            </a:r>
            <a:r>
              <a:rPr spc="-80" dirty="0"/>
              <a:t> </a:t>
            </a:r>
            <a:r>
              <a:rPr dirty="0"/>
              <a:t>размещенные</a:t>
            </a:r>
            <a:r>
              <a:rPr spc="-85" dirty="0"/>
              <a:t> </a:t>
            </a:r>
            <a:r>
              <a:rPr dirty="0"/>
              <a:t>в</a:t>
            </a:r>
            <a:r>
              <a:rPr spc="-70" dirty="0"/>
              <a:t> </a:t>
            </a:r>
            <a:r>
              <a:rPr dirty="0"/>
              <a:t>кошельках</a:t>
            </a:r>
            <a:r>
              <a:rPr spc="-80" dirty="0"/>
              <a:t> </a:t>
            </a:r>
            <a:r>
              <a:rPr dirty="0"/>
              <a:t>цифровые</a:t>
            </a:r>
            <a:r>
              <a:rPr spc="-85" dirty="0"/>
              <a:t> </a:t>
            </a:r>
            <a:r>
              <a:rPr dirty="0"/>
              <a:t>рубли</a:t>
            </a:r>
            <a:r>
              <a:rPr spc="-80" dirty="0"/>
              <a:t> </a:t>
            </a:r>
            <a:r>
              <a:rPr dirty="0"/>
              <a:t>не</a:t>
            </a:r>
            <a:r>
              <a:rPr spc="-85" dirty="0"/>
              <a:t> </a:t>
            </a:r>
            <a:r>
              <a:rPr spc="-10" dirty="0"/>
              <a:t>начисляется </a:t>
            </a:r>
            <a:r>
              <a:rPr dirty="0"/>
              <a:t>процентный</a:t>
            </a:r>
            <a:r>
              <a:rPr spc="-70" dirty="0"/>
              <a:t> </a:t>
            </a:r>
            <a:r>
              <a:rPr dirty="0"/>
              <a:t>доход</a:t>
            </a:r>
            <a:r>
              <a:rPr spc="-70" dirty="0"/>
              <a:t> </a:t>
            </a:r>
            <a:r>
              <a:rPr dirty="0"/>
              <a:t>на</a:t>
            </a:r>
            <a:r>
              <a:rPr spc="-70" dirty="0"/>
              <a:t> </a:t>
            </a:r>
            <a:r>
              <a:rPr spc="-10" dirty="0"/>
              <a:t>остаток</a:t>
            </a:r>
          </a:p>
          <a:p>
            <a:pPr marL="250190" marR="5080" indent="-228600">
              <a:lnSpc>
                <a:spcPts val="2520"/>
              </a:lnSpc>
              <a:spcBef>
                <a:spcPts val="960"/>
              </a:spcBef>
              <a:buFont typeface="Arial MT"/>
              <a:buChar char="•"/>
              <a:tabLst>
                <a:tab pos="250825" algn="l"/>
              </a:tabLst>
            </a:pPr>
            <a:r>
              <a:rPr dirty="0"/>
              <a:t>Средства</a:t>
            </a:r>
            <a:r>
              <a:rPr spc="-85" dirty="0"/>
              <a:t> </a:t>
            </a:r>
            <a:r>
              <a:rPr dirty="0"/>
              <a:t>на</a:t>
            </a:r>
            <a:r>
              <a:rPr spc="-80" dirty="0"/>
              <a:t> </a:t>
            </a:r>
            <a:r>
              <a:rPr dirty="0"/>
              <a:t>кошельке</a:t>
            </a:r>
            <a:r>
              <a:rPr spc="-85" dirty="0"/>
              <a:t> </a:t>
            </a:r>
            <a:r>
              <a:rPr dirty="0"/>
              <a:t>доступны</a:t>
            </a:r>
            <a:r>
              <a:rPr spc="-80" dirty="0"/>
              <a:t> </a:t>
            </a:r>
            <a:r>
              <a:rPr dirty="0"/>
              <a:t>клиенту</a:t>
            </a:r>
            <a:r>
              <a:rPr spc="-70" dirty="0"/>
              <a:t> </a:t>
            </a:r>
            <a:r>
              <a:rPr dirty="0"/>
              <a:t>через</a:t>
            </a:r>
            <a:r>
              <a:rPr spc="-80" dirty="0"/>
              <a:t> </a:t>
            </a:r>
            <a:r>
              <a:rPr dirty="0"/>
              <a:t>любой</a:t>
            </a:r>
            <a:r>
              <a:rPr spc="-80" dirty="0"/>
              <a:t> </a:t>
            </a:r>
            <a:r>
              <a:rPr dirty="0"/>
              <a:t>банк,</a:t>
            </a:r>
            <a:r>
              <a:rPr spc="-75" dirty="0"/>
              <a:t> </a:t>
            </a:r>
            <a:r>
              <a:rPr spc="-25" dirty="0"/>
              <a:t>где </a:t>
            </a:r>
            <a:r>
              <a:rPr dirty="0"/>
              <a:t>он</a:t>
            </a:r>
            <a:r>
              <a:rPr spc="-15" dirty="0"/>
              <a:t> </a:t>
            </a:r>
            <a:r>
              <a:rPr spc="-10" dirty="0"/>
              <a:t>обслуживается.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5999" y="939063"/>
            <a:ext cx="9539997" cy="4006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4189">
              <a:lnSpc>
                <a:spcPct val="100000"/>
              </a:lnSpc>
              <a:spcBef>
                <a:spcPts val="100"/>
              </a:spcBef>
            </a:pPr>
            <a:r>
              <a:rPr dirty="0"/>
              <a:t>Цифровой</a:t>
            </a:r>
            <a:r>
              <a:rPr spc="-50" dirty="0"/>
              <a:t> </a:t>
            </a:r>
            <a:r>
              <a:rPr dirty="0"/>
              <a:t>рубль</a:t>
            </a:r>
            <a:r>
              <a:rPr spc="-45" dirty="0"/>
              <a:t> </a:t>
            </a:r>
            <a:r>
              <a:rPr dirty="0"/>
              <a:t>и</a:t>
            </a:r>
            <a:r>
              <a:rPr spc="-50" dirty="0"/>
              <a:t> </a:t>
            </a:r>
            <a:r>
              <a:rPr spc="-25" dirty="0"/>
              <a:t>смарт-</a:t>
            </a:r>
            <a:r>
              <a:rPr spc="-10" dirty="0"/>
              <a:t>контракты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19152" y="2196084"/>
            <a:ext cx="9594850" cy="16046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algn="ctr">
              <a:lnSpc>
                <a:spcPct val="99500"/>
              </a:lnSpc>
              <a:spcBef>
                <a:spcPts val="114"/>
              </a:spcBef>
            </a:pPr>
            <a:r>
              <a:rPr sz="2600" spc="-20" dirty="0">
                <a:latin typeface="Tahoma"/>
                <a:cs typeface="Tahoma"/>
              </a:rPr>
              <a:t>Смарт-</a:t>
            </a:r>
            <a:r>
              <a:rPr sz="2600" dirty="0">
                <a:latin typeface="Tahoma"/>
                <a:cs typeface="Tahoma"/>
              </a:rPr>
              <a:t>контракт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–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это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цифровой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алгоритм,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который</a:t>
            </a:r>
            <a:r>
              <a:rPr sz="2600" spc="-70" dirty="0">
                <a:latin typeface="Tahoma"/>
                <a:cs typeface="Tahoma"/>
              </a:rPr>
              <a:t> </a:t>
            </a:r>
            <a:r>
              <a:rPr sz="2600" spc="-10" dirty="0">
                <a:latin typeface="Tahoma"/>
                <a:cs typeface="Tahoma"/>
              </a:rPr>
              <a:t>фиксирует </a:t>
            </a:r>
            <a:r>
              <a:rPr sz="2600" dirty="0">
                <a:latin typeface="Tahoma"/>
                <a:cs typeface="Tahoma"/>
              </a:rPr>
              <a:t>сделки</a:t>
            </a:r>
            <a:r>
              <a:rPr sz="2600" spc="-10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и</a:t>
            </a:r>
            <a:r>
              <a:rPr sz="2600" spc="-10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контролирует</a:t>
            </a:r>
            <a:r>
              <a:rPr sz="2600" spc="-10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выполнение</a:t>
            </a:r>
            <a:r>
              <a:rPr sz="2600" spc="-10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обязательств</a:t>
            </a:r>
            <a:r>
              <a:rPr sz="2600" spc="-100" dirty="0">
                <a:latin typeface="Tahoma"/>
                <a:cs typeface="Tahoma"/>
              </a:rPr>
              <a:t> </a:t>
            </a:r>
            <a:r>
              <a:rPr sz="2600" spc="-10" dirty="0">
                <a:latin typeface="Tahoma"/>
                <a:cs typeface="Tahoma"/>
              </a:rPr>
              <a:t>всеми </a:t>
            </a:r>
            <a:r>
              <a:rPr sz="2600" dirty="0">
                <a:latin typeface="Tahoma"/>
                <a:cs typeface="Tahoma"/>
              </a:rPr>
              <a:t>сторонами.</a:t>
            </a:r>
            <a:r>
              <a:rPr sz="2600" spc="-12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Сделка</a:t>
            </a:r>
            <a:r>
              <a:rPr sz="2600" spc="-12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автоматически</a:t>
            </a:r>
            <a:r>
              <a:rPr sz="2600" spc="-12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считается</a:t>
            </a:r>
            <a:r>
              <a:rPr sz="2600" spc="-12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исполненной</a:t>
            </a:r>
            <a:r>
              <a:rPr sz="2600" spc="-125" dirty="0">
                <a:latin typeface="Tahoma"/>
                <a:cs typeface="Tahoma"/>
              </a:rPr>
              <a:t> </a:t>
            </a:r>
            <a:r>
              <a:rPr sz="2600" spc="-25" dirty="0">
                <a:latin typeface="Tahoma"/>
                <a:cs typeface="Tahoma"/>
              </a:rPr>
              <a:t>при </a:t>
            </a:r>
            <a:r>
              <a:rPr sz="2600" dirty="0">
                <a:latin typeface="Tahoma"/>
                <a:cs typeface="Tahoma"/>
              </a:rPr>
              <a:t>наступлении</a:t>
            </a:r>
            <a:r>
              <a:rPr sz="2600" spc="-13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заранее</a:t>
            </a:r>
            <a:r>
              <a:rPr sz="2600" spc="-13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определенных</a:t>
            </a:r>
            <a:r>
              <a:rPr sz="2600" spc="-12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сторонами</a:t>
            </a:r>
            <a:r>
              <a:rPr sz="2600" spc="-130" dirty="0">
                <a:latin typeface="Tahoma"/>
                <a:cs typeface="Tahoma"/>
              </a:rPr>
              <a:t> </a:t>
            </a:r>
            <a:r>
              <a:rPr sz="2600" spc="-10" dirty="0">
                <a:latin typeface="Tahoma"/>
                <a:cs typeface="Tahoma"/>
              </a:rPr>
              <a:t>условий.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1086</Words>
  <Application>Microsoft Office PowerPoint</Application>
  <PresentationFormat>Широкоэкранный</PresentationFormat>
  <Paragraphs>243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3" baseType="lpstr">
      <vt:lpstr>Arial MT</vt:lpstr>
      <vt:lpstr>Calibri</vt:lpstr>
      <vt:lpstr>Tahoma</vt:lpstr>
      <vt:lpstr>Times New Roman</vt:lpstr>
      <vt:lpstr>Wingdings</vt:lpstr>
      <vt:lpstr>Office Theme</vt:lpstr>
      <vt:lpstr>Презентация PowerPoint</vt:lpstr>
      <vt:lpstr>1. Цифровые технологии для граждан</vt:lpstr>
      <vt:lpstr>Умения, навыки и поведение по направлению «Цифровая среда»</vt:lpstr>
      <vt:lpstr>Индекс цифровой финансовой грамотности</vt:lpstr>
      <vt:lpstr>Основные цифровые сервисы, доступные для граждан</vt:lpstr>
      <vt:lpstr>Цифровой профиль гражданина</vt:lpstr>
      <vt:lpstr>Цифровой профиль гражданина</vt:lpstr>
      <vt:lpstr>2. Цифровизация платежей</vt:lpstr>
      <vt:lpstr>Основные виды платежей</vt:lpstr>
      <vt:lpstr>Классификация электронных платежных систем</vt:lpstr>
      <vt:lpstr>Доля безналичных платежей</vt:lpstr>
      <vt:lpstr>Доля наличных денежных средств</vt:lpstr>
      <vt:lpstr>Что оплачивают через интернет</vt:lpstr>
      <vt:lpstr>Как происходит оплата банковской картой</vt:lpstr>
      <vt:lpstr>Система быстрых платежей Как сделать перевод через СБП</vt:lpstr>
      <vt:lpstr>Система быстрых платежей Как оплатить покупку через СБП</vt:lpstr>
      <vt:lpstr>Платежи с помощью NFC</vt:lpstr>
      <vt:lpstr>Платежные аксессуары</vt:lpstr>
      <vt:lpstr>3. Мобильный банк и интернет- банк</vt:lpstr>
      <vt:lpstr>Мобильный банк</vt:lpstr>
      <vt:lpstr>4. Цифровой рубль и цифровые активы</vt:lpstr>
      <vt:lpstr>Что такое блокчейн</vt:lpstr>
      <vt:lpstr>Преимущества блокчейна</vt:lpstr>
      <vt:lpstr>Транзакции в блокчейне</vt:lpstr>
      <vt:lpstr>Цифровой рубль</vt:lpstr>
      <vt:lpstr>Цифровой рубль</vt:lpstr>
      <vt:lpstr>Цифровой рубль и смарт-контракты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Программа повышения квалификации «Формы и методы организации массовой работы по финансовому просвещению лиц предпенсионного и пенсионного возрастов»</dc:title>
  <dc:creator>Елена Р. Хорошева</dc:creator>
  <cp:lastModifiedBy>Елена Р. Хорошева</cp:lastModifiedBy>
  <cp:revision>6</cp:revision>
  <dcterms:created xsi:type="dcterms:W3CDTF">2023-11-27T11:47:36Z</dcterms:created>
  <dcterms:modified xsi:type="dcterms:W3CDTF">2023-12-06T07:26:40Z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2023-10-08T00:00:00Z</vt:filetime>
  </property>
  <property fmtid="{D5CDD505-2E9C-101B-9397-08002B2CF9AE}" pid="3" name="LastSaved">
    <vt:filetime>2023-11-27T00:00:00Z</vt:filetime>
  </property>
  <property fmtid="{D5CDD505-2E9C-101B-9397-08002B2CF9AE}" pid="4" name="Producer">
    <vt:lpwstr>macOS Версия 12.7 (Выпуск 21G813) Quartz PDFContext</vt:lpwstr>
  </property>
</Properties>
</file>