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6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  <p:sldId id="335" r:id="rId60"/>
    <p:sldId id="336" r:id="rId61"/>
    <p:sldId id="337" r:id="rId62"/>
    <p:sldId id="338" r:id="rId63"/>
  </p:sldIdLst>
  <p:sldSz cx="10693400" cy="9144000"/>
  <p:notesSz cx="106934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81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3256" y="1930402"/>
            <a:ext cx="7742854" cy="4439441"/>
          </a:xfrm>
        </p:spPr>
        <p:txBody>
          <a:bodyPr anchor="b"/>
          <a:lstStyle>
            <a:lvl1pPr>
              <a:defRPr sz="842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256" y="6369840"/>
            <a:ext cx="7742854" cy="114856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9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8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3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2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71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63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868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8" y="3815646"/>
            <a:ext cx="7742853" cy="2554196"/>
          </a:xfrm>
        </p:spPr>
        <p:txBody>
          <a:bodyPr anchor="b"/>
          <a:lstStyle>
            <a:lvl1pPr algn="l">
              <a:defRPr sz="4678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256" y="6369841"/>
            <a:ext cx="7742854" cy="1147200"/>
          </a:xfrm>
        </p:spPr>
        <p:txBody>
          <a:bodyPr anchor="t"/>
          <a:lstStyle>
            <a:lvl1pPr marL="0" indent="0" algn="l">
              <a:buNone/>
              <a:defRPr sz="2339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96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7950" y="2747435"/>
            <a:ext cx="3856960" cy="5594351"/>
          </a:xfrm>
        </p:spPr>
        <p:txBody>
          <a:bodyPr>
            <a:normAutofit/>
          </a:bodyPr>
          <a:lstStyle>
            <a:lvl1pPr>
              <a:defRPr sz="2105"/>
            </a:lvl1pPr>
            <a:lvl2pPr>
              <a:defRPr sz="1871"/>
            </a:lvl2pPr>
            <a:lvl3pPr>
              <a:defRPr sz="1637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60755" y="2741458"/>
            <a:ext cx="3856962" cy="5600327"/>
          </a:xfrm>
        </p:spPr>
        <p:txBody>
          <a:bodyPr>
            <a:normAutofit/>
          </a:bodyPr>
          <a:lstStyle>
            <a:lvl1pPr>
              <a:defRPr sz="2105"/>
            </a:lvl1pPr>
            <a:lvl2pPr>
              <a:defRPr sz="1871"/>
            </a:lvl2pPr>
            <a:lvl3pPr>
              <a:defRPr sz="1637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64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949" y="2540000"/>
            <a:ext cx="3856959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7950" y="3352800"/>
            <a:ext cx="3856960" cy="4988984"/>
          </a:xfrm>
        </p:spPr>
        <p:txBody>
          <a:bodyPr>
            <a:normAutofit/>
          </a:bodyPr>
          <a:lstStyle>
            <a:lvl1pPr>
              <a:defRPr sz="2105"/>
            </a:lvl1pPr>
            <a:lvl2pPr>
              <a:defRPr sz="1871"/>
            </a:lvl2pPr>
            <a:lvl3pPr>
              <a:defRPr sz="1637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0756" y="2540000"/>
            <a:ext cx="3856960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60756" y="3352800"/>
            <a:ext cx="3856960" cy="4988984"/>
          </a:xfrm>
        </p:spPr>
        <p:txBody>
          <a:bodyPr>
            <a:normAutofit/>
          </a:bodyPr>
          <a:lstStyle>
            <a:lvl1pPr>
              <a:defRPr sz="2105"/>
            </a:lvl1pPr>
            <a:lvl2pPr>
              <a:defRPr sz="1871"/>
            </a:lvl2pPr>
            <a:lvl3pPr>
              <a:defRPr sz="1637"/>
            </a:lvl3pPr>
            <a:lvl4pPr>
              <a:defRPr sz="1403"/>
            </a:lvl4pPr>
            <a:lvl5pPr>
              <a:defRPr sz="1403"/>
            </a:lvl5pPr>
            <a:lvl6pPr>
              <a:defRPr sz="1403"/>
            </a:lvl6pPr>
            <a:lvl7pPr>
              <a:defRPr sz="1403"/>
            </a:lvl7pPr>
            <a:lvl8pPr>
              <a:defRPr sz="1403"/>
            </a:lvl8pPr>
            <a:lvl9pPr>
              <a:defRPr sz="1403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279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156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413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5" y="1930400"/>
            <a:ext cx="2983793" cy="1930400"/>
          </a:xfrm>
        </p:spPr>
        <p:txBody>
          <a:bodyPr anchor="b"/>
          <a:lstStyle>
            <a:lvl1pPr algn="l">
              <a:defRPr sz="2807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601" y="1930400"/>
            <a:ext cx="4558510" cy="6096000"/>
          </a:xfrm>
        </p:spPr>
        <p:txBody>
          <a:bodyPr anchor="ctr">
            <a:normAutofit/>
          </a:bodyPr>
          <a:lstStyle>
            <a:lvl1pPr>
              <a:defRPr sz="2339"/>
            </a:lvl1pPr>
            <a:lvl2pPr>
              <a:defRPr sz="2105"/>
            </a:lvl2pPr>
            <a:lvl3pPr>
              <a:defRPr sz="1871"/>
            </a:lvl3pPr>
            <a:lvl4pPr>
              <a:defRPr sz="1637"/>
            </a:lvl4pPr>
            <a:lvl5pPr>
              <a:defRPr sz="1637"/>
            </a:lvl5pPr>
            <a:lvl6pPr>
              <a:defRPr sz="1637"/>
            </a:lvl6pPr>
            <a:lvl7pPr>
              <a:defRPr sz="1637"/>
            </a:lvl7pPr>
            <a:lvl8pPr>
              <a:defRPr sz="1637"/>
            </a:lvl8pPr>
            <a:lvl9pPr>
              <a:defRPr sz="1637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6" y="4172375"/>
            <a:ext cx="2983792" cy="3860799"/>
          </a:xfrm>
        </p:spPr>
        <p:txBody>
          <a:bodyPr/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864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337" y="2472256"/>
            <a:ext cx="4468066" cy="2099744"/>
          </a:xfrm>
        </p:spPr>
        <p:txBody>
          <a:bodyPr anchor="b">
            <a:normAutofit/>
          </a:bodyPr>
          <a:lstStyle>
            <a:lvl1pPr algn="l">
              <a:defRPr sz="421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6919" y="1524000"/>
            <a:ext cx="2807748" cy="609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1"/>
            </a:lvl1pPr>
            <a:lvl2pPr marL="534650" indent="0">
              <a:buNone/>
              <a:defRPr sz="1871"/>
            </a:lvl2pPr>
            <a:lvl3pPr marL="1069299" indent="0">
              <a:buNone/>
              <a:defRPr sz="1871"/>
            </a:lvl3pPr>
            <a:lvl4pPr marL="1603949" indent="0">
              <a:buNone/>
              <a:defRPr sz="1871"/>
            </a:lvl4pPr>
            <a:lvl5pPr marL="2138599" indent="0">
              <a:buNone/>
              <a:defRPr sz="1871"/>
            </a:lvl5pPr>
            <a:lvl6pPr marL="2673248" indent="0">
              <a:buNone/>
              <a:defRPr sz="1871"/>
            </a:lvl6pPr>
            <a:lvl7pPr marL="3207898" indent="0">
              <a:buNone/>
              <a:defRPr sz="1871"/>
            </a:lvl7pPr>
            <a:lvl8pPr marL="3742548" indent="0">
              <a:buNone/>
              <a:defRPr sz="1871"/>
            </a:lvl8pPr>
            <a:lvl9pPr marL="4277197" indent="0">
              <a:buNone/>
              <a:defRPr sz="1871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5" y="4876800"/>
            <a:ext cx="4461112" cy="1828800"/>
          </a:xfrm>
        </p:spPr>
        <p:txBody>
          <a:bodyPr>
            <a:normAutofit/>
          </a:bodyPr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107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8" y="6400783"/>
            <a:ext cx="7742853" cy="755651"/>
          </a:xfrm>
        </p:spPr>
        <p:txBody>
          <a:bodyPr anchor="b">
            <a:normAutofit/>
          </a:bodyPr>
          <a:lstStyle>
            <a:lvl1pPr algn="l">
              <a:defRPr sz="2807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3256" y="914401"/>
            <a:ext cx="7742854" cy="485422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1"/>
            </a:lvl1pPr>
            <a:lvl2pPr marL="534650" indent="0">
              <a:buNone/>
              <a:defRPr sz="1871"/>
            </a:lvl2pPr>
            <a:lvl3pPr marL="1069299" indent="0">
              <a:buNone/>
              <a:defRPr sz="1871"/>
            </a:lvl3pPr>
            <a:lvl4pPr marL="1603949" indent="0">
              <a:buNone/>
              <a:defRPr sz="1871"/>
            </a:lvl4pPr>
            <a:lvl5pPr marL="2138599" indent="0">
              <a:buNone/>
              <a:defRPr sz="1871"/>
            </a:lvl5pPr>
            <a:lvl6pPr marL="2673248" indent="0">
              <a:buNone/>
              <a:defRPr sz="1871"/>
            </a:lvl6pPr>
            <a:lvl7pPr marL="3207898" indent="0">
              <a:buNone/>
              <a:defRPr sz="1871"/>
            </a:lvl7pPr>
            <a:lvl8pPr marL="3742548" indent="0">
              <a:buNone/>
              <a:defRPr sz="1871"/>
            </a:lvl8pPr>
            <a:lvl9pPr marL="4277197" indent="0">
              <a:buNone/>
              <a:defRPr sz="1871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7" y="7156433"/>
            <a:ext cx="7742852" cy="658283"/>
          </a:xfrm>
        </p:spPr>
        <p:txBody>
          <a:bodyPr>
            <a:normAutofit/>
          </a:bodyPr>
          <a:lstStyle>
            <a:lvl1pPr marL="0" indent="0">
              <a:buNone/>
              <a:defRPr sz="1403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97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6" y="1930400"/>
            <a:ext cx="7742854" cy="2641600"/>
          </a:xfrm>
        </p:spPr>
        <p:txBody>
          <a:bodyPr/>
          <a:lstStyle>
            <a:lvl1pPr>
              <a:defRPr sz="5613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6" y="4876800"/>
            <a:ext cx="7742854" cy="3149600"/>
          </a:xfrm>
        </p:spPr>
        <p:txBody>
          <a:bodyPr anchor="ctr">
            <a:normAutofit/>
          </a:bodyPr>
          <a:lstStyle>
            <a:lvl1pPr marL="0" indent="0">
              <a:buNone/>
              <a:defRPr sz="2105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154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1592" y="1930400"/>
            <a:ext cx="7017893" cy="3097832"/>
          </a:xfrm>
        </p:spPr>
        <p:txBody>
          <a:bodyPr/>
          <a:lstStyle>
            <a:lvl1pPr>
              <a:defRPr sz="5613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693563" y="5028232"/>
            <a:ext cx="6386522" cy="456232"/>
          </a:xfrm>
        </p:spPr>
        <p:txBody>
          <a:bodyPr anchor="t">
            <a:normAutofit/>
          </a:bodyPr>
          <a:lstStyle>
            <a:lvl1pPr marL="0" indent="0">
              <a:buNone/>
              <a:defRPr lang="en-US" sz="1637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3256" y="5800876"/>
            <a:ext cx="7742854" cy="2235200"/>
          </a:xfrm>
        </p:spPr>
        <p:txBody>
          <a:bodyPr anchor="ctr">
            <a:normAutofit/>
          </a:bodyPr>
          <a:lstStyle>
            <a:lvl1pPr marL="0" indent="0">
              <a:buNone/>
              <a:defRPr sz="2105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788086" y="1295004"/>
            <a:ext cx="703527" cy="2287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2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5749" y="3485050"/>
            <a:ext cx="703527" cy="2287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267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574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256" y="4165601"/>
            <a:ext cx="7742854" cy="2204240"/>
          </a:xfrm>
        </p:spPr>
        <p:txBody>
          <a:bodyPr anchor="b"/>
          <a:lstStyle>
            <a:lvl1pPr algn="l">
              <a:defRPr sz="4678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256" y="6369841"/>
            <a:ext cx="7742854" cy="1147200"/>
          </a:xfrm>
        </p:spPr>
        <p:txBody>
          <a:bodyPr anchor="t"/>
          <a:lstStyle>
            <a:lvl1pPr marL="0" indent="0" algn="l">
              <a:buNone/>
              <a:defRPr sz="2339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2pPr>
            <a:lvl3pPr marL="1069299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3pPr>
            <a:lvl4pPr marL="160394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4pPr>
            <a:lvl5pPr marL="2138599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5pPr>
            <a:lvl6pPr marL="26732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6pPr>
            <a:lvl7pPr marL="320789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7pPr>
            <a:lvl8pPr marL="3742548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8pPr>
            <a:lvl9pPr marL="4277197" indent="0">
              <a:buNone/>
              <a:defRPr sz="16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6017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91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293" y="2641600"/>
            <a:ext cx="2585320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572414" y="3556000"/>
            <a:ext cx="2568198" cy="4785784"/>
          </a:xfrm>
        </p:spPr>
        <p:txBody>
          <a:bodyPr anchor="t">
            <a:normAutofit/>
          </a:bodyPr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7181" y="2641600"/>
            <a:ext cx="2575998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97922" y="3556000"/>
            <a:ext cx="2585257" cy="4785784"/>
          </a:xfrm>
        </p:spPr>
        <p:txBody>
          <a:bodyPr anchor="t">
            <a:normAutofit/>
          </a:bodyPr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250583" y="2641600"/>
            <a:ext cx="2572378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6250583" y="3556000"/>
            <a:ext cx="2572378" cy="4785784"/>
          </a:xfrm>
        </p:spPr>
        <p:txBody>
          <a:bodyPr anchor="t">
            <a:normAutofit/>
          </a:bodyPr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68988" y="2844800"/>
            <a:ext cx="0" cy="52832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108043" y="2844800"/>
            <a:ext cx="0" cy="528917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876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911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2414" y="5667932"/>
            <a:ext cx="2579341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72414" y="2946400"/>
            <a:ext cx="2579341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1"/>
            </a:lvl1pPr>
            <a:lvl2pPr marL="534650" indent="0">
              <a:buNone/>
              <a:defRPr sz="1871"/>
            </a:lvl2pPr>
            <a:lvl3pPr marL="1069299" indent="0">
              <a:buNone/>
              <a:defRPr sz="1871"/>
            </a:lvl3pPr>
            <a:lvl4pPr marL="1603949" indent="0">
              <a:buNone/>
              <a:defRPr sz="1871"/>
            </a:lvl4pPr>
            <a:lvl5pPr marL="2138599" indent="0">
              <a:buNone/>
              <a:defRPr sz="1871"/>
            </a:lvl5pPr>
            <a:lvl6pPr marL="2673248" indent="0">
              <a:buNone/>
              <a:defRPr sz="1871"/>
            </a:lvl6pPr>
            <a:lvl7pPr marL="3207898" indent="0">
              <a:buNone/>
              <a:defRPr sz="1871"/>
            </a:lvl7pPr>
            <a:lvl8pPr marL="3742548" indent="0">
              <a:buNone/>
              <a:defRPr sz="1871"/>
            </a:lvl8pPr>
            <a:lvl9pPr marL="4277197" indent="0">
              <a:buNone/>
              <a:defRPr sz="1871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572414" y="6436283"/>
            <a:ext cx="2579341" cy="878919"/>
          </a:xfrm>
        </p:spPr>
        <p:txBody>
          <a:bodyPr anchor="t">
            <a:normAutofit/>
          </a:bodyPr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2196" y="5667932"/>
            <a:ext cx="2570984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3412194" y="2946400"/>
            <a:ext cx="2570984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1"/>
            </a:lvl1pPr>
            <a:lvl2pPr marL="534650" indent="0">
              <a:buNone/>
              <a:defRPr sz="1871"/>
            </a:lvl2pPr>
            <a:lvl3pPr marL="1069299" indent="0">
              <a:buNone/>
              <a:defRPr sz="1871"/>
            </a:lvl3pPr>
            <a:lvl4pPr marL="1603949" indent="0">
              <a:buNone/>
              <a:defRPr sz="1871"/>
            </a:lvl4pPr>
            <a:lvl5pPr marL="2138599" indent="0">
              <a:buNone/>
              <a:defRPr sz="1871"/>
            </a:lvl5pPr>
            <a:lvl6pPr marL="2673248" indent="0">
              <a:buNone/>
              <a:defRPr sz="1871"/>
            </a:lvl6pPr>
            <a:lvl7pPr marL="3207898" indent="0">
              <a:buNone/>
              <a:defRPr sz="1871"/>
            </a:lvl7pPr>
            <a:lvl8pPr marL="3742548" indent="0">
              <a:buNone/>
              <a:defRPr sz="1871"/>
            </a:lvl8pPr>
            <a:lvl9pPr marL="4277197" indent="0">
              <a:buNone/>
              <a:defRPr sz="1871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008" y="6436282"/>
            <a:ext cx="2574389" cy="878919"/>
          </a:xfrm>
        </p:spPr>
        <p:txBody>
          <a:bodyPr anchor="t">
            <a:normAutofit/>
          </a:bodyPr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250583" y="5667932"/>
            <a:ext cx="2572378" cy="768349"/>
          </a:xfrm>
        </p:spPr>
        <p:txBody>
          <a:bodyPr anchor="b">
            <a:noAutofit/>
          </a:bodyPr>
          <a:lstStyle>
            <a:lvl1pPr marL="0" indent="0">
              <a:buNone/>
              <a:defRPr sz="2807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534650" indent="0">
              <a:buNone/>
              <a:defRPr sz="2339" b="1"/>
            </a:lvl2pPr>
            <a:lvl3pPr marL="1069299" indent="0">
              <a:buNone/>
              <a:defRPr sz="2105" b="1"/>
            </a:lvl3pPr>
            <a:lvl4pPr marL="1603949" indent="0">
              <a:buNone/>
              <a:defRPr sz="1871" b="1"/>
            </a:lvl4pPr>
            <a:lvl5pPr marL="2138599" indent="0">
              <a:buNone/>
              <a:defRPr sz="1871" b="1"/>
            </a:lvl5pPr>
            <a:lvl6pPr marL="2673248" indent="0">
              <a:buNone/>
              <a:defRPr sz="1871" b="1"/>
            </a:lvl6pPr>
            <a:lvl7pPr marL="3207898" indent="0">
              <a:buNone/>
              <a:defRPr sz="1871" b="1"/>
            </a:lvl7pPr>
            <a:lvl8pPr marL="3742548" indent="0">
              <a:buNone/>
              <a:defRPr sz="1871" b="1"/>
            </a:lvl8pPr>
            <a:lvl9pPr marL="4277197" indent="0">
              <a:buNone/>
              <a:defRPr sz="1871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250582" y="2946400"/>
            <a:ext cx="2572378" cy="203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871"/>
            </a:lvl1pPr>
            <a:lvl2pPr marL="534650" indent="0">
              <a:buNone/>
              <a:defRPr sz="1871"/>
            </a:lvl2pPr>
            <a:lvl3pPr marL="1069299" indent="0">
              <a:buNone/>
              <a:defRPr sz="1871"/>
            </a:lvl3pPr>
            <a:lvl4pPr marL="1603949" indent="0">
              <a:buNone/>
              <a:defRPr sz="1871"/>
            </a:lvl4pPr>
            <a:lvl5pPr marL="2138599" indent="0">
              <a:buNone/>
              <a:defRPr sz="1871"/>
            </a:lvl5pPr>
            <a:lvl6pPr marL="2673248" indent="0">
              <a:buNone/>
              <a:defRPr sz="1871"/>
            </a:lvl6pPr>
            <a:lvl7pPr marL="3207898" indent="0">
              <a:buNone/>
              <a:defRPr sz="1871"/>
            </a:lvl7pPr>
            <a:lvl8pPr marL="3742548" indent="0">
              <a:buNone/>
              <a:defRPr sz="1871"/>
            </a:lvl8pPr>
            <a:lvl9pPr marL="4277197" indent="0">
              <a:buNone/>
              <a:defRPr sz="1871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6250476" y="6436279"/>
            <a:ext cx="2575784" cy="878919"/>
          </a:xfrm>
        </p:spPr>
        <p:txBody>
          <a:bodyPr anchor="t">
            <a:normAutofit/>
          </a:bodyPr>
          <a:lstStyle>
            <a:lvl1pPr marL="0" indent="0">
              <a:buNone/>
              <a:defRPr sz="1637"/>
            </a:lvl1pPr>
            <a:lvl2pPr marL="534650" indent="0">
              <a:buNone/>
              <a:defRPr sz="1403"/>
            </a:lvl2pPr>
            <a:lvl3pPr marL="1069299" indent="0">
              <a:buNone/>
              <a:defRPr sz="1169"/>
            </a:lvl3pPr>
            <a:lvl4pPr marL="1603949" indent="0">
              <a:buNone/>
              <a:defRPr sz="1052"/>
            </a:lvl4pPr>
            <a:lvl5pPr marL="2138599" indent="0">
              <a:buNone/>
              <a:defRPr sz="1052"/>
            </a:lvl5pPr>
            <a:lvl6pPr marL="2673248" indent="0">
              <a:buNone/>
              <a:defRPr sz="1052"/>
            </a:lvl6pPr>
            <a:lvl7pPr marL="3207898" indent="0">
              <a:buNone/>
              <a:defRPr sz="1052"/>
            </a:lvl7pPr>
            <a:lvl8pPr marL="3742548" indent="0">
              <a:buNone/>
              <a:defRPr sz="1052"/>
            </a:lvl8pPr>
            <a:lvl9pPr marL="4277197" indent="0">
              <a:buNone/>
              <a:defRPr sz="1052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68988" y="2844800"/>
            <a:ext cx="0" cy="52832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108043" y="2844800"/>
            <a:ext cx="0" cy="5289176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0711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120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85385" y="573619"/>
            <a:ext cx="1537577" cy="7768167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2414" y="1030940"/>
            <a:ext cx="6512416" cy="731084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0684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8270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2444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7366836" y="2235200"/>
            <a:ext cx="3297132" cy="3759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6653942" y="-609600"/>
            <a:ext cx="1871345" cy="2133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7366836" y="8128000"/>
            <a:ext cx="1158452" cy="13208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80081" y="3556000"/>
            <a:ext cx="4901142" cy="558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982086" y="3860800"/>
            <a:ext cx="2762462" cy="3149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9058100" y="0"/>
            <a:ext cx="802005" cy="1465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6841" y="603624"/>
            <a:ext cx="8250875" cy="18673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949" y="2737234"/>
            <a:ext cx="7848906" cy="5593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8683800" y="2457099"/>
            <a:ext cx="1320799" cy="2674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86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973251" y="4369899"/>
            <a:ext cx="5146393" cy="2674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86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082410" y="394315"/>
            <a:ext cx="735362" cy="10235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27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3979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</p:sldLayoutIdLst>
  <p:txStyles>
    <p:titleStyle>
      <a:lvl1pPr algn="l" defTabSz="534650" rtl="0" eaLnBrk="1" latinLnBrk="0" hangingPunct="1">
        <a:spcBef>
          <a:spcPct val="0"/>
        </a:spcBef>
        <a:buNone/>
        <a:defRPr sz="491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00987" indent="-400987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33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68806" indent="-334156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105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36624" indent="-267325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71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871274" indent="-267325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3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05924" indent="-267325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3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940573" indent="-267325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3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475223" indent="-267325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3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009873" indent="-267325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3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544522" indent="-267325" algn="l" defTabSz="534650" rtl="0" eaLnBrk="1" latinLnBrk="0" hangingPunct="1">
        <a:spcBef>
          <a:spcPts val="1169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3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50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94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599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2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89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548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7197" algn="l" defTabSz="534650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pkit.ru/committees/komitet-po-obrazovaniyu/#professionalnye-standarty-v-oblasti-it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orldskills.ru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agilemanifesto.org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4392612"/>
            <a:ext cx="7648575" cy="343043"/>
          </a:xfrm>
          <a:prstGeom prst="rect">
            <a:avLst/>
          </a:prstGeom>
          <a:solidFill>
            <a:srgbClr val="3B8B92"/>
          </a:solidFill>
          <a:ln w="9525">
            <a:solidFill>
              <a:srgbClr val="000000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 marL="4566285">
              <a:lnSpc>
                <a:spcPct val="100000"/>
              </a:lnSpc>
            </a:pPr>
            <a:r>
              <a:rPr sz="2200" dirty="0" smtClean="0">
                <a:solidFill>
                  <a:srgbClr val="FFFFFF"/>
                </a:solidFill>
                <a:latin typeface="Segoe UI Light"/>
                <a:cs typeface="Segoe UI Light"/>
              </a:rPr>
              <a:t>.</a:t>
            </a:r>
            <a:endParaRPr sz="2200" dirty="0">
              <a:latin typeface="Segoe UI Light"/>
              <a:cs typeface="Segoe U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982898"/>
              </p:ext>
            </p:extLst>
          </p:nvPr>
        </p:nvGraphicFramePr>
        <p:xfrm>
          <a:off x="762000" y="1335150"/>
          <a:ext cx="7648575" cy="300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0124">
                <a:tc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44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Стандартизация</a:t>
                      </a:r>
                      <a:r>
                        <a:rPr sz="4400" spc="-3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и</a:t>
                      </a:r>
                      <a:endParaRPr sz="4400">
                        <a:latin typeface="Segoe UI Light"/>
                        <a:cs typeface="Segoe UI Light"/>
                      </a:endParaRPr>
                    </a:p>
                    <a:p>
                      <a:pPr marL="243840">
                        <a:lnSpc>
                          <a:spcPct val="100000"/>
                        </a:lnSpc>
                      </a:pP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лицензирование</a:t>
                      </a:r>
                      <a:r>
                        <a:rPr sz="4400" spc="-5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ПО</a:t>
                      </a:r>
                      <a:endParaRPr sz="4400">
                        <a:latin typeface="Segoe UI Light"/>
                        <a:cs typeface="Segoe UI Light"/>
                      </a:endParaRPr>
                    </a:p>
                  </a:txBody>
                  <a:tcPr marL="0" marR="0" marT="5461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B8B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0251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ru-RU" sz="3200" spc="-5" dirty="0" smtClean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Лекция 14 </a:t>
                      </a:r>
                      <a:endParaRPr sz="3200" dirty="0">
                        <a:latin typeface="Segoe UI Light"/>
                        <a:cs typeface="Segoe UI Light"/>
                      </a:endParaRPr>
                    </a:p>
                  </a:txBody>
                  <a:tcPr marL="0" marR="0" marT="61594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sz="32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Первичные</a:t>
                      </a:r>
                      <a:r>
                        <a:rPr sz="3200" spc="-6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2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положения</a:t>
                      </a:r>
                      <a:r>
                        <a:rPr sz="3200" spc="-1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2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о</a:t>
                      </a:r>
                      <a:endParaRPr sz="3200" dirty="0">
                        <a:latin typeface="Segoe UI Light"/>
                        <a:cs typeface="Segoe UI Light"/>
                      </a:endParaRPr>
                    </a:p>
                    <a:p>
                      <a:pPr marL="234950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32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стандартах</a:t>
                      </a:r>
                      <a:endParaRPr sz="3200" dirty="0">
                        <a:latin typeface="Segoe UI Light"/>
                        <a:cs typeface="Segoe UI Light"/>
                      </a:endParaRPr>
                    </a:p>
                  </a:txBody>
                  <a:tcPr marL="0" marR="0" marT="61594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6F2F9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239063" y="1787588"/>
            <a:ext cx="542925" cy="542925"/>
            <a:chOff x="7239063" y="1787588"/>
            <a:chExt cx="542925" cy="542925"/>
          </a:xfrm>
        </p:grpSpPr>
        <p:sp>
          <p:nvSpPr>
            <p:cNvPr id="5" name="object 5"/>
            <p:cNvSpPr/>
            <p:nvPr/>
          </p:nvSpPr>
          <p:spPr>
            <a:xfrm>
              <a:off x="7243826" y="179235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044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044" y="533400"/>
                  </a:lnTo>
                  <a:lnTo>
                    <a:pt x="533400" y="266700"/>
                  </a:lnTo>
                  <a:lnTo>
                    <a:pt x="225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43826" y="179235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044" y="0"/>
                  </a:lnTo>
                  <a:lnTo>
                    <a:pt x="533400" y="266700"/>
                  </a:lnTo>
                  <a:lnTo>
                    <a:pt x="225044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4"/>
              </a:spcBef>
            </a:pPr>
            <a:r>
              <a:rPr sz="4400" spc="-5" dirty="0"/>
              <a:t>1.</a:t>
            </a:r>
            <a:r>
              <a:rPr sz="4400" spc="-35" dirty="0"/>
              <a:t> </a:t>
            </a:r>
            <a:r>
              <a:rPr sz="4400" spc="-5" dirty="0"/>
              <a:t>Основные</a:t>
            </a:r>
            <a:r>
              <a:rPr sz="4400" spc="-30" dirty="0"/>
              <a:t> </a:t>
            </a:r>
            <a:r>
              <a:rPr sz="4400" spc="-20" dirty="0"/>
              <a:t>термины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396875" y="1905000"/>
            <a:ext cx="9763760" cy="49064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38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 – документ, в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котором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 целях </a:t>
            </a:r>
            <a:r>
              <a:rPr sz="24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добровольного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многократного</a:t>
            </a:r>
            <a:r>
              <a:rPr sz="2400" u="heavy" spc="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 </a:t>
            </a:r>
            <a:r>
              <a:rPr sz="24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использования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устанавливаются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характеристики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продукции,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правила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осуществления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и</a:t>
            </a:r>
            <a:endParaRPr sz="2400" dirty="0">
              <a:latin typeface="Segoe UI Light"/>
              <a:cs typeface="Segoe UI Light"/>
            </a:endParaRPr>
          </a:p>
          <a:p>
            <a:pPr marL="12700" marR="254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характеристики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процессов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проектирования,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производства,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строительства,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монтажа,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наладки,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эксплуатации,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хранения,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перевозки,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реализации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утилизации,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выполнения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работ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или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оказания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услуг.</a:t>
            </a:r>
            <a:endParaRPr sz="24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Стандартизация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деятельность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установлению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правил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endParaRPr sz="2400" dirty="0">
              <a:latin typeface="Segoe UI Light"/>
              <a:cs typeface="Segoe UI Light"/>
            </a:endParaRPr>
          </a:p>
          <a:p>
            <a:pPr marL="12700" marR="37338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характеристик в целях их добровольного многократного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использования,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направленная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достижение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упорядоченности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сферах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производства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обращения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продукции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повышение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конкурентоспособности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продукции,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работ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услуг.</a:t>
            </a:r>
            <a:endParaRPr sz="24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4"/>
              </a:spcBef>
            </a:pPr>
            <a:r>
              <a:rPr sz="4400" spc="-5" dirty="0"/>
              <a:t>Основные</a:t>
            </a:r>
            <a:r>
              <a:rPr sz="4400" spc="-40" dirty="0"/>
              <a:t> </a:t>
            </a:r>
            <a:r>
              <a:rPr sz="4400" spc="-20" dirty="0"/>
              <a:t>термины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774700" y="5943600"/>
            <a:ext cx="9372600" cy="1245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Национальная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система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– взаимосвязанная</a:t>
            </a:r>
            <a:endParaRPr sz="20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совокупность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организационно-функциональных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элементов,</a:t>
            </a:r>
            <a:r>
              <a:rPr sz="20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документов</a:t>
            </a:r>
            <a:endParaRPr sz="20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0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области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стандартизации,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определяющих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0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том</a:t>
            </a:r>
            <a:r>
              <a:rPr sz="20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числе правила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endParaRPr sz="20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процедуры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стандартизации.</a:t>
            </a:r>
            <a:endParaRPr sz="2000" dirty="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90900" y="160020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8735" rIns="0" bIns="0" rtlCol="0">
            <a:spAutoFit/>
          </a:bodyPr>
          <a:lstStyle/>
          <a:p>
            <a:pPr marL="132080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Стандартизация</a:t>
            </a:r>
            <a:endParaRPr sz="20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500" y="266700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005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Международная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0300" y="266700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8735" rIns="0" bIns="0" rtlCol="0">
            <a:spAutoFit/>
          </a:bodyPr>
          <a:lstStyle/>
          <a:p>
            <a:pPr marL="226695">
              <a:lnSpc>
                <a:spcPct val="100000"/>
              </a:lnSpc>
              <a:spcBef>
                <a:spcPts val="305"/>
              </a:spcBef>
            </a:pPr>
            <a:r>
              <a:rPr sz="2000" spc="-10" dirty="0">
                <a:solidFill>
                  <a:srgbClr val="FFFFFF"/>
                </a:solidFill>
                <a:latin typeface="Segoe UI"/>
                <a:cs typeface="Segoe UI"/>
              </a:rPr>
              <a:t>Региональная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10100" y="266700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8735" rIns="0" bIns="0" rtlCol="0">
            <a:spAutoFit/>
          </a:bodyPr>
          <a:lstStyle/>
          <a:p>
            <a:pPr marL="177800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solidFill>
                  <a:srgbClr val="FFFFFF"/>
                </a:solidFill>
                <a:latin typeface="Segoe UI"/>
                <a:cs typeface="Segoe UI"/>
              </a:rPr>
              <a:t>Национальная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19900" y="2667000"/>
            <a:ext cx="21336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005" rIns="0" bIns="0" rtlCol="0">
            <a:spAutoFit/>
          </a:bodyPr>
          <a:lstStyle/>
          <a:p>
            <a:pPr marL="97790">
              <a:lnSpc>
                <a:spcPct val="100000"/>
              </a:lnSpc>
              <a:spcBef>
                <a:spcPts val="315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Внутрифирменная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52825" y="373380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320"/>
              </a:spcBef>
            </a:pPr>
            <a:r>
              <a:rPr sz="1800" spc="-25" dirty="0">
                <a:solidFill>
                  <a:srgbClr val="FFFFFF"/>
                </a:solidFill>
                <a:latin typeface="Segoe UI"/>
                <a:cs typeface="Segoe UI"/>
              </a:rPr>
              <a:t>Государственная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29300" y="373380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9370" rIns="0" bIns="0" rtlCol="0">
            <a:spAutoFit/>
          </a:bodyPr>
          <a:lstStyle/>
          <a:p>
            <a:pPr marL="354965">
              <a:lnSpc>
                <a:spcPct val="100000"/>
              </a:lnSpc>
              <a:spcBef>
                <a:spcPts val="310"/>
              </a:spcBef>
            </a:pPr>
            <a:r>
              <a:rPr sz="2000" spc="-5" dirty="0">
                <a:solidFill>
                  <a:srgbClr val="FFFFFF"/>
                </a:solidFill>
                <a:latin typeface="Segoe UI"/>
                <a:cs typeface="Segoe UI"/>
              </a:rPr>
              <a:t>Отраслевая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163878" y="2209799"/>
            <a:ext cx="6778625" cy="457200"/>
          </a:xfrm>
          <a:custGeom>
            <a:avLst/>
            <a:gdLst/>
            <a:ahLst/>
            <a:cxnLst/>
            <a:rect l="l" t="t" r="r" b="b"/>
            <a:pathLst>
              <a:path w="6778625" h="457200">
                <a:moveTo>
                  <a:pt x="6778193" y="362458"/>
                </a:moveTo>
                <a:lnTo>
                  <a:pt x="6776669" y="356616"/>
                </a:lnTo>
                <a:lnTo>
                  <a:pt x="6767525" y="351282"/>
                </a:lnTo>
                <a:lnTo>
                  <a:pt x="6761683" y="352806"/>
                </a:lnTo>
                <a:lnTo>
                  <a:pt x="6732346" y="403098"/>
                </a:lnTo>
                <a:lnTo>
                  <a:pt x="6732346" y="238125"/>
                </a:lnTo>
                <a:lnTo>
                  <a:pt x="6732346" y="223393"/>
                </a:lnTo>
                <a:lnTo>
                  <a:pt x="6728028" y="219075"/>
                </a:lnTo>
                <a:lnTo>
                  <a:pt x="4480128" y="219075"/>
                </a:lnTo>
                <a:lnTo>
                  <a:pt x="3265246" y="219075"/>
                </a:lnTo>
                <a:lnTo>
                  <a:pt x="3265246" y="0"/>
                </a:lnTo>
                <a:lnTo>
                  <a:pt x="3246196" y="0"/>
                </a:lnTo>
                <a:lnTo>
                  <a:pt x="3246196" y="219075"/>
                </a:lnTo>
                <a:lnTo>
                  <a:pt x="2259914" y="219075"/>
                </a:lnTo>
                <a:lnTo>
                  <a:pt x="50063" y="219075"/>
                </a:lnTo>
                <a:lnTo>
                  <a:pt x="45796" y="223393"/>
                </a:lnTo>
                <a:lnTo>
                  <a:pt x="45796" y="403136"/>
                </a:lnTo>
                <a:lnTo>
                  <a:pt x="16446" y="352806"/>
                </a:lnTo>
                <a:lnTo>
                  <a:pt x="10617" y="351282"/>
                </a:lnTo>
                <a:lnTo>
                  <a:pt x="1524" y="356616"/>
                </a:lnTo>
                <a:lnTo>
                  <a:pt x="0" y="362458"/>
                </a:lnTo>
                <a:lnTo>
                  <a:pt x="2641" y="366903"/>
                </a:lnTo>
                <a:lnTo>
                  <a:pt x="55321" y="457200"/>
                </a:lnTo>
                <a:lnTo>
                  <a:pt x="66357" y="438277"/>
                </a:lnTo>
                <a:lnTo>
                  <a:pt x="108026" y="366903"/>
                </a:lnTo>
                <a:lnTo>
                  <a:pt x="110693" y="362458"/>
                </a:lnTo>
                <a:lnTo>
                  <a:pt x="109169" y="356616"/>
                </a:lnTo>
                <a:lnTo>
                  <a:pt x="100025" y="351282"/>
                </a:lnTo>
                <a:lnTo>
                  <a:pt x="94195" y="352806"/>
                </a:lnTo>
                <a:lnTo>
                  <a:pt x="64846" y="403136"/>
                </a:lnTo>
                <a:lnTo>
                  <a:pt x="64846" y="238125"/>
                </a:lnTo>
                <a:lnTo>
                  <a:pt x="2255596" y="238125"/>
                </a:lnTo>
                <a:lnTo>
                  <a:pt x="2255596" y="403098"/>
                </a:lnTo>
                <a:lnTo>
                  <a:pt x="2226259" y="352806"/>
                </a:lnTo>
                <a:lnTo>
                  <a:pt x="2220417" y="351282"/>
                </a:lnTo>
                <a:lnTo>
                  <a:pt x="2211273" y="356616"/>
                </a:lnTo>
                <a:lnTo>
                  <a:pt x="2209749" y="362458"/>
                </a:lnTo>
                <a:lnTo>
                  <a:pt x="2212416" y="366903"/>
                </a:lnTo>
                <a:lnTo>
                  <a:pt x="2265121" y="457200"/>
                </a:lnTo>
                <a:lnTo>
                  <a:pt x="2276157" y="438277"/>
                </a:lnTo>
                <a:lnTo>
                  <a:pt x="2317826" y="366903"/>
                </a:lnTo>
                <a:lnTo>
                  <a:pt x="2320493" y="362458"/>
                </a:lnTo>
                <a:lnTo>
                  <a:pt x="2318969" y="356616"/>
                </a:lnTo>
                <a:lnTo>
                  <a:pt x="2309825" y="351282"/>
                </a:lnTo>
                <a:lnTo>
                  <a:pt x="2303983" y="352806"/>
                </a:lnTo>
                <a:lnTo>
                  <a:pt x="2274646" y="403098"/>
                </a:lnTo>
                <a:lnTo>
                  <a:pt x="2274646" y="238125"/>
                </a:lnTo>
                <a:lnTo>
                  <a:pt x="3250514" y="238125"/>
                </a:lnTo>
                <a:lnTo>
                  <a:pt x="3260928" y="238125"/>
                </a:lnTo>
                <a:lnTo>
                  <a:pt x="4465396" y="238125"/>
                </a:lnTo>
                <a:lnTo>
                  <a:pt x="4465396" y="403098"/>
                </a:lnTo>
                <a:lnTo>
                  <a:pt x="4436059" y="352806"/>
                </a:lnTo>
                <a:lnTo>
                  <a:pt x="4430217" y="351282"/>
                </a:lnTo>
                <a:lnTo>
                  <a:pt x="4421073" y="356616"/>
                </a:lnTo>
                <a:lnTo>
                  <a:pt x="4419549" y="362458"/>
                </a:lnTo>
                <a:lnTo>
                  <a:pt x="4422216" y="366903"/>
                </a:lnTo>
                <a:lnTo>
                  <a:pt x="4474921" y="457200"/>
                </a:lnTo>
                <a:lnTo>
                  <a:pt x="4485957" y="438277"/>
                </a:lnTo>
                <a:lnTo>
                  <a:pt x="4527626" y="366903"/>
                </a:lnTo>
                <a:lnTo>
                  <a:pt x="4530293" y="362458"/>
                </a:lnTo>
                <a:lnTo>
                  <a:pt x="4528769" y="356616"/>
                </a:lnTo>
                <a:lnTo>
                  <a:pt x="4519625" y="351282"/>
                </a:lnTo>
                <a:lnTo>
                  <a:pt x="4513783" y="352806"/>
                </a:lnTo>
                <a:lnTo>
                  <a:pt x="4484446" y="403098"/>
                </a:lnTo>
                <a:lnTo>
                  <a:pt x="4484446" y="238125"/>
                </a:lnTo>
                <a:lnTo>
                  <a:pt x="6713296" y="238125"/>
                </a:lnTo>
                <a:lnTo>
                  <a:pt x="6713296" y="403098"/>
                </a:lnTo>
                <a:lnTo>
                  <a:pt x="6683959" y="352806"/>
                </a:lnTo>
                <a:lnTo>
                  <a:pt x="6678117" y="351282"/>
                </a:lnTo>
                <a:lnTo>
                  <a:pt x="6668973" y="356616"/>
                </a:lnTo>
                <a:lnTo>
                  <a:pt x="6667449" y="362458"/>
                </a:lnTo>
                <a:lnTo>
                  <a:pt x="6670116" y="366903"/>
                </a:lnTo>
                <a:lnTo>
                  <a:pt x="6722821" y="457200"/>
                </a:lnTo>
                <a:lnTo>
                  <a:pt x="6733857" y="438277"/>
                </a:lnTo>
                <a:lnTo>
                  <a:pt x="6775526" y="366903"/>
                </a:lnTo>
                <a:lnTo>
                  <a:pt x="6778193" y="3624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25772" y="3276600"/>
            <a:ext cx="2387600" cy="457200"/>
          </a:xfrm>
          <a:custGeom>
            <a:avLst/>
            <a:gdLst/>
            <a:ahLst/>
            <a:cxnLst/>
            <a:rect l="l" t="t" r="r" b="b"/>
            <a:pathLst>
              <a:path w="2387600" h="457200">
                <a:moveTo>
                  <a:pt x="2387600" y="362458"/>
                </a:moveTo>
                <a:lnTo>
                  <a:pt x="2386076" y="356616"/>
                </a:lnTo>
                <a:lnTo>
                  <a:pt x="2376932" y="351282"/>
                </a:lnTo>
                <a:lnTo>
                  <a:pt x="2371090" y="352806"/>
                </a:lnTo>
                <a:lnTo>
                  <a:pt x="2341753" y="403098"/>
                </a:lnTo>
                <a:lnTo>
                  <a:pt x="2341753" y="238125"/>
                </a:lnTo>
                <a:lnTo>
                  <a:pt x="2341753" y="223393"/>
                </a:lnTo>
                <a:lnTo>
                  <a:pt x="2337435" y="219075"/>
                </a:lnTo>
                <a:lnTo>
                  <a:pt x="1122553" y="219075"/>
                </a:lnTo>
                <a:lnTo>
                  <a:pt x="1122553" y="0"/>
                </a:lnTo>
                <a:lnTo>
                  <a:pt x="1103503" y="0"/>
                </a:lnTo>
                <a:lnTo>
                  <a:pt x="1103503" y="219075"/>
                </a:lnTo>
                <a:lnTo>
                  <a:pt x="50038" y="219075"/>
                </a:lnTo>
                <a:lnTo>
                  <a:pt x="45847" y="223393"/>
                </a:lnTo>
                <a:lnTo>
                  <a:pt x="45847" y="403326"/>
                </a:lnTo>
                <a:lnTo>
                  <a:pt x="19050" y="357378"/>
                </a:lnTo>
                <a:lnTo>
                  <a:pt x="16510" y="352806"/>
                </a:lnTo>
                <a:lnTo>
                  <a:pt x="10668" y="351282"/>
                </a:lnTo>
                <a:lnTo>
                  <a:pt x="1524" y="356616"/>
                </a:lnTo>
                <a:lnTo>
                  <a:pt x="0" y="362458"/>
                </a:lnTo>
                <a:lnTo>
                  <a:pt x="2667" y="366903"/>
                </a:lnTo>
                <a:lnTo>
                  <a:pt x="55372" y="457200"/>
                </a:lnTo>
                <a:lnTo>
                  <a:pt x="66382" y="438277"/>
                </a:lnTo>
                <a:lnTo>
                  <a:pt x="107950" y="366903"/>
                </a:lnTo>
                <a:lnTo>
                  <a:pt x="110617" y="362458"/>
                </a:lnTo>
                <a:lnTo>
                  <a:pt x="109093" y="356616"/>
                </a:lnTo>
                <a:lnTo>
                  <a:pt x="104521" y="353949"/>
                </a:lnTo>
                <a:lnTo>
                  <a:pt x="100076" y="351282"/>
                </a:lnTo>
                <a:lnTo>
                  <a:pt x="94234" y="352806"/>
                </a:lnTo>
                <a:lnTo>
                  <a:pt x="64897" y="403098"/>
                </a:lnTo>
                <a:lnTo>
                  <a:pt x="64897" y="238125"/>
                </a:lnTo>
                <a:lnTo>
                  <a:pt x="1107821" y="238125"/>
                </a:lnTo>
                <a:lnTo>
                  <a:pt x="1118235" y="238125"/>
                </a:lnTo>
                <a:lnTo>
                  <a:pt x="2322703" y="238125"/>
                </a:lnTo>
                <a:lnTo>
                  <a:pt x="2322703" y="403098"/>
                </a:lnTo>
                <a:lnTo>
                  <a:pt x="2293366" y="352806"/>
                </a:lnTo>
                <a:lnTo>
                  <a:pt x="2287524" y="351282"/>
                </a:lnTo>
                <a:lnTo>
                  <a:pt x="2278380" y="356616"/>
                </a:lnTo>
                <a:lnTo>
                  <a:pt x="2276856" y="362458"/>
                </a:lnTo>
                <a:lnTo>
                  <a:pt x="2279523" y="366903"/>
                </a:lnTo>
                <a:lnTo>
                  <a:pt x="2332228" y="457200"/>
                </a:lnTo>
                <a:lnTo>
                  <a:pt x="2343264" y="438277"/>
                </a:lnTo>
                <a:lnTo>
                  <a:pt x="2384933" y="366903"/>
                </a:lnTo>
                <a:lnTo>
                  <a:pt x="2387600" y="3624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2.</a:t>
            </a:r>
            <a:r>
              <a:rPr sz="26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Современное</a:t>
            </a:r>
            <a:r>
              <a:rPr sz="26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состояние</a:t>
            </a:r>
            <a:endParaRPr sz="2600">
              <a:latin typeface="Segoe UI Light"/>
              <a:cs typeface="Segoe UI Light"/>
            </a:endParaRPr>
          </a:p>
          <a:p>
            <a:pPr marL="90805">
              <a:lnSpc>
                <a:spcPct val="100000"/>
              </a:lnSpc>
            </a:pP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национальной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 системы</a:t>
            </a:r>
            <a:r>
              <a:rPr sz="26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</a:t>
            </a:r>
            <a:endParaRPr sz="2600"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1168653"/>
            <a:ext cx="25507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Законодательная</a:t>
            </a:r>
            <a:r>
              <a:rPr sz="20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база:</a:t>
            </a:r>
            <a:endParaRPr sz="20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7500" y="2389200"/>
            <a:ext cx="3853179" cy="368363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Конституция</a:t>
            </a:r>
            <a:r>
              <a:rPr sz="20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РФ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(ст.71);</a:t>
            </a:r>
            <a:endParaRPr sz="2000" dirty="0">
              <a:latin typeface="Segoe UI Light"/>
              <a:cs typeface="Segoe UI Light"/>
            </a:endParaRPr>
          </a:p>
          <a:p>
            <a:pPr marL="355600" marR="240665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Международные</a:t>
            </a:r>
            <a:r>
              <a:rPr sz="200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соглашения </a:t>
            </a:r>
            <a:r>
              <a:rPr sz="2000" spc="-5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стандартизации;</a:t>
            </a:r>
            <a:endParaRPr sz="2000" dirty="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Федеральный</a:t>
            </a:r>
            <a:r>
              <a:rPr sz="20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закон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«О</a:t>
            </a:r>
            <a:endParaRPr sz="20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техническом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регулировании»</a:t>
            </a:r>
            <a:endParaRPr sz="20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№184-ФЗ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от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27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дек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2002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г;</a:t>
            </a:r>
            <a:endParaRPr sz="2000" dirty="0">
              <a:latin typeface="Segoe UI Light"/>
              <a:cs typeface="Segoe UI Light"/>
            </a:endParaRPr>
          </a:p>
          <a:p>
            <a:pPr marL="342265" marR="123189" indent="-342265" algn="r">
              <a:lnSpc>
                <a:spcPct val="100000"/>
              </a:lnSpc>
              <a:spcBef>
                <a:spcPts val="480"/>
              </a:spcBef>
              <a:buChar char="•"/>
              <a:tabLst>
                <a:tab pos="3422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Правовые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акты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Правительства</a:t>
            </a:r>
            <a:endParaRPr sz="2000" dirty="0">
              <a:latin typeface="Segoe UI Light"/>
              <a:cs typeface="Segoe UI Light"/>
            </a:endParaRPr>
          </a:p>
          <a:p>
            <a:pPr marR="139065" algn="r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РФ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области</a:t>
            </a:r>
            <a:r>
              <a:rPr sz="20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стандартизации;</a:t>
            </a:r>
            <a:endParaRPr sz="2000" dirty="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Др.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документы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области</a:t>
            </a:r>
            <a:endParaRPr sz="2000" dirty="0">
              <a:latin typeface="Segoe UI Light"/>
              <a:cs typeface="Segoe UI Light"/>
            </a:endParaRPr>
          </a:p>
          <a:p>
            <a:pPr marL="355600" marR="508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стандартизации,</a:t>
            </a:r>
            <a:r>
              <a:rPr sz="200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используемые </a:t>
            </a:r>
            <a:r>
              <a:rPr sz="2000" spc="-5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территории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Segoe UI Light"/>
                <a:cs typeface="Segoe UI Light"/>
              </a:rPr>
              <a:t>РФ.</a:t>
            </a:r>
            <a:endParaRPr sz="2000" dirty="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7828" y="1168653"/>
            <a:ext cx="322135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Организационную</a:t>
            </a:r>
            <a:r>
              <a:rPr sz="200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структуру </a:t>
            </a:r>
            <a:r>
              <a:rPr sz="2000" spc="-5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составляют:</a:t>
            </a:r>
            <a:endParaRPr sz="20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27271" y="2389200"/>
            <a:ext cx="3859529" cy="4233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75335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Национальный</a:t>
            </a:r>
            <a:r>
              <a:rPr sz="200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орган</a:t>
            </a:r>
            <a:r>
              <a:rPr sz="200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по </a:t>
            </a:r>
            <a:r>
              <a:rPr sz="2000" spc="-5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(РОССТАНДАРТ);</a:t>
            </a:r>
            <a:endParaRPr sz="2000" dirty="0">
              <a:latin typeface="Segoe UI Light"/>
              <a:cs typeface="Segoe UI Light"/>
            </a:endParaRPr>
          </a:p>
          <a:p>
            <a:pPr marL="355600" marR="65405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Технические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комитеты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по </a:t>
            </a:r>
            <a:r>
              <a:rPr sz="2000" spc="-5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</a:t>
            </a:r>
            <a:r>
              <a:rPr sz="20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(ТК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022</a:t>
            </a:r>
            <a:endParaRPr sz="20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Информационные</a:t>
            </a:r>
            <a:r>
              <a:rPr sz="200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технологии);</a:t>
            </a:r>
            <a:endParaRPr sz="2000" dirty="0">
              <a:latin typeface="Segoe UI Light"/>
              <a:cs typeface="Segoe UI Light"/>
            </a:endParaRPr>
          </a:p>
          <a:p>
            <a:pPr marL="355600" marR="42545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Межотраслевые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советы по </a:t>
            </a: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</a:t>
            </a:r>
            <a:r>
              <a:rPr sz="20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(МС</a:t>
            </a:r>
            <a:r>
              <a:rPr sz="20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тех. </a:t>
            </a:r>
            <a:r>
              <a:rPr sz="2000" spc="-5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регулированию,</a:t>
            </a:r>
            <a:endParaRPr sz="2000" dirty="0">
              <a:latin typeface="Segoe UI Light"/>
              <a:cs typeface="Segoe UI Light"/>
            </a:endParaRPr>
          </a:p>
          <a:p>
            <a:pPr marL="355600" marR="63627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оценке </a:t>
            </a:r>
            <a:r>
              <a:rPr sz="2000" spc="-5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соответствия</a:t>
            </a:r>
            <a:r>
              <a:rPr sz="20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сфере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ИТ);</a:t>
            </a:r>
            <a:endParaRPr sz="2000" dirty="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СТАНДАРТИНФОРМ;</a:t>
            </a:r>
            <a:endParaRPr sz="2000" dirty="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Др.</a:t>
            </a:r>
            <a:endParaRPr sz="20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1226820">
              <a:lnSpc>
                <a:spcPct val="100000"/>
              </a:lnSpc>
              <a:spcBef>
                <a:spcPts val="290"/>
              </a:spcBef>
            </a:pPr>
            <a:r>
              <a:rPr sz="2600" spc="-10" dirty="0"/>
              <a:t>Алгоритм </a:t>
            </a:r>
            <a:r>
              <a:rPr sz="2600" spc="-20" dirty="0"/>
              <a:t>разработки </a:t>
            </a:r>
            <a:r>
              <a:rPr sz="2600" dirty="0"/>
              <a:t>и </a:t>
            </a:r>
            <a:r>
              <a:rPr sz="2600" spc="-15" dirty="0"/>
              <a:t>пересмотра </a:t>
            </a:r>
            <a:r>
              <a:rPr sz="2600" spc="-700" dirty="0"/>
              <a:t> </a:t>
            </a:r>
            <a:r>
              <a:rPr sz="2600" spc="-10" dirty="0"/>
              <a:t>стандарта</a:t>
            </a:r>
            <a:endParaRPr sz="2600"/>
          </a:p>
        </p:txBody>
      </p:sp>
      <p:sp>
        <p:nvSpPr>
          <p:cNvPr id="7" name="object 7"/>
          <p:cNvSpPr/>
          <p:nvPr/>
        </p:nvSpPr>
        <p:spPr>
          <a:xfrm>
            <a:off x="2362200" y="1295361"/>
            <a:ext cx="3962400" cy="654050"/>
          </a:xfrm>
          <a:custGeom>
            <a:avLst/>
            <a:gdLst/>
            <a:ahLst/>
            <a:cxnLst/>
            <a:rect l="l" t="t" r="r" b="b"/>
            <a:pathLst>
              <a:path w="3962400" h="654050">
                <a:moveTo>
                  <a:pt x="3962400" y="0"/>
                </a:moveTo>
                <a:lnTo>
                  <a:pt x="0" y="0"/>
                </a:lnTo>
                <a:lnTo>
                  <a:pt x="0" y="653961"/>
                </a:lnTo>
                <a:lnTo>
                  <a:pt x="3962400" y="653961"/>
                </a:lnTo>
                <a:lnTo>
                  <a:pt x="396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699766" y="1322578"/>
            <a:ext cx="328739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C00000"/>
                </a:solidFill>
                <a:latin typeface="Microsoft Sans Serif"/>
                <a:cs typeface="Microsoft Sans Serif"/>
              </a:rPr>
              <a:t>Разработка</a:t>
            </a:r>
            <a:r>
              <a:rPr sz="1800" spc="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проекта</a:t>
            </a:r>
            <a:r>
              <a:rPr sz="18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стандарта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(первая</a:t>
            </a:r>
            <a:r>
              <a:rPr sz="1800" spc="2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редакция)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362200" y="2209761"/>
            <a:ext cx="3962400" cy="654050"/>
          </a:xfrm>
          <a:custGeom>
            <a:avLst/>
            <a:gdLst/>
            <a:ahLst/>
            <a:cxnLst/>
            <a:rect l="l" t="t" r="r" b="b"/>
            <a:pathLst>
              <a:path w="3962400" h="654050">
                <a:moveTo>
                  <a:pt x="3962400" y="0"/>
                </a:moveTo>
                <a:lnTo>
                  <a:pt x="0" y="0"/>
                </a:lnTo>
                <a:lnTo>
                  <a:pt x="0" y="653961"/>
                </a:lnTo>
                <a:lnTo>
                  <a:pt x="3962400" y="653961"/>
                </a:lnTo>
                <a:lnTo>
                  <a:pt x="396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99766" y="2237359"/>
            <a:ext cx="32873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460" marR="5080" indent="-239395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C00000"/>
                </a:solidFill>
                <a:latin typeface="Microsoft Sans Serif"/>
                <a:cs typeface="Microsoft Sans Serif"/>
              </a:rPr>
              <a:t>Разработка</a:t>
            </a:r>
            <a:r>
              <a:rPr sz="1800" spc="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проекта</a:t>
            </a:r>
            <a:r>
              <a:rPr sz="1800" spc="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стандарта </a:t>
            </a:r>
            <a:r>
              <a:rPr sz="1800" spc="-46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(окончательная</a:t>
            </a:r>
            <a:r>
              <a:rPr sz="1800" spc="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редакция)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62200" y="3168611"/>
            <a:ext cx="3962400" cy="654050"/>
          </a:xfrm>
          <a:custGeom>
            <a:avLst/>
            <a:gdLst/>
            <a:ahLst/>
            <a:cxnLst/>
            <a:rect l="l" t="t" r="r" b="b"/>
            <a:pathLst>
              <a:path w="3962400" h="654050">
                <a:moveTo>
                  <a:pt x="3962400" y="0"/>
                </a:moveTo>
                <a:lnTo>
                  <a:pt x="0" y="0"/>
                </a:lnTo>
                <a:lnTo>
                  <a:pt x="0" y="653961"/>
                </a:lnTo>
                <a:lnTo>
                  <a:pt x="3962400" y="653961"/>
                </a:lnTo>
                <a:lnTo>
                  <a:pt x="396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06801" y="3196209"/>
            <a:ext cx="34759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Утверждение</a:t>
            </a:r>
            <a:r>
              <a:rPr sz="1800" spc="1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и</a:t>
            </a:r>
            <a:r>
              <a:rPr sz="1800" spc="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государственная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8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регистрация</a:t>
            </a:r>
            <a:r>
              <a:rPr sz="1800" spc="-3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стандарта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62200" y="4082973"/>
            <a:ext cx="3962400" cy="327025"/>
          </a:xfrm>
          <a:custGeom>
            <a:avLst/>
            <a:gdLst/>
            <a:ahLst/>
            <a:cxnLst/>
            <a:rect l="l" t="t" r="r" b="b"/>
            <a:pathLst>
              <a:path w="3962400" h="327025">
                <a:moveTo>
                  <a:pt x="3962400" y="0"/>
                </a:moveTo>
                <a:lnTo>
                  <a:pt x="0" y="0"/>
                </a:lnTo>
                <a:lnTo>
                  <a:pt x="0" y="326974"/>
                </a:lnTo>
                <a:lnTo>
                  <a:pt x="3962400" y="326974"/>
                </a:lnTo>
                <a:lnTo>
                  <a:pt x="396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45357" y="4110990"/>
            <a:ext cx="2197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Издание</a:t>
            </a:r>
            <a:r>
              <a:rPr sz="1800" spc="-5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стандартов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62200" y="4680038"/>
            <a:ext cx="3962400" cy="654050"/>
          </a:xfrm>
          <a:custGeom>
            <a:avLst/>
            <a:gdLst/>
            <a:ahLst/>
            <a:cxnLst/>
            <a:rect l="l" t="t" r="r" b="b"/>
            <a:pathLst>
              <a:path w="3962400" h="654050">
                <a:moveTo>
                  <a:pt x="3962400" y="0"/>
                </a:moveTo>
                <a:lnTo>
                  <a:pt x="0" y="0"/>
                </a:lnTo>
                <a:lnTo>
                  <a:pt x="0" y="653961"/>
                </a:lnTo>
                <a:lnTo>
                  <a:pt x="3962400" y="653961"/>
                </a:lnTo>
                <a:lnTo>
                  <a:pt x="39624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39617" y="4708093"/>
            <a:ext cx="26079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Анализ</a:t>
            </a:r>
            <a:r>
              <a:rPr sz="1800" spc="-2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предложений</a:t>
            </a:r>
            <a:r>
              <a:rPr sz="18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об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  <a:p>
            <a:pPr marL="100965">
              <a:lnSpc>
                <a:spcPct val="100000"/>
              </a:lnSpc>
            </a:pPr>
            <a:r>
              <a:rPr sz="18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изменениях</a:t>
            </a:r>
            <a:r>
              <a:rPr sz="18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стандарта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38200" y="5600700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1752600" y="0"/>
                </a:moveTo>
                <a:lnTo>
                  <a:pt x="0" y="0"/>
                </a:lnTo>
                <a:lnTo>
                  <a:pt x="0" y="647700"/>
                </a:lnTo>
                <a:lnTo>
                  <a:pt x="1752600" y="647700"/>
                </a:lnTo>
                <a:lnTo>
                  <a:pt x="1752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41298" y="5629147"/>
            <a:ext cx="1347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Об</a:t>
            </a:r>
            <a:r>
              <a:rPr sz="1800" dirty="0">
                <a:solidFill>
                  <a:srgbClr val="C00000"/>
                </a:solidFill>
                <a:latin typeface="Microsoft Sans Serif"/>
                <a:cs typeface="Microsoft Sans Serif"/>
              </a:rPr>
              <a:t>н</a:t>
            </a:r>
            <a:r>
              <a:rPr sz="18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о</a:t>
            </a:r>
            <a:r>
              <a:rPr sz="1800" spc="-40" dirty="0">
                <a:solidFill>
                  <a:srgbClr val="C00000"/>
                </a:solidFill>
                <a:latin typeface="Microsoft Sans Serif"/>
                <a:cs typeface="Microsoft Sans Serif"/>
              </a:rPr>
              <a:t>в</a:t>
            </a:r>
            <a:r>
              <a:rPr sz="1800" spc="20" dirty="0">
                <a:solidFill>
                  <a:srgbClr val="C00000"/>
                </a:solidFill>
                <a:latin typeface="Microsoft Sans Serif"/>
                <a:cs typeface="Microsoft Sans Serif"/>
              </a:rPr>
              <a:t>л</a:t>
            </a:r>
            <a:r>
              <a:rPr sz="18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ение 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стандарта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67100" y="5600700"/>
            <a:ext cx="1752600" cy="647700"/>
          </a:xfrm>
          <a:custGeom>
            <a:avLst/>
            <a:gdLst/>
            <a:ahLst/>
            <a:cxnLst/>
            <a:rect l="l" t="t" r="r" b="b"/>
            <a:pathLst>
              <a:path w="1752600" h="647700">
                <a:moveTo>
                  <a:pt x="1752600" y="0"/>
                </a:moveTo>
                <a:lnTo>
                  <a:pt x="0" y="0"/>
                </a:lnTo>
                <a:lnTo>
                  <a:pt x="0" y="647700"/>
                </a:lnTo>
                <a:lnTo>
                  <a:pt x="1752600" y="647700"/>
                </a:lnTo>
                <a:lnTo>
                  <a:pt x="1752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746753" y="5629147"/>
            <a:ext cx="11950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 marR="5080" indent="-4445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Пе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р</a:t>
            </a:r>
            <a:r>
              <a:rPr sz="18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ес</a:t>
            </a:r>
            <a:r>
              <a:rPr sz="1800" spc="-30" dirty="0">
                <a:solidFill>
                  <a:srgbClr val="C00000"/>
                </a:solidFill>
                <a:latin typeface="Microsoft Sans Serif"/>
                <a:cs typeface="Microsoft Sans Serif"/>
              </a:rPr>
              <a:t>м</a:t>
            </a:r>
            <a:r>
              <a:rPr sz="1800" spc="-45" dirty="0">
                <a:solidFill>
                  <a:srgbClr val="C00000"/>
                </a:solidFill>
                <a:latin typeface="Microsoft Sans Serif"/>
                <a:cs typeface="Microsoft Sans Serif"/>
              </a:rPr>
              <a:t>о</a:t>
            </a:r>
            <a:r>
              <a:rPr sz="1800" dirty="0">
                <a:solidFill>
                  <a:srgbClr val="C00000"/>
                </a:solidFill>
                <a:latin typeface="Microsoft Sans Serif"/>
                <a:cs typeface="Microsoft Sans Serif"/>
              </a:rPr>
              <a:t>тр  </a:t>
            </a: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стандарта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19800" y="5601271"/>
            <a:ext cx="1752600" cy="59567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12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25"/>
              </a:spcBef>
            </a:pP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Отмена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  <a:p>
            <a:pPr marL="2540" algn="ctr">
              <a:lnSpc>
                <a:spcPct val="100000"/>
              </a:lnSpc>
            </a:pPr>
            <a:r>
              <a:rPr sz="18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стандарта</a:t>
            </a:r>
            <a:endParaRPr sz="18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1470" y="1311211"/>
            <a:ext cx="6631305" cy="5194300"/>
            <a:chOff x="331470" y="1311211"/>
            <a:chExt cx="6631305" cy="5194300"/>
          </a:xfrm>
        </p:grpSpPr>
        <p:sp>
          <p:nvSpPr>
            <p:cNvPr id="23" name="object 23"/>
            <p:cNvSpPr/>
            <p:nvPr/>
          </p:nvSpPr>
          <p:spPr>
            <a:xfrm>
              <a:off x="331470" y="1556003"/>
              <a:ext cx="6631305" cy="4949190"/>
            </a:xfrm>
            <a:custGeom>
              <a:avLst/>
              <a:gdLst/>
              <a:ahLst/>
              <a:cxnLst/>
              <a:rect l="l" t="t" r="r" b="b"/>
              <a:pathLst>
                <a:path w="6631305" h="4949190">
                  <a:moveTo>
                    <a:pt x="2030730" y="3436747"/>
                  </a:moveTo>
                  <a:lnTo>
                    <a:pt x="1375156" y="3436747"/>
                  </a:lnTo>
                  <a:lnTo>
                    <a:pt x="1368806" y="3443097"/>
                  </a:lnTo>
                  <a:lnTo>
                    <a:pt x="1368806" y="3963797"/>
                  </a:lnTo>
                  <a:lnTo>
                    <a:pt x="1368806" y="4016375"/>
                  </a:lnTo>
                  <a:lnTo>
                    <a:pt x="1368679" y="3963581"/>
                  </a:lnTo>
                  <a:lnTo>
                    <a:pt x="1345311" y="3923538"/>
                  </a:lnTo>
                  <a:lnTo>
                    <a:pt x="1341374" y="3916680"/>
                  </a:lnTo>
                  <a:lnTo>
                    <a:pt x="1332611" y="3914394"/>
                  </a:lnTo>
                  <a:lnTo>
                    <a:pt x="1325880" y="3918331"/>
                  </a:lnTo>
                  <a:lnTo>
                    <a:pt x="1319022" y="3922268"/>
                  </a:lnTo>
                  <a:lnTo>
                    <a:pt x="1316736" y="3931031"/>
                  </a:lnTo>
                  <a:lnTo>
                    <a:pt x="1320673" y="3937889"/>
                  </a:lnTo>
                  <a:lnTo>
                    <a:pt x="1383030" y="4044759"/>
                  </a:lnTo>
                  <a:lnTo>
                    <a:pt x="1399590" y="4016375"/>
                  </a:lnTo>
                  <a:lnTo>
                    <a:pt x="1445387" y="3937889"/>
                  </a:lnTo>
                  <a:lnTo>
                    <a:pt x="1449324" y="3931031"/>
                  </a:lnTo>
                  <a:lnTo>
                    <a:pt x="1447038" y="3922268"/>
                  </a:lnTo>
                  <a:lnTo>
                    <a:pt x="1440180" y="3918331"/>
                  </a:lnTo>
                  <a:lnTo>
                    <a:pt x="1433449" y="3914394"/>
                  </a:lnTo>
                  <a:lnTo>
                    <a:pt x="1424686" y="3916680"/>
                  </a:lnTo>
                  <a:lnTo>
                    <a:pt x="1420749" y="3923538"/>
                  </a:lnTo>
                  <a:lnTo>
                    <a:pt x="1397381" y="3963581"/>
                  </a:lnTo>
                  <a:lnTo>
                    <a:pt x="1397254" y="3963797"/>
                  </a:lnTo>
                  <a:lnTo>
                    <a:pt x="1397381" y="3465322"/>
                  </a:lnTo>
                  <a:lnTo>
                    <a:pt x="2030730" y="3465322"/>
                  </a:lnTo>
                  <a:lnTo>
                    <a:pt x="2030730" y="3450971"/>
                  </a:lnTo>
                  <a:lnTo>
                    <a:pt x="2030730" y="3436747"/>
                  </a:lnTo>
                  <a:close/>
                </a:path>
                <a:path w="6631305" h="4949190">
                  <a:moveTo>
                    <a:pt x="2030857" y="980821"/>
                  </a:moveTo>
                  <a:lnTo>
                    <a:pt x="2006244" y="966470"/>
                  </a:lnTo>
                  <a:lnTo>
                    <a:pt x="1917065" y="914400"/>
                  </a:lnTo>
                  <a:lnTo>
                    <a:pt x="1908302" y="916813"/>
                  </a:lnTo>
                  <a:lnTo>
                    <a:pt x="1904365" y="923544"/>
                  </a:lnTo>
                  <a:lnTo>
                    <a:pt x="1900428" y="930402"/>
                  </a:lnTo>
                  <a:lnTo>
                    <a:pt x="1902714" y="939165"/>
                  </a:lnTo>
                  <a:lnTo>
                    <a:pt x="1949551" y="966470"/>
                  </a:lnTo>
                  <a:lnTo>
                    <a:pt x="311188" y="966470"/>
                  </a:lnTo>
                  <a:lnTo>
                    <a:pt x="304787" y="972820"/>
                  </a:lnTo>
                  <a:lnTo>
                    <a:pt x="304787" y="4376432"/>
                  </a:lnTo>
                  <a:lnTo>
                    <a:pt x="311188" y="4382833"/>
                  </a:lnTo>
                  <a:lnTo>
                    <a:pt x="506730" y="4382833"/>
                  </a:lnTo>
                  <a:lnTo>
                    <a:pt x="506730" y="4368546"/>
                  </a:lnTo>
                  <a:lnTo>
                    <a:pt x="506730" y="4354258"/>
                  </a:lnTo>
                  <a:lnTo>
                    <a:pt x="333362" y="4354258"/>
                  </a:lnTo>
                  <a:lnTo>
                    <a:pt x="333362" y="995045"/>
                  </a:lnTo>
                  <a:lnTo>
                    <a:pt x="1949602" y="995045"/>
                  </a:lnTo>
                  <a:lnTo>
                    <a:pt x="1969808" y="983259"/>
                  </a:lnTo>
                  <a:lnTo>
                    <a:pt x="1902714" y="1022477"/>
                  </a:lnTo>
                  <a:lnTo>
                    <a:pt x="1900428" y="1031113"/>
                  </a:lnTo>
                  <a:lnTo>
                    <a:pt x="1908302" y="1044829"/>
                  </a:lnTo>
                  <a:lnTo>
                    <a:pt x="1917065" y="1047115"/>
                  </a:lnTo>
                  <a:lnTo>
                    <a:pt x="2006460" y="995045"/>
                  </a:lnTo>
                  <a:lnTo>
                    <a:pt x="2030857" y="980821"/>
                  </a:lnTo>
                  <a:close/>
                </a:path>
                <a:path w="6631305" h="4949190">
                  <a:moveTo>
                    <a:pt x="4026281" y="4692396"/>
                  </a:moveTo>
                  <a:lnTo>
                    <a:pt x="3997706" y="4692396"/>
                  </a:lnTo>
                  <a:lnTo>
                    <a:pt x="3997706" y="4920373"/>
                  </a:lnTo>
                  <a:lnTo>
                    <a:pt x="28575" y="4920373"/>
                  </a:lnTo>
                  <a:lnTo>
                    <a:pt x="28575" y="80645"/>
                  </a:lnTo>
                  <a:lnTo>
                    <a:pt x="1949602" y="80645"/>
                  </a:lnTo>
                  <a:lnTo>
                    <a:pt x="1969808" y="68859"/>
                  </a:lnTo>
                  <a:lnTo>
                    <a:pt x="1902714" y="108077"/>
                  </a:lnTo>
                  <a:lnTo>
                    <a:pt x="1900428" y="116713"/>
                  </a:lnTo>
                  <a:lnTo>
                    <a:pt x="1908302" y="130429"/>
                  </a:lnTo>
                  <a:lnTo>
                    <a:pt x="1917065" y="132715"/>
                  </a:lnTo>
                  <a:lnTo>
                    <a:pt x="2006460" y="80645"/>
                  </a:lnTo>
                  <a:lnTo>
                    <a:pt x="2030857" y="66421"/>
                  </a:lnTo>
                  <a:lnTo>
                    <a:pt x="2006244" y="52070"/>
                  </a:lnTo>
                  <a:lnTo>
                    <a:pt x="1917065" y="0"/>
                  </a:lnTo>
                  <a:lnTo>
                    <a:pt x="1908302" y="2413"/>
                  </a:lnTo>
                  <a:lnTo>
                    <a:pt x="1904365" y="9144"/>
                  </a:lnTo>
                  <a:lnTo>
                    <a:pt x="1900428" y="16002"/>
                  </a:lnTo>
                  <a:lnTo>
                    <a:pt x="1902714" y="24765"/>
                  </a:lnTo>
                  <a:lnTo>
                    <a:pt x="1949551" y="52070"/>
                  </a:lnTo>
                  <a:lnTo>
                    <a:pt x="6388" y="52070"/>
                  </a:lnTo>
                  <a:lnTo>
                    <a:pt x="0" y="58420"/>
                  </a:lnTo>
                  <a:lnTo>
                    <a:pt x="0" y="4942548"/>
                  </a:lnTo>
                  <a:lnTo>
                    <a:pt x="6388" y="4948948"/>
                  </a:lnTo>
                  <a:lnTo>
                    <a:pt x="4019804" y="4948948"/>
                  </a:lnTo>
                  <a:lnTo>
                    <a:pt x="4026281" y="4942548"/>
                  </a:lnTo>
                  <a:lnTo>
                    <a:pt x="4026281" y="4934661"/>
                  </a:lnTo>
                  <a:lnTo>
                    <a:pt x="4026281" y="4920373"/>
                  </a:lnTo>
                  <a:lnTo>
                    <a:pt x="4026281" y="4692396"/>
                  </a:lnTo>
                  <a:close/>
                </a:path>
                <a:path w="6631305" h="4949190">
                  <a:moveTo>
                    <a:pt x="4078224" y="3931031"/>
                  </a:moveTo>
                  <a:lnTo>
                    <a:pt x="4075938" y="3922268"/>
                  </a:lnTo>
                  <a:lnTo>
                    <a:pt x="4069080" y="3918331"/>
                  </a:lnTo>
                  <a:lnTo>
                    <a:pt x="4062349" y="3914394"/>
                  </a:lnTo>
                  <a:lnTo>
                    <a:pt x="4053586" y="3916680"/>
                  </a:lnTo>
                  <a:lnTo>
                    <a:pt x="4049649" y="3923538"/>
                  </a:lnTo>
                  <a:lnTo>
                    <a:pt x="4026243" y="3963632"/>
                  </a:lnTo>
                  <a:lnTo>
                    <a:pt x="4026154" y="3777996"/>
                  </a:lnTo>
                  <a:lnTo>
                    <a:pt x="3997579" y="3777996"/>
                  </a:lnTo>
                  <a:lnTo>
                    <a:pt x="3997668" y="3963746"/>
                  </a:lnTo>
                  <a:lnTo>
                    <a:pt x="3997706" y="4016375"/>
                  </a:lnTo>
                  <a:lnTo>
                    <a:pt x="3997604" y="3963632"/>
                  </a:lnTo>
                  <a:lnTo>
                    <a:pt x="3974211" y="3923538"/>
                  </a:lnTo>
                  <a:lnTo>
                    <a:pt x="3970274" y="3916680"/>
                  </a:lnTo>
                  <a:lnTo>
                    <a:pt x="3961511" y="3914394"/>
                  </a:lnTo>
                  <a:lnTo>
                    <a:pt x="3954780" y="3918331"/>
                  </a:lnTo>
                  <a:lnTo>
                    <a:pt x="3947922" y="3922268"/>
                  </a:lnTo>
                  <a:lnTo>
                    <a:pt x="3945636" y="3931031"/>
                  </a:lnTo>
                  <a:lnTo>
                    <a:pt x="3949573" y="3937889"/>
                  </a:lnTo>
                  <a:lnTo>
                    <a:pt x="4011930" y="4044759"/>
                  </a:lnTo>
                  <a:lnTo>
                    <a:pt x="4028490" y="4016375"/>
                  </a:lnTo>
                  <a:lnTo>
                    <a:pt x="4074287" y="3937889"/>
                  </a:lnTo>
                  <a:lnTo>
                    <a:pt x="4078224" y="3931031"/>
                  </a:lnTo>
                  <a:close/>
                </a:path>
                <a:path w="6631305" h="4949190">
                  <a:moveTo>
                    <a:pt x="4078224" y="3010408"/>
                  </a:moveTo>
                  <a:lnTo>
                    <a:pt x="4075938" y="3001645"/>
                  </a:lnTo>
                  <a:lnTo>
                    <a:pt x="4069080" y="2997708"/>
                  </a:lnTo>
                  <a:lnTo>
                    <a:pt x="4062349" y="2993771"/>
                  </a:lnTo>
                  <a:lnTo>
                    <a:pt x="4053586" y="2996057"/>
                  </a:lnTo>
                  <a:lnTo>
                    <a:pt x="4026243" y="3042882"/>
                  </a:lnTo>
                  <a:lnTo>
                    <a:pt x="4026154" y="2853944"/>
                  </a:lnTo>
                  <a:lnTo>
                    <a:pt x="3997579" y="2853944"/>
                  </a:lnTo>
                  <a:lnTo>
                    <a:pt x="3997668" y="3043009"/>
                  </a:lnTo>
                  <a:lnTo>
                    <a:pt x="3997706" y="3095752"/>
                  </a:lnTo>
                  <a:lnTo>
                    <a:pt x="3997604" y="3042882"/>
                  </a:lnTo>
                  <a:lnTo>
                    <a:pt x="3970274" y="2996057"/>
                  </a:lnTo>
                  <a:lnTo>
                    <a:pt x="3961511" y="2993771"/>
                  </a:lnTo>
                  <a:lnTo>
                    <a:pt x="3954780" y="2997708"/>
                  </a:lnTo>
                  <a:lnTo>
                    <a:pt x="3947922" y="3001645"/>
                  </a:lnTo>
                  <a:lnTo>
                    <a:pt x="3945636" y="3010408"/>
                  </a:lnTo>
                  <a:lnTo>
                    <a:pt x="3949573" y="3017266"/>
                  </a:lnTo>
                  <a:lnTo>
                    <a:pt x="4011930" y="3124073"/>
                  </a:lnTo>
                  <a:lnTo>
                    <a:pt x="4028452" y="3095752"/>
                  </a:lnTo>
                  <a:lnTo>
                    <a:pt x="4074287" y="3017266"/>
                  </a:lnTo>
                  <a:lnTo>
                    <a:pt x="4078224" y="3010408"/>
                  </a:lnTo>
                  <a:close/>
                </a:path>
                <a:path w="6631305" h="4949190">
                  <a:moveTo>
                    <a:pt x="4078224" y="2413381"/>
                  </a:moveTo>
                  <a:lnTo>
                    <a:pt x="4075938" y="2404618"/>
                  </a:lnTo>
                  <a:lnTo>
                    <a:pt x="4062349" y="2396617"/>
                  </a:lnTo>
                  <a:lnTo>
                    <a:pt x="4053586" y="2398903"/>
                  </a:lnTo>
                  <a:lnTo>
                    <a:pt x="4049649" y="2405761"/>
                  </a:lnTo>
                  <a:lnTo>
                    <a:pt x="4026243" y="2445855"/>
                  </a:lnTo>
                  <a:lnTo>
                    <a:pt x="4026154" y="2266442"/>
                  </a:lnTo>
                  <a:lnTo>
                    <a:pt x="3997579" y="2266442"/>
                  </a:lnTo>
                  <a:lnTo>
                    <a:pt x="3997668" y="2445969"/>
                  </a:lnTo>
                  <a:lnTo>
                    <a:pt x="3997706" y="2498598"/>
                  </a:lnTo>
                  <a:lnTo>
                    <a:pt x="3997604" y="2445855"/>
                  </a:lnTo>
                  <a:lnTo>
                    <a:pt x="3974211" y="2405761"/>
                  </a:lnTo>
                  <a:lnTo>
                    <a:pt x="3970274" y="2398903"/>
                  </a:lnTo>
                  <a:lnTo>
                    <a:pt x="3961511" y="2396617"/>
                  </a:lnTo>
                  <a:lnTo>
                    <a:pt x="3947922" y="2404618"/>
                  </a:lnTo>
                  <a:lnTo>
                    <a:pt x="3945636" y="2413381"/>
                  </a:lnTo>
                  <a:lnTo>
                    <a:pt x="4011930" y="2527046"/>
                  </a:lnTo>
                  <a:lnTo>
                    <a:pt x="4028516" y="2498598"/>
                  </a:lnTo>
                  <a:lnTo>
                    <a:pt x="4078224" y="2413381"/>
                  </a:lnTo>
                  <a:close/>
                </a:path>
                <a:path w="6631305" h="4949190">
                  <a:moveTo>
                    <a:pt x="4078224" y="1498981"/>
                  </a:moveTo>
                  <a:lnTo>
                    <a:pt x="4075938" y="1490218"/>
                  </a:lnTo>
                  <a:lnTo>
                    <a:pt x="4062349" y="1482217"/>
                  </a:lnTo>
                  <a:lnTo>
                    <a:pt x="4053586" y="1484503"/>
                  </a:lnTo>
                  <a:lnTo>
                    <a:pt x="4049649" y="1491361"/>
                  </a:lnTo>
                  <a:lnTo>
                    <a:pt x="4026255" y="1531442"/>
                  </a:lnTo>
                  <a:lnTo>
                    <a:pt x="4026166" y="1531581"/>
                  </a:lnTo>
                  <a:lnTo>
                    <a:pt x="4026154" y="1307719"/>
                  </a:lnTo>
                  <a:lnTo>
                    <a:pt x="3997579" y="1307719"/>
                  </a:lnTo>
                  <a:lnTo>
                    <a:pt x="3997680" y="1531581"/>
                  </a:lnTo>
                  <a:lnTo>
                    <a:pt x="3997706" y="1584198"/>
                  </a:lnTo>
                  <a:lnTo>
                    <a:pt x="3997591" y="1531442"/>
                  </a:lnTo>
                  <a:lnTo>
                    <a:pt x="3974211" y="1491361"/>
                  </a:lnTo>
                  <a:lnTo>
                    <a:pt x="3970274" y="1484503"/>
                  </a:lnTo>
                  <a:lnTo>
                    <a:pt x="3961511" y="1482217"/>
                  </a:lnTo>
                  <a:lnTo>
                    <a:pt x="3947922" y="1490218"/>
                  </a:lnTo>
                  <a:lnTo>
                    <a:pt x="3945636" y="1498981"/>
                  </a:lnTo>
                  <a:lnTo>
                    <a:pt x="4011930" y="1612646"/>
                  </a:lnTo>
                  <a:lnTo>
                    <a:pt x="4028516" y="1584198"/>
                  </a:lnTo>
                  <a:lnTo>
                    <a:pt x="4078224" y="1498981"/>
                  </a:lnTo>
                  <a:close/>
                </a:path>
                <a:path w="6631305" h="4949190">
                  <a:moveTo>
                    <a:pt x="4078224" y="540131"/>
                  </a:moveTo>
                  <a:lnTo>
                    <a:pt x="4075938" y="531368"/>
                  </a:lnTo>
                  <a:lnTo>
                    <a:pt x="4069080" y="527431"/>
                  </a:lnTo>
                  <a:lnTo>
                    <a:pt x="4062349" y="523494"/>
                  </a:lnTo>
                  <a:lnTo>
                    <a:pt x="4053586" y="525780"/>
                  </a:lnTo>
                  <a:lnTo>
                    <a:pt x="4049649" y="532638"/>
                  </a:lnTo>
                  <a:lnTo>
                    <a:pt x="4026243" y="572731"/>
                  </a:lnTo>
                  <a:lnTo>
                    <a:pt x="4026154" y="393319"/>
                  </a:lnTo>
                  <a:lnTo>
                    <a:pt x="3997579" y="393319"/>
                  </a:lnTo>
                  <a:lnTo>
                    <a:pt x="3997668" y="572846"/>
                  </a:lnTo>
                  <a:lnTo>
                    <a:pt x="3997706" y="625475"/>
                  </a:lnTo>
                  <a:lnTo>
                    <a:pt x="3997604" y="572731"/>
                  </a:lnTo>
                  <a:lnTo>
                    <a:pt x="3974211" y="532638"/>
                  </a:lnTo>
                  <a:lnTo>
                    <a:pt x="3970274" y="525780"/>
                  </a:lnTo>
                  <a:lnTo>
                    <a:pt x="3961511" y="523494"/>
                  </a:lnTo>
                  <a:lnTo>
                    <a:pt x="3954780" y="527431"/>
                  </a:lnTo>
                  <a:lnTo>
                    <a:pt x="3947922" y="531368"/>
                  </a:lnTo>
                  <a:lnTo>
                    <a:pt x="3945636" y="540131"/>
                  </a:lnTo>
                  <a:lnTo>
                    <a:pt x="3949573" y="546989"/>
                  </a:lnTo>
                  <a:lnTo>
                    <a:pt x="4011930" y="653923"/>
                  </a:lnTo>
                  <a:lnTo>
                    <a:pt x="4028516" y="625475"/>
                  </a:lnTo>
                  <a:lnTo>
                    <a:pt x="4074287" y="546989"/>
                  </a:lnTo>
                  <a:lnTo>
                    <a:pt x="4078224" y="540131"/>
                  </a:lnTo>
                  <a:close/>
                </a:path>
                <a:path w="6631305" h="4949190">
                  <a:moveTo>
                    <a:pt x="6630924" y="3931666"/>
                  </a:moveTo>
                  <a:lnTo>
                    <a:pt x="6628638" y="3922903"/>
                  </a:lnTo>
                  <a:lnTo>
                    <a:pt x="6621780" y="3918966"/>
                  </a:lnTo>
                  <a:lnTo>
                    <a:pt x="6615049" y="3914902"/>
                  </a:lnTo>
                  <a:lnTo>
                    <a:pt x="6606286" y="3917188"/>
                  </a:lnTo>
                  <a:lnTo>
                    <a:pt x="6602349" y="3924046"/>
                  </a:lnTo>
                  <a:lnTo>
                    <a:pt x="6578981" y="3964089"/>
                  </a:lnTo>
                  <a:lnTo>
                    <a:pt x="6578854" y="4017010"/>
                  </a:lnTo>
                  <a:lnTo>
                    <a:pt x="6578854" y="4009771"/>
                  </a:lnTo>
                  <a:lnTo>
                    <a:pt x="6578854" y="3964305"/>
                  </a:lnTo>
                  <a:lnTo>
                    <a:pt x="6578854" y="3465322"/>
                  </a:lnTo>
                  <a:lnTo>
                    <a:pt x="6578854" y="3450971"/>
                  </a:lnTo>
                  <a:lnTo>
                    <a:pt x="6578854" y="3443097"/>
                  </a:lnTo>
                  <a:lnTo>
                    <a:pt x="6572504" y="3436747"/>
                  </a:lnTo>
                  <a:lnTo>
                    <a:pt x="5993130" y="3436747"/>
                  </a:lnTo>
                  <a:lnTo>
                    <a:pt x="5993130" y="3465322"/>
                  </a:lnTo>
                  <a:lnTo>
                    <a:pt x="6550279" y="3465322"/>
                  </a:lnTo>
                  <a:lnTo>
                    <a:pt x="6550406" y="3964305"/>
                  </a:lnTo>
                  <a:lnTo>
                    <a:pt x="6564630" y="3988676"/>
                  </a:lnTo>
                  <a:lnTo>
                    <a:pt x="6550279" y="3964089"/>
                  </a:lnTo>
                  <a:lnTo>
                    <a:pt x="6526911" y="3924046"/>
                  </a:lnTo>
                  <a:lnTo>
                    <a:pt x="6522974" y="3917188"/>
                  </a:lnTo>
                  <a:lnTo>
                    <a:pt x="6514211" y="3914902"/>
                  </a:lnTo>
                  <a:lnTo>
                    <a:pt x="6507480" y="3918966"/>
                  </a:lnTo>
                  <a:lnTo>
                    <a:pt x="6500622" y="3922903"/>
                  </a:lnTo>
                  <a:lnTo>
                    <a:pt x="6498336" y="3931666"/>
                  </a:lnTo>
                  <a:lnTo>
                    <a:pt x="6564630" y="4045331"/>
                  </a:lnTo>
                  <a:lnTo>
                    <a:pt x="6581140" y="4017010"/>
                  </a:lnTo>
                  <a:lnTo>
                    <a:pt x="6630924" y="39316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515099" y="1325499"/>
              <a:ext cx="342900" cy="1508125"/>
            </a:xfrm>
            <a:custGeom>
              <a:avLst/>
              <a:gdLst/>
              <a:ahLst/>
              <a:cxnLst/>
              <a:rect l="l" t="t" r="r" b="b"/>
              <a:pathLst>
                <a:path w="342900" h="1508125">
                  <a:moveTo>
                    <a:pt x="0" y="0"/>
                  </a:moveTo>
                  <a:lnTo>
                    <a:pt x="45596" y="5583"/>
                  </a:lnTo>
                  <a:lnTo>
                    <a:pt x="86557" y="21340"/>
                  </a:lnTo>
                  <a:lnTo>
                    <a:pt x="121253" y="45783"/>
                  </a:lnTo>
                  <a:lnTo>
                    <a:pt x="148053" y="77422"/>
                  </a:lnTo>
                  <a:lnTo>
                    <a:pt x="165329" y="114770"/>
                  </a:lnTo>
                  <a:lnTo>
                    <a:pt x="171450" y="156337"/>
                  </a:lnTo>
                  <a:lnTo>
                    <a:pt x="171450" y="597788"/>
                  </a:lnTo>
                  <a:lnTo>
                    <a:pt x="177570" y="639355"/>
                  </a:lnTo>
                  <a:lnTo>
                    <a:pt x="194846" y="676703"/>
                  </a:lnTo>
                  <a:lnTo>
                    <a:pt x="221646" y="708342"/>
                  </a:lnTo>
                  <a:lnTo>
                    <a:pt x="256342" y="732785"/>
                  </a:lnTo>
                  <a:lnTo>
                    <a:pt x="297303" y="748542"/>
                  </a:lnTo>
                  <a:lnTo>
                    <a:pt x="342900" y="754126"/>
                  </a:lnTo>
                  <a:lnTo>
                    <a:pt x="297303" y="759708"/>
                  </a:lnTo>
                  <a:lnTo>
                    <a:pt x="256342" y="775462"/>
                  </a:lnTo>
                  <a:lnTo>
                    <a:pt x="221646" y="799893"/>
                  </a:lnTo>
                  <a:lnTo>
                    <a:pt x="194846" y="831511"/>
                  </a:lnTo>
                  <a:lnTo>
                    <a:pt x="177570" y="868822"/>
                  </a:lnTo>
                  <a:lnTo>
                    <a:pt x="171450" y="910336"/>
                  </a:lnTo>
                  <a:lnTo>
                    <a:pt x="171450" y="1351788"/>
                  </a:lnTo>
                  <a:lnTo>
                    <a:pt x="165329" y="1393354"/>
                  </a:lnTo>
                  <a:lnTo>
                    <a:pt x="148053" y="1430702"/>
                  </a:lnTo>
                  <a:lnTo>
                    <a:pt x="121253" y="1462341"/>
                  </a:lnTo>
                  <a:lnTo>
                    <a:pt x="86557" y="1486784"/>
                  </a:lnTo>
                  <a:lnTo>
                    <a:pt x="45596" y="1502541"/>
                  </a:lnTo>
                  <a:lnTo>
                    <a:pt x="0" y="1508125"/>
                  </a:lnTo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976109" y="1681353"/>
            <a:ext cx="13582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Т</a:t>
            </a:r>
            <a:r>
              <a:rPr sz="1800" spc="-45" dirty="0">
                <a:solidFill>
                  <a:srgbClr val="FFFFFF"/>
                </a:solidFill>
                <a:latin typeface="Microsoft Sans Serif"/>
                <a:cs typeface="Microsoft Sans Serif"/>
              </a:rPr>
              <a:t>е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х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нические  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комитеты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(ТК)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11161" y="3353815"/>
            <a:ext cx="13646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Росстандарт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48245" y="4066489"/>
            <a:ext cx="188531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Стандартинформ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48245" y="4861052"/>
            <a:ext cx="19018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Росстандарт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ТК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1758950">
              <a:lnSpc>
                <a:spcPct val="100000"/>
              </a:lnSpc>
              <a:spcBef>
                <a:spcPts val="290"/>
              </a:spcBef>
            </a:pP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3.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Актуальность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 </a:t>
            </a:r>
            <a:r>
              <a:rPr sz="2600" spc="-6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информационных</a:t>
            </a:r>
            <a:r>
              <a:rPr sz="26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технологий</a:t>
            </a:r>
            <a:endParaRPr sz="2600"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8743" y="2286000"/>
            <a:ext cx="8647557" cy="4634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Стандартизация</a:t>
            </a:r>
            <a:r>
              <a:rPr sz="28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информационных</a:t>
            </a:r>
            <a:r>
              <a:rPr sz="28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технологий </a:t>
            </a:r>
            <a:r>
              <a:rPr sz="2800" spc="-7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предоставляет</a:t>
            </a:r>
            <a:r>
              <a:rPr sz="28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возможность</a:t>
            </a:r>
            <a:r>
              <a:rPr sz="28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Segoe UI Light"/>
                <a:cs typeface="Segoe UI Light"/>
              </a:rPr>
              <a:t>интеграции</a:t>
            </a:r>
            <a:endParaRPr sz="2800" dirty="0">
              <a:latin typeface="Segoe UI Light"/>
              <a:cs typeface="Segoe UI Light"/>
            </a:endParaRPr>
          </a:p>
          <a:p>
            <a:pPr marL="355600" marR="2383790">
              <a:lnSpc>
                <a:spcPct val="100000"/>
              </a:lnSpc>
            </a:pP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различных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информационных</a:t>
            </a:r>
            <a:r>
              <a:rPr sz="2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800" spc="-7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коммуникационных</a:t>
            </a:r>
            <a:r>
              <a:rPr sz="2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Segoe UI Light"/>
                <a:cs typeface="Segoe UI Light"/>
              </a:rPr>
              <a:t>систем.</a:t>
            </a:r>
            <a:endParaRPr sz="28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500" dirty="0">
              <a:latin typeface="Segoe UI Light"/>
              <a:cs typeface="Segoe UI Light"/>
            </a:endParaRPr>
          </a:p>
          <a:p>
            <a:pPr marL="355600" marR="48450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Стандартизация</a:t>
            </a:r>
            <a:r>
              <a:rPr sz="28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ИТ</a:t>
            </a:r>
            <a:r>
              <a:rPr sz="2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dirty="0">
                <a:solidFill>
                  <a:srgbClr val="FFFFFF"/>
                </a:solidFill>
                <a:latin typeface="Segoe UI Light"/>
                <a:cs typeface="Segoe UI Light"/>
              </a:rPr>
              <a:t>выступает</a:t>
            </a:r>
            <a:r>
              <a:rPr sz="2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как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средство </a:t>
            </a:r>
            <a:r>
              <a:rPr sz="2800" spc="-7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управления</a:t>
            </a:r>
            <a:r>
              <a:rPr sz="2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процессами</a:t>
            </a:r>
            <a:r>
              <a:rPr sz="2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информатизации.</a:t>
            </a:r>
            <a:endParaRPr sz="28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Segoe UI Light"/>
              <a:buChar char="•"/>
            </a:pPr>
            <a:endParaRPr sz="3500" dirty="0">
              <a:latin typeface="Segoe UI Light"/>
              <a:cs typeface="Segoe UI Light"/>
            </a:endParaRPr>
          </a:p>
          <a:p>
            <a:pPr marL="355600" marR="713105" indent="-342900">
              <a:lnSpc>
                <a:spcPct val="100000"/>
              </a:lnSpc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Стандартизация</a:t>
            </a:r>
            <a:r>
              <a:rPr sz="28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ИТ</a:t>
            </a:r>
            <a:r>
              <a:rPr sz="2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позволяет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внедрять</a:t>
            </a:r>
            <a:r>
              <a:rPr sz="2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800" spc="-7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использовать</a:t>
            </a:r>
            <a:r>
              <a:rPr sz="28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принцип</a:t>
            </a:r>
            <a:r>
              <a:rPr sz="2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открытых</a:t>
            </a:r>
            <a:r>
              <a:rPr sz="28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систем.</a:t>
            </a:r>
            <a:endParaRPr sz="28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3200" dirty="0"/>
              <a:t>4.</a:t>
            </a:r>
            <a:r>
              <a:rPr sz="3200" spc="-25" dirty="0"/>
              <a:t> </a:t>
            </a:r>
            <a:r>
              <a:rPr sz="3200" dirty="0"/>
              <a:t>Цели</a:t>
            </a:r>
            <a:r>
              <a:rPr sz="3200" spc="-35" dirty="0"/>
              <a:t> </a:t>
            </a:r>
            <a:r>
              <a:rPr sz="3200" spc="-5" dirty="0"/>
              <a:t>стандартизации</a:t>
            </a:r>
            <a:r>
              <a:rPr sz="3200" spc="-35" dirty="0"/>
              <a:t> </a:t>
            </a:r>
            <a:r>
              <a:rPr sz="3200" dirty="0"/>
              <a:t>ИТ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622300" y="2286000"/>
            <a:ext cx="9366911" cy="4726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Основная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цель</a:t>
            </a:r>
            <a:r>
              <a:rPr sz="2400" spc="-1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достижение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упорядоченности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сферах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создания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endParaRPr sz="20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обращения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ИТ-продукции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(работ,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услуг),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i="1" dirty="0">
                <a:solidFill>
                  <a:srgbClr val="FFFFFF"/>
                </a:solidFill>
                <a:latin typeface="Segoe UI Light"/>
                <a:cs typeface="Segoe UI Light"/>
              </a:rPr>
              <a:t>а</a:t>
            </a:r>
            <a:r>
              <a:rPr sz="2400" i="1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i="1" spc="-5" dirty="0">
                <a:solidFill>
                  <a:srgbClr val="FFFFFF"/>
                </a:solidFill>
                <a:latin typeface="Segoe UI Light"/>
                <a:cs typeface="Segoe UI Light"/>
              </a:rPr>
              <a:t>именно:</a:t>
            </a:r>
            <a:endParaRPr sz="2400" dirty="0">
              <a:latin typeface="Segoe UI Light"/>
              <a:cs typeface="Segoe UI Light"/>
            </a:endParaRPr>
          </a:p>
          <a:p>
            <a:pPr marL="355600" marR="1127760" indent="-343535">
              <a:lnSpc>
                <a:spcPct val="100000"/>
              </a:lnSpc>
              <a:spcBef>
                <a:spcPts val="2120"/>
              </a:spcBef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обеспечение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конкурентоспособности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 качества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ИТ- </a:t>
            </a:r>
            <a:r>
              <a:rPr sz="2200" spc="-5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продукции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(работ,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услуг);</a:t>
            </a:r>
            <a:endParaRPr sz="22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Char char="•"/>
              <a:tabLst>
                <a:tab pos="355600" algn="l"/>
                <a:tab pos="356235" algn="l"/>
              </a:tabLst>
            </a:pP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улучшение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технико-экономических</a:t>
            </a:r>
            <a:r>
              <a:rPr sz="22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показателей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проектов</a:t>
            </a:r>
            <a:endParaRPr sz="22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программных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средств;</a:t>
            </a:r>
            <a:endParaRPr sz="22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обеспечение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переносимости</a:t>
            </a:r>
            <a:r>
              <a:rPr sz="22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прикладных</a:t>
            </a:r>
            <a:r>
              <a:rPr sz="22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</a:t>
            </a:r>
            <a:r>
              <a:rPr sz="22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данных</a:t>
            </a:r>
            <a:endParaRPr sz="22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между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разными</a:t>
            </a:r>
            <a:r>
              <a:rPr sz="22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аппаратно-программными</a:t>
            </a:r>
            <a:r>
              <a:rPr sz="22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платформами;</a:t>
            </a:r>
            <a:endParaRPr sz="2200" dirty="0">
              <a:latin typeface="Segoe UI Light"/>
              <a:cs typeface="Segoe UI Light"/>
            </a:endParaRPr>
          </a:p>
          <a:p>
            <a:pPr marL="355600" marR="1091565" indent="-343535">
              <a:lnSpc>
                <a:spcPct val="100000"/>
              </a:lnSpc>
              <a:spcBef>
                <a:spcPts val="525"/>
              </a:spcBef>
              <a:buChar char="•"/>
              <a:tabLst>
                <a:tab pos="355600" algn="l"/>
                <a:tab pos="356235" algn="l"/>
              </a:tabLst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возможность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проведения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анализа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характеристик</a:t>
            </a:r>
            <a:r>
              <a:rPr sz="22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ИТ- </a:t>
            </a:r>
            <a:r>
              <a:rPr sz="2200" spc="-5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продукции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(работ,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услуг);</a:t>
            </a:r>
            <a:endParaRPr sz="2200" dirty="0">
              <a:latin typeface="Segoe UI Light"/>
              <a:cs typeface="Segoe UI Light"/>
            </a:endParaRPr>
          </a:p>
          <a:p>
            <a:pPr marL="355600" marR="501015" indent="-343535">
              <a:lnSpc>
                <a:spcPct val="100000"/>
              </a:lnSpc>
              <a:spcBef>
                <a:spcPts val="530"/>
              </a:spcBef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обеспечение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возможности</a:t>
            </a:r>
            <a:r>
              <a:rPr sz="22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масштабировать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программное </a:t>
            </a:r>
            <a:r>
              <a:rPr sz="2200" spc="-5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средство;</a:t>
            </a:r>
            <a:endParaRPr sz="2200" dirty="0">
              <a:latin typeface="Segoe UI Light"/>
              <a:cs typeface="Segoe UI Light"/>
            </a:endParaRPr>
          </a:p>
          <a:p>
            <a:pPr marL="355600" marR="46355" indent="-343535">
              <a:lnSpc>
                <a:spcPct val="100000"/>
              </a:lnSpc>
              <a:spcBef>
                <a:spcPts val="530"/>
              </a:spcBef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создание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систем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обеспечения</a:t>
            </a:r>
            <a:r>
              <a:rPr sz="22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ИТ-продукции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(работ, </a:t>
            </a:r>
            <a:r>
              <a:rPr sz="2200" spc="-5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услуг).</a:t>
            </a:r>
            <a:endParaRPr sz="22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1185545">
              <a:lnSpc>
                <a:spcPct val="100000"/>
              </a:lnSpc>
              <a:spcBef>
                <a:spcPts val="290"/>
              </a:spcBef>
            </a:pPr>
            <a:r>
              <a:rPr sz="2600" spc="-5" dirty="0"/>
              <a:t>5. </a:t>
            </a:r>
            <a:r>
              <a:rPr sz="2600" dirty="0"/>
              <a:t>«Слабые» места </a:t>
            </a:r>
            <a:r>
              <a:rPr sz="2600" spc="-10" dirty="0"/>
              <a:t>российской </a:t>
            </a:r>
            <a:r>
              <a:rPr sz="2600" dirty="0"/>
              <a:t>и </a:t>
            </a:r>
            <a:r>
              <a:rPr sz="2600" spc="5" dirty="0"/>
              <a:t> </a:t>
            </a:r>
            <a:r>
              <a:rPr sz="2600" spc="-5" dirty="0"/>
              <a:t>зарубежных</a:t>
            </a:r>
            <a:r>
              <a:rPr sz="2600" spc="-30" dirty="0"/>
              <a:t> </a:t>
            </a:r>
            <a:r>
              <a:rPr sz="2600" spc="-15" dirty="0"/>
              <a:t>систем</a:t>
            </a:r>
            <a:r>
              <a:rPr sz="2600" dirty="0"/>
              <a:t> </a:t>
            </a:r>
            <a:r>
              <a:rPr sz="2600" spc="-10" dirty="0"/>
              <a:t>стандартизации</a:t>
            </a:r>
            <a:endParaRPr sz="2600"/>
          </a:p>
        </p:txBody>
      </p:sp>
      <p:sp>
        <p:nvSpPr>
          <p:cNvPr id="7" name="object 7"/>
          <p:cNvSpPr txBox="1"/>
          <p:nvPr/>
        </p:nvSpPr>
        <p:spPr>
          <a:xfrm>
            <a:off x="622300" y="2133600"/>
            <a:ext cx="9157970" cy="487505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Российская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система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стандартизации: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действующий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России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комплекс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0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области</a:t>
            </a:r>
            <a:endParaRPr sz="2000" dirty="0">
              <a:latin typeface="Segoe UI Light"/>
              <a:cs typeface="Segoe UI Light"/>
            </a:endParaRPr>
          </a:p>
          <a:p>
            <a:pPr marL="355600" marR="508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информационных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технологий обеспечивает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прямое введение 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только </a:t>
            </a:r>
            <a:r>
              <a:rPr sz="2000" spc="-5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около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25%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от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общего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числа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международных;</a:t>
            </a:r>
            <a:endParaRPr sz="20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многие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серии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национальных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морально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устарели.</a:t>
            </a:r>
            <a:endParaRPr sz="2000" dirty="0">
              <a:latin typeface="Segoe UI Light"/>
              <a:cs typeface="Segoe UI Light"/>
            </a:endParaRPr>
          </a:p>
          <a:p>
            <a:pPr marL="12700" marR="1069975">
              <a:lnSpc>
                <a:spcPct val="100000"/>
              </a:lnSpc>
              <a:spcBef>
                <a:spcPts val="2160"/>
              </a:spcBef>
            </a:pP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Общие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проблемы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российской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зарубежных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стандартизации:</a:t>
            </a:r>
            <a:endParaRPr sz="2400" dirty="0">
              <a:latin typeface="Segoe UI Light"/>
              <a:cs typeface="Segoe UI Light"/>
            </a:endParaRPr>
          </a:p>
          <a:p>
            <a:pPr marL="355600" marR="545465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большая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длительность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разработки,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согласования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утверждения </a:t>
            </a:r>
            <a:r>
              <a:rPr sz="2000" spc="-5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международных</a:t>
            </a:r>
            <a:r>
              <a:rPr sz="20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национальных</a:t>
            </a:r>
            <a:r>
              <a:rPr sz="20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(3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 –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5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лет);</a:t>
            </a:r>
            <a:endParaRPr sz="20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стандарты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не</a:t>
            </a: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всегда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учитывают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построение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ПО как</a:t>
            </a:r>
            <a:r>
              <a:rPr sz="20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открытых</a:t>
            </a:r>
            <a:r>
              <a:rPr sz="2000" u="heavy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 </a:t>
            </a:r>
            <a:r>
              <a:rPr sz="2000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систем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;</a:t>
            </a:r>
            <a:endParaRPr sz="20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480"/>
              </a:spcBef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большая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длительность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высокого 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ранга</a:t>
            </a:r>
            <a:endParaRPr sz="20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приводит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к</a:t>
            </a:r>
            <a:r>
              <a:rPr sz="20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созданию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многочисленных</a:t>
            </a:r>
            <a:r>
              <a:rPr sz="20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документов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отраслевого,</a:t>
            </a:r>
            <a:endParaRPr sz="20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ведомственного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фирменного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уровня.</a:t>
            </a:r>
            <a:endParaRPr sz="20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1953895">
              <a:lnSpc>
                <a:spcPct val="100000"/>
              </a:lnSpc>
              <a:spcBef>
                <a:spcPts val="290"/>
              </a:spcBef>
            </a:pPr>
            <a:r>
              <a:rPr sz="2600" spc="-5" dirty="0"/>
              <a:t>6.</a:t>
            </a:r>
            <a:r>
              <a:rPr sz="2600" spc="-10" dirty="0"/>
              <a:t> </a:t>
            </a:r>
            <a:r>
              <a:rPr sz="2600" dirty="0"/>
              <a:t>Нормативные</a:t>
            </a:r>
            <a:r>
              <a:rPr sz="2600" spc="-40" dirty="0"/>
              <a:t> </a:t>
            </a:r>
            <a:r>
              <a:rPr sz="2600" dirty="0"/>
              <a:t>документы</a:t>
            </a:r>
            <a:r>
              <a:rPr sz="2600" spc="-35" dirty="0"/>
              <a:t> </a:t>
            </a:r>
            <a:r>
              <a:rPr sz="2600" dirty="0"/>
              <a:t>по </a:t>
            </a:r>
            <a:r>
              <a:rPr sz="2600" spc="-700" dirty="0"/>
              <a:t> </a:t>
            </a:r>
            <a:r>
              <a:rPr sz="2600" spc="-10" dirty="0"/>
              <a:t>стандартизации</a:t>
            </a:r>
            <a:endParaRPr sz="2600"/>
          </a:p>
        </p:txBody>
      </p:sp>
      <p:sp>
        <p:nvSpPr>
          <p:cNvPr id="7" name="object 7"/>
          <p:cNvSpPr txBox="1"/>
          <p:nvPr/>
        </p:nvSpPr>
        <p:spPr>
          <a:xfrm>
            <a:off x="3505200" y="253365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005" rIns="0" bIns="0" rtlCol="0">
            <a:spAutoFit/>
          </a:bodyPr>
          <a:lstStyle/>
          <a:p>
            <a:pPr marL="490220" marR="328930" indent="-154305">
              <a:lnSpc>
                <a:spcPct val="100000"/>
              </a:lnSpc>
              <a:spcBef>
                <a:spcPts val="315"/>
              </a:spcBef>
            </a:pPr>
            <a:r>
              <a:rPr sz="1800" spc="15" dirty="0">
                <a:solidFill>
                  <a:srgbClr val="FFFFFF"/>
                </a:solidFill>
                <a:latin typeface="Segoe UI Light"/>
                <a:cs typeface="Segoe UI Light"/>
              </a:rPr>
              <a:t>Н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о</a:t>
            </a:r>
            <a:r>
              <a:rPr sz="1800" spc="10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м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ат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вн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ы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е  документы</a:t>
            </a:r>
            <a:endParaRPr sz="1800" dirty="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2400" y="3600450"/>
            <a:ext cx="15240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320"/>
              </a:spcBef>
            </a:pPr>
            <a:r>
              <a:rPr sz="1800" spc="-15" dirty="0">
                <a:solidFill>
                  <a:srgbClr val="FFFFFF"/>
                </a:solidFill>
                <a:latin typeface="Segoe UI"/>
                <a:cs typeface="Segoe UI"/>
              </a:rPr>
              <a:t>Стандарты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5000" y="3600450"/>
            <a:ext cx="1752600" cy="609600"/>
          </a:xfrm>
          <a:custGeom>
            <a:avLst/>
            <a:gdLst/>
            <a:ahLst/>
            <a:cxnLst/>
            <a:rect l="l" t="t" r="r" b="b"/>
            <a:pathLst>
              <a:path w="1752600" h="609600">
                <a:moveTo>
                  <a:pt x="1752600" y="0"/>
                </a:moveTo>
                <a:lnTo>
                  <a:pt x="0" y="0"/>
                </a:lnTo>
                <a:lnTo>
                  <a:pt x="0" y="609600"/>
                </a:lnTo>
                <a:lnTo>
                  <a:pt x="1752600" y="609600"/>
                </a:lnTo>
                <a:lnTo>
                  <a:pt x="1752600" y="0"/>
                </a:lnTo>
                <a:close/>
              </a:path>
            </a:pathLst>
          </a:custGeom>
          <a:solidFill>
            <a:srgbClr val="3B8B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05000" y="3600450"/>
            <a:ext cx="1752600" cy="31178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282575">
              <a:lnSpc>
                <a:spcPts val="2135"/>
              </a:lnSpc>
              <a:spcBef>
                <a:spcPts val="320"/>
              </a:spcBef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Документы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5000" y="3912233"/>
            <a:ext cx="1752600" cy="29781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175" rIns="0" bIns="0" rtlCol="0">
            <a:spAutoFit/>
          </a:bodyPr>
          <a:lstStyle/>
          <a:p>
            <a:pPr marL="235585">
              <a:lnSpc>
                <a:spcPct val="100000"/>
              </a:lnSpc>
              <a:spcBef>
                <a:spcPts val="25"/>
              </a:spcBef>
            </a:pPr>
            <a:r>
              <a:rPr sz="1800" spc="-15" dirty="0">
                <a:solidFill>
                  <a:srgbClr val="FFFFFF"/>
                </a:solidFill>
                <a:latin typeface="Segoe UI"/>
                <a:cs typeface="Segoe UI"/>
              </a:rPr>
              <a:t>тех.</a:t>
            </a:r>
            <a:r>
              <a:rPr sz="1800" spc="-5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условий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86200" y="3600450"/>
            <a:ext cx="1066800" cy="609600"/>
          </a:xfrm>
          <a:custGeom>
            <a:avLst/>
            <a:gdLst/>
            <a:ahLst/>
            <a:cxnLst/>
            <a:rect l="l" t="t" r="r" b="b"/>
            <a:pathLst>
              <a:path w="1066800" h="609600">
                <a:moveTo>
                  <a:pt x="1066800" y="0"/>
                </a:moveTo>
                <a:lnTo>
                  <a:pt x="0" y="0"/>
                </a:lnTo>
                <a:lnTo>
                  <a:pt x="0" y="609600"/>
                </a:lnTo>
                <a:lnTo>
                  <a:pt x="1066800" y="609600"/>
                </a:lnTo>
                <a:lnTo>
                  <a:pt x="1066800" y="0"/>
                </a:lnTo>
                <a:close/>
              </a:path>
            </a:pathLst>
          </a:custGeom>
          <a:solidFill>
            <a:srgbClr val="3B8B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886200" y="3600450"/>
            <a:ext cx="1066800" cy="31178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193040">
              <a:lnSpc>
                <a:spcPts val="2135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Своды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86200" y="3912233"/>
            <a:ext cx="1066800" cy="29781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17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25"/>
              </a:spcBef>
            </a:pP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правил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57800" y="3600450"/>
            <a:ext cx="15240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152400">
              <a:lnSpc>
                <a:spcPct val="100000"/>
              </a:lnSpc>
              <a:spcBef>
                <a:spcPts val="320"/>
              </a:spcBef>
            </a:pPr>
            <a:r>
              <a:rPr sz="1800" spc="-20" dirty="0">
                <a:solidFill>
                  <a:srgbClr val="FFFFFF"/>
                </a:solidFill>
                <a:latin typeface="Segoe UI"/>
                <a:cs typeface="Segoe UI"/>
              </a:rPr>
              <a:t>Регламенты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59078" y="3143249"/>
            <a:ext cx="5216525" cy="457200"/>
          </a:xfrm>
          <a:custGeom>
            <a:avLst/>
            <a:gdLst/>
            <a:ahLst/>
            <a:cxnLst/>
            <a:rect l="l" t="t" r="r" b="b"/>
            <a:pathLst>
              <a:path w="5216525" h="457200">
                <a:moveTo>
                  <a:pt x="5216093" y="362458"/>
                </a:moveTo>
                <a:lnTo>
                  <a:pt x="5214569" y="356616"/>
                </a:lnTo>
                <a:lnTo>
                  <a:pt x="5205425" y="351282"/>
                </a:lnTo>
                <a:lnTo>
                  <a:pt x="5199583" y="352806"/>
                </a:lnTo>
                <a:lnTo>
                  <a:pt x="5170246" y="403098"/>
                </a:lnTo>
                <a:lnTo>
                  <a:pt x="5170246" y="238125"/>
                </a:lnTo>
                <a:lnTo>
                  <a:pt x="5170246" y="223393"/>
                </a:lnTo>
                <a:lnTo>
                  <a:pt x="5165928" y="219075"/>
                </a:lnTo>
                <a:lnTo>
                  <a:pt x="3684346" y="219075"/>
                </a:lnTo>
                <a:lnTo>
                  <a:pt x="3684346" y="0"/>
                </a:lnTo>
                <a:lnTo>
                  <a:pt x="3665296" y="0"/>
                </a:lnTo>
                <a:lnTo>
                  <a:pt x="3665296" y="219075"/>
                </a:lnTo>
                <a:lnTo>
                  <a:pt x="3555314" y="219075"/>
                </a:lnTo>
                <a:lnTo>
                  <a:pt x="1917014" y="219075"/>
                </a:lnTo>
                <a:lnTo>
                  <a:pt x="50063" y="219075"/>
                </a:lnTo>
                <a:lnTo>
                  <a:pt x="45796" y="223393"/>
                </a:lnTo>
                <a:lnTo>
                  <a:pt x="45796" y="403136"/>
                </a:lnTo>
                <a:lnTo>
                  <a:pt x="16446" y="352806"/>
                </a:lnTo>
                <a:lnTo>
                  <a:pt x="10617" y="351282"/>
                </a:lnTo>
                <a:lnTo>
                  <a:pt x="1524" y="356616"/>
                </a:lnTo>
                <a:lnTo>
                  <a:pt x="0" y="362458"/>
                </a:lnTo>
                <a:lnTo>
                  <a:pt x="2641" y="366903"/>
                </a:lnTo>
                <a:lnTo>
                  <a:pt x="55321" y="457200"/>
                </a:lnTo>
                <a:lnTo>
                  <a:pt x="66357" y="438277"/>
                </a:lnTo>
                <a:lnTo>
                  <a:pt x="108000" y="366903"/>
                </a:lnTo>
                <a:lnTo>
                  <a:pt x="110655" y="362458"/>
                </a:lnTo>
                <a:lnTo>
                  <a:pt x="109118" y="356616"/>
                </a:lnTo>
                <a:lnTo>
                  <a:pt x="100025" y="351282"/>
                </a:lnTo>
                <a:lnTo>
                  <a:pt x="94195" y="352806"/>
                </a:lnTo>
                <a:lnTo>
                  <a:pt x="64846" y="403136"/>
                </a:lnTo>
                <a:lnTo>
                  <a:pt x="64846" y="238125"/>
                </a:lnTo>
                <a:lnTo>
                  <a:pt x="1912696" y="238125"/>
                </a:lnTo>
                <a:lnTo>
                  <a:pt x="1912696" y="403098"/>
                </a:lnTo>
                <a:lnTo>
                  <a:pt x="1883359" y="352806"/>
                </a:lnTo>
                <a:lnTo>
                  <a:pt x="1877517" y="351282"/>
                </a:lnTo>
                <a:lnTo>
                  <a:pt x="1868373" y="356616"/>
                </a:lnTo>
                <a:lnTo>
                  <a:pt x="1866849" y="362458"/>
                </a:lnTo>
                <a:lnTo>
                  <a:pt x="1869516" y="366903"/>
                </a:lnTo>
                <a:lnTo>
                  <a:pt x="1922221" y="457200"/>
                </a:lnTo>
                <a:lnTo>
                  <a:pt x="1933257" y="438277"/>
                </a:lnTo>
                <a:lnTo>
                  <a:pt x="1974926" y="366903"/>
                </a:lnTo>
                <a:lnTo>
                  <a:pt x="1977593" y="362458"/>
                </a:lnTo>
                <a:lnTo>
                  <a:pt x="1976069" y="356616"/>
                </a:lnTo>
                <a:lnTo>
                  <a:pt x="1966925" y="351282"/>
                </a:lnTo>
                <a:lnTo>
                  <a:pt x="1961083" y="352806"/>
                </a:lnTo>
                <a:lnTo>
                  <a:pt x="1931746" y="403098"/>
                </a:lnTo>
                <a:lnTo>
                  <a:pt x="1931746" y="238125"/>
                </a:lnTo>
                <a:lnTo>
                  <a:pt x="3550996" y="238125"/>
                </a:lnTo>
                <a:lnTo>
                  <a:pt x="3550996" y="403098"/>
                </a:lnTo>
                <a:lnTo>
                  <a:pt x="3521659" y="352806"/>
                </a:lnTo>
                <a:lnTo>
                  <a:pt x="3515817" y="351282"/>
                </a:lnTo>
                <a:lnTo>
                  <a:pt x="3506673" y="356616"/>
                </a:lnTo>
                <a:lnTo>
                  <a:pt x="3505149" y="362458"/>
                </a:lnTo>
                <a:lnTo>
                  <a:pt x="3507816" y="366903"/>
                </a:lnTo>
                <a:lnTo>
                  <a:pt x="3560521" y="457200"/>
                </a:lnTo>
                <a:lnTo>
                  <a:pt x="3571557" y="438277"/>
                </a:lnTo>
                <a:lnTo>
                  <a:pt x="3613226" y="366903"/>
                </a:lnTo>
                <a:lnTo>
                  <a:pt x="3615893" y="362458"/>
                </a:lnTo>
                <a:lnTo>
                  <a:pt x="3614369" y="356616"/>
                </a:lnTo>
                <a:lnTo>
                  <a:pt x="3605225" y="351282"/>
                </a:lnTo>
                <a:lnTo>
                  <a:pt x="3599383" y="352806"/>
                </a:lnTo>
                <a:lnTo>
                  <a:pt x="3570046" y="403098"/>
                </a:lnTo>
                <a:lnTo>
                  <a:pt x="3570046" y="238125"/>
                </a:lnTo>
                <a:lnTo>
                  <a:pt x="3669614" y="238125"/>
                </a:lnTo>
                <a:lnTo>
                  <a:pt x="3680028" y="238125"/>
                </a:lnTo>
                <a:lnTo>
                  <a:pt x="5151196" y="238125"/>
                </a:lnTo>
                <a:lnTo>
                  <a:pt x="5151196" y="403098"/>
                </a:lnTo>
                <a:lnTo>
                  <a:pt x="5121859" y="352806"/>
                </a:lnTo>
                <a:lnTo>
                  <a:pt x="5116017" y="351282"/>
                </a:lnTo>
                <a:lnTo>
                  <a:pt x="5106873" y="356616"/>
                </a:lnTo>
                <a:lnTo>
                  <a:pt x="5105349" y="362458"/>
                </a:lnTo>
                <a:lnTo>
                  <a:pt x="5108016" y="366903"/>
                </a:lnTo>
                <a:lnTo>
                  <a:pt x="5160721" y="457200"/>
                </a:lnTo>
                <a:lnTo>
                  <a:pt x="5171757" y="438277"/>
                </a:lnTo>
                <a:lnTo>
                  <a:pt x="5213426" y="366903"/>
                </a:lnTo>
                <a:lnTo>
                  <a:pt x="5216093" y="3624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86600" y="3600450"/>
            <a:ext cx="18288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Правила</a:t>
            </a:r>
            <a:r>
              <a:rPr sz="1800" spc="-4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и</a:t>
            </a:r>
            <a:endParaRPr sz="1800">
              <a:latin typeface="Segoe UI"/>
              <a:cs typeface="Segoe UI"/>
            </a:endParaRPr>
          </a:p>
          <a:p>
            <a:pPr marL="635" algn="ct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рекомендации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24375" y="3143250"/>
            <a:ext cx="3532504" cy="457200"/>
          </a:xfrm>
          <a:custGeom>
            <a:avLst/>
            <a:gdLst/>
            <a:ahLst/>
            <a:cxnLst/>
            <a:rect l="l" t="t" r="r" b="b"/>
            <a:pathLst>
              <a:path w="3532504" h="457200">
                <a:moveTo>
                  <a:pt x="3431921" y="351282"/>
                </a:moveTo>
                <a:lnTo>
                  <a:pt x="3422777" y="356615"/>
                </a:lnTo>
                <a:lnTo>
                  <a:pt x="3421253" y="362330"/>
                </a:lnTo>
                <a:lnTo>
                  <a:pt x="3476625" y="457200"/>
                </a:lnTo>
                <a:lnTo>
                  <a:pt x="3487669" y="438276"/>
                </a:lnTo>
                <a:lnTo>
                  <a:pt x="3467100" y="438276"/>
                </a:lnTo>
                <a:lnTo>
                  <a:pt x="3467100" y="403097"/>
                </a:lnTo>
                <a:lnTo>
                  <a:pt x="3437763" y="352805"/>
                </a:lnTo>
                <a:lnTo>
                  <a:pt x="3431921" y="351282"/>
                </a:lnTo>
                <a:close/>
              </a:path>
              <a:path w="3532504" h="457200">
                <a:moveTo>
                  <a:pt x="3467100" y="403097"/>
                </a:moveTo>
                <a:lnTo>
                  <a:pt x="3467100" y="438276"/>
                </a:lnTo>
                <a:lnTo>
                  <a:pt x="3486150" y="438276"/>
                </a:lnTo>
                <a:lnTo>
                  <a:pt x="3486150" y="433577"/>
                </a:lnTo>
                <a:lnTo>
                  <a:pt x="3468370" y="433577"/>
                </a:lnTo>
                <a:lnTo>
                  <a:pt x="3476625" y="419426"/>
                </a:lnTo>
                <a:lnTo>
                  <a:pt x="3467100" y="403097"/>
                </a:lnTo>
                <a:close/>
              </a:path>
              <a:path w="3532504" h="457200">
                <a:moveTo>
                  <a:pt x="3521329" y="351282"/>
                </a:moveTo>
                <a:lnTo>
                  <a:pt x="3515486" y="352805"/>
                </a:lnTo>
                <a:lnTo>
                  <a:pt x="3486150" y="403097"/>
                </a:lnTo>
                <a:lnTo>
                  <a:pt x="3486150" y="438276"/>
                </a:lnTo>
                <a:lnTo>
                  <a:pt x="3487669" y="438276"/>
                </a:lnTo>
                <a:lnTo>
                  <a:pt x="3531997" y="362330"/>
                </a:lnTo>
                <a:lnTo>
                  <a:pt x="3530473" y="356615"/>
                </a:lnTo>
                <a:lnTo>
                  <a:pt x="3521329" y="351282"/>
                </a:lnTo>
                <a:close/>
              </a:path>
              <a:path w="3532504" h="457200">
                <a:moveTo>
                  <a:pt x="3476625" y="419426"/>
                </a:moveTo>
                <a:lnTo>
                  <a:pt x="3468370" y="433577"/>
                </a:lnTo>
                <a:lnTo>
                  <a:pt x="3484879" y="433577"/>
                </a:lnTo>
                <a:lnTo>
                  <a:pt x="3476625" y="419426"/>
                </a:lnTo>
                <a:close/>
              </a:path>
              <a:path w="3532504" h="457200">
                <a:moveTo>
                  <a:pt x="3486150" y="403097"/>
                </a:moveTo>
                <a:lnTo>
                  <a:pt x="3476625" y="419426"/>
                </a:lnTo>
                <a:lnTo>
                  <a:pt x="3484879" y="433577"/>
                </a:lnTo>
                <a:lnTo>
                  <a:pt x="3486150" y="433577"/>
                </a:lnTo>
                <a:lnTo>
                  <a:pt x="3486150" y="403097"/>
                </a:lnTo>
                <a:close/>
              </a:path>
              <a:path w="3532504" h="457200">
                <a:moveTo>
                  <a:pt x="3467100" y="228600"/>
                </a:moveTo>
                <a:lnTo>
                  <a:pt x="3467100" y="403097"/>
                </a:lnTo>
                <a:lnTo>
                  <a:pt x="3476625" y="419426"/>
                </a:lnTo>
                <a:lnTo>
                  <a:pt x="3486150" y="403097"/>
                </a:lnTo>
                <a:lnTo>
                  <a:pt x="3486150" y="238125"/>
                </a:lnTo>
                <a:lnTo>
                  <a:pt x="3476625" y="238125"/>
                </a:lnTo>
                <a:lnTo>
                  <a:pt x="3467100" y="228600"/>
                </a:lnTo>
                <a:close/>
              </a:path>
              <a:path w="3532504" h="457200">
                <a:moveTo>
                  <a:pt x="19050" y="0"/>
                </a:moveTo>
                <a:lnTo>
                  <a:pt x="0" y="0"/>
                </a:lnTo>
                <a:lnTo>
                  <a:pt x="0" y="233807"/>
                </a:lnTo>
                <a:lnTo>
                  <a:pt x="4317" y="238125"/>
                </a:lnTo>
                <a:lnTo>
                  <a:pt x="3467100" y="238125"/>
                </a:lnTo>
                <a:lnTo>
                  <a:pt x="3467100" y="228600"/>
                </a:lnTo>
                <a:lnTo>
                  <a:pt x="19050" y="228600"/>
                </a:lnTo>
                <a:lnTo>
                  <a:pt x="9525" y="219075"/>
                </a:lnTo>
                <a:lnTo>
                  <a:pt x="19050" y="219075"/>
                </a:lnTo>
                <a:lnTo>
                  <a:pt x="19050" y="0"/>
                </a:lnTo>
                <a:close/>
              </a:path>
              <a:path w="3532504" h="457200">
                <a:moveTo>
                  <a:pt x="3481831" y="219075"/>
                </a:moveTo>
                <a:lnTo>
                  <a:pt x="19050" y="219075"/>
                </a:lnTo>
                <a:lnTo>
                  <a:pt x="19050" y="228600"/>
                </a:lnTo>
                <a:lnTo>
                  <a:pt x="3467100" y="228600"/>
                </a:lnTo>
                <a:lnTo>
                  <a:pt x="3476625" y="238125"/>
                </a:lnTo>
                <a:lnTo>
                  <a:pt x="3486150" y="238125"/>
                </a:lnTo>
                <a:lnTo>
                  <a:pt x="3486150" y="223392"/>
                </a:lnTo>
                <a:lnTo>
                  <a:pt x="3481831" y="219075"/>
                </a:lnTo>
                <a:close/>
              </a:path>
              <a:path w="3532504" h="457200">
                <a:moveTo>
                  <a:pt x="19050" y="219075"/>
                </a:moveTo>
                <a:lnTo>
                  <a:pt x="9525" y="219075"/>
                </a:lnTo>
                <a:lnTo>
                  <a:pt x="19050" y="228600"/>
                </a:lnTo>
                <a:lnTo>
                  <a:pt x="19050" y="2190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48589" y="4977701"/>
            <a:ext cx="9422511" cy="18726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3375" algn="ctr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Рис.</a:t>
            </a:r>
            <a:r>
              <a:rPr sz="1800" spc="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Схема</a:t>
            </a:r>
            <a:r>
              <a:rPr sz="1800" spc="-2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разновидностей</a:t>
            </a: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 нормативных</a:t>
            </a:r>
            <a:r>
              <a:rPr sz="1800" spc="-1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документов</a:t>
            </a:r>
            <a:endParaRPr sz="18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 dirty="0">
              <a:latin typeface="Segoe UI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Предварительный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временный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документ,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который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принимается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органом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доводится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до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широкого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круга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потенциальных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потребителей.</a:t>
            </a:r>
            <a:endParaRPr sz="2400" dirty="0">
              <a:latin typeface="Segoe UI Light"/>
              <a:cs typeface="Segoe UI 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5588" y="1244853"/>
            <a:ext cx="8909711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процессе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вырабатываются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нормы,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правила,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требования,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характеристики,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касающиеся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объекта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стандартизации,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которые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оформляются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виде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нормативного</a:t>
            </a:r>
            <a:endParaRPr sz="2400" dirty="0">
              <a:latin typeface="Segoe UI Light"/>
              <a:cs typeface="Segoe UI Ligh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5589" y="2342515"/>
            <a:ext cx="1478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документа</a:t>
            </a:r>
            <a:r>
              <a:rPr sz="2400" i="1" dirty="0">
                <a:solidFill>
                  <a:srgbClr val="FFFFFF"/>
                </a:solidFill>
                <a:latin typeface="Segoe UI Light"/>
                <a:cs typeface="Segoe UI Light"/>
              </a:rPr>
              <a:t>.</a:t>
            </a:r>
            <a:endParaRPr sz="24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5" dirty="0"/>
              <a:t>7.</a:t>
            </a:r>
            <a:r>
              <a:rPr sz="4000" spc="-25" dirty="0"/>
              <a:t> </a:t>
            </a:r>
            <a:r>
              <a:rPr sz="4000" spc="-5" dirty="0"/>
              <a:t>Виды</a:t>
            </a:r>
            <a:r>
              <a:rPr sz="4000" spc="-15" dirty="0"/>
              <a:t> </a:t>
            </a:r>
            <a:r>
              <a:rPr sz="4000" spc="-25" dirty="0"/>
              <a:t>стандартов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3429000" y="1905000"/>
            <a:ext cx="20574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6830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290"/>
              </a:spcBef>
            </a:pP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Стандарты</a:t>
            </a:r>
            <a:endParaRPr sz="28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7800" y="2971800"/>
            <a:ext cx="22860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В</a:t>
            </a:r>
            <a:r>
              <a:rPr sz="18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зависимости</a:t>
            </a: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Segoe UI"/>
                <a:cs typeface="Segoe UI"/>
              </a:rPr>
              <a:t>от</a:t>
            </a:r>
            <a:endParaRPr sz="1800">
              <a:latin typeface="Segoe UI"/>
              <a:cs typeface="Segoe UI"/>
            </a:endParaRPr>
          </a:p>
          <a:p>
            <a:pPr marL="635" algn="ctr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масштаба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0300" y="2971800"/>
            <a:ext cx="24003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29083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В</a:t>
            </a:r>
            <a:r>
              <a:rPr sz="1800" spc="-3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зависимости</a:t>
            </a: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Segoe UI"/>
                <a:cs typeface="Segoe UI"/>
              </a:rPr>
              <a:t>от</a:t>
            </a:r>
            <a:endParaRPr sz="1800">
              <a:latin typeface="Segoe UI"/>
              <a:cs typeface="Segoe UI"/>
            </a:endParaRPr>
          </a:p>
          <a:p>
            <a:pPr marL="389890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возникновения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67400" y="4038600"/>
            <a:ext cx="15240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153670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«Де-факто»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20000" y="4038600"/>
            <a:ext cx="13716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320"/>
              </a:spcBef>
            </a:pPr>
            <a:r>
              <a:rPr sz="1800" spc="5" dirty="0">
                <a:solidFill>
                  <a:srgbClr val="FFFFFF"/>
                </a:solidFill>
                <a:latin typeface="Segoe UI"/>
                <a:cs typeface="Segoe UI"/>
              </a:rPr>
              <a:t>«Де-юре»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535428" y="2514599"/>
            <a:ext cx="4930775" cy="457200"/>
          </a:xfrm>
          <a:custGeom>
            <a:avLst/>
            <a:gdLst/>
            <a:ahLst/>
            <a:cxnLst/>
            <a:rect l="l" t="t" r="r" b="b"/>
            <a:pathLst>
              <a:path w="4930775" h="457200">
                <a:moveTo>
                  <a:pt x="4930394" y="362458"/>
                </a:moveTo>
                <a:lnTo>
                  <a:pt x="4928870" y="356616"/>
                </a:lnTo>
                <a:lnTo>
                  <a:pt x="4919726" y="351282"/>
                </a:lnTo>
                <a:lnTo>
                  <a:pt x="4913884" y="352806"/>
                </a:lnTo>
                <a:lnTo>
                  <a:pt x="4884547" y="403098"/>
                </a:lnTo>
                <a:lnTo>
                  <a:pt x="4884547" y="238125"/>
                </a:lnTo>
                <a:lnTo>
                  <a:pt x="4884547" y="223393"/>
                </a:lnTo>
                <a:lnTo>
                  <a:pt x="4880229" y="219075"/>
                </a:lnTo>
                <a:lnTo>
                  <a:pt x="1931797" y="219075"/>
                </a:lnTo>
                <a:lnTo>
                  <a:pt x="1931797" y="0"/>
                </a:lnTo>
                <a:lnTo>
                  <a:pt x="1912747" y="0"/>
                </a:lnTo>
                <a:lnTo>
                  <a:pt x="1912747" y="219075"/>
                </a:lnTo>
                <a:lnTo>
                  <a:pt x="50165" y="219075"/>
                </a:lnTo>
                <a:lnTo>
                  <a:pt x="45847" y="223393"/>
                </a:lnTo>
                <a:lnTo>
                  <a:pt x="45847" y="403098"/>
                </a:lnTo>
                <a:lnTo>
                  <a:pt x="16510" y="352806"/>
                </a:lnTo>
                <a:lnTo>
                  <a:pt x="10668" y="351282"/>
                </a:lnTo>
                <a:lnTo>
                  <a:pt x="1524" y="356616"/>
                </a:lnTo>
                <a:lnTo>
                  <a:pt x="0" y="362458"/>
                </a:lnTo>
                <a:lnTo>
                  <a:pt x="2667" y="366903"/>
                </a:lnTo>
                <a:lnTo>
                  <a:pt x="55372" y="457200"/>
                </a:lnTo>
                <a:lnTo>
                  <a:pt x="66408" y="438277"/>
                </a:lnTo>
                <a:lnTo>
                  <a:pt x="108077" y="366903"/>
                </a:lnTo>
                <a:lnTo>
                  <a:pt x="110744" y="362458"/>
                </a:lnTo>
                <a:lnTo>
                  <a:pt x="109220" y="356616"/>
                </a:lnTo>
                <a:lnTo>
                  <a:pt x="100076" y="351282"/>
                </a:lnTo>
                <a:lnTo>
                  <a:pt x="94234" y="352806"/>
                </a:lnTo>
                <a:lnTo>
                  <a:pt x="64897" y="403098"/>
                </a:lnTo>
                <a:lnTo>
                  <a:pt x="64897" y="238125"/>
                </a:lnTo>
                <a:lnTo>
                  <a:pt x="1917065" y="238125"/>
                </a:lnTo>
                <a:lnTo>
                  <a:pt x="1927479" y="238125"/>
                </a:lnTo>
                <a:lnTo>
                  <a:pt x="4865497" y="238125"/>
                </a:lnTo>
                <a:lnTo>
                  <a:pt x="4865497" y="403098"/>
                </a:lnTo>
                <a:lnTo>
                  <a:pt x="4836160" y="352806"/>
                </a:lnTo>
                <a:lnTo>
                  <a:pt x="4830318" y="351282"/>
                </a:lnTo>
                <a:lnTo>
                  <a:pt x="4821174" y="356616"/>
                </a:lnTo>
                <a:lnTo>
                  <a:pt x="4819650" y="362458"/>
                </a:lnTo>
                <a:lnTo>
                  <a:pt x="4822317" y="366903"/>
                </a:lnTo>
                <a:lnTo>
                  <a:pt x="4875022" y="457200"/>
                </a:lnTo>
                <a:lnTo>
                  <a:pt x="4886058" y="438277"/>
                </a:lnTo>
                <a:lnTo>
                  <a:pt x="4927727" y="366903"/>
                </a:lnTo>
                <a:lnTo>
                  <a:pt x="4930394" y="3624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574028" y="3581400"/>
            <a:ext cx="1787525" cy="457200"/>
          </a:xfrm>
          <a:custGeom>
            <a:avLst/>
            <a:gdLst/>
            <a:ahLst/>
            <a:cxnLst/>
            <a:rect l="l" t="t" r="r" b="b"/>
            <a:pathLst>
              <a:path w="1787525" h="457200">
                <a:moveTo>
                  <a:pt x="1787144" y="362458"/>
                </a:moveTo>
                <a:lnTo>
                  <a:pt x="1785620" y="356616"/>
                </a:lnTo>
                <a:lnTo>
                  <a:pt x="1776476" y="351282"/>
                </a:lnTo>
                <a:lnTo>
                  <a:pt x="1770634" y="352806"/>
                </a:lnTo>
                <a:lnTo>
                  <a:pt x="1741297" y="403098"/>
                </a:lnTo>
                <a:lnTo>
                  <a:pt x="1741297" y="238125"/>
                </a:lnTo>
                <a:lnTo>
                  <a:pt x="1741297" y="223393"/>
                </a:lnTo>
                <a:lnTo>
                  <a:pt x="1736979" y="219075"/>
                </a:lnTo>
                <a:lnTo>
                  <a:pt x="845947" y="219075"/>
                </a:lnTo>
                <a:lnTo>
                  <a:pt x="845947" y="0"/>
                </a:lnTo>
                <a:lnTo>
                  <a:pt x="826897" y="0"/>
                </a:lnTo>
                <a:lnTo>
                  <a:pt x="826897" y="219075"/>
                </a:lnTo>
                <a:lnTo>
                  <a:pt x="50165" y="219075"/>
                </a:lnTo>
                <a:lnTo>
                  <a:pt x="45847" y="223393"/>
                </a:lnTo>
                <a:lnTo>
                  <a:pt x="45847" y="403098"/>
                </a:lnTo>
                <a:lnTo>
                  <a:pt x="16510" y="352806"/>
                </a:lnTo>
                <a:lnTo>
                  <a:pt x="10668" y="351282"/>
                </a:lnTo>
                <a:lnTo>
                  <a:pt x="1524" y="356616"/>
                </a:lnTo>
                <a:lnTo>
                  <a:pt x="0" y="362458"/>
                </a:lnTo>
                <a:lnTo>
                  <a:pt x="2667" y="366903"/>
                </a:lnTo>
                <a:lnTo>
                  <a:pt x="55372" y="457200"/>
                </a:lnTo>
                <a:lnTo>
                  <a:pt x="66408" y="438277"/>
                </a:lnTo>
                <a:lnTo>
                  <a:pt x="108077" y="366903"/>
                </a:lnTo>
                <a:lnTo>
                  <a:pt x="110744" y="362458"/>
                </a:lnTo>
                <a:lnTo>
                  <a:pt x="109220" y="356616"/>
                </a:lnTo>
                <a:lnTo>
                  <a:pt x="100076" y="351282"/>
                </a:lnTo>
                <a:lnTo>
                  <a:pt x="94234" y="352806"/>
                </a:lnTo>
                <a:lnTo>
                  <a:pt x="64897" y="403098"/>
                </a:lnTo>
                <a:lnTo>
                  <a:pt x="64897" y="238125"/>
                </a:lnTo>
                <a:lnTo>
                  <a:pt x="831215" y="238125"/>
                </a:lnTo>
                <a:lnTo>
                  <a:pt x="841629" y="238125"/>
                </a:lnTo>
                <a:lnTo>
                  <a:pt x="1722247" y="238125"/>
                </a:lnTo>
                <a:lnTo>
                  <a:pt x="1722247" y="403098"/>
                </a:lnTo>
                <a:lnTo>
                  <a:pt x="1692910" y="352806"/>
                </a:lnTo>
                <a:lnTo>
                  <a:pt x="1687068" y="351282"/>
                </a:lnTo>
                <a:lnTo>
                  <a:pt x="1677924" y="356616"/>
                </a:lnTo>
                <a:lnTo>
                  <a:pt x="1676400" y="362458"/>
                </a:lnTo>
                <a:lnTo>
                  <a:pt x="1679067" y="366903"/>
                </a:lnTo>
                <a:lnTo>
                  <a:pt x="1731772" y="457200"/>
                </a:lnTo>
                <a:lnTo>
                  <a:pt x="1742808" y="438277"/>
                </a:lnTo>
                <a:lnTo>
                  <a:pt x="1784477" y="366903"/>
                </a:lnTo>
                <a:lnTo>
                  <a:pt x="1787144" y="3624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7200" y="4038600"/>
            <a:ext cx="2133600" cy="7620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Международные</a:t>
            </a:r>
            <a:endParaRPr sz="18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Segoe UI"/>
                <a:cs typeface="Segoe UI"/>
              </a:rPr>
              <a:t>(ИСО)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3400" y="5105400"/>
            <a:ext cx="1676400" cy="7620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937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10"/>
              </a:spcBef>
            </a:pPr>
            <a:r>
              <a:rPr sz="2000" spc="-5" dirty="0">
                <a:solidFill>
                  <a:srgbClr val="FFFFFF"/>
                </a:solidFill>
                <a:latin typeface="Segoe UI"/>
                <a:cs typeface="Segoe UI"/>
              </a:rPr>
              <a:t>Отраслевые</a:t>
            </a:r>
            <a:endParaRPr sz="2000">
              <a:latin typeface="Segoe UI"/>
              <a:cs typeface="Segoe UI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Segoe UI"/>
                <a:cs typeface="Segoe UI"/>
              </a:rPr>
              <a:t>(ОСТ)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19400" y="4038600"/>
            <a:ext cx="2667000" cy="7620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Национальные</a:t>
            </a:r>
            <a:r>
              <a:rPr sz="1800" spc="-4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(ГОСТ</a:t>
            </a:r>
            <a:r>
              <a:rPr sz="18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150" dirty="0">
                <a:solidFill>
                  <a:srgbClr val="FFFFFF"/>
                </a:solidFill>
                <a:latin typeface="Segoe UI"/>
                <a:cs typeface="Segoe UI"/>
              </a:rPr>
              <a:t>Р,</a:t>
            </a:r>
            <a:endParaRPr sz="18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</a:pPr>
            <a:r>
              <a:rPr sz="1800" spc="-15" dirty="0">
                <a:solidFill>
                  <a:srgbClr val="FFFFFF"/>
                </a:solidFill>
                <a:latin typeface="Segoe UI"/>
                <a:cs typeface="Segoe UI"/>
              </a:rPr>
              <a:t>ГОСТ</a:t>
            </a:r>
            <a:r>
              <a:rPr sz="1800" spc="-3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"/>
                <a:cs typeface="Segoe UI"/>
              </a:rPr>
              <a:t>Р</a:t>
            </a:r>
            <a:r>
              <a:rPr sz="1800" spc="-25" dirty="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"/>
                <a:cs typeface="Segoe UI"/>
              </a:rPr>
              <a:t>ИСО/МЭК)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72000" y="5105400"/>
            <a:ext cx="2209800" cy="60960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4064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solidFill>
                  <a:srgbClr val="FFFFFF"/>
                </a:solidFill>
                <a:latin typeface="Segoe UI"/>
                <a:cs typeface="Segoe UI"/>
              </a:rPr>
              <a:t>Внутрифирменные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5275" y="3267075"/>
            <a:ext cx="5437505" cy="2275205"/>
          </a:xfrm>
          <a:custGeom>
            <a:avLst/>
            <a:gdLst/>
            <a:ahLst/>
            <a:cxnLst/>
            <a:rect l="l" t="t" r="r" b="b"/>
            <a:pathLst>
              <a:path w="5437505" h="2275204">
                <a:moveTo>
                  <a:pt x="1152525" y="0"/>
                </a:moveTo>
                <a:lnTo>
                  <a:pt x="4267" y="0"/>
                </a:lnTo>
                <a:lnTo>
                  <a:pt x="0" y="4318"/>
                </a:lnTo>
                <a:lnTo>
                  <a:pt x="0" y="2224532"/>
                </a:lnTo>
                <a:lnTo>
                  <a:pt x="4267" y="2228850"/>
                </a:lnTo>
                <a:lnTo>
                  <a:pt x="183984" y="2228850"/>
                </a:lnTo>
                <a:lnTo>
                  <a:pt x="133718" y="2258187"/>
                </a:lnTo>
                <a:lnTo>
                  <a:pt x="132181" y="2264029"/>
                </a:lnTo>
                <a:lnTo>
                  <a:pt x="137490" y="2273173"/>
                </a:lnTo>
                <a:lnTo>
                  <a:pt x="143319" y="2274697"/>
                </a:lnTo>
                <a:lnTo>
                  <a:pt x="221843" y="2228850"/>
                </a:lnTo>
                <a:lnTo>
                  <a:pt x="238163" y="2219325"/>
                </a:lnTo>
                <a:lnTo>
                  <a:pt x="221843" y="2209800"/>
                </a:lnTo>
                <a:lnTo>
                  <a:pt x="143319" y="2163953"/>
                </a:lnTo>
                <a:lnTo>
                  <a:pt x="137490" y="2165477"/>
                </a:lnTo>
                <a:lnTo>
                  <a:pt x="132181" y="2174621"/>
                </a:lnTo>
                <a:lnTo>
                  <a:pt x="133718" y="2180463"/>
                </a:lnTo>
                <a:lnTo>
                  <a:pt x="183984" y="2209800"/>
                </a:lnTo>
                <a:lnTo>
                  <a:pt x="19050" y="2209800"/>
                </a:lnTo>
                <a:lnTo>
                  <a:pt x="19050" y="19050"/>
                </a:lnTo>
                <a:lnTo>
                  <a:pt x="1152525" y="19050"/>
                </a:lnTo>
                <a:lnTo>
                  <a:pt x="1152525" y="9525"/>
                </a:lnTo>
                <a:lnTo>
                  <a:pt x="1152525" y="0"/>
                </a:lnTo>
                <a:close/>
              </a:path>
              <a:path w="5437505" h="2275204">
                <a:moveTo>
                  <a:pt x="3912997" y="676783"/>
                </a:moveTo>
                <a:lnTo>
                  <a:pt x="3911473" y="670941"/>
                </a:lnTo>
                <a:lnTo>
                  <a:pt x="3902329" y="665607"/>
                </a:lnTo>
                <a:lnTo>
                  <a:pt x="3896487" y="667131"/>
                </a:lnTo>
                <a:lnTo>
                  <a:pt x="3867150" y="717423"/>
                </a:lnTo>
                <a:lnTo>
                  <a:pt x="3867150" y="552450"/>
                </a:lnTo>
                <a:lnTo>
                  <a:pt x="3867150" y="537718"/>
                </a:lnTo>
                <a:lnTo>
                  <a:pt x="3862832" y="533400"/>
                </a:lnTo>
                <a:lnTo>
                  <a:pt x="2305050" y="533400"/>
                </a:lnTo>
                <a:lnTo>
                  <a:pt x="2305050" y="314325"/>
                </a:lnTo>
                <a:lnTo>
                  <a:pt x="2286000" y="314325"/>
                </a:lnTo>
                <a:lnTo>
                  <a:pt x="2286000" y="533400"/>
                </a:lnTo>
                <a:lnTo>
                  <a:pt x="1223518" y="533400"/>
                </a:lnTo>
                <a:lnTo>
                  <a:pt x="1219200" y="537718"/>
                </a:lnTo>
                <a:lnTo>
                  <a:pt x="1219200" y="717423"/>
                </a:lnTo>
                <a:lnTo>
                  <a:pt x="1189863" y="667131"/>
                </a:lnTo>
                <a:lnTo>
                  <a:pt x="1184021" y="665607"/>
                </a:lnTo>
                <a:lnTo>
                  <a:pt x="1174877" y="670941"/>
                </a:lnTo>
                <a:lnTo>
                  <a:pt x="1173353" y="676783"/>
                </a:lnTo>
                <a:lnTo>
                  <a:pt x="1176020" y="681228"/>
                </a:lnTo>
                <a:lnTo>
                  <a:pt x="1228725" y="771525"/>
                </a:lnTo>
                <a:lnTo>
                  <a:pt x="1239761" y="752602"/>
                </a:lnTo>
                <a:lnTo>
                  <a:pt x="1281430" y="681228"/>
                </a:lnTo>
                <a:lnTo>
                  <a:pt x="1284097" y="676783"/>
                </a:lnTo>
                <a:lnTo>
                  <a:pt x="1282573" y="670941"/>
                </a:lnTo>
                <a:lnTo>
                  <a:pt x="1273429" y="665607"/>
                </a:lnTo>
                <a:lnTo>
                  <a:pt x="1267587" y="667131"/>
                </a:lnTo>
                <a:lnTo>
                  <a:pt x="1238250" y="717423"/>
                </a:lnTo>
                <a:lnTo>
                  <a:pt x="1238250" y="552450"/>
                </a:lnTo>
                <a:lnTo>
                  <a:pt x="2290318" y="552450"/>
                </a:lnTo>
                <a:lnTo>
                  <a:pt x="2300732" y="552450"/>
                </a:lnTo>
                <a:lnTo>
                  <a:pt x="3848100" y="552450"/>
                </a:lnTo>
                <a:lnTo>
                  <a:pt x="3848100" y="717423"/>
                </a:lnTo>
                <a:lnTo>
                  <a:pt x="3818763" y="667131"/>
                </a:lnTo>
                <a:lnTo>
                  <a:pt x="3812921" y="665607"/>
                </a:lnTo>
                <a:lnTo>
                  <a:pt x="3803777" y="670941"/>
                </a:lnTo>
                <a:lnTo>
                  <a:pt x="3802253" y="676783"/>
                </a:lnTo>
                <a:lnTo>
                  <a:pt x="3804920" y="681228"/>
                </a:lnTo>
                <a:lnTo>
                  <a:pt x="3857625" y="771525"/>
                </a:lnTo>
                <a:lnTo>
                  <a:pt x="3868661" y="752602"/>
                </a:lnTo>
                <a:lnTo>
                  <a:pt x="3910330" y="681228"/>
                </a:lnTo>
                <a:lnTo>
                  <a:pt x="3912997" y="676783"/>
                </a:lnTo>
                <a:close/>
              </a:path>
              <a:path w="5437505" h="2275204">
                <a:moveTo>
                  <a:pt x="5436997" y="1743456"/>
                </a:moveTo>
                <a:lnTo>
                  <a:pt x="5435473" y="1737741"/>
                </a:lnTo>
                <a:lnTo>
                  <a:pt x="5426329" y="1732407"/>
                </a:lnTo>
                <a:lnTo>
                  <a:pt x="5420487" y="1733931"/>
                </a:lnTo>
                <a:lnTo>
                  <a:pt x="5391150" y="1784235"/>
                </a:lnTo>
                <a:lnTo>
                  <a:pt x="5391150" y="19050"/>
                </a:lnTo>
                <a:lnTo>
                  <a:pt x="5391150" y="9525"/>
                </a:lnTo>
                <a:lnTo>
                  <a:pt x="5391150" y="4318"/>
                </a:lnTo>
                <a:lnTo>
                  <a:pt x="5386832" y="0"/>
                </a:lnTo>
                <a:lnTo>
                  <a:pt x="3438525" y="0"/>
                </a:lnTo>
                <a:lnTo>
                  <a:pt x="3438525" y="19050"/>
                </a:lnTo>
                <a:lnTo>
                  <a:pt x="5372100" y="19050"/>
                </a:lnTo>
                <a:lnTo>
                  <a:pt x="5372100" y="1784235"/>
                </a:lnTo>
                <a:lnTo>
                  <a:pt x="5342763" y="1733931"/>
                </a:lnTo>
                <a:lnTo>
                  <a:pt x="5336921" y="1732407"/>
                </a:lnTo>
                <a:lnTo>
                  <a:pt x="5327777" y="1737741"/>
                </a:lnTo>
                <a:lnTo>
                  <a:pt x="5326253" y="1743456"/>
                </a:lnTo>
                <a:lnTo>
                  <a:pt x="5381625" y="1838325"/>
                </a:lnTo>
                <a:lnTo>
                  <a:pt x="5392585" y="1819529"/>
                </a:lnTo>
                <a:lnTo>
                  <a:pt x="5436997" y="17434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8100" rIns="0" bIns="0" rtlCol="0">
            <a:spAutoFit/>
          </a:bodyPr>
          <a:lstStyle/>
          <a:p>
            <a:pPr marL="90805" marR="1149985">
              <a:lnSpc>
                <a:spcPct val="100000"/>
              </a:lnSpc>
              <a:spcBef>
                <a:spcPts val="300"/>
              </a:spcBef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Категории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стандартов,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действующих</a:t>
            </a:r>
            <a:r>
              <a:rPr sz="2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на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территории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РФ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9441" y="2286000"/>
            <a:ext cx="8087359" cy="5695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54350">
              <a:lnSpc>
                <a:spcPct val="120900"/>
              </a:lnSpc>
              <a:spcBef>
                <a:spcPts val="95"/>
              </a:spcBef>
            </a:pP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 – национальный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 РФ;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ОСТ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отраслевой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стандарт;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ТУ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технические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условия;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СТП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стандарты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промышленных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предприятий;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СТО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стандарты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научно-технических/инженерных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обществ;</a:t>
            </a:r>
            <a:endParaRPr sz="2400" dirty="0">
              <a:latin typeface="Segoe UI Light"/>
              <a:cs typeface="Segoe UI Light"/>
            </a:endParaRPr>
          </a:p>
          <a:p>
            <a:pPr marL="12700" marR="2275205">
              <a:lnSpc>
                <a:spcPct val="120800"/>
              </a:lnSpc>
            </a:pP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Межгосударственный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 СНГ;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ИСО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международный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стандарт;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ИСО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МЭК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национальный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РФ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основе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международного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ИСО/МЭК;</a:t>
            </a:r>
            <a:endParaRPr sz="2400" dirty="0">
              <a:latin typeface="Segoe UI Light"/>
              <a:cs typeface="Segoe UI Light"/>
            </a:endParaRPr>
          </a:p>
          <a:p>
            <a:pPr marL="12700" marR="1534160">
              <a:lnSpc>
                <a:spcPts val="3479"/>
              </a:lnSpc>
              <a:spcBef>
                <a:spcPts val="215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(В)РД –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(ведомственный)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руководящий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документ;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СП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свод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правил;</a:t>
            </a:r>
            <a:endParaRPr sz="2400" dirty="0">
              <a:latin typeface="Segoe UI Light"/>
              <a:cs typeface="Segoe UI Light"/>
            </a:endParaRPr>
          </a:p>
          <a:p>
            <a:pPr marL="12700" marR="2592070">
              <a:lnSpc>
                <a:spcPts val="3479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СНиП –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строительные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нормы и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правила;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СанПиН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санитарные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правила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и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нормы.</a:t>
            </a:r>
            <a:endParaRPr sz="24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1200785">
              <a:lnSpc>
                <a:spcPct val="100000"/>
              </a:lnSpc>
              <a:spcBef>
                <a:spcPts val="290"/>
              </a:spcBef>
            </a:pPr>
            <a:r>
              <a:rPr sz="2600" spc="-5" dirty="0"/>
              <a:t>8. </a:t>
            </a:r>
            <a:r>
              <a:rPr sz="2600" dirty="0"/>
              <a:t>Международные </a:t>
            </a:r>
            <a:r>
              <a:rPr sz="2600" spc="-15" dirty="0"/>
              <a:t>организации </a:t>
            </a:r>
            <a:r>
              <a:rPr sz="2600" dirty="0"/>
              <a:t>по </a:t>
            </a:r>
            <a:r>
              <a:rPr sz="2600" spc="-700" dirty="0"/>
              <a:t> </a:t>
            </a:r>
            <a:r>
              <a:rPr sz="2600" spc="-10" dirty="0"/>
              <a:t>стандартизации </a:t>
            </a:r>
            <a:r>
              <a:rPr sz="2600" dirty="0"/>
              <a:t>в </a:t>
            </a:r>
            <a:r>
              <a:rPr sz="2600" spc="5" dirty="0"/>
              <a:t>сфере</a:t>
            </a:r>
            <a:r>
              <a:rPr sz="2600" spc="-40" dirty="0"/>
              <a:t> </a:t>
            </a:r>
            <a:r>
              <a:rPr sz="2600" dirty="0"/>
              <a:t>ИТ</a:t>
            </a:r>
            <a:endParaRPr sz="2600"/>
          </a:p>
        </p:txBody>
      </p:sp>
      <p:sp>
        <p:nvSpPr>
          <p:cNvPr id="7" name="object 7"/>
          <p:cNvSpPr txBox="1"/>
          <p:nvPr/>
        </p:nvSpPr>
        <p:spPr>
          <a:xfrm>
            <a:off x="802641" y="2590800"/>
            <a:ext cx="7884159" cy="5132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625475" indent="-287020">
              <a:lnSpc>
                <a:spcPct val="100000"/>
              </a:lnSpc>
              <a:spcBef>
                <a:spcPts val="100"/>
              </a:spcBef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Международная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организация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по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- ИСО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(International </a:t>
            </a:r>
            <a:r>
              <a:rPr sz="1800" spc="-4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Organization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Standardization</a:t>
            </a:r>
            <a:r>
              <a:rPr sz="18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ISO)</a:t>
            </a:r>
            <a:endParaRPr sz="18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Microsoft Sans Serif"/>
              <a:buChar char="•"/>
            </a:pPr>
            <a:endParaRPr sz="1600" dirty="0">
              <a:latin typeface="Segoe UI Light"/>
              <a:cs typeface="Segoe UI Light"/>
            </a:endParaRPr>
          </a:p>
          <a:p>
            <a:pPr marL="299085" marR="898525" indent="-287020">
              <a:lnSpc>
                <a:spcPct val="100000"/>
              </a:lnSpc>
              <a:spcBef>
                <a:spcPts val="5"/>
              </a:spcBef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Международная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электротехническая комиссия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МЭК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(International </a:t>
            </a:r>
            <a:r>
              <a:rPr sz="1800" spc="-4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Electrotechnical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Commission</a:t>
            </a:r>
            <a:r>
              <a:rPr sz="1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IEC)</a:t>
            </a:r>
            <a:endParaRPr sz="18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Microsoft Sans Serif"/>
              <a:buChar char="•"/>
            </a:pPr>
            <a:endParaRPr sz="1600" dirty="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Международный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союз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электросвязи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МСЭ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(International</a:t>
            </a:r>
            <a:r>
              <a:rPr sz="18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Telecommunication</a:t>
            </a:r>
            <a:endParaRPr sz="1800" dirty="0">
              <a:latin typeface="Segoe UI Light"/>
              <a:cs typeface="Segoe UI Light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Union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8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ITU)</a:t>
            </a:r>
            <a:endParaRPr sz="18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 dirty="0">
              <a:latin typeface="Segoe UI Light"/>
              <a:cs typeface="Segoe UI Light"/>
            </a:endParaRPr>
          </a:p>
          <a:p>
            <a:pPr marL="299085" marR="86360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Совместный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технический 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комитет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№1 -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СТК1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ИСО/МЭК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"Информационные </a:t>
            </a:r>
            <a:r>
              <a:rPr sz="1800" spc="-4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технологии" (Joint </a:t>
            </a: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Technical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Committee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N1 -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ISO/IEC 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JTC1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"Information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Technology")</a:t>
            </a:r>
            <a:endParaRPr sz="18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FFFFF"/>
              </a:buClr>
              <a:buFont typeface="Microsoft Sans Serif"/>
              <a:buChar char="•"/>
            </a:pPr>
            <a:endParaRPr sz="2600" dirty="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Общество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Интернет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(Internet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Society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 -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IS)</a:t>
            </a:r>
            <a:endParaRPr sz="1800" dirty="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1800" spc="10" dirty="0">
                <a:solidFill>
                  <a:srgbClr val="FFFFFF"/>
                </a:solidFill>
                <a:latin typeface="Segoe UI Light"/>
                <a:cs typeface="Segoe UI Light"/>
              </a:rPr>
              <a:t>Институт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инженеров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 электротехнике</a:t>
            </a:r>
            <a:r>
              <a:rPr sz="18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электронике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(Institute</a:t>
            </a:r>
            <a:r>
              <a:rPr sz="18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Electrical</a:t>
            </a:r>
            <a:endParaRPr sz="1800" dirty="0">
              <a:latin typeface="Segoe UI Light"/>
              <a:cs typeface="Segoe UI Light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Electronic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Engineers</a:t>
            </a:r>
            <a:r>
              <a:rPr sz="1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IEEE)</a:t>
            </a:r>
            <a:endParaRPr sz="1800" dirty="0">
              <a:latin typeface="Segoe UI Light"/>
              <a:cs typeface="Segoe UI Light"/>
            </a:endParaRPr>
          </a:p>
          <a:p>
            <a:pPr marL="299085" marR="260985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Фонд 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открытого</a:t>
            </a:r>
            <a:r>
              <a:rPr sz="18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программного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 обеспечения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(Open</a:t>
            </a:r>
            <a:r>
              <a:rPr sz="18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Software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 Foundation</a:t>
            </a:r>
            <a:r>
              <a:rPr sz="18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- </a:t>
            </a:r>
            <a:r>
              <a:rPr sz="1800" spc="-4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OSF)</a:t>
            </a:r>
            <a:endParaRPr sz="1800" dirty="0">
              <a:latin typeface="Segoe UI Light"/>
              <a:cs typeface="Segoe U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7875" y="4800600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>
                <a:moveTo>
                  <a:pt x="0" y="0"/>
                </a:moveTo>
                <a:lnTo>
                  <a:pt x="2011426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600" dirty="0"/>
              <a:t>9.</a:t>
            </a:r>
            <a:r>
              <a:rPr sz="3600" spc="-25" dirty="0"/>
              <a:t> </a:t>
            </a:r>
            <a:r>
              <a:rPr sz="3600" dirty="0"/>
              <a:t>Структура</a:t>
            </a:r>
            <a:r>
              <a:rPr sz="3600" spc="-35" dirty="0"/>
              <a:t> </a:t>
            </a:r>
            <a:r>
              <a:rPr sz="3600" spc="-15" dirty="0"/>
              <a:t>стандарта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593091" y="1828800"/>
            <a:ext cx="9249409" cy="514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Все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стандарты</a:t>
            </a:r>
            <a:r>
              <a:rPr sz="22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имеют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единую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Segoe UI Light"/>
                <a:cs typeface="Segoe UI Light"/>
              </a:rPr>
              <a:t>структуру,</a:t>
            </a:r>
            <a:r>
              <a:rPr sz="22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Segoe UI Light"/>
                <a:cs typeface="Segoe UI Light"/>
              </a:rPr>
              <a:t>которая</a:t>
            </a:r>
            <a:r>
              <a:rPr sz="22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включает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себя:</a:t>
            </a:r>
            <a:endParaRPr sz="2200" dirty="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область</a:t>
            </a:r>
            <a:r>
              <a:rPr sz="22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распространения;</a:t>
            </a:r>
            <a:endParaRPr sz="2200" dirty="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содержательную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(основную) часть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стандарта;</a:t>
            </a:r>
            <a:endParaRPr sz="2200" dirty="0">
              <a:latin typeface="Segoe UI Light"/>
              <a:cs typeface="Segoe UI Light"/>
            </a:endParaRPr>
          </a:p>
          <a:p>
            <a:pPr marL="299085" indent="-287020">
              <a:lnSpc>
                <a:spcPct val="100000"/>
              </a:lnSpc>
              <a:buFont typeface="Microsoft Sans Serif"/>
              <a:buChar char="•"/>
              <a:tabLst>
                <a:tab pos="299085" algn="l"/>
                <a:tab pos="299720" algn="l"/>
              </a:tabLst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информационные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данные.</a:t>
            </a:r>
            <a:endParaRPr sz="22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Область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распространения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</a:t>
            </a:r>
            <a:r>
              <a:rPr sz="24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—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объекты</a:t>
            </a:r>
            <a:endParaRPr sz="2200" dirty="0">
              <a:latin typeface="Segoe UI Light"/>
              <a:cs typeface="Segoe UI Light"/>
            </a:endParaRPr>
          </a:p>
          <a:p>
            <a:pPr marL="12700" marR="226695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стандартизации,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объединенные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единством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требований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данного </a:t>
            </a:r>
            <a:r>
              <a:rPr sz="2200" spc="-5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стандарта.</a:t>
            </a:r>
            <a:endParaRPr sz="22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tabLst>
                <a:tab pos="6051550" algn="l"/>
              </a:tabLst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Содержательная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(основная)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часть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	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—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Segoe UI Light"/>
                <a:cs typeface="Segoe UI Light"/>
              </a:rPr>
              <a:t>содержит</a:t>
            </a:r>
            <a:endParaRPr sz="2200" dirty="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0"/>
              </a:spcBef>
            </a:pP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термины</a:t>
            </a:r>
            <a:r>
              <a:rPr sz="22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к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объекту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стандартизации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зависит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от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его </a:t>
            </a:r>
            <a:r>
              <a:rPr sz="2200" spc="-5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назначения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вида.</a:t>
            </a:r>
            <a:endParaRPr sz="22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 dirty="0">
              <a:latin typeface="Segoe UI Light"/>
              <a:cs typeface="Segoe UI Light"/>
            </a:endParaRPr>
          </a:p>
          <a:p>
            <a:pPr marL="12700" marR="32321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Информационные данные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— информация о 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разработчике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200" spc="-5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используемой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 литературе.</a:t>
            </a:r>
            <a:endParaRPr sz="22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860294" y="3145917"/>
            <a:ext cx="33642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Рис.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Наименование</a:t>
            </a:r>
            <a:r>
              <a:rPr sz="20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</a:t>
            </a:r>
            <a:endParaRPr sz="2000" dirty="0">
              <a:latin typeface="Segoe UI Light"/>
              <a:cs typeface="Segoe UI Ligh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875" y="1371600"/>
            <a:ext cx="8289925" cy="175260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3200" dirty="0"/>
              <a:t>Структура</a:t>
            </a:r>
            <a:r>
              <a:rPr sz="3200" spc="-40" dirty="0"/>
              <a:t> </a:t>
            </a:r>
            <a:r>
              <a:rPr sz="3200" dirty="0"/>
              <a:t>названия</a:t>
            </a:r>
            <a:r>
              <a:rPr sz="3200" spc="5" dirty="0"/>
              <a:t> </a:t>
            </a:r>
            <a:r>
              <a:rPr sz="3200" spc="-10" dirty="0"/>
              <a:t>стандарта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600" dirty="0"/>
              <a:t>Реквизиты</a:t>
            </a:r>
            <a:r>
              <a:rPr sz="3600" spc="-35" dirty="0"/>
              <a:t> </a:t>
            </a:r>
            <a:r>
              <a:rPr sz="3600" spc="-20" dirty="0"/>
              <a:t>стандартов</a:t>
            </a:r>
            <a:endParaRPr sz="36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461921"/>
              </p:ext>
            </p:extLst>
          </p:nvPr>
        </p:nvGraphicFramePr>
        <p:xfrm>
          <a:off x="552451" y="1524000"/>
          <a:ext cx="8134349" cy="5608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9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5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79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Название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b="1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Шоколад.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Общие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технические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условия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Индекс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(категория)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ГОСТ</a:t>
                      </a:r>
                      <a:r>
                        <a:rPr sz="1200" spc="-7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Р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Номер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52821-2007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Статус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Действующий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7945">
                        <a:lnSpc>
                          <a:spcPts val="141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Кем</a:t>
                      </a:r>
                      <a:r>
                        <a:rPr sz="1200" b="1" spc="-4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утвержден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73025">
                        <a:lnSpc>
                          <a:spcPts val="144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Федеральное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агентство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по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техническому регулированию </a:t>
                      </a:r>
                      <a:r>
                        <a:rPr sz="1200" spc="-3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</a:t>
                      </a:r>
                      <a:r>
                        <a:rPr sz="1200" spc="-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метрологии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Номер нормативного</a:t>
                      </a:r>
                      <a:r>
                        <a:rPr sz="1200" b="1" spc="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документа</a:t>
                      </a:r>
                      <a:r>
                        <a:rPr sz="1200" b="1" spc="2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об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утверждении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приказ</a:t>
                      </a:r>
                      <a:r>
                        <a:rPr sz="1200" spc="-3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№</a:t>
                      </a:r>
                      <a:r>
                        <a:rPr sz="1200" spc="-3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448-ст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Дата</a:t>
                      </a:r>
                      <a:r>
                        <a:rPr sz="1200" b="1" spc="-3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утверждения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27.12.2007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Дата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ввода</a:t>
                      </a:r>
                      <a:r>
                        <a:rPr sz="1200" b="1" spc="-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в</a:t>
                      </a:r>
                      <a:r>
                        <a:rPr sz="1200" b="1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действие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01.01.2010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pPr marL="67945">
                        <a:lnSpc>
                          <a:spcPts val="141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Область</a:t>
                      </a:r>
                      <a:r>
                        <a:rPr sz="1200" b="1" spc="-3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применения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410"/>
                        </a:lnSpc>
                      </a:pP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Стандарт</a:t>
                      </a:r>
                      <a:r>
                        <a:rPr sz="1200" spc="-3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распространяется</a:t>
                      </a:r>
                      <a:r>
                        <a:rPr sz="1200" spc="-4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на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следующие</a:t>
                      </a:r>
                      <a:r>
                        <a:rPr sz="1200" spc="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типы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  <a:p>
                      <a:pPr marL="69215" marR="325120">
                        <a:lnSpc>
                          <a:spcPct val="10000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шоколада: шоколад, молочный шоколад, несладкий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шоколад; горький шоколад,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темный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шоколад, белый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шоколад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 (или)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их сочетания, шоколад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начинкой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 </a:t>
                      </a:r>
                      <a:r>
                        <a:rPr sz="1200" spc="-3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шоколадные</a:t>
                      </a:r>
                      <a:r>
                        <a:rPr sz="1200" spc="-3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изделия.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Исходящие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ссылки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(документ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ссылается</a:t>
                      </a:r>
                      <a:r>
                        <a:rPr sz="1200" b="1" spc="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на…)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&lt;Перечень</a:t>
                      </a:r>
                      <a:r>
                        <a:rPr sz="1200" spc="-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стандартов&gt;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Входящие ссылки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(на</a:t>
                      </a:r>
                      <a:r>
                        <a:rPr sz="1200" b="1" spc="-2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документ</a:t>
                      </a:r>
                      <a:r>
                        <a:rPr sz="1200" b="1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ссылаются…)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34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&lt;Перечень</a:t>
                      </a:r>
                      <a:r>
                        <a:rPr sz="1200" spc="-5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стандартов&gt;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Взамен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79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Чем</a:t>
                      </a:r>
                      <a:r>
                        <a:rPr sz="1200" b="1" spc="-4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заменен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2776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Оглавление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720090">
                        <a:lnSpc>
                          <a:spcPts val="144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1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Область применения;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Нормативные ссылки; </a:t>
                      </a:r>
                      <a:r>
                        <a:rPr sz="1200" spc="-3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3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Термины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определения;</a:t>
                      </a:r>
                      <a:r>
                        <a:rPr sz="1200" spc="-3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4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Классификация;</a:t>
                      </a:r>
                    </a:p>
                    <a:p>
                      <a:pPr marL="193040" indent="-124460">
                        <a:lnSpc>
                          <a:spcPts val="1390"/>
                        </a:lnSpc>
                        <a:buAutoNum type="arabicPlain" startAt="5"/>
                        <a:tabLst>
                          <a:tab pos="193675" algn="l"/>
                        </a:tabLst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Общие</a:t>
                      </a:r>
                      <a:r>
                        <a:rPr sz="120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технические</a:t>
                      </a:r>
                      <a:r>
                        <a:rPr sz="1200" spc="-2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требования</a:t>
                      </a:r>
                      <a:r>
                        <a:rPr sz="1200" spc="-3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;</a:t>
                      </a:r>
                    </a:p>
                    <a:p>
                      <a:pPr marL="69215" marR="1167130">
                        <a:lnSpc>
                          <a:spcPct val="100000"/>
                        </a:lnSpc>
                        <a:buAutoNum type="arabicPlain" startAt="5"/>
                        <a:tabLst>
                          <a:tab pos="193675" algn="l"/>
                        </a:tabLst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Правила приемки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; 7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Методы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контроля; </a:t>
                      </a:r>
                      <a:r>
                        <a:rPr sz="1200" spc="-3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8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Транспортирование</a:t>
                      </a:r>
                      <a:r>
                        <a:rPr sz="1200" spc="-3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хранение;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Библиография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254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Изменения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40"/>
                        </a:lnSpc>
                      </a:pP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ИУС</a:t>
                      </a:r>
                      <a:r>
                        <a:rPr sz="1200" spc="-6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Публикации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1415"/>
                        </a:lnSpc>
                      </a:pP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Стандартинформ,</a:t>
                      </a:r>
                      <a:r>
                        <a:rPr sz="1200" spc="-4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2009;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Стандартинформ,</a:t>
                      </a:r>
                      <a:r>
                        <a:rPr sz="1200" spc="-4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2010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Классификаторы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1061085">
                        <a:lnSpc>
                          <a:spcPts val="1440"/>
                        </a:lnSpc>
                      </a:pP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Классификатор </a:t>
                      </a:r>
                      <a:r>
                        <a:rPr sz="1200" spc="-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ИСО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67.190 Шоколад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-&gt;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67 </a:t>
                      </a:r>
                      <a:r>
                        <a:rPr sz="1200" spc="-3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Производство</a:t>
                      </a:r>
                      <a:r>
                        <a:rPr sz="1200" spc="-4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пищевых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продуктов</a:t>
                      </a:r>
                      <a:endParaRPr sz="1200" dirty="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E8E8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b="1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Комментарий</a:t>
                      </a:r>
                      <a:endParaRPr sz="1200">
                        <a:solidFill>
                          <a:srgbClr val="C00000"/>
                        </a:solidFill>
                        <a:latin typeface="Segoe UI"/>
                        <a:cs typeface="Segoe UI"/>
                      </a:endParaRP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9215" marR="74295">
                        <a:lnSpc>
                          <a:spcPts val="1440"/>
                        </a:lnSpc>
                      </a:pP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Введен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впервые.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Издание (сентябрь 2010 </a:t>
                      </a:r>
                      <a:r>
                        <a:rPr sz="1200" spc="-2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г.)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с </a:t>
                      </a:r>
                      <a:r>
                        <a:rPr sz="1200" spc="-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поправкой </a:t>
                      </a:r>
                      <a:r>
                        <a:rPr sz="1200" spc="-31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spc="-1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(ИУС</a:t>
                      </a:r>
                      <a:r>
                        <a:rPr sz="1200" spc="-25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sz="1200" dirty="0">
                          <a:solidFill>
                            <a:srgbClr val="C00000"/>
                          </a:solidFill>
                          <a:latin typeface="Segoe UI"/>
                          <a:cs typeface="Segoe UI"/>
                        </a:rPr>
                        <a:t>3-2010)</a:t>
                      </a:r>
                    </a:p>
                  </a:txBody>
                  <a:tcPr marL="0" marR="0" marT="0" marB="0">
                    <a:lnL w="12700">
                      <a:solidFill>
                        <a:srgbClr val="333399"/>
                      </a:solidFill>
                      <a:prstDash val="solid"/>
                    </a:lnL>
                    <a:lnR w="12700">
                      <a:solidFill>
                        <a:srgbClr val="333399"/>
                      </a:solidFill>
                      <a:prstDash val="solid"/>
                    </a:lnR>
                    <a:lnT w="12700">
                      <a:solidFill>
                        <a:srgbClr val="333399"/>
                      </a:solidFill>
                      <a:prstDash val="solid"/>
                    </a:lnT>
                    <a:lnB w="12700">
                      <a:solidFill>
                        <a:srgbClr val="333399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3200" spc="-5" dirty="0"/>
              <a:t>Классификаторы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05985" y="5116320"/>
            <a:ext cx="4557014" cy="166547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75589" y="1017778"/>
            <a:ext cx="8042909" cy="5645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перехода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международную</a:t>
            </a:r>
            <a:r>
              <a:rPr sz="22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систему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классификации</a:t>
            </a:r>
            <a:endParaRPr sz="22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информации</a:t>
            </a:r>
            <a:r>
              <a:rPr sz="22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разработана</a:t>
            </a:r>
            <a:r>
              <a:rPr sz="22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Единая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система</a:t>
            </a:r>
            <a:r>
              <a:rPr sz="22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классификации</a:t>
            </a:r>
            <a:r>
              <a:rPr sz="22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endParaRPr sz="22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кодирования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технико-экономической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социальной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информации</a:t>
            </a:r>
            <a:endParaRPr sz="22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(ЕСКК).</a:t>
            </a:r>
            <a:endParaRPr sz="22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Комплекс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общероссийских</a:t>
            </a:r>
            <a:r>
              <a:rPr sz="20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классификаторов,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составляющих</a:t>
            </a:r>
            <a:r>
              <a:rPr sz="20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ЕСКК:</a:t>
            </a:r>
            <a:endParaRPr sz="2000">
              <a:latin typeface="Segoe UI Light"/>
              <a:cs typeface="Segoe UI Light"/>
            </a:endParaRPr>
          </a:p>
          <a:p>
            <a:pPr marL="469900" marR="655320" indent="-457834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Общероссийский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классификатор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предприятий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 организаций </a:t>
            </a:r>
            <a:r>
              <a:rPr sz="2000" spc="-5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(ОКПО)</a:t>
            </a:r>
            <a:endParaRPr sz="2000">
              <a:latin typeface="Segoe UI Light"/>
              <a:cs typeface="Segoe UI Light"/>
            </a:endParaRPr>
          </a:p>
          <a:p>
            <a:pPr marL="469900" marR="1390015" indent="-457834">
              <a:lnSpc>
                <a:spcPct val="10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Общероссийский</a:t>
            </a:r>
            <a:r>
              <a:rPr sz="20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классификатор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видов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Segoe UI Light"/>
                <a:cs typeface="Segoe UI Light"/>
              </a:rPr>
              <a:t>экономической </a:t>
            </a:r>
            <a:r>
              <a:rPr sz="2000" spc="-5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деятельности,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продукции</a:t>
            </a:r>
            <a:r>
              <a:rPr sz="20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услуг</a:t>
            </a:r>
            <a:r>
              <a:rPr sz="20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20" dirty="0">
                <a:solidFill>
                  <a:srgbClr val="FFFFFF"/>
                </a:solidFill>
                <a:latin typeface="Segoe UI Light"/>
                <a:cs typeface="Segoe UI Light"/>
              </a:rPr>
              <a:t>(ОКДП)</a:t>
            </a:r>
            <a:endParaRPr sz="2000">
              <a:latin typeface="Segoe UI Light"/>
              <a:cs typeface="Segoe UI Light"/>
            </a:endParaRPr>
          </a:p>
          <a:p>
            <a:pPr marL="469900" indent="-457834">
              <a:lnSpc>
                <a:spcPts val="2400"/>
              </a:lnSpc>
              <a:spcBef>
                <a:spcPts val="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Общероссийский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классификатор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единиц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измерения</a:t>
            </a:r>
            <a:r>
              <a:rPr sz="20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(ОКЕИ)</a:t>
            </a:r>
            <a:endParaRPr sz="2000">
              <a:latin typeface="Segoe UI Light"/>
              <a:cs typeface="Segoe UI Light"/>
            </a:endParaRPr>
          </a:p>
          <a:p>
            <a:pPr marL="469900" indent="-457834">
              <a:lnSpc>
                <a:spcPts val="288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Общероссийский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классификатор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(ОКС)</a:t>
            </a:r>
            <a:endParaRPr sz="2400">
              <a:latin typeface="Segoe UI Light"/>
              <a:cs typeface="Segoe UI Light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….</a:t>
            </a:r>
            <a:endParaRPr sz="20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32.</a:t>
            </a:r>
            <a:r>
              <a:rPr sz="20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…</a:t>
            </a:r>
            <a:endParaRPr sz="20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2600">
              <a:latin typeface="Segoe UI Light"/>
              <a:cs typeface="Segoe UI Light"/>
            </a:endParaRPr>
          </a:p>
          <a:p>
            <a:pPr marL="725170">
              <a:lnSpc>
                <a:spcPct val="100000"/>
              </a:lnSpc>
              <a:spcBef>
                <a:spcPts val="2150"/>
              </a:spcBef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Рис.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Структура</a:t>
            </a:r>
            <a:r>
              <a:rPr sz="20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Segoe UI Light"/>
                <a:cs typeface="Segoe UI Light"/>
              </a:rPr>
              <a:t>кода</a:t>
            </a:r>
            <a:r>
              <a:rPr sz="20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ОКС</a:t>
            </a:r>
            <a:endParaRPr sz="20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619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4"/>
              </a:spcBef>
            </a:pP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Классификаторы</a:t>
            </a:r>
            <a:r>
              <a:rPr sz="2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endParaRPr sz="2800">
              <a:latin typeface="Segoe UI Light"/>
              <a:cs typeface="Segoe UI Light"/>
            </a:endParaRPr>
          </a:p>
          <a:p>
            <a:pPr marL="90805">
              <a:lnSpc>
                <a:spcPct val="100000"/>
              </a:lnSpc>
              <a:spcBef>
                <a:spcPts val="1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(Общероссийский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классификатор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стандартов)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17657" y="7315200"/>
            <a:ext cx="21494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Segoe UI Light"/>
                <a:cs typeface="Segoe UI Light"/>
              </a:rPr>
              <a:t>Рис.</a:t>
            </a:r>
            <a:r>
              <a:rPr sz="20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Фрагмент</a:t>
            </a:r>
            <a:r>
              <a:rPr sz="20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Segoe UI Light"/>
                <a:cs typeface="Segoe UI Light"/>
              </a:rPr>
              <a:t>ОКС</a:t>
            </a:r>
            <a:endParaRPr sz="2000" dirty="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804" y="1600200"/>
            <a:ext cx="6864731" cy="53102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3200" spc="-5" dirty="0"/>
              <a:t>10.</a:t>
            </a:r>
            <a:r>
              <a:rPr sz="3200" spc="-15" dirty="0"/>
              <a:t> </a:t>
            </a:r>
            <a:r>
              <a:rPr sz="3200" dirty="0"/>
              <a:t>Профессиональные</a:t>
            </a:r>
            <a:r>
              <a:rPr sz="3200" spc="-40" dirty="0"/>
              <a:t> </a:t>
            </a:r>
            <a:r>
              <a:rPr sz="3200" spc="-10" dirty="0"/>
              <a:t>стандарты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620776" y="2057400"/>
            <a:ext cx="8054340" cy="54066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734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2001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некоммерческая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Ассоциация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Предприятий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Компьютерных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Информационных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Технологий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(АП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КИТ).</a:t>
            </a:r>
            <a:endParaRPr sz="24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2012/13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начало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профессиональных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 РФ в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области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ИТ </a:t>
            </a:r>
            <a:r>
              <a:rPr lang="en-US" sz="2400" spc="5" dirty="0">
                <a:solidFill>
                  <a:srgbClr val="FFFFFF"/>
                </a:solidFill>
                <a:latin typeface="Segoe UI Light"/>
                <a:cs typeface="Segoe UI Light"/>
                <a:hlinkClick r:id="rId2"/>
              </a:rPr>
              <a:t>https://apkit.ru/committees/komitet-po-obrazovaniyu/#</a:t>
            </a:r>
            <a:r>
              <a:rPr lang="en-US" sz="2400" spc="5" dirty="0" smtClean="0">
                <a:solidFill>
                  <a:srgbClr val="FFFFFF"/>
                </a:solidFill>
                <a:latin typeface="Segoe UI Light"/>
                <a:cs typeface="Segoe UI Light"/>
                <a:hlinkClick r:id="rId2"/>
              </a:rPr>
              <a:t>professionalnye-standarty-v-oblasti-it</a:t>
            </a:r>
            <a:endParaRPr lang="ru-RU" sz="2400" spc="5" dirty="0" smtClean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</a:pPr>
            <a:endParaRPr sz="22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spc="-5" dirty="0" smtClean="0">
                <a:solidFill>
                  <a:srgbClr val="FFFFFF"/>
                </a:solidFill>
                <a:latin typeface="Segoe UI Light"/>
                <a:cs typeface="Segoe UI Light"/>
              </a:rPr>
              <a:t>20</a:t>
            </a:r>
            <a:r>
              <a:rPr lang="ru-RU" sz="2400" spc="-5" dirty="0" smtClean="0">
                <a:solidFill>
                  <a:srgbClr val="FFFFFF"/>
                </a:solidFill>
                <a:latin typeface="Segoe UI Light"/>
                <a:cs typeface="Segoe UI Light"/>
              </a:rPr>
              <a:t>23</a:t>
            </a:r>
            <a:r>
              <a:rPr sz="2400" spc="-15" dirty="0" smtClean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lang="ru-RU" sz="2400" spc="-5" dirty="0" smtClean="0">
                <a:solidFill>
                  <a:srgbClr val="FFFFFF"/>
                </a:solidFill>
                <a:latin typeface="Segoe UI Light"/>
                <a:cs typeface="Segoe UI Light"/>
              </a:rPr>
              <a:t>45 действующих</a:t>
            </a:r>
            <a:r>
              <a:rPr sz="2400" spc="-5" dirty="0" smtClean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профессиональных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endParaRPr sz="24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 dirty="0">
              <a:latin typeface="Segoe UI Light"/>
              <a:cs typeface="Segoe UI Light"/>
            </a:endParaRPr>
          </a:p>
          <a:p>
            <a:pPr marL="12700" marR="2667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Профессиональный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документ,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устанавливающий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основную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цель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некоторого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вида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профессиональной</a:t>
            </a:r>
            <a:endParaRPr sz="2400" dirty="0">
              <a:latin typeface="Segoe UI Light"/>
              <a:cs typeface="Segoe UI Light"/>
            </a:endParaRPr>
          </a:p>
          <a:p>
            <a:pPr marL="12700" marR="18161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деятельности,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трудовые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функции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показатели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уровней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квалификации,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характера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умений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знаний,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требуемых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осуществления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этих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трудовых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функций.</a:t>
            </a:r>
            <a:endParaRPr sz="24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528350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2800" dirty="0"/>
              <a:t>Профессиональные</a:t>
            </a:r>
            <a:r>
              <a:rPr sz="3200" spc="-55" dirty="0"/>
              <a:t> </a:t>
            </a:r>
            <a:r>
              <a:rPr sz="3200" spc="-10" dirty="0"/>
              <a:t>стандарты</a:t>
            </a:r>
            <a:endParaRPr sz="3200" dirty="0"/>
          </a:p>
        </p:txBody>
      </p:sp>
      <p:sp>
        <p:nvSpPr>
          <p:cNvPr id="7" name="object 7"/>
          <p:cNvSpPr txBox="1"/>
          <p:nvPr/>
        </p:nvSpPr>
        <p:spPr>
          <a:xfrm>
            <a:off x="504317" y="1342327"/>
            <a:ext cx="768667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Основа</a:t>
            </a:r>
            <a:r>
              <a:rPr sz="28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проф.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</a:t>
            </a:r>
            <a:r>
              <a:rPr sz="28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 функциональная</a:t>
            </a:r>
            <a:r>
              <a:rPr sz="28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Segoe UI Light"/>
                <a:cs typeface="Segoe UI Light"/>
              </a:rPr>
              <a:t>карта </a:t>
            </a:r>
            <a:r>
              <a:rPr sz="2800" spc="-7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вида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профессиональной</a:t>
            </a:r>
            <a:r>
              <a:rPr sz="2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деятельности.</a:t>
            </a:r>
            <a:endParaRPr sz="2800" dirty="0">
              <a:latin typeface="Segoe UI Light"/>
              <a:cs typeface="Segoe U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82358" y="2735072"/>
            <a:ext cx="893444" cy="465455"/>
          </a:xfrm>
          <a:custGeom>
            <a:avLst/>
            <a:gdLst/>
            <a:ahLst/>
            <a:cxnLst/>
            <a:rect l="l" t="t" r="r" b="b"/>
            <a:pathLst>
              <a:path w="893445" h="465455">
                <a:moveTo>
                  <a:pt x="755269" y="346075"/>
                </a:moveTo>
                <a:lnTo>
                  <a:pt x="861441" y="465327"/>
                </a:lnTo>
                <a:lnTo>
                  <a:pt x="877380" y="386714"/>
                </a:lnTo>
                <a:lnTo>
                  <a:pt x="825373" y="386714"/>
                </a:lnTo>
                <a:lnTo>
                  <a:pt x="821869" y="375036"/>
                </a:lnTo>
                <a:lnTo>
                  <a:pt x="755269" y="346075"/>
                </a:lnTo>
                <a:close/>
              </a:path>
              <a:path w="893445" h="465455">
                <a:moveTo>
                  <a:pt x="821869" y="375036"/>
                </a:moveTo>
                <a:lnTo>
                  <a:pt x="825373" y="386714"/>
                </a:lnTo>
                <a:lnTo>
                  <a:pt x="839300" y="382524"/>
                </a:lnTo>
                <a:lnTo>
                  <a:pt x="839089" y="382524"/>
                </a:lnTo>
                <a:lnTo>
                  <a:pt x="821869" y="375036"/>
                </a:lnTo>
                <a:close/>
              </a:path>
              <a:path w="893445" h="465455">
                <a:moveTo>
                  <a:pt x="893191" y="308737"/>
                </a:moveTo>
                <a:lnTo>
                  <a:pt x="849652" y="368116"/>
                </a:lnTo>
                <a:lnTo>
                  <a:pt x="852805" y="378460"/>
                </a:lnTo>
                <a:lnTo>
                  <a:pt x="825373" y="386714"/>
                </a:lnTo>
                <a:lnTo>
                  <a:pt x="877380" y="386714"/>
                </a:lnTo>
                <a:lnTo>
                  <a:pt x="893191" y="308737"/>
                </a:lnTo>
                <a:close/>
              </a:path>
              <a:path w="893445" h="465455">
                <a:moveTo>
                  <a:pt x="613361" y="28448"/>
                </a:moveTo>
                <a:lnTo>
                  <a:pt x="403351" y="28448"/>
                </a:lnTo>
                <a:lnTo>
                  <a:pt x="442468" y="29337"/>
                </a:lnTo>
                <a:lnTo>
                  <a:pt x="480187" y="31623"/>
                </a:lnTo>
                <a:lnTo>
                  <a:pt x="549783" y="41020"/>
                </a:lnTo>
                <a:lnTo>
                  <a:pt x="596011" y="52704"/>
                </a:lnTo>
                <a:lnTo>
                  <a:pt x="637286" y="68961"/>
                </a:lnTo>
                <a:lnTo>
                  <a:pt x="672592" y="93090"/>
                </a:lnTo>
                <a:lnTo>
                  <a:pt x="705485" y="128650"/>
                </a:lnTo>
                <a:lnTo>
                  <a:pt x="735457" y="172592"/>
                </a:lnTo>
                <a:lnTo>
                  <a:pt x="762508" y="222503"/>
                </a:lnTo>
                <a:lnTo>
                  <a:pt x="778510" y="257175"/>
                </a:lnTo>
                <a:lnTo>
                  <a:pt x="805561" y="326263"/>
                </a:lnTo>
                <a:lnTo>
                  <a:pt x="821563" y="374014"/>
                </a:lnTo>
                <a:lnTo>
                  <a:pt x="821869" y="375036"/>
                </a:lnTo>
                <a:lnTo>
                  <a:pt x="839089" y="382524"/>
                </a:lnTo>
                <a:lnTo>
                  <a:pt x="849652" y="368116"/>
                </a:lnTo>
                <a:lnTo>
                  <a:pt x="848741" y="365125"/>
                </a:lnTo>
                <a:lnTo>
                  <a:pt x="843661" y="349630"/>
                </a:lnTo>
                <a:lnTo>
                  <a:pt x="819276" y="281177"/>
                </a:lnTo>
                <a:lnTo>
                  <a:pt x="804418" y="245237"/>
                </a:lnTo>
                <a:lnTo>
                  <a:pt x="787781" y="209423"/>
                </a:lnTo>
                <a:lnTo>
                  <a:pt x="769620" y="174370"/>
                </a:lnTo>
                <a:lnTo>
                  <a:pt x="749426" y="141097"/>
                </a:lnTo>
                <a:lnTo>
                  <a:pt x="715645" y="96265"/>
                </a:lnTo>
                <a:lnTo>
                  <a:pt x="677291" y="60198"/>
                </a:lnTo>
                <a:lnTo>
                  <a:pt x="634619" y="36449"/>
                </a:lnTo>
                <a:lnTo>
                  <a:pt x="619633" y="30606"/>
                </a:lnTo>
                <a:lnTo>
                  <a:pt x="613361" y="28448"/>
                </a:lnTo>
                <a:close/>
              </a:path>
              <a:path w="893445" h="465455">
                <a:moveTo>
                  <a:pt x="849652" y="368116"/>
                </a:moveTo>
                <a:lnTo>
                  <a:pt x="839089" y="382524"/>
                </a:lnTo>
                <a:lnTo>
                  <a:pt x="839300" y="382524"/>
                </a:lnTo>
                <a:lnTo>
                  <a:pt x="852805" y="378460"/>
                </a:lnTo>
                <a:lnTo>
                  <a:pt x="849652" y="368116"/>
                </a:lnTo>
                <a:close/>
              </a:path>
              <a:path w="893445" h="465455">
                <a:moveTo>
                  <a:pt x="402971" y="0"/>
                </a:moveTo>
                <a:lnTo>
                  <a:pt x="361442" y="507"/>
                </a:lnTo>
                <a:lnTo>
                  <a:pt x="318897" y="2286"/>
                </a:lnTo>
                <a:lnTo>
                  <a:pt x="275209" y="5079"/>
                </a:lnTo>
                <a:lnTo>
                  <a:pt x="230505" y="8636"/>
                </a:lnTo>
                <a:lnTo>
                  <a:pt x="139446" y="17906"/>
                </a:lnTo>
                <a:lnTo>
                  <a:pt x="0" y="34925"/>
                </a:lnTo>
                <a:lnTo>
                  <a:pt x="3429" y="63245"/>
                </a:lnTo>
                <a:lnTo>
                  <a:pt x="142875" y="46354"/>
                </a:lnTo>
                <a:lnTo>
                  <a:pt x="233299" y="37083"/>
                </a:lnTo>
                <a:lnTo>
                  <a:pt x="277495" y="33527"/>
                </a:lnTo>
                <a:lnTo>
                  <a:pt x="320675" y="30733"/>
                </a:lnTo>
                <a:lnTo>
                  <a:pt x="362585" y="29082"/>
                </a:lnTo>
                <a:lnTo>
                  <a:pt x="403351" y="28448"/>
                </a:lnTo>
                <a:lnTo>
                  <a:pt x="613361" y="28448"/>
                </a:lnTo>
                <a:lnTo>
                  <a:pt x="604139" y="25273"/>
                </a:lnTo>
                <a:lnTo>
                  <a:pt x="554355" y="12826"/>
                </a:lnTo>
                <a:lnTo>
                  <a:pt x="481838" y="3048"/>
                </a:lnTo>
                <a:lnTo>
                  <a:pt x="443102" y="762"/>
                </a:lnTo>
                <a:lnTo>
                  <a:pt x="402971" y="0"/>
                </a:lnTo>
                <a:close/>
              </a:path>
            </a:pathLst>
          </a:custGeom>
          <a:solidFill>
            <a:srgbClr val="71B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2962" y="2971800"/>
            <a:ext cx="142875" cy="751840"/>
          </a:xfrm>
          <a:custGeom>
            <a:avLst/>
            <a:gdLst/>
            <a:ahLst/>
            <a:cxnLst/>
            <a:rect l="l" t="t" r="r" b="b"/>
            <a:pathLst>
              <a:path w="142875" h="751839">
                <a:moveTo>
                  <a:pt x="85725" y="0"/>
                </a:moveTo>
                <a:lnTo>
                  <a:pt x="57150" y="0"/>
                </a:lnTo>
                <a:lnTo>
                  <a:pt x="57150" y="228600"/>
                </a:lnTo>
                <a:lnTo>
                  <a:pt x="85725" y="228600"/>
                </a:lnTo>
                <a:lnTo>
                  <a:pt x="85725" y="0"/>
                </a:lnTo>
                <a:close/>
              </a:path>
              <a:path w="142875" h="751839">
                <a:moveTo>
                  <a:pt x="85725" y="314325"/>
                </a:moveTo>
                <a:lnTo>
                  <a:pt x="57150" y="314325"/>
                </a:lnTo>
                <a:lnTo>
                  <a:pt x="57150" y="342900"/>
                </a:lnTo>
                <a:lnTo>
                  <a:pt x="85725" y="342900"/>
                </a:lnTo>
                <a:lnTo>
                  <a:pt x="85725" y="314325"/>
                </a:lnTo>
                <a:close/>
              </a:path>
              <a:path w="142875" h="751839">
                <a:moveTo>
                  <a:pt x="0" y="608964"/>
                </a:moveTo>
                <a:lnTo>
                  <a:pt x="71437" y="751839"/>
                </a:lnTo>
                <a:lnTo>
                  <a:pt x="114300" y="666114"/>
                </a:lnTo>
                <a:lnTo>
                  <a:pt x="71437" y="666114"/>
                </a:lnTo>
                <a:lnTo>
                  <a:pt x="60325" y="657225"/>
                </a:lnTo>
                <a:lnTo>
                  <a:pt x="57150" y="657225"/>
                </a:lnTo>
                <a:lnTo>
                  <a:pt x="57150" y="654684"/>
                </a:lnTo>
                <a:lnTo>
                  <a:pt x="0" y="608964"/>
                </a:lnTo>
                <a:close/>
              </a:path>
              <a:path w="142875" h="751839">
                <a:moveTo>
                  <a:pt x="85725" y="654684"/>
                </a:moveTo>
                <a:lnTo>
                  <a:pt x="71437" y="666114"/>
                </a:lnTo>
                <a:lnTo>
                  <a:pt x="114300" y="666114"/>
                </a:lnTo>
                <a:lnTo>
                  <a:pt x="118744" y="657225"/>
                </a:lnTo>
                <a:lnTo>
                  <a:pt x="85725" y="657225"/>
                </a:lnTo>
                <a:lnTo>
                  <a:pt x="85725" y="654684"/>
                </a:lnTo>
                <a:close/>
              </a:path>
              <a:path w="142875" h="751839">
                <a:moveTo>
                  <a:pt x="57150" y="654684"/>
                </a:moveTo>
                <a:lnTo>
                  <a:pt x="57150" y="657225"/>
                </a:lnTo>
                <a:lnTo>
                  <a:pt x="60325" y="657225"/>
                </a:lnTo>
                <a:lnTo>
                  <a:pt x="57150" y="654684"/>
                </a:lnTo>
                <a:close/>
              </a:path>
              <a:path w="142875" h="751839">
                <a:moveTo>
                  <a:pt x="85725" y="428625"/>
                </a:moveTo>
                <a:lnTo>
                  <a:pt x="57150" y="428625"/>
                </a:lnTo>
                <a:lnTo>
                  <a:pt x="57150" y="654684"/>
                </a:lnTo>
                <a:lnTo>
                  <a:pt x="60325" y="657225"/>
                </a:lnTo>
                <a:lnTo>
                  <a:pt x="82549" y="657225"/>
                </a:lnTo>
                <a:lnTo>
                  <a:pt x="85725" y="654684"/>
                </a:lnTo>
                <a:lnTo>
                  <a:pt x="85725" y="428625"/>
                </a:lnTo>
                <a:close/>
              </a:path>
              <a:path w="142875" h="751839">
                <a:moveTo>
                  <a:pt x="142875" y="608964"/>
                </a:moveTo>
                <a:lnTo>
                  <a:pt x="85725" y="654684"/>
                </a:lnTo>
                <a:lnTo>
                  <a:pt x="85725" y="657225"/>
                </a:lnTo>
                <a:lnTo>
                  <a:pt x="118744" y="657225"/>
                </a:lnTo>
                <a:lnTo>
                  <a:pt x="142875" y="608964"/>
                </a:lnTo>
                <a:close/>
              </a:path>
            </a:pathLst>
          </a:custGeom>
          <a:solidFill>
            <a:srgbClr val="71B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91098" y="3733800"/>
            <a:ext cx="142875" cy="704850"/>
          </a:xfrm>
          <a:custGeom>
            <a:avLst/>
            <a:gdLst/>
            <a:ahLst/>
            <a:cxnLst/>
            <a:rect l="l" t="t" r="r" b="b"/>
            <a:pathLst>
              <a:path w="142875" h="704850">
                <a:moveTo>
                  <a:pt x="85725" y="0"/>
                </a:moveTo>
                <a:lnTo>
                  <a:pt x="57150" y="0"/>
                </a:lnTo>
                <a:lnTo>
                  <a:pt x="57150" y="228600"/>
                </a:lnTo>
                <a:lnTo>
                  <a:pt x="85725" y="228600"/>
                </a:lnTo>
                <a:lnTo>
                  <a:pt x="85725" y="0"/>
                </a:lnTo>
                <a:close/>
              </a:path>
              <a:path w="142875" h="704850">
                <a:moveTo>
                  <a:pt x="85725" y="314325"/>
                </a:moveTo>
                <a:lnTo>
                  <a:pt x="57150" y="314325"/>
                </a:lnTo>
                <a:lnTo>
                  <a:pt x="57150" y="342900"/>
                </a:lnTo>
                <a:lnTo>
                  <a:pt x="85725" y="342900"/>
                </a:lnTo>
                <a:lnTo>
                  <a:pt x="85725" y="314325"/>
                </a:lnTo>
                <a:close/>
              </a:path>
              <a:path w="142875" h="704850">
                <a:moveTo>
                  <a:pt x="0" y="561848"/>
                </a:moveTo>
                <a:lnTo>
                  <a:pt x="71500" y="704723"/>
                </a:lnTo>
                <a:lnTo>
                  <a:pt x="114325" y="618998"/>
                </a:lnTo>
                <a:lnTo>
                  <a:pt x="57150" y="618998"/>
                </a:lnTo>
                <a:lnTo>
                  <a:pt x="57150" y="607527"/>
                </a:lnTo>
                <a:lnTo>
                  <a:pt x="0" y="561848"/>
                </a:lnTo>
                <a:close/>
              </a:path>
              <a:path w="142875" h="704850">
                <a:moveTo>
                  <a:pt x="57150" y="607527"/>
                </a:moveTo>
                <a:lnTo>
                  <a:pt x="57150" y="618998"/>
                </a:lnTo>
                <a:lnTo>
                  <a:pt x="71500" y="618998"/>
                </a:lnTo>
                <a:lnTo>
                  <a:pt x="57150" y="607527"/>
                </a:lnTo>
                <a:close/>
              </a:path>
              <a:path w="142875" h="704850">
                <a:moveTo>
                  <a:pt x="85725" y="428625"/>
                </a:moveTo>
                <a:lnTo>
                  <a:pt x="57150" y="428625"/>
                </a:lnTo>
                <a:lnTo>
                  <a:pt x="57251" y="607608"/>
                </a:lnTo>
                <a:lnTo>
                  <a:pt x="71500" y="618998"/>
                </a:lnTo>
                <a:lnTo>
                  <a:pt x="85725" y="607608"/>
                </a:lnTo>
                <a:lnTo>
                  <a:pt x="85725" y="428625"/>
                </a:lnTo>
                <a:close/>
              </a:path>
              <a:path w="142875" h="704850">
                <a:moveTo>
                  <a:pt x="85725" y="607608"/>
                </a:moveTo>
                <a:lnTo>
                  <a:pt x="71500" y="618998"/>
                </a:lnTo>
                <a:lnTo>
                  <a:pt x="85725" y="618998"/>
                </a:lnTo>
                <a:lnTo>
                  <a:pt x="85725" y="607608"/>
                </a:lnTo>
                <a:close/>
              </a:path>
              <a:path w="142875" h="704850">
                <a:moveTo>
                  <a:pt x="142875" y="561848"/>
                </a:moveTo>
                <a:lnTo>
                  <a:pt x="85826" y="607527"/>
                </a:lnTo>
                <a:lnTo>
                  <a:pt x="85725" y="618998"/>
                </a:lnTo>
                <a:lnTo>
                  <a:pt x="114325" y="618998"/>
                </a:lnTo>
                <a:lnTo>
                  <a:pt x="142875" y="561848"/>
                </a:lnTo>
                <a:close/>
              </a:path>
            </a:pathLst>
          </a:custGeom>
          <a:solidFill>
            <a:srgbClr val="71BE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5940" y="2462911"/>
            <a:ext cx="8341995" cy="2172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{</a:t>
            </a:r>
            <a:r>
              <a:rPr sz="280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Обобщенные</a:t>
            </a:r>
            <a:r>
              <a:rPr sz="2800" spc="3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Segoe UI Semibold"/>
                <a:cs typeface="Segoe UI Semibold"/>
              </a:rPr>
              <a:t>трудовые</a:t>
            </a:r>
            <a:r>
              <a:rPr sz="2800" spc="4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функции</a:t>
            </a:r>
            <a:r>
              <a:rPr sz="2800" spc="4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}</a:t>
            </a:r>
            <a:endParaRPr sz="2800">
              <a:latin typeface="Segoe UI Semibold"/>
              <a:cs typeface="Segoe UI Semibold"/>
            </a:endParaRPr>
          </a:p>
          <a:p>
            <a:pPr marL="4685030">
              <a:lnSpc>
                <a:spcPct val="100000"/>
              </a:lnSpc>
              <a:spcBef>
                <a:spcPts val="2640"/>
              </a:spcBef>
            </a:pP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{</a:t>
            </a:r>
            <a:r>
              <a:rPr sz="2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Segoe UI Semibold"/>
                <a:cs typeface="Segoe UI Semibold"/>
              </a:rPr>
              <a:t>Трудовые</a:t>
            </a:r>
            <a:r>
              <a:rPr sz="2800" spc="2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функции</a:t>
            </a:r>
            <a:r>
              <a:rPr sz="2800" spc="4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}</a:t>
            </a:r>
            <a:endParaRPr sz="2800">
              <a:latin typeface="Segoe UI Semibold"/>
              <a:cs typeface="Segoe UI Semibold"/>
            </a:endParaRPr>
          </a:p>
          <a:p>
            <a:pPr marL="241300" marR="4286250">
              <a:lnSpc>
                <a:spcPct val="100000"/>
              </a:lnSpc>
              <a:spcBef>
                <a:spcPts val="1785"/>
              </a:spcBef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Возможные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должности;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образованию;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4540" y="4609338"/>
            <a:ext cx="2727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опыту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2740" y="4465066"/>
            <a:ext cx="30099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Трудовые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действия;</a:t>
            </a:r>
            <a:endParaRPr sz="24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Необходимые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умения;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Необходимые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знания.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3B8B92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3200" spc="-10" dirty="0"/>
              <a:t>Стандарты</a:t>
            </a:r>
            <a:r>
              <a:rPr sz="3200" spc="-45" dirty="0"/>
              <a:t> </a:t>
            </a:r>
            <a:r>
              <a:rPr sz="3200" spc="-15" dirty="0"/>
              <a:t>WorldSkills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3757676"/>
            <a:ext cx="1219250" cy="150012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281237" y="4274375"/>
            <a:ext cx="923925" cy="466725"/>
            <a:chOff x="2281237" y="4274375"/>
            <a:chExt cx="923925" cy="466725"/>
          </a:xfrm>
        </p:grpSpPr>
        <p:sp>
          <p:nvSpPr>
            <p:cNvPr id="9" name="object 9"/>
            <p:cNvSpPr/>
            <p:nvPr/>
          </p:nvSpPr>
          <p:spPr>
            <a:xfrm>
              <a:off x="2286000" y="427913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685800" y="0"/>
                  </a:moveTo>
                  <a:lnTo>
                    <a:pt x="685800" y="114300"/>
                  </a:lnTo>
                  <a:lnTo>
                    <a:pt x="0" y="114300"/>
                  </a:lnTo>
                  <a:lnTo>
                    <a:pt x="114300" y="228600"/>
                  </a:lnTo>
                  <a:lnTo>
                    <a:pt x="0" y="342900"/>
                  </a:lnTo>
                  <a:lnTo>
                    <a:pt x="685800" y="342900"/>
                  </a:lnTo>
                  <a:lnTo>
                    <a:pt x="685800" y="457200"/>
                  </a:lnTo>
                  <a:lnTo>
                    <a:pt x="914400" y="228600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86000" y="4279138"/>
              <a:ext cx="914400" cy="457200"/>
            </a:xfrm>
            <a:custGeom>
              <a:avLst/>
              <a:gdLst/>
              <a:ahLst/>
              <a:cxnLst/>
              <a:rect l="l" t="t" r="r" b="b"/>
              <a:pathLst>
                <a:path w="914400" h="457200">
                  <a:moveTo>
                    <a:pt x="0" y="114300"/>
                  </a:moveTo>
                  <a:lnTo>
                    <a:pt x="685800" y="114300"/>
                  </a:lnTo>
                  <a:lnTo>
                    <a:pt x="685800" y="0"/>
                  </a:lnTo>
                  <a:lnTo>
                    <a:pt x="914400" y="228600"/>
                  </a:lnTo>
                  <a:lnTo>
                    <a:pt x="685800" y="457200"/>
                  </a:lnTo>
                  <a:lnTo>
                    <a:pt x="685800" y="342900"/>
                  </a:lnTo>
                  <a:lnTo>
                    <a:pt x="0" y="34290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63092" y="1168653"/>
            <a:ext cx="8236584" cy="60195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36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Миссия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движения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WorldSkills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развитие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подготовки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кадров.</a:t>
            </a:r>
            <a:endParaRPr sz="2400" dirty="0">
              <a:latin typeface="Segoe UI Light"/>
              <a:cs typeface="Segoe UI Light"/>
            </a:endParaRPr>
          </a:p>
          <a:p>
            <a:pPr marL="12700" marR="245745">
              <a:lnSpc>
                <a:spcPct val="100000"/>
              </a:lnSpc>
              <a:spcBef>
                <a:spcPts val="1210"/>
              </a:spcBef>
            </a:pP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1947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 –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некоммерческая</a:t>
            </a:r>
            <a:r>
              <a:rPr sz="22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ассоциация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WorldSkills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International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(WSI). </a:t>
            </a:r>
            <a:r>
              <a:rPr sz="2200" spc="-5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2012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cоюз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«Молодые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профессионалы</a:t>
            </a:r>
            <a:r>
              <a:rPr sz="22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(Ворлдскиллс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 err="1">
                <a:solidFill>
                  <a:srgbClr val="FFFFFF"/>
                </a:solidFill>
                <a:latin typeface="Segoe UI Light"/>
                <a:cs typeface="Segoe UI Light"/>
              </a:rPr>
              <a:t>Россия</a:t>
            </a:r>
            <a:r>
              <a:rPr sz="2200" spc="-5" dirty="0" smtClean="0">
                <a:solidFill>
                  <a:srgbClr val="FFFFFF"/>
                </a:solidFill>
                <a:latin typeface="Segoe UI Light"/>
                <a:cs typeface="Segoe UI Light"/>
              </a:rPr>
              <a:t>)»</a:t>
            </a:r>
            <a:r>
              <a:rPr lang="ru-RU" sz="2200" spc="-5" dirty="0" smtClean="0">
                <a:solidFill>
                  <a:srgbClr val="FFFFFF"/>
                </a:solidFill>
                <a:latin typeface="Segoe UI Light"/>
                <a:cs typeface="Segoe UI Light"/>
              </a:rPr>
              <a:t>: </a:t>
            </a:r>
            <a:r>
              <a:rPr lang="en-US" sz="2200" spc="-5" dirty="0">
                <a:solidFill>
                  <a:srgbClr val="FFFFFF"/>
                </a:solidFill>
                <a:latin typeface="Segoe UI Light"/>
                <a:cs typeface="Segoe UI Light"/>
                <a:hlinkClick r:id="rId3"/>
              </a:rPr>
              <a:t>https://worldskills.ru</a:t>
            </a:r>
            <a:r>
              <a:rPr lang="en-US" sz="2200" spc="-5" dirty="0" smtClean="0">
                <a:solidFill>
                  <a:srgbClr val="FFFFFF"/>
                </a:solidFill>
                <a:latin typeface="Segoe UI Light"/>
                <a:cs typeface="Segoe UI Light"/>
                <a:hlinkClick r:id="rId3"/>
              </a:rPr>
              <a:t>/</a:t>
            </a:r>
            <a:endParaRPr lang="ru-RU" sz="2200" spc="-5" dirty="0" smtClean="0">
              <a:solidFill>
                <a:srgbClr val="FFFFFF"/>
              </a:solidFill>
              <a:latin typeface="Segoe UI Light"/>
              <a:cs typeface="Segoe UI Light"/>
            </a:endParaRPr>
          </a:p>
          <a:p>
            <a:pPr marL="12700" marR="245745">
              <a:lnSpc>
                <a:spcPct val="100000"/>
              </a:lnSpc>
              <a:spcBef>
                <a:spcPts val="1210"/>
              </a:spcBef>
            </a:pPr>
            <a:endParaRPr sz="22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900" dirty="0">
              <a:latin typeface="Segoe UI Light"/>
              <a:cs typeface="Segoe UI Light"/>
            </a:endParaRPr>
          </a:p>
          <a:p>
            <a:pPr marR="5080" algn="r">
              <a:lnSpc>
                <a:spcPct val="100000"/>
              </a:lnSpc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WorldSkills</a:t>
            </a:r>
            <a:endParaRPr sz="2400" dirty="0">
              <a:latin typeface="Segoe UI Light"/>
              <a:cs typeface="Segoe UI Light"/>
            </a:endParaRPr>
          </a:p>
          <a:p>
            <a:pPr marL="3396615" marR="665480" indent="-635" algn="ctr">
              <a:lnSpc>
                <a:spcPct val="100000"/>
              </a:lnSpc>
              <a:spcBef>
                <a:spcPts val="1980"/>
              </a:spcBef>
            </a:pP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Skills</a:t>
            </a:r>
            <a:r>
              <a:rPr sz="2800" spc="4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dirty="0">
                <a:solidFill>
                  <a:srgbClr val="FFFFFF"/>
                </a:solidFill>
                <a:latin typeface="Segoe UI Semibold"/>
                <a:cs typeface="Segoe UI Semibold"/>
              </a:rPr>
              <a:t>для </a:t>
            </a:r>
            <a:r>
              <a:rPr sz="2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профессии </a:t>
            </a: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Набор</a:t>
            </a:r>
            <a:r>
              <a:rPr sz="280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Segoe UI Semibold"/>
                <a:cs typeface="Segoe UI Semibold"/>
              </a:rPr>
              <a:t>тестовых</a:t>
            </a:r>
            <a:r>
              <a:rPr sz="2800" spc="-5" dirty="0">
                <a:solidFill>
                  <a:srgbClr val="FFFFFF"/>
                </a:solidFill>
                <a:latin typeface="Segoe UI Semibold"/>
                <a:cs typeface="Segoe UI Semibold"/>
              </a:rPr>
              <a:t> заданий </a:t>
            </a:r>
            <a:r>
              <a:rPr sz="2800" spc="-755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Segoe UI Semibold"/>
                <a:cs typeface="Segoe UI Semibold"/>
              </a:rPr>
              <a:t>Критерии</a:t>
            </a:r>
            <a:r>
              <a:rPr sz="2800" spc="30" dirty="0">
                <a:solidFill>
                  <a:srgbClr val="FFFFFF"/>
                </a:solidFill>
                <a:latin typeface="Segoe UI Semibold"/>
                <a:cs typeface="Segoe UI Semibold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Semibold"/>
                <a:cs typeface="Segoe UI Semibold"/>
              </a:rPr>
              <a:t>оценивания</a:t>
            </a:r>
            <a:endParaRPr sz="2800" dirty="0">
              <a:latin typeface="Segoe UI Semibold"/>
              <a:cs typeface="Segoe UI Semibold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100" dirty="0">
              <a:latin typeface="Segoe UI Semibold"/>
              <a:cs typeface="Segoe UI Semibold"/>
            </a:endParaRPr>
          </a:p>
          <a:p>
            <a:pPr marL="12700" marR="94615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Демонстрационный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экзамен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стандартам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WorldSkills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Russia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чемпионаты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профессионального мастерства.</a:t>
            </a:r>
            <a:endParaRPr sz="2400" dirty="0">
              <a:latin typeface="Segoe UI Light"/>
              <a:cs typeface="Segoe UI Ligh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352800" y="3733800"/>
            <a:ext cx="282575" cy="1442720"/>
          </a:xfrm>
          <a:custGeom>
            <a:avLst/>
            <a:gdLst/>
            <a:ahLst/>
            <a:cxnLst/>
            <a:rect l="l" t="t" r="r" b="b"/>
            <a:pathLst>
              <a:path w="282575" h="1442720">
                <a:moveTo>
                  <a:pt x="282575" y="1442593"/>
                </a:moveTo>
                <a:lnTo>
                  <a:pt x="227591" y="1435389"/>
                </a:lnTo>
                <a:lnTo>
                  <a:pt x="182657" y="1415732"/>
                </a:lnTo>
                <a:lnTo>
                  <a:pt x="152344" y="1386550"/>
                </a:lnTo>
                <a:lnTo>
                  <a:pt x="141224" y="1350772"/>
                </a:lnTo>
                <a:lnTo>
                  <a:pt x="141350" y="813054"/>
                </a:lnTo>
                <a:lnTo>
                  <a:pt x="130230" y="777329"/>
                </a:lnTo>
                <a:lnTo>
                  <a:pt x="99917" y="748141"/>
                </a:lnTo>
                <a:lnTo>
                  <a:pt x="54983" y="728454"/>
                </a:lnTo>
                <a:lnTo>
                  <a:pt x="0" y="721232"/>
                </a:lnTo>
                <a:lnTo>
                  <a:pt x="54983" y="714031"/>
                </a:lnTo>
                <a:lnTo>
                  <a:pt x="99917" y="694388"/>
                </a:lnTo>
                <a:lnTo>
                  <a:pt x="130230" y="665243"/>
                </a:lnTo>
                <a:lnTo>
                  <a:pt x="141350" y="629538"/>
                </a:lnTo>
                <a:lnTo>
                  <a:pt x="141350" y="91693"/>
                </a:lnTo>
                <a:lnTo>
                  <a:pt x="152451" y="55989"/>
                </a:lnTo>
                <a:lnTo>
                  <a:pt x="182721" y="26844"/>
                </a:lnTo>
                <a:lnTo>
                  <a:pt x="227611" y="7201"/>
                </a:lnTo>
                <a:lnTo>
                  <a:pt x="282575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251825" y="3733800"/>
            <a:ext cx="282575" cy="1442720"/>
          </a:xfrm>
          <a:custGeom>
            <a:avLst/>
            <a:gdLst/>
            <a:ahLst/>
            <a:cxnLst/>
            <a:rect l="l" t="t" r="r" b="b"/>
            <a:pathLst>
              <a:path w="282575" h="1442720">
                <a:moveTo>
                  <a:pt x="0" y="1442593"/>
                </a:moveTo>
                <a:lnTo>
                  <a:pt x="54983" y="1435389"/>
                </a:lnTo>
                <a:lnTo>
                  <a:pt x="99917" y="1415732"/>
                </a:lnTo>
                <a:lnTo>
                  <a:pt x="130230" y="1386550"/>
                </a:lnTo>
                <a:lnTo>
                  <a:pt x="141350" y="1350772"/>
                </a:lnTo>
                <a:lnTo>
                  <a:pt x="141224" y="813054"/>
                </a:lnTo>
                <a:lnTo>
                  <a:pt x="152344" y="777329"/>
                </a:lnTo>
                <a:lnTo>
                  <a:pt x="182657" y="748141"/>
                </a:lnTo>
                <a:lnTo>
                  <a:pt x="227591" y="728454"/>
                </a:lnTo>
                <a:lnTo>
                  <a:pt x="282575" y="721232"/>
                </a:lnTo>
                <a:lnTo>
                  <a:pt x="227591" y="714031"/>
                </a:lnTo>
                <a:lnTo>
                  <a:pt x="182657" y="694388"/>
                </a:lnTo>
                <a:lnTo>
                  <a:pt x="152344" y="665243"/>
                </a:lnTo>
                <a:lnTo>
                  <a:pt x="141224" y="629538"/>
                </a:lnTo>
                <a:lnTo>
                  <a:pt x="141224" y="91693"/>
                </a:lnTo>
                <a:lnTo>
                  <a:pt x="130123" y="55989"/>
                </a:lnTo>
                <a:lnTo>
                  <a:pt x="99853" y="26844"/>
                </a:lnTo>
                <a:lnTo>
                  <a:pt x="54963" y="7201"/>
                </a:lnTo>
                <a:lnTo>
                  <a:pt x="0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546100">
              <a:lnSpc>
                <a:spcPct val="100000"/>
              </a:lnSpc>
              <a:spcBef>
                <a:spcPts val="290"/>
              </a:spcBef>
            </a:pPr>
            <a:r>
              <a:rPr sz="2600" spc="-10" dirty="0"/>
              <a:t>11. </a:t>
            </a:r>
            <a:r>
              <a:rPr sz="2600" spc="-5" dirty="0"/>
              <a:t>Информационно-поисковые </a:t>
            </a:r>
            <a:r>
              <a:rPr sz="2600" spc="-10" dirty="0"/>
              <a:t>системы </a:t>
            </a:r>
            <a:r>
              <a:rPr sz="2600" spc="-700" dirty="0"/>
              <a:t> </a:t>
            </a:r>
            <a:r>
              <a:rPr sz="2600" dirty="0"/>
              <a:t>нормативов</a:t>
            </a:r>
            <a:endParaRPr sz="2600"/>
          </a:p>
        </p:txBody>
      </p:sp>
      <p:sp>
        <p:nvSpPr>
          <p:cNvPr id="7" name="object 7"/>
          <p:cNvSpPr txBox="1"/>
          <p:nvPr/>
        </p:nvSpPr>
        <p:spPr>
          <a:xfrm>
            <a:off x="475589" y="1270761"/>
            <a:ext cx="8075295" cy="3201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307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Программы</a:t>
            </a:r>
            <a:r>
              <a:rPr sz="22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Segoe UI Light"/>
                <a:cs typeface="Segoe UI Light"/>
              </a:rPr>
              <a:t>этого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класса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предназначены</a:t>
            </a:r>
            <a:r>
              <a:rPr sz="22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хранения,</a:t>
            </a:r>
            <a:endParaRPr sz="22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поиска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отображения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30" dirty="0">
                <a:solidFill>
                  <a:srgbClr val="FFFFFF"/>
                </a:solidFill>
                <a:latin typeface="Segoe UI Light"/>
                <a:cs typeface="Segoe UI Light"/>
              </a:rPr>
              <a:t>текстов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 и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реквизитов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нормативных</a:t>
            </a:r>
            <a:endParaRPr sz="22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документов,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а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также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стандартов,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регламентирующих</a:t>
            </a:r>
            <a:r>
              <a:rPr sz="22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деятельность </a:t>
            </a:r>
            <a:r>
              <a:rPr sz="2200" spc="-5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предприятий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различных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Segoe UI Light"/>
                <a:cs typeface="Segoe UI Light"/>
              </a:rPr>
              <a:t>отраслей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промышленности.</a:t>
            </a:r>
            <a:endParaRPr sz="22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buFont typeface="Microsoft Sans Serif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NormaCS</a:t>
            </a:r>
            <a:r>
              <a:rPr sz="2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(ЗАО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«Нанософт»)</a:t>
            </a:r>
            <a:endParaRPr sz="24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FFFF"/>
              </a:buClr>
              <a:buFont typeface="Microsoft Sans Serif"/>
              <a:buChar char="•"/>
            </a:pPr>
            <a:endParaRPr sz="43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buFont typeface="Microsoft Sans Serif"/>
              <a:buChar char="•"/>
              <a:tabLst>
                <a:tab pos="355600" algn="l"/>
                <a:tab pos="356235" algn="l"/>
              </a:tabLst>
            </a:pP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КонсультантПлюс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(ЗАО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«КонсультантПлюс»)</a:t>
            </a:r>
            <a:endParaRPr sz="24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84725" y="2743136"/>
            <a:ext cx="2089150" cy="12366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2300" y="3886200"/>
            <a:ext cx="14859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348995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15154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531498" y="4738116"/>
            <a:ext cx="7658100" cy="875030"/>
            <a:chOff x="1531498" y="4738116"/>
            <a:chExt cx="7658100" cy="875030"/>
          </a:xfrm>
        </p:grpSpPr>
        <p:sp>
          <p:nvSpPr>
            <p:cNvPr id="4" name="object 4"/>
            <p:cNvSpPr/>
            <p:nvPr/>
          </p:nvSpPr>
          <p:spPr>
            <a:xfrm>
              <a:off x="1536070" y="4742687"/>
              <a:ext cx="7649209" cy="864235"/>
            </a:xfrm>
            <a:custGeom>
              <a:avLst/>
              <a:gdLst/>
              <a:ahLst/>
              <a:cxnLst/>
              <a:rect l="l" t="t" r="r" b="b"/>
              <a:pathLst>
                <a:path w="7649209" h="864235">
                  <a:moveTo>
                    <a:pt x="7648955" y="864107"/>
                  </a:moveTo>
                  <a:lnTo>
                    <a:pt x="7648955" y="0"/>
                  </a:lnTo>
                  <a:lnTo>
                    <a:pt x="0" y="0"/>
                  </a:lnTo>
                  <a:lnTo>
                    <a:pt x="0" y="864107"/>
                  </a:lnTo>
                  <a:lnTo>
                    <a:pt x="7648955" y="864107"/>
                  </a:lnTo>
                  <a:close/>
                </a:path>
              </a:pathLst>
            </a:custGeom>
            <a:solidFill>
              <a:srgbClr val="3B8B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498" y="4738116"/>
              <a:ext cx="7658100" cy="875030"/>
            </a:xfrm>
            <a:custGeom>
              <a:avLst/>
              <a:gdLst/>
              <a:ahLst/>
              <a:cxnLst/>
              <a:rect l="l" t="t" r="r" b="b"/>
              <a:pathLst>
                <a:path w="7658100" h="875029">
                  <a:moveTo>
                    <a:pt x="7658100" y="874776"/>
                  </a:moveTo>
                  <a:lnTo>
                    <a:pt x="7658100" y="0"/>
                  </a:lnTo>
                  <a:lnTo>
                    <a:pt x="0" y="0"/>
                  </a:lnTo>
                  <a:lnTo>
                    <a:pt x="0" y="874776"/>
                  </a:lnTo>
                  <a:lnTo>
                    <a:pt x="4572" y="874776"/>
                  </a:lnTo>
                  <a:lnTo>
                    <a:pt x="4572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7648956" y="9144"/>
                  </a:lnTo>
                  <a:lnTo>
                    <a:pt x="7648956" y="4572"/>
                  </a:lnTo>
                  <a:lnTo>
                    <a:pt x="7653528" y="9144"/>
                  </a:lnTo>
                  <a:lnTo>
                    <a:pt x="7653528" y="874776"/>
                  </a:lnTo>
                  <a:lnTo>
                    <a:pt x="7658100" y="874776"/>
                  </a:lnTo>
                  <a:close/>
                </a:path>
                <a:path w="7658100" h="875029">
                  <a:moveTo>
                    <a:pt x="10668" y="9144"/>
                  </a:moveTo>
                  <a:lnTo>
                    <a:pt x="10668" y="4572"/>
                  </a:lnTo>
                  <a:lnTo>
                    <a:pt x="4572" y="9144"/>
                  </a:lnTo>
                  <a:lnTo>
                    <a:pt x="10668" y="9144"/>
                  </a:lnTo>
                  <a:close/>
                </a:path>
                <a:path w="7658100" h="875029">
                  <a:moveTo>
                    <a:pt x="10668" y="864108"/>
                  </a:moveTo>
                  <a:lnTo>
                    <a:pt x="10668" y="9144"/>
                  </a:lnTo>
                  <a:lnTo>
                    <a:pt x="4572" y="9144"/>
                  </a:lnTo>
                  <a:lnTo>
                    <a:pt x="4572" y="864108"/>
                  </a:lnTo>
                  <a:lnTo>
                    <a:pt x="10668" y="864108"/>
                  </a:lnTo>
                  <a:close/>
                </a:path>
                <a:path w="7658100" h="875029">
                  <a:moveTo>
                    <a:pt x="7653528" y="864108"/>
                  </a:moveTo>
                  <a:lnTo>
                    <a:pt x="4572" y="864108"/>
                  </a:lnTo>
                  <a:lnTo>
                    <a:pt x="10668" y="868680"/>
                  </a:lnTo>
                  <a:lnTo>
                    <a:pt x="10668" y="874776"/>
                  </a:lnTo>
                  <a:lnTo>
                    <a:pt x="7648956" y="874776"/>
                  </a:lnTo>
                  <a:lnTo>
                    <a:pt x="7648956" y="868680"/>
                  </a:lnTo>
                  <a:lnTo>
                    <a:pt x="7653528" y="864108"/>
                  </a:lnTo>
                  <a:close/>
                </a:path>
                <a:path w="7658100" h="875029">
                  <a:moveTo>
                    <a:pt x="10668" y="874776"/>
                  </a:moveTo>
                  <a:lnTo>
                    <a:pt x="10668" y="868680"/>
                  </a:lnTo>
                  <a:lnTo>
                    <a:pt x="4572" y="864108"/>
                  </a:lnTo>
                  <a:lnTo>
                    <a:pt x="4572" y="874776"/>
                  </a:lnTo>
                  <a:lnTo>
                    <a:pt x="10668" y="874776"/>
                  </a:lnTo>
                  <a:close/>
                </a:path>
                <a:path w="7658100" h="875029">
                  <a:moveTo>
                    <a:pt x="7653528" y="9144"/>
                  </a:moveTo>
                  <a:lnTo>
                    <a:pt x="7648956" y="4572"/>
                  </a:lnTo>
                  <a:lnTo>
                    <a:pt x="7648956" y="9144"/>
                  </a:lnTo>
                  <a:lnTo>
                    <a:pt x="7653528" y="9144"/>
                  </a:lnTo>
                  <a:close/>
                </a:path>
                <a:path w="7658100" h="875029">
                  <a:moveTo>
                    <a:pt x="7653528" y="864108"/>
                  </a:moveTo>
                  <a:lnTo>
                    <a:pt x="7653528" y="9144"/>
                  </a:lnTo>
                  <a:lnTo>
                    <a:pt x="7648956" y="9144"/>
                  </a:lnTo>
                  <a:lnTo>
                    <a:pt x="7648956" y="864108"/>
                  </a:lnTo>
                  <a:lnTo>
                    <a:pt x="7653528" y="864108"/>
                  </a:lnTo>
                  <a:close/>
                </a:path>
                <a:path w="7658100" h="875029">
                  <a:moveTo>
                    <a:pt x="7653528" y="874776"/>
                  </a:moveTo>
                  <a:lnTo>
                    <a:pt x="7653528" y="864108"/>
                  </a:lnTo>
                  <a:lnTo>
                    <a:pt x="7648956" y="868680"/>
                  </a:lnTo>
                  <a:lnTo>
                    <a:pt x="7648956" y="874776"/>
                  </a:lnTo>
                  <a:lnTo>
                    <a:pt x="7653528" y="8747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246303"/>
              </p:ext>
            </p:extLst>
          </p:nvPr>
        </p:nvGraphicFramePr>
        <p:xfrm>
          <a:off x="1536069" y="1685544"/>
          <a:ext cx="7648575" cy="3921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9615">
                <a:tc gridSpan="2">
                  <a:txBody>
                    <a:bodyPr/>
                    <a:lstStyle/>
                    <a:p>
                      <a:pPr marL="243840" marR="492759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44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Стандартизация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и </a:t>
                      </a:r>
                      <a:r>
                        <a:rPr sz="4400" spc="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лицензирование</a:t>
                      </a:r>
                      <a:r>
                        <a:rPr sz="4400" spc="-114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ПО</a:t>
                      </a:r>
                      <a:endParaRPr sz="4400">
                        <a:latin typeface="Segoe UI Light"/>
                        <a:cs typeface="Segoe UI Light"/>
                      </a:endParaRPr>
                    </a:p>
                  </a:txBody>
                  <a:tcPr marL="0" marR="0" marT="52069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B8B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6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8571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endParaRPr sz="3200" dirty="0">
                        <a:latin typeface="Segoe UI Light"/>
                        <a:cs typeface="Segoe UI Light"/>
                      </a:endParaRPr>
                    </a:p>
                  </a:txBody>
                  <a:tcPr marL="0" marR="0" marT="59690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006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3189" marR="70548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30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Стандартизированный </a:t>
                      </a:r>
                      <a:r>
                        <a:rPr sz="30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0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жизненный </a:t>
                      </a:r>
                      <a:r>
                        <a:rPr sz="30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цикл </a:t>
                      </a:r>
                      <a:r>
                        <a:rPr sz="30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систем </a:t>
                      </a:r>
                      <a:r>
                        <a:rPr sz="30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и </a:t>
                      </a:r>
                      <a:r>
                        <a:rPr sz="3000" spc="-81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0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программных</a:t>
                      </a:r>
                      <a:r>
                        <a:rPr sz="3000" spc="-2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0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средств</a:t>
                      </a:r>
                      <a:endParaRPr sz="3000">
                        <a:latin typeface="Segoe UI Light"/>
                        <a:cs typeface="Segoe UI Light"/>
                      </a:endParaRPr>
                    </a:p>
                  </a:txBody>
                  <a:tcPr marL="0" marR="0" marT="5905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063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3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T w="76200">
                      <a:solidFill>
                        <a:srgbClr val="FFFFFF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8005445" y="2136660"/>
            <a:ext cx="553720" cy="544195"/>
          </a:xfrm>
          <a:custGeom>
            <a:avLst/>
            <a:gdLst/>
            <a:ahLst/>
            <a:cxnLst/>
            <a:rect l="l" t="t" r="r" b="b"/>
            <a:pathLst>
              <a:path w="553720" h="544194">
                <a:moveTo>
                  <a:pt x="553212" y="272796"/>
                </a:moveTo>
                <a:lnTo>
                  <a:pt x="239268" y="0"/>
                </a:lnTo>
                <a:lnTo>
                  <a:pt x="19024" y="0"/>
                </a:lnTo>
                <a:lnTo>
                  <a:pt x="19024" y="10693"/>
                </a:lnTo>
                <a:lnTo>
                  <a:pt x="13716" y="10668"/>
                </a:lnTo>
                <a:lnTo>
                  <a:pt x="18999" y="10668"/>
                </a:lnTo>
                <a:lnTo>
                  <a:pt x="19024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4696" y="544068"/>
                </a:lnTo>
                <a:lnTo>
                  <a:pt x="237744" y="544068"/>
                </a:lnTo>
                <a:lnTo>
                  <a:pt x="239268" y="544068"/>
                </a:lnTo>
                <a:lnTo>
                  <a:pt x="544068" y="280695"/>
                </a:lnTo>
                <a:lnTo>
                  <a:pt x="553212" y="2727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6FBF"/>
          </a:solidFill>
        </p:spPr>
        <p:txBody>
          <a:bodyPr vert="horz" wrap="square" lIns="0" tIns="3048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0"/>
              </a:spcBef>
            </a:pPr>
            <a:r>
              <a:rPr sz="4400" dirty="0"/>
              <a:t>1.</a:t>
            </a:r>
            <a:r>
              <a:rPr sz="4400" spc="-40" dirty="0"/>
              <a:t> </a:t>
            </a:r>
            <a:r>
              <a:rPr sz="4400" spc="-5" dirty="0"/>
              <a:t>Понятие</a:t>
            </a:r>
            <a:r>
              <a:rPr sz="4400" spc="-15" dirty="0"/>
              <a:t> </a:t>
            </a:r>
            <a:r>
              <a:rPr sz="4400" dirty="0"/>
              <a:t>о</a:t>
            </a:r>
            <a:r>
              <a:rPr sz="4400" spc="-30" dirty="0"/>
              <a:t> </a:t>
            </a:r>
            <a:r>
              <a:rPr sz="4400" dirty="0"/>
              <a:t>ЖЦ</a:t>
            </a:r>
            <a:r>
              <a:rPr sz="4400" spc="-25" dirty="0"/>
              <a:t> </a:t>
            </a:r>
            <a:r>
              <a:rPr sz="4400" dirty="0"/>
              <a:t>ПС</a:t>
            </a:r>
            <a:endParaRPr sz="4400"/>
          </a:p>
        </p:txBody>
      </p:sp>
      <p:grpSp>
        <p:nvGrpSpPr>
          <p:cNvPr id="6" name="object 6"/>
          <p:cNvGrpSpPr/>
          <p:nvPr/>
        </p:nvGrpSpPr>
        <p:grpSpPr>
          <a:xfrm>
            <a:off x="1987174" y="649224"/>
            <a:ext cx="6888480" cy="4430395"/>
            <a:chOff x="1987174" y="649224"/>
            <a:chExt cx="6888480" cy="4430395"/>
          </a:xfrm>
        </p:grpSpPr>
        <p:sp>
          <p:nvSpPr>
            <p:cNvPr id="7" name="object 7"/>
            <p:cNvSpPr/>
            <p:nvPr/>
          </p:nvSpPr>
          <p:spPr>
            <a:xfrm>
              <a:off x="8320913" y="64923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554736" y="271272"/>
                  </a:moveTo>
                  <a:lnTo>
                    <a:pt x="240792" y="0"/>
                  </a:lnTo>
                  <a:lnTo>
                    <a:pt x="0" y="0"/>
                  </a:lnTo>
                  <a:lnTo>
                    <a:pt x="13716" y="11874"/>
                  </a:lnTo>
                  <a:lnTo>
                    <a:pt x="314121" y="272034"/>
                  </a:lnTo>
                  <a:lnTo>
                    <a:pt x="0" y="544068"/>
                  </a:lnTo>
                  <a:lnTo>
                    <a:pt x="13716" y="544068"/>
                  </a:lnTo>
                  <a:lnTo>
                    <a:pt x="236220" y="544068"/>
                  </a:lnTo>
                  <a:lnTo>
                    <a:pt x="239268" y="544068"/>
                  </a:lnTo>
                  <a:lnTo>
                    <a:pt x="240792" y="544068"/>
                  </a:lnTo>
                  <a:lnTo>
                    <a:pt x="544068" y="280530"/>
                  </a:lnTo>
                  <a:lnTo>
                    <a:pt x="554736" y="2712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7174" y="2859024"/>
              <a:ext cx="6580631" cy="222046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50576" y="1369567"/>
            <a:ext cx="7790180" cy="136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998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Жизненный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цикл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ПС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- период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времени,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который начинается с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момента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принятия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решения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о необходимости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создания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программного</a:t>
            </a:r>
            <a:r>
              <a:rPr sz="22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продукта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заканчивается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2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момент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его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полного </a:t>
            </a:r>
            <a:r>
              <a:rPr sz="2200" spc="-5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изъятия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из эксплуатации.</a:t>
            </a:r>
            <a:endParaRPr sz="22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0576" y="5191757"/>
            <a:ext cx="7829550" cy="1699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9990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Жизненный 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цикл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ПС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– период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времени,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включающий в себя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стадии: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2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требований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к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программному</a:t>
            </a:r>
            <a:r>
              <a:rPr sz="22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обеспечению, </a:t>
            </a:r>
            <a:r>
              <a:rPr sz="2200" spc="-5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программного</a:t>
            </a:r>
            <a:r>
              <a:rPr sz="22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обеспечения,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кодирования,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тестирования,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интеграции,</a:t>
            </a:r>
            <a:r>
              <a:rPr sz="22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установки, а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также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стадию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модификации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(по </a:t>
            </a:r>
            <a:r>
              <a:rPr sz="2200" u="heavy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ГОСТ</a:t>
            </a:r>
            <a:r>
              <a:rPr sz="22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 </a:t>
            </a:r>
            <a:r>
              <a:rPr sz="2200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Р</a:t>
            </a:r>
            <a:r>
              <a:rPr sz="22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 </a:t>
            </a:r>
            <a:r>
              <a:rPr sz="2200" u="heavy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53195.4-2010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).</a:t>
            </a:r>
            <a:endParaRPr sz="22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6830" rIns="0" bIns="0" rtlCol="0">
            <a:spAutoFit/>
          </a:bodyPr>
          <a:lstStyle/>
          <a:p>
            <a:pPr marL="90805" marR="1732280">
              <a:lnSpc>
                <a:spcPct val="100000"/>
              </a:lnSpc>
              <a:spcBef>
                <a:spcPts val="290"/>
              </a:spcBef>
            </a:pPr>
            <a:r>
              <a:rPr sz="2600" dirty="0"/>
              <a:t>2. Классификация </a:t>
            </a:r>
            <a:r>
              <a:rPr sz="2600" spc="-20" dirty="0"/>
              <a:t>стандартов </a:t>
            </a:r>
            <a:r>
              <a:rPr sz="2600" spc="-5" dirty="0"/>
              <a:t>на </a:t>
            </a:r>
            <a:r>
              <a:rPr sz="2600" spc="-705" dirty="0"/>
              <a:t> </a:t>
            </a:r>
            <a:r>
              <a:rPr sz="2600" spc="-10" dirty="0"/>
              <a:t>организацию</a:t>
            </a:r>
            <a:r>
              <a:rPr sz="2600" spc="-40" dirty="0"/>
              <a:t> </a:t>
            </a:r>
            <a:r>
              <a:rPr sz="2600" dirty="0"/>
              <a:t>ЖЦ</a:t>
            </a:r>
            <a:r>
              <a:rPr sz="2600" spc="-10" dirty="0"/>
              <a:t> </a:t>
            </a:r>
            <a:r>
              <a:rPr sz="2600" dirty="0"/>
              <a:t>ПC</a:t>
            </a:r>
            <a:endParaRPr sz="2600"/>
          </a:p>
        </p:txBody>
      </p:sp>
      <p:sp>
        <p:nvSpPr>
          <p:cNvPr id="10" name="object 1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504950" marR="5080" indent="1270">
              <a:lnSpc>
                <a:spcPts val="2870"/>
              </a:lnSpc>
              <a:spcBef>
                <a:spcPts val="200"/>
              </a:spcBef>
            </a:pPr>
            <a:r>
              <a:rPr spc="-5" dirty="0"/>
              <a:t>Верхний </a:t>
            </a:r>
            <a:r>
              <a:rPr spc="5" dirty="0"/>
              <a:t>уровень </a:t>
            </a:r>
            <a:r>
              <a:rPr dirty="0"/>
              <a:t>– </a:t>
            </a:r>
            <a:r>
              <a:rPr spc="-10" dirty="0"/>
              <a:t>стандарты описывают </a:t>
            </a:r>
            <a:r>
              <a:rPr spc="-5" dirty="0"/>
              <a:t>совокупность </a:t>
            </a:r>
            <a:r>
              <a:rPr spc="-645" dirty="0"/>
              <a:t> </a:t>
            </a:r>
            <a:r>
              <a:rPr spc="-5" dirty="0"/>
              <a:t>стадий/этапов/процессов</a:t>
            </a:r>
            <a:r>
              <a:rPr spc="5" dirty="0"/>
              <a:t> </a:t>
            </a:r>
            <a:r>
              <a:rPr spc="-10" dirty="0"/>
              <a:t>жизненного</a:t>
            </a:r>
            <a:r>
              <a:rPr spc="30" dirty="0"/>
              <a:t> </a:t>
            </a:r>
            <a:r>
              <a:rPr spc="10" dirty="0"/>
              <a:t>цикла.</a:t>
            </a:r>
          </a:p>
          <a:p>
            <a:pPr marL="1504950" marR="1583690" indent="1270">
              <a:lnSpc>
                <a:spcPts val="2870"/>
              </a:lnSpc>
              <a:spcBef>
                <a:spcPts val="600"/>
              </a:spcBef>
            </a:pPr>
            <a:r>
              <a:rPr spc="5" dirty="0"/>
              <a:t>Нижние</a:t>
            </a:r>
            <a:r>
              <a:rPr spc="-45" dirty="0"/>
              <a:t> </a:t>
            </a:r>
            <a:r>
              <a:rPr spc="5" dirty="0"/>
              <a:t>уровни</a:t>
            </a:r>
            <a:r>
              <a:rPr spc="-20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spc="-10" dirty="0"/>
              <a:t>стандарты</a:t>
            </a:r>
            <a:r>
              <a:rPr spc="-15" dirty="0"/>
              <a:t> </a:t>
            </a:r>
            <a:r>
              <a:rPr dirty="0"/>
              <a:t>на</a:t>
            </a:r>
            <a:r>
              <a:rPr spc="5" dirty="0"/>
              <a:t> </a:t>
            </a:r>
            <a:r>
              <a:rPr spc="-10" dirty="0"/>
              <a:t>конкретные </a:t>
            </a:r>
            <a:r>
              <a:rPr spc="-640" dirty="0"/>
              <a:t> </a:t>
            </a:r>
            <a:r>
              <a:rPr spc="-5" dirty="0"/>
              <a:t>стадии/этапы/процессы</a:t>
            </a:r>
            <a:r>
              <a:rPr dirty="0"/>
              <a:t> </a:t>
            </a:r>
            <a:r>
              <a:rPr spc="-5" dirty="0"/>
              <a:t>ЖЦ.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71837" y="649224"/>
            <a:ext cx="8289290" cy="5720080"/>
            <a:chOff x="1171837" y="649224"/>
            <a:chExt cx="8289290" cy="5720080"/>
          </a:xfrm>
        </p:grpSpPr>
        <p:sp>
          <p:nvSpPr>
            <p:cNvPr id="7" name="object 7"/>
            <p:cNvSpPr/>
            <p:nvPr/>
          </p:nvSpPr>
          <p:spPr>
            <a:xfrm>
              <a:off x="8320913" y="64923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554736" y="271272"/>
                  </a:moveTo>
                  <a:lnTo>
                    <a:pt x="240792" y="0"/>
                  </a:lnTo>
                  <a:lnTo>
                    <a:pt x="0" y="0"/>
                  </a:lnTo>
                  <a:lnTo>
                    <a:pt x="13716" y="11874"/>
                  </a:lnTo>
                  <a:lnTo>
                    <a:pt x="314121" y="272034"/>
                  </a:lnTo>
                  <a:lnTo>
                    <a:pt x="0" y="544068"/>
                  </a:lnTo>
                  <a:lnTo>
                    <a:pt x="13716" y="544068"/>
                  </a:lnTo>
                  <a:lnTo>
                    <a:pt x="236220" y="544068"/>
                  </a:lnTo>
                  <a:lnTo>
                    <a:pt x="239268" y="544068"/>
                  </a:lnTo>
                  <a:lnTo>
                    <a:pt x="240792" y="544068"/>
                  </a:lnTo>
                  <a:lnTo>
                    <a:pt x="544068" y="280530"/>
                  </a:lnTo>
                  <a:lnTo>
                    <a:pt x="554736" y="2712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71837" y="3549395"/>
              <a:ext cx="8289290" cy="2819400"/>
            </a:xfrm>
            <a:custGeom>
              <a:avLst/>
              <a:gdLst/>
              <a:ahLst/>
              <a:cxnLst/>
              <a:rect l="l" t="t" r="r" b="b"/>
              <a:pathLst>
                <a:path w="8289290" h="2819400">
                  <a:moveTo>
                    <a:pt x="8289035" y="2819399"/>
                  </a:moveTo>
                  <a:lnTo>
                    <a:pt x="8289035" y="0"/>
                  </a:lnTo>
                  <a:lnTo>
                    <a:pt x="0" y="0"/>
                  </a:lnTo>
                  <a:lnTo>
                    <a:pt x="0" y="2819399"/>
                  </a:lnTo>
                  <a:lnTo>
                    <a:pt x="8289035" y="2819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6738" y="3653028"/>
              <a:ext cx="7594092" cy="25359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6FBF"/>
          </a:solidFill>
        </p:spPr>
        <p:txBody>
          <a:bodyPr vert="horz" wrap="square" lIns="0" tIns="35560" rIns="0" bIns="0" rtlCol="0">
            <a:spAutoFit/>
          </a:bodyPr>
          <a:lstStyle/>
          <a:p>
            <a:pPr marL="450850" marR="1166495" indent="-361315">
              <a:lnSpc>
                <a:spcPct val="100000"/>
              </a:lnSpc>
              <a:spcBef>
                <a:spcPts val="280"/>
              </a:spcBef>
            </a:pPr>
            <a:r>
              <a:rPr sz="2600" dirty="0"/>
              <a:t>3. Развитие </a:t>
            </a:r>
            <a:r>
              <a:rPr sz="2600" spc="-10" dirty="0"/>
              <a:t>стандартизации </a:t>
            </a:r>
            <a:r>
              <a:rPr sz="2600" dirty="0"/>
              <a:t>ЖЦ ПС: </a:t>
            </a:r>
            <a:r>
              <a:rPr sz="2600" spc="-700" dirty="0"/>
              <a:t> </a:t>
            </a:r>
            <a:r>
              <a:rPr sz="2600" spc="-15" dirty="0"/>
              <a:t>истоки</a:t>
            </a:r>
            <a:endParaRPr sz="2600"/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9052" y="1294891"/>
            <a:ext cx="7730490" cy="5674995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665"/>
              </a:spcBef>
            </a:pP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За</a:t>
            </a:r>
            <a:r>
              <a:rPr sz="2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рубежом:</a:t>
            </a:r>
            <a:endParaRPr sz="2400" dirty="0">
              <a:latin typeface="Segoe UI Light"/>
              <a:cs typeface="Segoe UI Light"/>
            </a:endParaRPr>
          </a:p>
          <a:p>
            <a:pPr marL="12700" marR="473075">
              <a:lnSpc>
                <a:spcPct val="100000"/>
              </a:lnSpc>
              <a:spcBef>
                <a:spcPts val="560"/>
              </a:spcBef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Разработка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документирование</a:t>
            </a:r>
            <a:r>
              <a:rPr sz="24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программных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систем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военного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назначения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DOD-STD-2167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(1985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Segoe UI Light"/>
                <a:cs typeface="Segoe UI Light"/>
              </a:rPr>
              <a:t>г.,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США)</a:t>
            </a:r>
            <a:endParaRPr sz="24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 dirty="0">
              <a:latin typeface="Segoe UI Light"/>
              <a:cs typeface="Segoe UI Light"/>
            </a:endParaRPr>
          </a:p>
          <a:p>
            <a:pPr marL="1397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СССР:</a:t>
            </a:r>
            <a:endParaRPr sz="2400" dirty="0">
              <a:latin typeface="Segoe UI Light"/>
              <a:cs typeface="Segoe UI Light"/>
            </a:endParaRPr>
          </a:p>
          <a:p>
            <a:pPr marL="354965" marR="476250" indent="-342900">
              <a:lnSpc>
                <a:spcPct val="100000"/>
              </a:lnSpc>
              <a:spcBef>
                <a:spcPts val="56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Серия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19.ХХХ.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Единая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система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программной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документации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(1970-80-е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гг.,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переиздание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2010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Segoe UI Light"/>
                <a:cs typeface="Segoe UI Light"/>
              </a:rPr>
              <a:t>г.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)</a:t>
            </a:r>
            <a:endParaRPr sz="2400" dirty="0">
              <a:latin typeface="Segoe UI Light"/>
              <a:cs typeface="Segoe UI Light"/>
            </a:endParaRPr>
          </a:p>
          <a:p>
            <a:pPr marL="354965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Серия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34.ХХХ.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Информационная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технология.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Комплекс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автоматизированные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системы:</a:t>
            </a:r>
            <a:endParaRPr sz="2400" dirty="0">
              <a:latin typeface="Segoe UI Light"/>
              <a:cs typeface="Segoe UI Light"/>
            </a:endParaRPr>
          </a:p>
          <a:p>
            <a:pPr marL="548640" lvl="1" indent="-173990">
              <a:lnSpc>
                <a:spcPct val="100000"/>
              </a:lnSpc>
              <a:spcBef>
                <a:spcPts val="445"/>
              </a:spcBef>
              <a:buChar char="–"/>
              <a:tabLst>
                <a:tab pos="5492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 34.003-90.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Термины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определения.</a:t>
            </a:r>
            <a:endParaRPr sz="1800" dirty="0">
              <a:latin typeface="Segoe UI Light"/>
              <a:cs typeface="Segoe UI Light"/>
            </a:endParaRPr>
          </a:p>
          <a:p>
            <a:pPr marL="548640" marR="236854" lvl="1" indent="-173990">
              <a:lnSpc>
                <a:spcPct val="100000"/>
              </a:lnSpc>
              <a:spcBef>
                <a:spcPts val="430"/>
              </a:spcBef>
              <a:buChar char="–"/>
              <a:tabLst>
                <a:tab pos="5492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34.201-89.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Виды,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комплектность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обозначение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документов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 </a:t>
            </a:r>
            <a:r>
              <a:rPr sz="1800" spc="-4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создании</a:t>
            </a: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АС.</a:t>
            </a:r>
            <a:endParaRPr sz="1800" dirty="0">
              <a:latin typeface="Segoe UI Light"/>
              <a:cs typeface="Segoe UI Light"/>
            </a:endParaRPr>
          </a:p>
          <a:p>
            <a:pPr marL="548640" lvl="1" indent="-173990">
              <a:lnSpc>
                <a:spcPct val="100000"/>
              </a:lnSpc>
              <a:spcBef>
                <a:spcPts val="434"/>
              </a:spcBef>
              <a:buChar char="–"/>
              <a:tabLst>
                <a:tab pos="5492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18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34.601-90.</a:t>
            </a:r>
            <a:r>
              <a:rPr sz="18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Автоматизированные системы.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Cтадии создания.</a:t>
            </a:r>
            <a:endParaRPr sz="1800" dirty="0">
              <a:latin typeface="Segoe UI Light"/>
              <a:cs typeface="Segoe UI Light"/>
            </a:endParaRPr>
          </a:p>
          <a:p>
            <a:pPr marL="548640" lvl="1" indent="-173990">
              <a:lnSpc>
                <a:spcPct val="100000"/>
              </a:lnSpc>
              <a:spcBef>
                <a:spcPts val="430"/>
              </a:spcBef>
              <a:buChar char="–"/>
              <a:tabLst>
                <a:tab pos="5492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34.602-89.</a:t>
            </a:r>
            <a:r>
              <a:rPr sz="1800" spc="-10" dirty="0">
                <a:solidFill>
                  <a:srgbClr val="FFFFFF"/>
                </a:solidFill>
                <a:latin typeface="Segoe UI Light"/>
                <a:cs typeface="Segoe UI Light"/>
              </a:rPr>
              <a:t> Техническое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задание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создание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АС.</a:t>
            </a:r>
            <a:endParaRPr sz="1800" dirty="0">
              <a:latin typeface="Segoe UI Light"/>
              <a:cs typeface="Segoe UI Light"/>
            </a:endParaRPr>
          </a:p>
          <a:p>
            <a:pPr marL="548640" lvl="1" indent="-173990">
              <a:lnSpc>
                <a:spcPct val="100000"/>
              </a:lnSpc>
              <a:spcBef>
                <a:spcPts val="430"/>
              </a:spcBef>
              <a:buChar char="–"/>
              <a:tabLst>
                <a:tab pos="549275" algn="l"/>
              </a:tabLst>
            </a:pPr>
            <a:r>
              <a:rPr sz="1800" spc="-20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18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34.603-92.</a:t>
            </a:r>
            <a:r>
              <a:rPr sz="18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Виды</a:t>
            </a:r>
            <a:r>
              <a:rPr sz="18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dirty="0">
                <a:solidFill>
                  <a:srgbClr val="FFFFFF"/>
                </a:solidFill>
                <a:latin typeface="Segoe UI Light"/>
                <a:cs typeface="Segoe UI Light"/>
              </a:rPr>
              <a:t>испытаний</a:t>
            </a:r>
            <a:r>
              <a:rPr sz="18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Segoe UI Light"/>
                <a:cs typeface="Segoe UI Light"/>
              </a:rPr>
              <a:t>АС.</a:t>
            </a:r>
            <a:endParaRPr sz="18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74073" y="348995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3999" y="6857999"/>
                </a:moveTo>
                <a:lnTo>
                  <a:pt x="9143999" y="0"/>
                </a:lnTo>
                <a:lnTo>
                  <a:pt x="0" y="0"/>
                </a:lnTo>
                <a:lnTo>
                  <a:pt x="0" y="6857999"/>
                </a:lnTo>
                <a:lnTo>
                  <a:pt x="9143999" y="6857999"/>
                </a:lnTo>
                <a:close/>
              </a:path>
            </a:pathLst>
          </a:custGeom>
          <a:solidFill>
            <a:srgbClr val="15154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49052" y="1596643"/>
            <a:ext cx="8030209" cy="5351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Автоматизированная</a:t>
            </a:r>
            <a:r>
              <a:rPr sz="22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система</a:t>
            </a:r>
            <a:r>
              <a:rPr sz="22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система,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состоящая</a:t>
            </a:r>
            <a:r>
              <a:rPr sz="22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из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персонала </a:t>
            </a:r>
            <a:r>
              <a:rPr sz="2200" spc="-5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Segoe UI Light"/>
                <a:cs typeface="Segoe UI Light"/>
              </a:rPr>
              <a:t>комплекса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средств</a:t>
            </a:r>
            <a:r>
              <a:rPr sz="22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автоматизации,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 реализующая</a:t>
            </a:r>
            <a:r>
              <a:rPr sz="22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технологию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 выполнения установленных</a:t>
            </a:r>
            <a:r>
              <a:rPr sz="22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функций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(определение</a:t>
            </a:r>
            <a:r>
              <a:rPr sz="22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ГОСТ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34.003-90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).</a:t>
            </a:r>
            <a:endParaRPr sz="22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 dirty="0">
              <a:latin typeface="Segoe UI Light"/>
              <a:cs typeface="Segoe UI Light"/>
            </a:endParaRPr>
          </a:p>
          <a:p>
            <a:pPr marL="13970">
              <a:lnSpc>
                <a:spcPct val="100000"/>
              </a:lnSpc>
            </a:pP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Стадии</a:t>
            </a:r>
            <a:r>
              <a:rPr sz="22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создания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согласно</a:t>
            </a:r>
            <a:r>
              <a:rPr sz="22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u="heavy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ГОСТ</a:t>
            </a:r>
            <a:r>
              <a:rPr sz="2200"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 </a:t>
            </a:r>
            <a:r>
              <a:rPr sz="22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34.601-90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: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формирование</a:t>
            </a:r>
            <a:r>
              <a:rPr sz="22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требований</a:t>
            </a:r>
            <a:r>
              <a:rPr sz="22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к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АС;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разработка</a:t>
            </a:r>
            <a:r>
              <a:rPr sz="22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концепции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АС;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40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техническое</a:t>
            </a:r>
            <a:r>
              <a:rPr sz="22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задание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(</a:t>
            </a:r>
            <a:r>
              <a:rPr sz="2200" u="heavy" spc="-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ГОСТ</a:t>
            </a:r>
            <a:r>
              <a:rPr sz="2200" u="heavy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 </a:t>
            </a:r>
            <a:r>
              <a:rPr sz="2200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egoe UI Light"/>
                <a:cs typeface="Segoe UI Light"/>
              </a:rPr>
              <a:t>34.602-89</a:t>
            </a:r>
            <a:r>
              <a:rPr sz="2200" dirty="0">
                <a:solidFill>
                  <a:srgbClr val="FFFFFF"/>
                </a:solidFill>
                <a:latin typeface="Segoe UI Light"/>
                <a:cs typeface="Segoe UI Light"/>
              </a:rPr>
              <a:t>);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15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эскизный</a:t>
            </a:r>
            <a:r>
              <a:rPr sz="22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проект;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технический</a:t>
            </a: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проект;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25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рабочая</a:t>
            </a:r>
            <a:r>
              <a:rPr sz="22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документация;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15" dirty="0">
                <a:solidFill>
                  <a:srgbClr val="FFFFFF"/>
                </a:solidFill>
                <a:latin typeface="Segoe UI Light"/>
                <a:cs typeface="Segoe UI Light"/>
              </a:rPr>
              <a:t>ввод</a:t>
            </a:r>
            <a:r>
              <a:rPr sz="22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2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действие;</a:t>
            </a:r>
            <a:endParaRPr sz="2200" dirty="0">
              <a:latin typeface="Segoe UI Light"/>
              <a:cs typeface="Segoe UI Light"/>
            </a:endParaRPr>
          </a:p>
          <a:p>
            <a:pPr marL="469900" indent="-457200">
              <a:lnSpc>
                <a:spcPct val="100000"/>
              </a:lnSpc>
              <a:spcBef>
                <a:spcPts val="530"/>
              </a:spcBef>
              <a:buAutoNum type="arabicParenBoth"/>
              <a:tabLst>
                <a:tab pos="469265" algn="l"/>
                <a:tab pos="469900" algn="l"/>
              </a:tabLst>
            </a:pP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сопровождение</a:t>
            </a:r>
            <a:r>
              <a:rPr sz="22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Segoe UI Light"/>
                <a:cs typeface="Segoe UI Light"/>
              </a:rPr>
              <a:t>АС.</a:t>
            </a:r>
            <a:endParaRPr sz="2200" dirty="0">
              <a:latin typeface="Segoe UI Light"/>
              <a:cs typeface="Segoe U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96577" y="501395"/>
            <a:ext cx="8464550" cy="4787265"/>
            <a:chOff x="996577" y="501395"/>
            <a:chExt cx="8464550" cy="4787265"/>
          </a:xfrm>
        </p:grpSpPr>
        <p:sp>
          <p:nvSpPr>
            <p:cNvPr id="5" name="object 5"/>
            <p:cNvSpPr/>
            <p:nvPr/>
          </p:nvSpPr>
          <p:spPr>
            <a:xfrm>
              <a:off x="7705221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20913" y="64923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554736" y="271272"/>
                  </a:moveTo>
                  <a:lnTo>
                    <a:pt x="240792" y="0"/>
                  </a:lnTo>
                  <a:lnTo>
                    <a:pt x="0" y="0"/>
                  </a:lnTo>
                  <a:lnTo>
                    <a:pt x="13716" y="11874"/>
                  </a:lnTo>
                  <a:lnTo>
                    <a:pt x="314121" y="272034"/>
                  </a:lnTo>
                  <a:lnTo>
                    <a:pt x="0" y="544068"/>
                  </a:lnTo>
                  <a:lnTo>
                    <a:pt x="13716" y="544068"/>
                  </a:lnTo>
                  <a:lnTo>
                    <a:pt x="236220" y="544068"/>
                  </a:lnTo>
                  <a:lnTo>
                    <a:pt x="239268" y="544068"/>
                  </a:lnTo>
                  <a:lnTo>
                    <a:pt x="240792" y="544068"/>
                  </a:lnTo>
                  <a:lnTo>
                    <a:pt x="544068" y="280530"/>
                  </a:lnTo>
                  <a:lnTo>
                    <a:pt x="554736" y="2712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6577" y="5067300"/>
              <a:ext cx="220980" cy="22098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6FBF"/>
          </a:solidFill>
        </p:spPr>
        <p:txBody>
          <a:bodyPr vert="horz" wrap="square" lIns="0" tIns="35560" rIns="0" bIns="0" rtlCol="0">
            <a:spAutoFit/>
          </a:bodyPr>
          <a:lstStyle/>
          <a:p>
            <a:pPr marL="89535" marR="2042160">
              <a:lnSpc>
                <a:spcPct val="100000"/>
              </a:lnSpc>
              <a:spcBef>
                <a:spcPts val="280"/>
              </a:spcBef>
            </a:pPr>
            <a:r>
              <a:rPr sz="2600" spc="-5" dirty="0"/>
              <a:t>4. </a:t>
            </a:r>
            <a:r>
              <a:rPr sz="2600" spc="-10" dirty="0"/>
              <a:t>Стандарты </a:t>
            </a:r>
            <a:r>
              <a:rPr sz="2600" spc="-25" dirty="0"/>
              <a:t>ГОСТ </a:t>
            </a:r>
            <a:r>
              <a:rPr sz="2600" spc="-5" dirty="0"/>
              <a:t>34.ХХХ на </a:t>
            </a:r>
            <a:r>
              <a:rPr sz="2600" dirty="0"/>
              <a:t> </a:t>
            </a:r>
            <a:r>
              <a:rPr sz="2600" spc="-10" dirty="0"/>
              <a:t>автоматизированные</a:t>
            </a:r>
            <a:r>
              <a:rPr sz="2600" spc="-35" dirty="0"/>
              <a:t> </a:t>
            </a:r>
            <a:r>
              <a:rPr sz="2600" spc="-10" dirty="0"/>
              <a:t>системы</a:t>
            </a:r>
            <a:endParaRPr sz="2600"/>
          </a:p>
        </p:txBody>
      </p:sp>
      <p:sp>
        <p:nvSpPr>
          <p:cNvPr id="9" name="object 9"/>
          <p:cNvSpPr/>
          <p:nvPr/>
        </p:nvSpPr>
        <p:spPr>
          <a:xfrm>
            <a:off x="1100209" y="5372100"/>
            <a:ext cx="4223385" cy="852169"/>
          </a:xfrm>
          <a:custGeom>
            <a:avLst/>
            <a:gdLst/>
            <a:ahLst/>
            <a:cxnLst/>
            <a:rect l="l" t="t" r="r" b="b"/>
            <a:pathLst>
              <a:path w="4223385" h="852170">
                <a:moveTo>
                  <a:pt x="13716" y="838200"/>
                </a:moveTo>
                <a:lnTo>
                  <a:pt x="13716" y="743712"/>
                </a:lnTo>
                <a:lnTo>
                  <a:pt x="0" y="743712"/>
                </a:lnTo>
                <a:lnTo>
                  <a:pt x="0" y="844296"/>
                </a:lnTo>
                <a:lnTo>
                  <a:pt x="7620" y="844296"/>
                </a:lnTo>
                <a:lnTo>
                  <a:pt x="7620" y="838200"/>
                </a:lnTo>
                <a:lnTo>
                  <a:pt x="13716" y="838200"/>
                </a:lnTo>
                <a:close/>
              </a:path>
              <a:path w="4223385" h="852170">
                <a:moveTo>
                  <a:pt x="44196" y="851916"/>
                </a:moveTo>
                <a:lnTo>
                  <a:pt x="44196" y="838200"/>
                </a:lnTo>
                <a:lnTo>
                  <a:pt x="7620" y="838200"/>
                </a:lnTo>
                <a:lnTo>
                  <a:pt x="7620" y="844296"/>
                </a:lnTo>
                <a:lnTo>
                  <a:pt x="13716" y="844296"/>
                </a:lnTo>
                <a:lnTo>
                  <a:pt x="13716" y="851916"/>
                </a:lnTo>
                <a:lnTo>
                  <a:pt x="44196" y="851916"/>
                </a:lnTo>
                <a:close/>
              </a:path>
              <a:path w="4223385" h="852170">
                <a:moveTo>
                  <a:pt x="13716" y="851916"/>
                </a:moveTo>
                <a:lnTo>
                  <a:pt x="13716" y="844296"/>
                </a:lnTo>
                <a:lnTo>
                  <a:pt x="7620" y="844296"/>
                </a:lnTo>
                <a:lnTo>
                  <a:pt x="7620" y="851916"/>
                </a:lnTo>
                <a:lnTo>
                  <a:pt x="13716" y="851916"/>
                </a:lnTo>
                <a:close/>
              </a:path>
              <a:path w="4223385" h="852170">
                <a:moveTo>
                  <a:pt x="13716" y="705612"/>
                </a:moveTo>
                <a:lnTo>
                  <a:pt x="13716" y="603504"/>
                </a:lnTo>
                <a:lnTo>
                  <a:pt x="0" y="603504"/>
                </a:lnTo>
                <a:lnTo>
                  <a:pt x="0" y="705612"/>
                </a:lnTo>
                <a:lnTo>
                  <a:pt x="13716" y="705612"/>
                </a:lnTo>
                <a:close/>
              </a:path>
              <a:path w="4223385" h="852170">
                <a:moveTo>
                  <a:pt x="13716" y="565404"/>
                </a:moveTo>
                <a:lnTo>
                  <a:pt x="13716" y="463296"/>
                </a:lnTo>
                <a:lnTo>
                  <a:pt x="0" y="463296"/>
                </a:lnTo>
                <a:lnTo>
                  <a:pt x="0" y="565404"/>
                </a:lnTo>
                <a:lnTo>
                  <a:pt x="13716" y="565404"/>
                </a:lnTo>
                <a:close/>
              </a:path>
              <a:path w="4223385" h="852170">
                <a:moveTo>
                  <a:pt x="13716" y="425196"/>
                </a:moveTo>
                <a:lnTo>
                  <a:pt x="13716" y="324612"/>
                </a:lnTo>
                <a:lnTo>
                  <a:pt x="0" y="324612"/>
                </a:lnTo>
                <a:lnTo>
                  <a:pt x="0" y="425196"/>
                </a:lnTo>
                <a:lnTo>
                  <a:pt x="13716" y="425196"/>
                </a:lnTo>
                <a:close/>
              </a:path>
              <a:path w="4223385" h="852170">
                <a:moveTo>
                  <a:pt x="13716" y="286512"/>
                </a:moveTo>
                <a:lnTo>
                  <a:pt x="13716" y="184404"/>
                </a:lnTo>
                <a:lnTo>
                  <a:pt x="0" y="184404"/>
                </a:lnTo>
                <a:lnTo>
                  <a:pt x="0" y="286512"/>
                </a:lnTo>
                <a:lnTo>
                  <a:pt x="13716" y="286512"/>
                </a:lnTo>
                <a:close/>
              </a:path>
              <a:path w="4223385" h="852170">
                <a:moveTo>
                  <a:pt x="13716" y="146304"/>
                </a:moveTo>
                <a:lnTo>
                  <a:pt x="13716" y="44196"/>
                </a:lnTo>
                <a:lnTo>
                  <a:pt x="0" y="44196"/>
                </a:lnTo>
                <a:lnTo>
                  <a:pt x="0" y="146304"/>
                </a:lnTo>
                <a:lnTo>
                  <a:pt x="13716" y="146304"/>
                </a:lnTo>
                <a:close/>
              </a:path>
              <a:path w="4223385" h="852170">
                <a:moveTo>
                  <a:pt x="108204" y="13716"/>
                </a:moveTo>
                <a:lnTo>
                  <a:pt x="108204" y="0"/>
                </a:lnTo>
                <a:lnTo>
                  <a:pt x="7620" y="0"/>
                </a:lnTo>
                <a:lnTo>
                  <a:pt x="7620" y="13716"/>
                </a:lnTo>
                <a:lnTo>
                  <a:pt x="108204" y="13716"/>
                </a:lnTo>
                <a:close/>
              </a:path>
              <a:path w="4223385" h="852170">
                <a:moveTo>
                  <a:pt x="248412" y="13716"/>
                </a:moveTo>
                <a:lnTo>
                  <a:pt x="248412" y="0"/>
                </a:lnTo>
                <a:lnTo>
                  <a:pt x="146304" y="0"/>
                </a:lnTo>
                <a:lnTo>
                  <a:pt x="146304" y="13716"/>
                </a:lnTo>
                <a:lnTo>
                  <a:pt x="248412" y="13716"/>
                </a:lnTo>
                <a:close/>
              </a:path>
              <a:path w="4223385" h="852170">
                <a:moveTo>
                  <a:pt x="388620" y="13716"/>
                </a:moveTo>
                <a:lnTo>
                  <a:pt x="388620" y="0"/>
                </a:lnTo>
                <a:lnTo>
                  <a:pt x="286512" y="0"/>
                </a:lnTo>
                <a:lnTo>
                  <a:pt x="286512" y="13716"/>
                </a:lnTo>
                <a:lnTo>
                  <a:pt x="388620" y="13716"/>
                </a:lnTo>
                <a:close/>
              </a:path>
              <a:path w="4223385" h="852170">
                <a:moveTo>
                  <a:pt x="527300" y="13716"/>
                </a:moveTo>
                <a:lnTo>
                  <a:pt x="527300" y="0"/>
                </a:lnTo>
                <a:lnTo>
                  <a:pt x="426716" y="0"/>
                </a:lnTo>
                <a:lnTo>
                  <a:pt x="426716" y="13716"/>
                </a:lnTo>
                <a:lnTo>
                  <a:pt x="527300" y="13716"/>
                </a:lnTo>
                <a:close/>
              </a:path>
              <a:path w="4223385" h="852170">
                <a:moveTo>
                  <a:pt x="667508" y="13716"/>
                </a:moveTo>
                <a:lnTo>
                  <a:pt x="667508" y="0"/>
                </a:lnTo>
                <a:lnTo>
                  <a:pt x="565400" y="0"/>
                </a:lnTo>
                <a:lnTo>
                  <a:pt x="565400" y="13716"/>
                </a:lnTo>
                <a:lnTo>
                  <a:pt x="667508" y="13716"/>
                </a:lnTo>
                <a:close/>
              </a:path>
              <a:path w="4223385" h="852170">
                <a:moveTo>
                  <a:pt x="807716" y="13716"/>
                </a:moveTo>
                <a:lnTo>
                  <a:pt x="807716" y="0"/>
                </a:lnTo>
                <a:lnTo>
                  <a:pt x="705608" y="0"/>
                </a:lnTo>
                <a:lnTo>
                  <a:pt x="705608" y="13716"/>
                </a:lnTo>
                <a:lnTo>
                  <a:pt x="807716" y="13716"/>
                </a:lnTo>
                <a:close/>
              </a:path>
              <a:path w="4223385" h="852170">
                <a:moveTo>
                  <a:pt x="946400" y="13716"/>
                </a:moveTo>
                <a:lnTo>
                  <a:pt x="946400" y="0"/>
                </a:lnTo>
                <a:lnTo>
                  <a:pt x="845816" y="0"/>
                </a:lnTo>
                <a:lnTo>
                  <a:pt x="845816" y="13716"/>
                </a:lnTo>
                <a:lnTo>
                  <a:pt x="946400" y="13716"/>
                </a:lnTo>
                <a:close/>
              </a:path>
              <a:path w="4223385" h="852170">
                <a:moveTo>
                  <a:pt x="1086608" y="13716"/>
                </a:moveTo>
                <a:lnTo>
                  <a:pt x="1086608" y="0"/>
                </a:lnTo>
                <a:lnTo>
                  <a:pt x="984500" y="0"/>
                </a:lnTo>
                <a:lnTo>
                  <a:pt x="984500" y="13716"/>
                </a:lnTo>
                <a:lnTo>
                  <a:pt x="1086608" y="13716"/>
                </a:lnTo>
                <a:close/>
              </a:path>
              <a:path w="4223385" h="852170">
                <a:moveTo>
                  <a:pt x="1226816" y="13716"/>
                </a:moveTo>
                <a:lnTo>
                  <a:pt x="1226816" y="0"/>
                </a:lnTo>
                <a:lnTo>
                  <a:pt x="1124708" y="0"/>
                </a:lnTo>
                <a:lnTo>
                  <a:pt x="1124708" y="13716"/>
                </a:lnTo>
                <a:lnTo>
                  <a:pt x="1226816" y="13716"/>
                </a:lnTo>
                <a:close/>
              </a:path>
              <a:path w="4223385" h="852170">
                <a:moveTo>
                  <a:pt x="1365500" y="13716"/>
                </a:moveTo>
                <a:lnTo>
                  <a:pt x="1365500" y="0"/>
                </a:lnTo>
                <a:lnTo>
                  <a:pt x="1264916" y="0"/>
                </a:lnTo>
                <a:lnTo>
                  <a:pt x="1264916" y="13716"/>
                </a:lnTo>
                <a:lnTo>
                  <a:pt x="1365500" y="13716"/>
                </a:lnTo>
                <a:close/>
              </a:path>
              <a:path w="4223385" h="852170">
                <a:moveTo>
                  <a:pt x="1505708" y="13716"/>
                </a:moveTo>
                <a:lnTo>
                  <a:pt x="1505708" y="0"/>
                </a:lnTo>
                <a:lnTo>
                  <a:pt x="1403600" y="0"/>
                </a:lnTo>
                <a:lnTo>
                  <a:pt x="1403600" y="13716"/>
                </a:lnTo>
                <a:lnTo>
                  <a:pt x="1505708" y="13716"/>
                </a:lnTo>
                <a:close/>
              </a:path>
              <a:path w="4223385" h="852170">
                <a:moveTo>
                  <a:pt x="1645917" y="13716"/>
                </a:moveTo>
                <a:lnTo>
                  <a:pt x="1645917" y="0"/>
                </a:lnTo>
                <a:lnTo>
                  <a:pt x="1543809" y="0"/>
                </a:lnTo>
                <a:lnTo>
                  <a:pt x="1543809" y="13716"/>
                </a:lnTo>
                <a:lnTo>
                  <a:pt x="1645917" y="13716"/>
                </a:lnTo>
                <a:close/>
              </a:path>
              <a:path w="4223385" h="852170">
                <a:moveTo>
                  <a:pt x="1784601" y="13716"/>
                </a:moveTo>
                <a:lnTo>
                  <a:pt x="1784601" y="0"/>
                </a:lnTo>
                <a:lnTo>
                  <a:pt x="1684017" y="0"/>
                </a:lnTo>
                <a:lnTo>
                  <a:pt x="1684017" y="13716"/>
                </a:lnTo>
                <a:lnTo>
                  <a:pt x="1784601" y="13716"/>
                </a:lnTo>
                <a:close/>
              </a:path>
              <a:path w="4223385" h="852170">
                <a:moveTo>
                  <a:pt x="1924809" y="13716"/>
                </a:moveTo>
                <a:lnTo>
                  <a:pt x="1924809" y="0"/>
                </a:lnTo>
                <a:lnTo>
                  <a:pt x="1822701" y="0"/>
                </a:lnTo>
                <a:lnTo>
                  <a:pt x="1822701" y="13716"/>
                </a:lnTo>
                <a:lnTo>
                  <a:pt x="1924809" y="13716"/>
                </a:lnTo>
                <a:close/>
              </a:path>
              <a:path w="4223385" h="852170">
                <a:moveTo>
                  <a:pt x="2065017" y="13716"/>
                </a:moveTo>
                <a:lnTo>
                  <a:pt x="2065017" y="0"/>
                </a:lnTo>
                <a:lnTo>
                  <a:pt x="1962909" y="0"/>
                </a:lnTo>
                <a:lnTo>
                  <a:pt x="1962909" y="13716"/>
                </a:lnTo>
                <a:lnTo>
                  <a:pt x="2065017" y="13716"/>
                </a:lnTo>
                <a:close/>
              </a:path>
              <a:path w="4223385" h="852170">
                <a:moveTo>
                  <a:pt x="2203701" y="13716"/>
                </a:moveTo>
                <a:lnTo>
                  <a:pt x="2203701" y="0"/>
                </a:lnTo>
                <a:lnTo>
                  <a:pt x="2103117" y="0"/>
                </a:lnTo>
                <a:lnTo>
                  <a:pt x="2103117" y="13716"/>
                </a:lnTo>
                <a:lnTo>
                  <a:pt x="2203701" y="13716"/>
                </a:lnTo>
                <a:close/>
              </a:path>
              <a:path w="4223385" h="852170">
                <a:moveTo>
                  <a:pt x="2343909" y="13716"/>
                </a:moveTo>
                <a:lnTo>
                  <a:pt x="2343909" y="0"/>
                </a:lnTo>
                <a:lnTo>
                  <a:pt x="2241801" y="0"/>
                </a:lnTo>
                <a:lnTo>
                  <a:pt x="2241801" y="13716"/>
                </a:lnTo>
                <a:lnTo>
                  <a:pt x="2343909" y="13716"/>
                </a:lnTo>
                <a:close/>
              </a:path>
              <a:path w="4223385" h="852170">
                <a:moveTo>
                  <a:pt x="2484117" y="13716"/>
                </a:moveTo>
                <a:lnTo>
                  <a:pt x="2484117" y="0"/>
                </a:lnTo>
                <a:lnTo>
                  <a:pt x="2382009" y="0"/>
                </a:lnTo>
                <a:lnTo>
                  <a:pt x="2382009" y="13716"/>
                </a:lnTo>
                <a:lnTo>
                  <a:pt x="2484117" y="13716"/>
                </a:lnTo>
                <a:close/>
              </a:path>
              <a:path w="4223385" h="852170">
                <a:moveTo>
                  <a:pt x="2622801" y="13716"/>
                </a:moveTo>
                <a:lnTo>
                  <a:pt x="2622801" y="0"/>
                </a:lnTo>
                <a:lnTo>
                  <a:pt x="2522217" y="0"/>
                </a:lnTo>
                <a:lnTo>
                  <a:pt x="2522217" y="13716"/>
                </a:lnTo>
                <a:lnTo>
                  <a:pt x="2622801" y="13716"/>
                </a:lnTo>
                <a:close/>
              </a:path>
              <a:path w="4223385" h="852170">
                <a:moveTo>
                  <a:pt x="2763009" y="13716"/>
                </a:moveTo>
                <a:lnTo>
                  <a:pt x="2763009" y="0"/>
                </a:lnTo>
                <a:lnTo>
                  <a:pt x="2660901" y="0"/>
                </a:lnTo>
                <a:lnTo>
                  <a:pt x="2660901" y="13716"/>
                </a:lnTo>
                <a:lnTo>
                  <a:pt x="2763009" y="13716"/>
                </a:lnTo>
                <a:close/>
              </a:path>
              <a:path w="4223385" h="852170">
                <a:moveTo>
                  <a:pt x="2903217" y="13716"/>
                </a:moveTo>
                <a:lnTo>
                  <a:pt x="2903217" y="0"/>
                </a:lnTo>
                <a:lnTo>
                  <a:pt x="2801109" y="0"/>
                </a:lnTo>
                <a:lnTo>
                  <a:pt x="2801109" y="13716"/>
                </a:lnTo>
                <a:lnTo>
                  <a:pt x="2903217" y="13716"/>
                </a:lnTo>
                <a:close/>
              </a:path>
              <a:path w="4223385" h="852170">
                <a:moveTo>
                  <a:pt x="3041901" y="13716"/>
                </a:moveTo>
                <a:lnTo>
                  <a:pt x="3041901" y="0"/>
                </a:lnTo>
                <a:lnTo>
                  <a:pt x="2941317" y="0"/>
                </a:lnTo>
                <a:lnTo>
                  <a:pt x="2941317" y="13716"/>
                </a:lnTo>
                <a:lnTo>
                  <a:pt x="3041901" y="13716"/>
                </a:lnTo>
                <a:close/>
              </a:path>
              <a:path w="4223385" h="852170">
                <a:moveTo>
                  <a:pt x="3182109" y="13716"/>
                </a:moveTo>
                <a:lnTo>
                  <a:pt x="3182109" y="0"/>
                </a:lnTo>
                <a:lnTo>
                  <a:pt x="3080001" y="0"/>
                </a:lnTo>
                <a:lnTo>
                  <a:pt x="3080001" y="13716"/>
                </a:lnTo>
                <a:lnTo>
                  <a:pt x="3182109" y="13716"/>
                </a:lnTo>
                <a:close/>
              </a:path>
              <a:path w="4223385" h="852170">
                <a:moveTo>
                  <a:pt x="3322317" y="13716"/>
                </a:moveTo>
                <a:lnTo>
                  <a:pt x="3322317" y="0"/>
                </a:lnTo>
                <a:lnTo>
                  <a:pt x="3220209" y="0"/>
                </a:lnTo>
                <a:lnTo>
                  <a:pt x="3220209" y="13716"/>
                </a:lnTo>
                <a:lnTo>
                  <a:pt x="3322317" y="13716"/>
                </a:lnTo>
                <a:close/>
              </a:path>
              <a:path w="4223385" h="852170">
                <a:moveTo>
                  <a:pt x="3461001" y="13716"/>
                </a:moveTo>
                <a:lnTo>
                  <a:pt x="3461001" y="0"/>
                </a:lnTo>
                <a:lnTo>
                  <a:pt x="3360417" y="0"/>
                </a:lnTo>
                <a:lnTo>
                  <a:pt x="3360417" y="13716"/>
                </a:lnTo>
                <a:lnTo>
                  <a:pt x="3461001" y="13716"/>
                </a:lnTo>
                <a:close/>
              </a:path>
              <a:path w="4223385" h="852170">
                <a:moveTo>
                  <a:pt x="3601209" y="13716"/>
                </a:moveTo>
                <a:lnTo>
                  <a:pt x="3601209" y="0"/>
                </a:lnTo>
                <a:lnTo>
                  <a:pt x="3499101" y="0"/>
                </a:lnTo>
                <a:lnTo>
                  <a:pt x="3499101" y="13716"/>
                </a:lnTo>
                <a:lnTo>
                  <a:pt x="3601209" y="13716"/>
                </a:lnTo>
                <a:close/>
              </a:path>
              <a:path w="4223385" h="852170">
                <a:moveTo>
                  <a:pt x="3741417" y="13716"/>
                </a:moveTo>
                <a:lnTo>
                  <a:pt x="3741417" y="0"/>
                </a:lnTo>
                <a:lnTo>
                  <a:pt x="3639309" y="0"/>
                </a:lnTo>
                <a:lnTo>
                  <a:pt x="3639309" y="13716"/>
                </a:lnTo>
                <a:lnTo>
                  <a:pt x="3741417" y="13716"/>
                </a:lnTo>
                <a:close/>
              </a:path>
              <a:path w="4223385" h="852170">
                <a:moveTo>
                  <a:pt x="3880101" y="13716"/>
                </a:moveTo>
                <a:lnTo>
                  <a:pt x="3880101" y="0"/>
                </a:lnTo>
                <a:lnTo>
                  <a:pt x="3779517" y="0"/>
                </a:lnTo>
                <a:lnTo>
                  <a:pt x="3779517" y="13716"/>
                </a:lnTo>
                <a:lnTo>
                  <a:pt x="3880101" y="13716"/>
                </a:lnTo>
                <a:close/>
              </a:path>
              <a:path w="4223385" h="852170">
                <a:moveTo>
                  <a:pt x="4020309" y="13716"/>
                </a:moveTo>
                <a:lnTo>
                  <a:pt x="4020309" y="0"/>
                </a:lnTo>
                <a:lnTo>
                  <a:pt x="3918201" y="0"/>
                </a:lnTo>
                <a:lnTo>
                  <a:pt x="3918201" y="13716"/>
                </a:lnTo>
                <a:lnTo>
                  <a:pt x="4020309" y="13716"/>
                </a:lnTo>
                <a:close/>
              </a:path>
              <a:path w="4223385" h="852170">
                <a:moveTo>
                  <a:pt x="4160517" y="13716"/>
                </a:moveTo>
                <a:lnTo>
                  <a:pt x="4160517" y="0"/>
                </a:lnTo>
                <a:lnTo>
                  <a:pt x="4058409" y="0"/>
                </a:lnTo>
                <a:lnTo>
                  <a:pt x="4058409" y="13716"/>
                </a:lnTo>
                <a:lnTo>
                  <a:pt x="4160517" y="13716"/>
                </a:lnTo>
                <a:close/>
              </a:path>
              <a:path w="4223385" h="852170">
                <a:moveTo>
                  <a:pt x="4223001" y="89916"/>
                </a:moveTo>
                <a:lnTo>
                  <a:pt x="4223001" y="3048"/>
                </a:lnTo>
                <a:lnTo>
                  <a:pt x="4219953" y="0"/>
                </a:lnTo>
                <a:lnTo>
                  <a:pt x="4198617" y="0"/>
                </a:lnTo>
                <a:lnTo>
                  <a:pt x="4198617" y="13716"/>
                </a:lnTo>
                <a:lnTo>
                  <a:pt x="4210809" y="13716"/>
                </a:lnTo>
                <a:lnTo>
                  <a:pt x="4210809" y="6096"/>
                </a:lnTo>
                <a:lnTo>
                  <a:pt x="4216905" y="13716"/>
                </a:lnTo>
                <a:lnTo>
                  <a:pt x="4216905" y="89916"/>
                </a:lnTo>
                <a:lnTo>
                  <a:pt x="4223001" y="89916"/>
                </a:lnTo>
                <a:close/>
              </a:path>
              <a:path w="4223385" h="852170">
                <a:moveTo>
                  <a:pt x="4216905" y="13716"/>
                </a:moveTo>
                <a:lnTo>
                  <a:pt x="4210809" y="6096"/>
                </a:lnTo>
                <a:lnTo>
                  <a:pt x="4210809" y="13716"/>
                </a:lnTo>
                <a:lnTo>
                  <a:pt x="4216905" y="13716"/>
                </a:lnTo>
                <a:close/>
              </a:path>
              <a:path w="4223385" h="852170">
                <a:moveTo>
                  <a:pt x="4216905" y="89916"/>
                </a:moveTo>
                <a:lnTo>
                  <a:pt x="4216905" y="13716"/>
                </a:lnTo>
                <a:lnTo>
                  <a:pt x="4210809" y="13716"/>
                </a:lnTo>
                <a:lnTo>
                  <a:pt x="4210809" y="89916"/>
                </a:lnTo>
                <a:lnTo>
                  <a:pt x="4216905" y="89916"/>
                </a:lnTo>
                <a:close/>
              </a:path>
              <a:path w="4223385" h="852170">
                <a:moveTo>
                  <a:pt x="4223001" y="230124"/>
                </a:moveTo>
                <a:lnTo>
                  <a:pt x="4223001" y="128016"/>
                </a:lnTo>
                <a:lnTo>
                  <a:pt x="4210809" y="128016"/>
                </a:lnTo>
                <a:lnTo>
                  <a:pt x="4210809" y="230124"/>
                </a:lnTo>
                <a:lnTo>
                  <a:pt x="4223001" y="230124"/>
                </a:lnTo>
                <a:close/>
              </a:path>
              <a:path w="4223385" h="852170">
                <a:moveTo>
                  <a:pt x="4223001" y="368808"/>
                </a:moveTo>
                <a:lnTo>
                  <a:pt x="4223001" y="268224"/>
                </a:lnTo>
                <a:lnTo>
                  <a:pt x="4210809" y="268224"/>
                </a:lnTo>
                <a:lnTo>
                  <a:pt x="4210809" y="368808"/>
                </a:lnTo>
                <a:lnTo>
                  <a:pt x="4223001" y="368808"/>
                </a:lnTo>
                <a:close/>
              </a:path>
              <a:path w="4223385" h="852170">
                <a:moveTo>
                  <a:pt x="4223001" y="509016"/>
                </a:moveTo>
                <a:lnTo>
                  <a:pt x="4223001" y="406908"/>
                </a:lnTo>
                <a:lnTo>
                  <a:pt x="4210809" y="406908"/>
                </a:lnTo>
                <a:lnTo>
                  <a:pt x="4210809" y="509016"/>
                </a:lnTo>
                <a:lnTo>
                  <a:pt x="4223001" y="509016"/>
                </a:lnTo>
                <a:close/>
              </a:path>
              <a:path w="4223385" h="852170">
                <a:moveTo>
                  <a:pt x="4223001" y="649224"/>
                </a:moveTo>
                <a:lnTo>
                  <a:pt x="4223001" y="547116"/>
                </a:lnTo>
                <a:lnTo>
                  <a:pt x="4210809" y="547116"/>
                </a:lnTo>
                <a:lnTo>
                  <a:pt x="4210809" y="649224"/>
                </a:lnTo>
                <a:lnTo>
                  <a:pt x="4223001" y="649224"/>
                </a:lnTo>
                <a:close/>
              </a:path>
              <a:path w="4223385" h="852170">
                <a:moveTo>
                  <a:pt x="4223001" y="787908"/>
                </a:moveTo>
                <a:lnTo>
                  <a:pt x="4223001" y="687324"/>
                </a:lnTo>
                <a:lnTo>
                  <a:pt x="4210809" y="687324"/>
                </a:lnTo>
                <a:lnTo>
                  <a:pt x="4210809" y="787908"/>
                </a:lnTo>
                <a:lnTo>
                  <a:pt x="4223001" y="787908"/>
                </a:lnTo>
                <a:close/>
              </a:path>
              <a:path w="4223385" h="852170">
                <a:moveTo>
                  <a:pt x="4216905" y="838200"/>
                </a:moveTo>
                <a:lnTo>
                  <a:pt x="4133085" y="838200"/>
                </a:lnTo>
                <a:lnTo>
                  <a:pt x="4133085" y="851916"/>
                </a:lnTo>
                <a:lnTo>
                  <a:pt x="4210809" y="851916"/>
                </a:lnTo>
                <a:lnTo>
                  <a:pt x="4210809" y="844296"/>
                </a:lnTo>
                <a:lnTo>
                  <a:pt x="4216905" y="838200"/>
                </a:lnTo>
                <a:close/>
              </a:path>
              <a:path w="4223385" h="852170">
                <a:moveTo>
                  <a:pt x="4223001" y="848868"/>
                </a:moveTo>
                <a:lnTo>
                  <a:pt x="4223001" y="826008"/>
                </a:lnTo>
                <a:lnTo>
                  <a:pt x="4210809" y="826008"/>
                </a:lnTo>
                <a:lnTo>
                  <a:pt x="4210809" y="838200"/>
                </a:lnTo>
                <a:lnTo>
                  <a:pt x="4216905" y="838200"/>
                </a:lnTo>
                <a:lnTo>
                  <a:pt x="4216905" y="851916"/>
                </a:lnTo>
                <a:lnTo>
                  <a:pt x="4219953" y="851916"/>
                </a:lnTo>
                <a:lnTo>
                  <a:pt x="4223001" y="848868"/>
                </a:lnTo>
                <a:close/>
              </a:path>
              <a:path w="4223385" h="852170">
                <a:moveTo>
                  <a:pt x="4216905" y="851916"/>
                </a:moveTo>
                <a:lnTo>
                  <a:pt x="4216905" y="838200"/>
                </a:lnTo>
                <a:lnTo>
                  <a:pt x="4210809" y="844296"/>
                </a:lnTo>
                <a:lnTo>
                  <a:pt x="4210809" y="851916"/>
                </a:lnTo>
                <a:lnTo>
                  <a:pt x="4216905" y="851916"/>
                </a:lnTo>
                <a:close/>
              </a:path>
              <a:path w="4223385" h="852170">
                <a:moveTo>
                  <a:pt x="4094985" y="851916"/>
                </a:moveTo>
                <a:lnTo>
                  <a:pt x="4094985" y="838200"/>
                </a:lnTo>
                <a:lnTo>
                  <a:pt x="3992877" y="838200"/>
                </a:lnTo>
                <a:lnTo>
                  <a:pt x="3992877" y="851916"/>
                </a:lnTo>
                <a:lnTo>
                  <a:pt x="4094985" y="851916"/>
                </a:lnTo>
                <a:close/>
              </a:path>
              <a:path w="4223385" h="852170">
                <a:moveTo>
                  <a:pt x="3954777" y="851916"/>
                </a:moveTo>
                <a:lnTo>
                  <a:pt x="3954777" y="838200"/>
                </a:lnTo>
                <a:lnTo>
                  <a:pt x="3854193" y="838200"/>
                </a:lnTo>
                <a:lnTo>
                  <a:pt x="3854193" y="851916"/>
                </a:lnTo>
                <a:lnTo>
                  <a:pt x="3954777" y="851916"/>
                </a:lnTo>
                <a:close/>
              </a:path>
              <a:path w="4223385" h="852170">
                <a:moveTo>
                  <a:pt x="3816093" y="851916"/>
                </a:moveTo>
                <a:lnTo>
                  <a:pt x="3816093" y="838200"/>
                </a:lnTo>
                <a:lnTo>
                  <a:pt x="3713985" y="838200"/>
                </a:lnTo>
                <a:lnTo>
                  <a:pt x="3713985" y="851916"/>
                </a:lnTo>
                <a:lnTo>
                  <a:pt x="3816093" y="851916"/>
                </a:lnTo>
                <a:close/>
              </a:path>
              <a:path w="4223385" h="852170">
                <a:moveTo>
                  <a:pt x="3675885" y="851916"/>
                </a:moveTo>
                <a:lnTo>
                  <a:pt x="3675885" y="838200"/>
                </a:lnTo>
                <a:lnTo>
                  <a:pt x="3573777" y="838200"/>
                </a:lnTo>
                <a:lnTo>
                  <a:pt x="3573777" y="851916"/>
                </a:lnTo>
                <a:lnTo>
                  <a:pt x="3675885" y="851916"/>
                </a:lnTo>
                <a:close/>
              </a:path>
              <a:path w="4223385" h="852170">
                <a:moveTo>
                  <a:pt x="3535677" y="851916"/>
                </a:moveTo>
                <a:lnTo>
                  <a:pt x="3535677" y="838200"/>
                </a:lnTo>
                <a:lnTo>
                  <a:pt x="3435093" y="838200"/>
                </a:lnTo>
                <a:lnTo>
                  <a:pt x="3435093" y="851916"/>
                </a:lnTo>
                <a:lnTo>
                  <a:pt x="3535677" y="851916"/>
                </a:lnTo>
                <a:close/>
              </a:path>
              <a:path w="4223385" h="852170">
                <a:moveTo>
                  <a:pt x="3396993" y="851916"/>
                </a:moveTo>
                <a:lnTo>
                  <a:pt x="3396993" y="838200"/>
                </a:lnTo>
                <a:lnTo>
                  <a:pt x="3294885" y="838200"/>
                </a:lnTo>
                <a:lnTo>
                  <a:pt x="3294885" y="851916"/>
                </a:lnTo>
                <a:lnTo>
                  <a:pt x="3396993" y="851916"/>
                </a:lnTo>
                <a:close/>
              </a:path>
              <a:path w="4223385" h="852170">
                <a:moveTo>
                  <a:pt x="3256785" y="851916"/>
                </a:moveTo>
                <a:lnTo>
                  <a:pt x="3256785" y="838200"/>
                </a:lnTo>
                <a:lnTo>
                  <a:pt x="3154677" y="838200"/>
                </a:lnTo>
                <a:lnTo>
                  <a:pt x="3154677" y="851916"/>
                </a:lnTo>
                <a:lnTo>
                  <a:pt x="3256785" y="851916"/>
                </a:lnTo>
                <a:close/>
              </a:path>
              <a:path w="4223385" h="852170">
                <a:moveTo>
                  <a:pt x="3116577" y="851916"/>
                </a:moveTo>
                <a:lnTo>
                  <a:pt x="3116577" y="838200"/>
                </a:lnTo>
                <a:lnTo>
                  <a:pt x="3015993" y="838200"/>
                </a:lnTo>
                <a:lnTo>
                  <a:pt x="3015993" y="851916"/>
                </a:lnTo>
                <a:lnTo>
                  <a:pt x="3116577" y="851916"/>
                </a:lnTo>
                <a:close/>
              </a:path>
              <a:path w="4223385" h="852170">
                <a:moveTo>
                  <a:pt x="2977893" y="851916"/>
                </a:moveTo>
                <a:lnTo>
                  <a:pt x="2977893" y="838200"/>
                </a:lnTo>
                <a:lnTo>
                  <a:pt x="2875785" y="838200"/>
                </a:lnTo>
                <a:lnTo>
                  <a:pt x="2875785" y="851916"/>
                </a:lnTo>
                <a:lnTo>
                  <a:pt x="2977893" y="851916"/>
                </a:lnTo>
                <a:close/>
              </a:path>
              <a:path w="4223385" h="852170">
                <a:moveTo>
                  <a:pt x="2837685" y="851916"/>
                </a:moveTo>
                <a:lnTo>
                  <a:pt x="2837685" y="838200"/>
                </a:lnTo>
                <a:lnTo>
                  <a:pt x="2735577" y="838200"/>
                </a:lnTo>
                <a:lnTo>
                  <a:pt x="2735577" y="851916"/>
                </a:lnTo>
                <a:lnTo>
                  <a:pt x="2837685" y="851916"/>
                </a:lnTo>
                <a:close/>
              </a:path>
              <a:path w="4223385" h="852170">
                <a:moveTo>
                  <a:pt x="2697477" y="851916"/>
                </a:moveTo>
                <a:lnTo>
                  <a:pt x="2697477" y="838200"/>
                </a:lnTo>
                <a:lnTo>
                  <a:pt x="2596893" y="838200"/>
                </a:lnTo>
                <a:lnTo>
                  <a:pt x="2596893" y="851916"/>
                </a:lnTo>
                <a:lnTo>
                  <a:pt x="2697477" y="851916"/>
                </a:lnTo>
                <a:close/>
              </a:path>
              <a:path w="4223385" h="852170">
                <a:moveTo>
                  <a:pt x="2558793" y="851916"/>
                </a:moveTo>
                <a:lnTo>
                  <a:pt x="2558793" y="838200"/>
                </a:lnTo>
                <a:lnTo>
                  <a:pt x="2456685" y="838200"/>
                </a:lnTo>
                <a:lnTo>
                  <a:pt x="2456685" y="851916"/>
                </a:lnTo>
                <a:lnTo>
                  <a:pt x="2558793" y="851916"/>
                </a:lnTo>
                <a:close/>
              </a:path>
              <a:path w="4223385" h="852170">
                <a:moveTo>
                  <a:pt x="2418585" y="851916"/>
                </a:moveTo>
                <a:lnTo>
                  <a:pt x="2418585" y="838200"/>
                </a:lnTo>
                <a:lnTo>
                  <a:pt x="2316477" y="838200"/>
                </a:lnTo>
                <a:lnTo>
                  <a:pt x="2316477" y="851916"/>
                </a:lnTo>
                <a:lnTo>
                  <a:pt x="2418585" y="851916"/>
                </a:lnTo>
                <a:close/>
              </a:path>
              <a:path w="4223385" h="852170">
                <a:moveTo>
                  <a:pt x="2278377" y="851916"/>
                </a:moveTo>
                <a:lnTo>
                  <a:pt x="2278377" y="838200"/>
                </a:lnTo>
                <a:lnTo>
                  <a:pt x="2177793" y="838200"/>
                </a:lnTo>
                <a:lnTo>
                  <a:pt x="2177793" y="851916"/>
                </a:lnTo>
                <a:lnTo>
                  <a:pt x="2278377" y="851916"/>
                </a:lnTo>
                <a:close/>
              </a:path>
              <a:path w="4223385" h="852170">
                <a:moveTo>
                  <a:pt x="2139693" y="851916"/>
                </a:moveTo>
                <a:lnTo>
                  <a:pt x="2139693" y="838200"/>
                </a:lnTo>
                <a:lnTo>
                  <a:pt x="2037585" y="838200"/>
                </a:lnTo>
                <a:lnTo>
                  <a:pt x="2037585" y="851916"/>
                </a:lnTo>
                <a:lnTo>
                  <a:pt x="2139693" y="851916"/>
                </a:lnTo>
                <a:close/>
              </a:path>
              <a:path w="4223385" h="852170">
                <a:moveTo>
                  <a:pt x="1999485" y="851916"/>
                </a:moveTo>
                <a:lnTo>
                  <a:pt x="1999485" y="838200"/>
                </a:lnTo>
                <a:lnTo>
                  <a:pt x="1897377" y="838200"/>
                </a:lnTo>
                <a:lnTo>
                  <a:pt x="1897377" y="851916"/>
                </a:lnTo>
                <a:lnTo>
                  <a:pt x="1999485" y="851916"/>
                </a:lnTo>
                <a:close/>
              </a:path>
              <a:path w="4223385" h="852170">
                <a:moveTo>
                  <a:pt x="1859277" y="851916"/>
                </a:moveTo>
                <a:lnTo>
                  <a:pt x="1859277" y="838200"/>
                </a:lnTo>
                <a:lnTo>
                  <a:pt x="1758693" y="838200"/>
                </a:lnTo>
                <a:lnTo>
                  <a:pt x="1758693" y="851916"/>
                </a:lnTo>
                <a:lnTo>
                  <a:pt x="1859277" y="851916"/>
                </a:lnTo>
                <a:close/>
              </a:path>
              <a:path w="4223385" h="852170">
                <a:moveTo>
                  <a:pt x="1720593" y="851916"/>
                </a:moveTo>
                <a:lnTo>
                  <a:pt x="1720593" y="838200"/>
                </a:lnTo>
                <a:lnTo>
                  <a:pt x="1618485" y="838200"/>
                </a:lnTo>
                <a:lnTo>
                  <a:pt x="1618485" y="851916"/>
                </a:lnTo>
                <a:lnTo>
                  <a:pt x="1720593" y="851916"/>
                </a:lnTo>
                <a:close/>
              </a:path>
              <a:path w="4223385" h="852170">
                <a:moveTo>
                  <a:pt x="1580385" y="851916"/>
                </a:moveTo>
                <a:lnTo>
                  <a:pt x="1580385" y="838200"/>
                </a:lnTo>
                <a:lnTo>
                  <a:pt x="1478276" y="838200"/>
                </a:lnTo>
                <a:lnTo>
                  <a:pt x="1478276" y="851916"/>
                </a:lnTo>
                <a:lnTo>
                  <a:pt x="1580385" y="851916"/>
                </a:lnTo>
                <a:close/>
              </a:path>
              <a:path w="4223385" h="852170">
                <a:moveTo>
                  <a:pt x="1440176" y="851916"/>
                </a:moveTo>
                <a:lnTo>
                  <a:pt x="1440176" y="838200"/>
                </a:lnTo>
                <a:lnTo>
                  <a:pt x="1339592" y="838200"/>
                </a:lnTo>
                <a:lnTo>
                  <a:pt x="1339592" y="851916"/>
                </a:lnTo>
                <a:lnTo>
                  <a:pt x="1440176" y="851916"/>
                </a:lnTo>
                <a:close/>
              </a:path>
              <a:path w="4223385" h="852170">
                <a:moveTo>
                  <a:pt x="1301492" y="851916"/>
                </a:moveTo>
                <a:lnTo>
                  <a:pt x="1301492" y="838200"/>
                </a:lnTo>
                <a:lnTo>
                  <a:pt x="1199384" y="838200"/>
                </a:lnTo>
                <a:lnTo>
                  <a:pt x="1199384" y="851916"/>
                </a:lnTo>
                <a:lnTo>
                  <a:pt x="1301492" y="851916"/>
                </a:lnTo>
                <a:close/>
              </a:path>
              <a:path w="4223385" h="852170">
                <a:moveTo>
                  <a:pt x="1161284" y="851916"/>
                </a:moveTo>
                <a:lnTo>
                  <a:pt x="1161284" y="838200"/>
                </a:lnTo>
                <a:lnTo>
                  <a:pt x="1059176" y="838200"/>
                </a:lnTo>
                <a:lnTo>
                  <a:pt x="1059176" y="851916"/>
                </a:lnTo>
                <a:lnTo>
                  <a:pt x="1161284" y="851916"/>
                </a:lnTo>
                <a:close/>
              </a:path>
              <a:path w="4223385" h="852170">
                <a:moveTo>
                  <a:pt x="1021076" y="851916"/>
                </a:moveTo>
                <a:lnTo>
                  <a:pt x="1021076" y="838200"/>
                </a:lnTo>
                <a:lnTo>
                  <a:pt x="920492" y="838200"/>
                </a:lnTo>
                <a:lnTo>
                  <a:pt x="920492" y="851916"/>
                </a:lnTo>
                <a:lnTo>
                  <a:pt x="1021076" y="851916"/>
                </a:lnTo>
                <a:close/>
              </a:path>
              <a:path w="4223385" h="852170">
                <a:moveTo>
                  <a:pt x="882392" y="851916"/>
                </a:moveTo>
                <a:lnTo>
                  <a:pt x="882392" y="838200"/>
                </a:lnTo>
                <a:lnTo>
                  <a:pt x="780284" y="838200"/>
                </a:lnTo>
                <a:lnTo>
                  <a:pt x="780284" y="851916"/>
                </a:lnTo>
                <a:lnTo>
                  <a:pt x="882392" y="851916"/>
                </a:lnTo>
                <a:close/>
              </a:path>
              <a:path w="4223385" h="852170">
                <a:moveTo>
                  <a:pt x="742184" y="851916"/>
                </a:moveTo>
                <a:lnTo>
                  <a:pt x="742184" y="838200"/>
                </a:lnTo>
                <a:lnTo>
                  <a:pt x="640076" y="838200"/>
                </a:lnTo>
                <a:lnTo>
                  <a:pt x="640076" y="851916"/>
                </a:lnTo>
                <a:lnTo>
                  <a:pt x="742184" y="851916"/>
                </a:lnTo>
                <a:close/>
              </a:path>
              <a:path w="4223385" h="852170">
                <a:moveTo>
                  <a:pt x="601976" y="851916"/>
                </a:moveTo>
                <a:lnTo>
                  <a:pt x="601976" y="838200"/>
                </a:lnTo>
                <a:lnTo>
                  <a:pt x="501392" y="838200"/>
                </a:lnTo>
                <a:lnTo>
                  <a:pt x="501392" y="851916"/>
                </a:lnTo>
                <a:lnTo>
                  <a:pt x="601976" y="851916"/>
                </a:lnTo>
                <a:close/>
              </a:path>
              <a:path w="4223385" h="852170">
                <a:moveTo>
                  <a:pt x="463292" y="851916"/>
                </a:moveTo>
                <a:lnTo>
                  <a:pt x="463292" y="838200"/>
                </a:lnTo>
                <a:lnTo>
                  <a:pt x="361188" y="838200"/>
                </a:lnTo>
                <a:lnTo>
                  <a:pt x="361188" y="851916"/>
                </a:lnTo>
                <a:lnTo>
                  <a:pt x="463292" y="851916"/>
                </a:lnTo>
                <a:close/>
              </a:path>
              <a:path w="4223385" h="852170">
                <a:moveTo>
                  <a:pt x="323088" y="851916"/>
                </a:moveTo>
                <a:lnTo>
                  <a:pt x="323088" y="838200"/>
                </a:lnTo>
                <a:lnTo>
                  <a:pt x="220980" y="838200"/>
                </a:lnTo>
                <a:lnTo>
                  <a:pt x="220980" y="851916"/>
                </a:lnTo>
                <a:lnTo>
                  <a:pt x="323088" y="851916"/>
                </a:lnTo>
                <a:close/>
              </a:path>
              <a:path w="4223385" h="852170">
                <a:moveTo>
                  <a:pt x="182880" y="851916"/>
                </a:moveTo>
                <a:lnTo>
                  <a:pt x="182880" y="838200"/>
                </a:lnTo>
                <a:lnTo>
                  <a:pt x="82296" y="838200"/>
                </a:lnTo>
                <a:lnTo>
                  <a:pt x="82296" y="851916"/>
                </a:lnTo>
                <a:lnTo>
                  <a:pt x="182880" y="8519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5560" rIns="0" bIns="0" rtlCol="0">
            <a:spAutoFit/>
          </a:bodyPr>
          <a:lstStyle/>
          <a:p>
            <a:pPr marL="89535" marR="2398395">
              <a:lnSpc>
                <a:spcPct val="100000"/>
              </a:lnSpc>
              <a:spcBef>
                <a:spcPts val="280"/>
              </a:spcBef>
            </a:pPr>
            <a:r>
              <a:rPr sz="2600" dirty="0"/>
              <a:t>5.</a:t>
            </a:r>
            <a:r>
              <a:rPr sz="2600" spc="-45" dirty="0"/>
              <a:t> </a:t>
            </a:r>
            <a:r>
              <a:rPr sz="2600" dirty="0"/>
              <a:t>Современные</a:t>
            </a:r>
            <a:r>
              <a:rPr sz="2600" spc="-70" dirty="0"/>
              <a:t> </a:t>
            </a:r>
            <a:r>
              <a:rPr sz="2600" spc="-10" dirty="0"/>
              <a:t>стандарты, </a:t>
            </a:r>
            <a:r>
              <a:rPr sz="2600" spc="-700" dirty="0"/>
              <a:t> </a:t>
            </a:r>
            <a:r>
              <a:rPr sz="2600" spc="-10" dirty="0"/>
              <a:t>регламентирующие</a:t>
            </a:r>
            <a:r>
              <a:rPr sz="2600" spc="-70" dirty="0"/>
              <a:t> </a:t>
            </a:r>
            <a:r>
              <a:rPr sz="2600" dirty="0"/>
              <a:t>ЖЦ</a:t>
            </a:r>
            <a:r>
              <a:rPr sz="2600" spc="-35" dirty="0"/>
              <a:t> </a:t>
            </a:r>
            <a:r>
              <a:rPr sz="2600" dirty="0"/>
              <a:t>ПС</a:t>
            </a:r>
            <a:endParaRPr sz="2600"/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715189"/>
              </p:ext>
            </p:extLst>
          </p:nvPr>
        </p:nvGraphicFramePr>
        <p:xfrm>
          <a:off x="1165741" y="1485900"/>
          <a:ext cx="8289925" cy="55625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88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</a:t>
                      </a:r>
                    </a:p>
                  </a:txBody>
                  <a:tcPr marL="0" marR="0" marT="177165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2700">
                      <a:solidFill>
                        <a:srgbClr val="323298"/>
                      </a:solidFill>
                      <a:prstDash val="solid"/>
                    </a:lnR>
                    <a:lnT w="1905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449580" indent="1270">
                        <a:lnSpc>
                          <a:spcPts val="2150"/>
                        </a:lnSpc>
                        <a:spcBef>
                          <a:spcPts val="409"/>
                        </a:spcBef>
                      </a:pP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ISO/IEC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12207:2008 System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and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software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engineering</a:t>
                      </a:r>
                      <a:r>
                        <a:rPr sz="1800" spc="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—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Software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life</a:t>
                      </a:r>
                      <a:r>
                        <a:rPr sz="1800" spc="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cycle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processes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905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905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2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85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2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3810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270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ГОСТ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Р</a:t>
                      </a:r>
                      <a:r>
                        <a:rPr sz="1800" spc="-3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ИСО/МЭК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12207-2010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  <a:p>
                      <a:pPr marL="68580" marR="318135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Информационная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технология. Системная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программная инженерия.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Процессы 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жизненного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цикла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программных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средств</a:t>
                      </a:r>
                    </a:p>
                  </a:txBody>
                  <a:tcPr marL="0" marR="0" marT="8890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9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67310" marR="21844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Идентичен международному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стандарту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ISO/IEC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12207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5715" marB="0">
                    <a:lnL w="1905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3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3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225425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270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200660" indent="1270">
                        <a:lnSpc>
                          <a:spcPts val="2150"/>
                        </a:lnSpc>
                        <a:spcBef>
                          <a:spcPts val="78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ISO/IEC/IEEE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15288:2015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Systems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and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software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engineering</a:t>
                      </a:r>
                      <a:r>
                        <a:rPr sz="1800" spc="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–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System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life</a:t>
                      </a:r>
                      <a:r>
                        <a:rPr sz="1800" spc="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cycle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processes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76517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Взаимосвязан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ISO/IEC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12207:2008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88265" marB="0">
                    <a:lnL w="1905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4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2540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270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905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68580" marR="914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ГОСТ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Р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57193-2016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Системная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программная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инженерия.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Процессы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жизненного 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цикла </a:t>
                      </a:r>
                      <a:r>
                        <a:rPr sz="1800" spc="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систем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78740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905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 marL="67310" marR="2184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Идентичен международному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стандарту ISO/IEC/IEEE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15288:2015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78740" marB="0">
                    <a:lnL w="1905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905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889"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5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2700">
                      <a:solidFill>
                        <a:srgbClr val="323298"/>
                      </a:solidFill>
                      <a:prstDash val="solid"/>
                    </a:lnR>
                    <a:lnT w="1905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ISO/IEC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TR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24748</a:t>
                      </a:r>
                      <a:r>
                        <a:rPr sz="1800" spc="-3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(из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3-х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частей)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77165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905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Есть</a:t>
                      </a: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идентичные</a:t>
                      </a:r>
                      <a:r>
                        <a:rPr sz="1800" spc="-3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ГОСТ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Р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77165" marB="0">
                    <a:lnL w="1905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9050">
                      <a:solidFill>
                        <a:srgbClr val="323298"/>
                      </a:solidFill>
                      <a:prstDash val="solid"/>
                    </a:lnT>
                    <a:lnB w="12700">
                      <a:solidFill>
                        <a:srgbClr val="323298"/>
                      </a:solidFill>
                      <a:prstDash val="solid"/>
                    </a:lnB>
                    <a:solidFill>
                      <a:srgbClr val="CDCD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19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  <a:spcBef>
                          <a:spcPts val="1664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6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0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270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905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950" dirty="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68580" marR="800735">
                        <a:lnSpc>
                          <a:spcPct val="100000"/>
                        </a:lnSpc>
                      </a:pP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ГОСТ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Р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53622-2009 Информационные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технологии.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Информационно-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вычислительные</a:t>
                      </a:r>
                      <a:r>
                        <a:rPr sz="1800" spc="-3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системы.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3175" marB="0">
                    <a:lnL w="1270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905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900" dirty="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67310" marR="52832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Гармонизированы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</a:t>
                      </a:r>
                      <a:r>
                        <a:rPr sz="1800" spc="-3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ГОСТ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34.ХХХ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270" marB="0">
                    <a:lnL w="19050">
                      <a:solidFill>
                        <a:srgbClr val="323298"/>
                      </a:solidFill>
                      <a:prstDash val="solid"/>
                    </a:lnL>
                    <a:lnR w="19050">
                      <a:solidFill>
                        <a:srgbClr val="323298"/>
                      </a:solidFill>
                      <a:prstDash val="solid"/>
                    </a:lnR>
                    <a:lnT w="12700">
                      <a:solidFill>
                        <a:srgbClr val="323298"/>
                      </a:solidFill>
                      <a:prstDash val="solid"/>
                    </a:lnT>
                    <a:lnB w="19050">
                      <a:solidFill>
                        <a:srgbClr val="323298"/>
                      </a:solidFill>
                      <a:prstDash val="solid"/>
                    </a:lnB>
                    <a:solidFill>
                      <a:srgbClr val="E8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AF4F"/>
          </a:solidFill>
        </p:spPr>
        <p:txBody>
          <a:bodyPr vert="horz" wrap="square" lIns="0" tIns="3175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50"/>
              </a:spcBef>
            </a:pPr>
            <a:r>
              <a:rPr sz="3600" dirty="0"/>
              <a:t>6.</a:t>
            </a:r>
            <a:r>
              <a:rPr sz="3600" spc="-20" dirty="0"/>
              <a:t> </a:t>
            </a:r>
            <a:r>
              <a:rPr sz="3600" spc="-40" dirty="0"/>
              <a:t>ГОСТ</a:t>
            </a:r>
            <a:r>
              <a:rPr sz="3600" spc="5" dirty="0"/>
              <a:t> </a:t>
            </a:r>
            <a:r>
              <a:rPr sz="3600" dirty="0"/>
              <a:t>Р</a:t>
            </a:r>
            <a:r>
              <a:rPr sz="3600" spc="-15" dirty="0"/>
              <a:t> </a:t>
            </a:r>
            <a:r>
              <a:rPr sz="3600" spc="-5" dirty="0"/>
              <a:t>ИСО/МЭК</a:t>
            </a:r>
            <a:r>
              <a:rPr sz="3600" spc="-15" dirty="0"/>
              <a:t> </a:t>
            </a:r>
            <a:r>
              <a:rPr sz="3600" dirty="0"/>
              <a:t>12207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idx="1"/>
          </p:nvPr>
        </p:nvSpPr>
        <p:spPr>
          <a:xfrm>
            <a:off x="1009217" y="1686102"/>
            <a:ext cx="7848906" cy="5593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3680">
              <a:lnSpc>
                <a:spcPct val="100000"/>
              </a:lnSpc>
              <a:spcBef>
                <a:spcPts val="100"/>
              </a:spcBef>
            </a:pPr>
            <a:r>
              <a:rPr dirty="0"/>
              <a:t>В</a:t>
            </a:r>
            <a:r>
              <a:rPr spc="-5" dirty="0"/>
              <a:t> </a:t>
            </a:r>
            <a:r>
              <a:rPr spc="-10" dirty="0"/>
              <a:t>настоящее</a:t>
            </a:r>
            <a:r>
              <a:rPr spc="10" dirty="0"/>
              <a:t> </a:t>
            </a:r>
            <a:r>
              <a:rPr spc="-5" dirty="0"/>
              <a:t>время</a:t>
            </a:r>
            <a:r>
              <a:rPr spc="5" dirty="0"/>
              <a:t> актуален</a:t>
            </a:r>
            <a:r>
              <a:rPr spc="10" dirty="0"/>
              <a:t> </a:t>
            </a:r>
            <a:r>
              <a:rPr spc="-25" dirty="0"/>
              <a:t>ГОСТ</a:t>
            </a:r>
            <a:r>
              <a:rPr spc="-5" dirty="0"/>
              <a:t> </a:t>
            </a:r>
            <a:r>
              <a:rPr dirty="0"/>
              <a:t>Р</a:t>
            </a:r>
            <a:r>
              <a:rPr spc="-10" dirty="0"/>
              <a:t> </a:t>
            </a:r>
            <a:r>
              <a:rPr spc="-5" dirty="0"/>
              <a:t>ИСО/МЭК 12207-2010.</a:t>
            </a:r>
          </a:p>
          <a:p>
            <a:pPr marL="1490980">
              <a:lnSpc>
                <a:spcPct val="100000"/>
              </a:lnSpc>
              <a:spcBef>
                <a:spcPts val="35"/>
              </a:spcBef>
            </a:pPr>
            <a:endParaRPr sz="2150" dirty="0"/>
          </a:p>
          <a:p>
            <a:pPr marL="1503680" marR="5080" indent="1270">
              <a:lnSpc>
                <a:spcPct val="99900"/>
              </a:lnSpc>
            </a:pPr>
            <a:r>
              <a:rPr dirty="0">
                <a:solidFill>
                  <a:srgbClr val="00B04F"/>
                </a:solidFill>
              </a:rPr>
              <a:t>Область применения: </a:t>
            </a:r>
            <a:r>
              <a:rPr spc="-20" dirty="0"/>
              <a:t>стандарт, </a:t>
            </a:r>
            <a:r>
              <a:rPr spc="-5" dirty="0"/>
              <a:t>используя </a:t>
            </a:r>
            <a:r>
              <a:rPr spc="-10" dirty="0"/>
              <a:t>устоявшуюся </a:t>
            </a:r>
            <a:r>
              <a:rPr spc="-5" dirty="0"/>
              <a:t> </a:t>
            </a:r>
            <a:r>
              <a:rPr spc="-10" dirty="0"/>
              <a:t>терминологию,</a:t>
            </a:r>
            <a:r>
              <a:rPr spc="35" dirty="0"/>
              <a:t> </a:t>
            </a:r>
            <a:r>
              <a:rPr spc="-5" dirty="0"/>
              <a:t>устанавливает</a:t>
            </a:r>
            <a:r>
              <a:rPr spc="10" dirty="0"/>
              <a:t> </a:t>
            </a:r>
            <a:r>
              <a:rPr dirty="0"/>
              <a:t>общую</a:t>
            </a:r>
            <a:r>
              <a:rPr spc="15" dirty="0"/>
              <a:t> </a:t>
            </a:r>
            <a:r>
              <a:rPr spc="5" dirty="0"/>
              <a:t>структуру</a:t>
            </a:r>
            <a:r>
              <a:rPr spc="10" dirty="0"/>
              <a:t> </a:t>
            </a:r>
            <a:r>
              <a:rPr spc="-5" dirty="0"/>
              <a:t>процессов </a:t>
            </a:r>
            <a:r>
              <a:rPr dirty="0"/>
              <a:t> </a:t>
            </a:r>
            <a:r>
              <a:rPr spc="-10" dirty="0"/>
              <a:t>жизненного</a:t>
            </a:r>
            <a:r>
              <a:rPr spc="35" dirty="0"/>
              <a:t> </a:t>
            </a:r>
            <a:r>
              <a:rPr spc="10" dirty="0"/>
              <a:t>цикла</a:t>
            </a:r>
            <a:r>
              <a:rPr spc="15" dirty="0"/>
              <a:t> </a:t>
            </a:r>
            <a:r>
              <a:rPr spc="-10" dirty="0"/>
              <a:t>программных</a:t>
            </a:r>
            <a:r>
              <a:rPr spc="35" dirty="0"/>
              <a:t> </a:t>
            </a:r>
            <a:r>
              <a:rPr spc="-5" dirty="0"/>
              <a:t>средств, </a:t>
            </a:r>
            <a:r>
              <a:rPr dirty="0"/>
              <a:t>на</a:t>
            </a:r>
            <a:r>
              <a:rPr spc="15" dirty="0"/>
              <a:t> </a:t>
            </a:r>
            <a:r>
              <a:rPr spc="-30" dirty="0"/>
              <a:t>которую</a:t>
            </a:r>
            <a:r>
              <a:rPr spc="15" dirty="0"/>
              <a:t> </a:t>
            </a:r>
            <a:r>
              <a:rPr spc="-20" dirty="0"/>
              <a:t>можно </a:t>
            </a:r>
            <a:r>
              <a:rPr spc="-645" dirty="0"/>
              <a:t> </a:t>
            </a:r>
            <a:r>
              <a:rPr spc="-5" dirty="0"/>
              <a:t>ориентироваться</a:t>
            </a:r>
            <a:r>
              <a:rPr spc="40" dirty="0"/>
              <a:t> </a:t>
            </a:r>
            <a:r>
              <a:rPr dirty="0"/>
              <a:t>в </a:t>
            </a:r>
            <a:r>
              <a:rPr spc="-10" dirty="0"/>
              <a:t>программной</a:t>
            </a:r>
            <a:r>
              <a:rPr spc="35" dirty="0"/>
              <a:t> </a:t>
            </a:r>
            <a:r>
              <a:rPr spc="-5" dirty="0"/>
              <a:t>индустрии.</a:t>
            </a:r>
          </a:p>
          <a:p>
            <a:pPr marL="1490980">
              <a:lnSpc>
                <a:spcPct val="100000"/>
              </a:lnSpc>
              <a:spcBef>
                <a:spcPts val="20"/>
              </a:spcBef>
            </a:pPr>
            <a:endParaRPr sz="2150" dirty="0"/>
          </a:p>
          <a:p>
            <a:pPr marL="1503680">
              <a:lnSpc>
                <a:spcPct val="100000"/>
              </a:lnSpc>
            </a:pPr>
            <a:r>
              <a:rPr spc="-5" dirty="0"/>
              <a:t>Жизненный</a:t>
            </a:r>
            <a:r>
              <a:rPr spc="50" dirty="0"/>
              <a:t> </a:t>
            </a:r>
            <a:r>
              <a:rPr spc="15" dirty="0"/>
              <a:t>цикл</a:t>
            </a:r>
            <a:r>
              <a:rPr dirty="0"/>
              <a:t> </a:t>
            </a:r>
            <a:r>
              <a:rPr spc="-15" dirty="0"/>
              <a:t>декомпозируется</a:t>
            </a:r>
            <a:r>
              <a:rPr spc="45" dirty="0"/>
              <a:t> </a:t>
            </a:r>
            <a:r>
              <a:rPr dirty="0"/>
              <a:t>на</a:t>
            </a:r>
            <a:r>
              <a:rPr spc="5" dirty="0"/>
              <a:t> </a:t>
            </a:r>
            <a:r>
              <a:rPr spc="-5" dirty="0"/>
              <a:t>процессы.</a:t>
            </a:r>
          </a:p>
          <a:p>
            <a:pPr marL="1490980">
              <a:lnSpc>
                <a:spcPct val="100000"/>
              </a:lnSpc>
              <a:spcBef>
                <a:spcPts val="30"/>
              </a:spcBef>
            </a:pPr>
            <a:endParaRPr sz="2150" dirty="0"/>
          </a:p>
          <a:p>
            <a:pPr marL="1503680" marR="295910" indent="1270">
              <a:lnSpc>
                <a:spcPct val="100000"/>
              </a:lnSpc>
              <a:tabLst>
                <a:tab pos="2815590" algn="l"/>
              </a:tabLst>
            </a:pPr>
            <a:r>
              <a:rPr dirty="0">
                <a:solidFill>
                  <a:srgbClr val="00B04F"/>
                </a:solidFill>
              </a:rPr>
              <a:t>Процесс</a:t>
            </a:r>
            <a:r>
              <a:rPr dirty="0">
                <a:solidFill>
                  <a:srgbClr val="00B04F"/>
                </a:solidFill>
                <a:latin typeface="Times New Roman"/>
                <a:cs typeface="Times New Roman"/>
              </a:rPr>
              <a:t>	</a:t>
            </a:r>
            <a:r>
              <a:rPr dirty="0"/>
              <a:t>-</a:t>
            </a:r>
            <a:r>
              <a:rPr spc="5" dirty="0"/>
              <a:t> </a:t>
            </a:r>
            <a:r>
              <a:rPr spc="-5" dirty="0"/>
              <a:t>совокупность</a:t>
            </a:r>
            <a:r>
              <a:rPr spc="15" dirty="0"/>
              <a:t> </a:t>
            </a:r>
            <a:r>
              <a:rPr spc="-5" dirty="0"/>
              <a:t>взаимосвязанных</a:t>
            </a:r>
            <a:r>
              <a:rPr spc="50" dirty="0"/>
              <a:t> </a:t>
            </a:r>
            <a:r>
              <a:rPr spc="-5" dirty="0"/>
              <a:t>или </a:t>
            </a:r>
            <a:r>
              <a:rPr dirty="0"/>
              <a:t> </a:t>
            </a:r>
            <a:r>
              <a:rPr spc="-5" dirty="0"/>
              <a:t>взаимодействующих</a:t>
            </a:r>
            <a:r>
              <a:rPr spc="25" dirty="0"/>
              <a:t> </a:t>
            </a:r>
            <a:r>
              <a:rPr spc="-5" dirty="0"/>
              <a:t>видов</a:t>
            </a:r>
            <a:r>
              <a:rPr spc="10" dirty="0"/>
              <a:t> </a:t>
            </a:r>
            <a:r>
              <a:rPr spc="-10" dirty="0"/>
              <a:t>деятельности,</a:t>
            </a:r>
            <a:r>
              <a:rPr spc="10" dirty="0"/>
              <a:t> </a:t>
            </a:r>
            <a:r>
              <a:rPr spc="-5" dirty="0"/>
              <a:t>преобразующих </a:t>
            </a:r>
            <a:r>
              <a:rPr spc="-640" dirty="0"/>
              <a:t> </a:t>
            </a:r>
            <a:r>
              <a:rPr spc="-20" dirty="0"/>
              <a:t>входы</a:t>
            </a:r>
            <a:r>
              <a:rPr spc="15" dirty="0"/>
              <a:t> </a:t>
            </a:r>
            <a:r>
              <a:rPr dirty="0"/>
              <a:t>в </a:t>
            </a:r>
            <a:r>
              <a:rPr spc="-20" dirty="0"/>
              <a:t>выходы</a:t>
            </a:r>
            <a:r>
              <a:rPr spc="15" dirty="0"/>
              <a:t> </a:t>
            </a:r>
            <a:r>
              <a:rPr spc="-5" dirty="0"/>
              <a:t>(по</a:t>
            </a:r>
            <a:r>
              <a:rPr spc="30" dirty="0"/>
              <a:t> </a:t>
            </a:r>
            <a:r>
              <a:rPr u="heavy" spc="-20" dirty="0">
                <a:uFill>
                  <a:solidFill>
                    <a:srgbClr val="FFFFFF"/>
                  </a:solidFill>
                </a:uFill>
              </a:rPr>
              <a:t>ГОСТ</a:t>
            </a:r>
            <a:r>
              <a:rPr u="heavy" spc="-4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FFFFFF"/>
                  </a:solidFill>
                </a:uFill>
              </a:rPr>
              <a:t>Р</a:t>
            </a:r>
            <a:r>
              <a:rPr u="heavy" spc="10" dirty="0"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FFFFFF"/>
                  </a:solidFill>
                </a:uFill>
              </a:rPr>
              <a:t>57193-2016</a:t>
            </a:r>
            <a:r>
              <a:rPr dirty="0"/>
              <a:t>).</a:t>
            </a:r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AF4F"/>
          </a:solidFill>
        </p:spPr>
        <p:txBody>
          <a:bodyPr vert="horz" wrap="square" lIns="0" tIns="3175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50"/>
              </a:spcBef>
            </a:pPr>
            <a:r>
              <a:rPr sz="3600" spc="-10" dirty="0"/>
              <a:t>Описание</a:t>
            </a:r>
            <a:r>
              <a:rPr sz="3600" spc="10" dirty="0"/>
              <a:t> </a:t>
            </a:r>
            <a:r>
              <a:rPr sz="3600" spc="-10" dirty="0"/>
              <a:t>процесса</a:t>
            </a:r>
            <a:r>
              <a:rPr sz="3600" spc="10" dirty="0"/>
              <a:t> </a:t>
            </a:r>
            <a:r>
              <a:rPr sz="3600" dirty="0"/>
              <a:t>ЖЦ</a:t>
            </a:r>
            <a:endParaRPr sz="3600"/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9052" y="1518919"/>
            <a:ext cx="8068309" cy="447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ЖЦ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описывается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через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набор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атрибутов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:</a:t>
            </a:r>
            <a:endParaRPr sz="2400">
              <a:latin typeface="Segoe UI Light"/>
              <a:cs typeface="Segoe UI Light"/>
            </a:endParaRPr>
          </a:p>
          <a:p>
            <a:pPr marL="355600" marR="5080" indent="-342900">
              <a:lnSpc>
                <a:spcPts val="2880"/>
              </a:lnSpc>
              <a:spcBef>
                <a:spcPts val="9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наименование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передает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область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применения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процесса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как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целого;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цель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описывает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конечные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цели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выполнения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процесса;</a:t>
            </a:r>
            <a:endParaRPr sz="2400">
              <a:latin typeface="Segoe UI Light"/>
              <a:cs typeface="Segoe UI Light"/>
            </a:endParaRPr>
          </a:p>
          <a:p>
            <a:pPr marL="355600" marR="702310" indent="-34290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выходы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наблюдаемые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результаты,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ожидаемые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при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успешном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выполнении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процесса;</a:t>
            </a:r>
            <a:endParaRPr sz="2400">
              <a:latin typeface="Segoe UI Light"/>
              <a:cs typeface="Segoe UI Light"/>
            </a:endParaRPr>
          </a:p>
          <a:p>
            <a:pPr marL="355600" marR="490855" indent="-342900" algn="just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деятельность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перечень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действий, используемых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достижения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выходов;</a:t>
            </a:r>
            <a:endParaRPr sz="2400">
              <a:latin typeface="Segoe UI Light"/>
              <a:cs typeface="Segoe UI Light"/>
            </a:endParaRPr>
          </a:p>
          <a:p>
            <a:pPr marL="355600" marR="530860" indent="-342900" algn="just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задачи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требования,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рекомендации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или допустимые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действия, предназначенные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достижения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выходов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процесса.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AF4F"/>
          </a:solidFill>
        </p:spPr>
        <p:txBody>
          <a:bodyPr vert="horz" wrap="square" lIns="0" tIns="3429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70"/>
              </a:spcBef>
            </a:pP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Структура</a:t>
            </a:r>
            <a:r>
              <a:rPr sz="28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процессов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endParaRPr sz="2800">
              <a:latin typeface="Segoe UI Light"/>
              <a:cs typeface="Segoe UI Light"/>
            </a:endParaRPr>
          </a:p>
          <a:p>
            <a:pPr marL="89535">
              <a:lnSpc>
                <a:spcPct val="100000"/>
              </a:lnSpc>
              <a:spcBef>
                <a:spcPts val="15"/>
              </a:spcBef>
            </a:pP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ИСО/МЭК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12207-2010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9052" y="1698751"/>
            <a:ext cx="7655559" cy="5144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ts val="2875"/>
              </a:lnSpc>
              <a:spcBef>
                <a:spcPts val="100"/>
              </a:spcBef>
            </a:pP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7</a:t>
            </a:r>
            <a:r>
              <a:rPr sz="2400" spc="-1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00B04F"/>
                </a:solidFill>
                <a:latin typeface="Segoe UI Light"/>
                <a:cs typeface="Segoe UI Light"/>
              </a:rPr>
              <a:t>групп</a:t>
            </a:r>
            <a:r>
              <a:rPr sz="2400" spc="-3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процессов</a:t>
            </a:r>
            <a:r>
              <a:rPr sz="2400" spc="-3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ЖЦ:</a:t>
            </a:r>
            <a:endParaRPr sz="2400">
              <a:latin typeface="Segoe UI Light"/>
              <a:cs typeface="Segoe UI Light"/>
            </a:endParaRPr>
          </a:p>
          <a:p>
            <a:pPr marL="332105" indent="-320040">
              <a:lnSpc>
                <a:spcPts val="2875"/>
              </a:lnSpc>
              <a:buAutoNum type="alphaLcParenR"/>
              <a:tabLst>
                <a:tab pos="33274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соглашения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(2)</a:t>
            </a:r>
            <a:endParaRPr sz="2400">
              <a:latin typeface="Segoe UI Light"/>
              <a:cs typeface="Segoe UI Light"/>
            </a:endParaRPr>
          </a:p>
          <a:p>
            <a:pPr marL="353695" indent="-341630">
              <a:lnSpc>
                <a:spcPct val="100000"/>
              </a:lnSpc>
              <a:buAutoNum type="alphaLcParenR"/>
              <a:tabLst>
                <a:tab pos="35433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организационного</a:t>
            </a:r>
            <a:r>
              <a:rPr sz="24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обеспечения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проекта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(5)</a:t>
            </a:r>
            <a:endParaRPr sz="2400">
              <a:latin typeface="Segoe UI Light"/>
              <a:cs typeface="Segoe UI Light"/>
            </a:endParaRPr>
          </a:p>
          <a:p>
            <a:pPr marL="317500" indent="-304800">
              <a:lnSpc>
                <a:spcPct val="100000"/>
              </a:lnSpc>
              <a:buAutoNum type="alphaLcParenR"/>
              <a:tabLst>
                <a:tab pos="3175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проекта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(7)</a:t>
            </a:r>
            <a:endParaRPr sz="2400">
              <a:latin typeface="Segoe UI Light"/>
              <a:cs typeface="Segoe UI Light"/>
            </a:endParaRPr>
          </a:p>
          <a:p>
            <a:pPr marL="353695" indent="-341630">
              <a:lnSpc>
                <a:spcPct val="100000"/>
              </a:lnSpc>
              <a:buAutoNum type="alphaLcParenR"/>
              <a:tabLst>
                <a:tab pos="354330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технические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(11)</a:t>
            </a:r>
            <a:endParaRPr sz="2400">
              <a:latin typeface="Segoe UI Light"/>
              <a:cs typeface="Segoe UI Light"/>
            </a:endParaRPr>
          </a:p>
          <a:p>
            <a:pPr marL="335280" indent="-323215">
              <a:lnSpc>
                <a:spcPct val="100000"/>
              </a:lnSpc>
              <a:buAutoNum type="alphaLcParenR"/>
              <a:tabLst>
                <a:tab pos="33591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 реализации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ПС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(7)</a:t>
            </a:r>
            <a:endParaRPr sz="2400">
              <a:latin typeface="Segoe UI Light"/>
              <a:cs typeface="Segoe UI Light"/>
            </a:endParaRPr>
          </a:p>
          <a:p>
            <a:pPr marL="266700" indent="-254635">
              <a:lnSpc>
                <a:spcPct val="100000"/>
              </a:lnSpc>
              <a:buAutoNum type="alphaLcParenR"/>
              <a:tabLst>
                <a:tab pos="2673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поддержки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ПС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(8)</a:t>
            </a:r>
            <a:endParaRPr sz="2400">
              <a:latin typeface="Segoe UI Light"/>
              <a:cs typeface="Segoe UI Light"/>
            </a:endParaRPr>
          </a:p>
          <a:p>
            <a:pPr marL="353695" indent="-341630">
              <a:lnSpc>
                <a:spcPct val="100000"/>
              </a:lnSpc>
              <a:buAutoNum type="alphaLcParenR"/>
              <a:tabLst>
                <a:tab pos="35433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повторного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применения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ПС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(3)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a-d: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процессы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ЖЦ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систем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e-g: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 ЖЦ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программных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средств</a:t>
            </a:r>
            <a:endParaRPr sz="24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2880"/>
              </a:spcBef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устанавливает строгую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связь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между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системой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и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применяемыми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 ней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программными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средствами.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AF4F"/>
          </a:solidFill>
        </p:spPr>
        <p:txBody>
          <a:bodyPr vert="horz" wrap="square" lIns="0" tIns="3175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50"/>
              </a:spcBef>
            </a:pPr>
            <a:r>
              <a:rPr sz="3600" dirty="0"/>
              <a:t>7.</a:t>
            </a:r>
            <a:r>
              <a:rPr sz="3600" spc="-20" dirty="0"/>
              <a:t> Модели</a:t>
            </a:r>
            <a:r>
              <a:rPr sz="3600" spc="5" dirty="0"/>
              <a:t> </a:t>
            </a:r>
            <a:r>
              <a:rPr sz="3600" spc="-15" dirty="0"/>
              <a:t>жизненного</a:t>
            </a:r>
            <a:r>
              <a:rPr sz="3600" spc="40" dirty="0"/>
              <a:t> </a:t>
            </a:r>
            <a:r>
              <a:rPr sz="3600" spc="15" dirty="0"/>
              <a:t>цикла</a:t>
            </a:r>
            <a:endParaRPr sz="3600"/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9052" y="1698751"/>
            <a:ext cx="8035925" cy="4657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6921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B04F"/>
                </a:solidFill>
                <a:latin typeface="Segoe UI Light"/>
                <a:cs typeface="Segoe UI Light"/>
              </a:rPr>
              <a:t>Модель</a:t>
            </a:r>
            <a:r>
              <a:rPr sz="2400" spc="-30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ЖЦ -</a:t>
            </a:r>
            <a:r>
              <a:rPr sz="2400" spc="5" dirty="0">
                <a:solidFill>
                  <a:srgbClr val="00B04F"/>
                </a:solidFill>
                <a:latin typeface="Segoe UI Light"/>
                <a:cs typeface="Segoe UI Light"/>
              </a:rPr>
              <a:t> структура</a:t>
            </a:r>
            <a:r>
              <a:rPr sz="2400" spc="-30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процессов</a:t>
            </a:r>
            <a:r>
              <a:rPr sz="2400" spc="-30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и</a:t>
            </a:r>
            <a:r>
              <a:rPr sz="2400" spc="1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действий,</a:t>
            </a:r>
            <a:r>
              <a:rPr sz="2400" spc="-2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связанных</a:t>
            </a:r>
            <a:r>
              <a:rPr sz="2400" spc="-30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с </a:t>
            </a:r>
            <a:r>
              <a:rPr sz="2400" spc="-64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00B04F"/>
                </a:solidFill>
                <a:latin typeface="Segoe UI Light"/>
                <a:cs typeface="Segoe UI Light"/>
              </a:rPr>
              <a:t>жизненным</a:t>
            </a:r>
            <a:r>
              <a:rPr sz="2400" spc="-3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00B04F"/>
                </a:solidFill>
                <a:latin typeface="Segoe UI Light"/>
                <a:cs typeface="Segoe UI Light"/>
              </a:rPr>
              <a:t>циклом,</a:t>
            </a:r>
            <a:r>
              <a:rPr sz="2400" spc="-30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00B04F"/>
                </a:solidFill>
                <a:latin typeface="Segoe UI Light"/>
                <a:cs typeface="Segoe UI Light"/>
              </a:rPr>
              <a:t>организуемых</a:t>
            </a:r>
            <a:r>
              <a:rPr sz="2400" spc="-35" dirty="0">
                <a:solidFill>
                  <a:srgbClr val="00B04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в стадии.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Каскадная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модель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(Waterfall)</a:t>
            </a:r>
            <a:endParaRPr sz="2400">
              <a:latin typeface="Segoe UI Light"/>
              <a:cs typeface="Segoe UI Light"/>
            </a:endParaRPr>
          </a:p>
          <a:p>
            <a:pPr marL="354965" marR="125984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Каскадная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модель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промежуточным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контролем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(водоворот)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Эволюционная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модель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(итеративная,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инкрементальная)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Спиральная модели</a:t>
            </a:r>
            <a:endParaRPr sz="24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Arial MT"/>
              <a:buChar char="•"/>
            </a:pPr>
            <a:endParaRPr sz="2250">
              <a:latin typeface="Segoe UI Light"/>
              <a:cs typeface="Segoe UI Light"/>
            </a:endParaRPr>
          </a:p>
          <a:p>
            <a:pPr marL="304673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Ориентированы</a:t>
            </a:r>
            <a:r>
              <a:rPr sz="20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стандарты</a:t>
            </a:r>
            <a:r>
              <a:rPr sz="20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12207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Microsoft Sans Serif"/>
                <a:cs typeface="Microsoft Sans Serif"/>
              </a:rPr>
              <a:t>и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15288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Arial MT"/>
              <a:cs typeface="Arial MT"/>
            </a:endParaRPr>
          </a:p>
          <a:p>
            <a:pPr marL="354965" marR="337185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Гибкая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разработка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продуктов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(Agile),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регламентируется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манифестом</a:t>
            </a:r>
            <a:r>
              <a:rPr sz="2400" spc="10" dirty="0">
                <a:solidFill>
                  <a:srgbClr val="009999"/>
                </a:solidFill>
                <a:latin typeface="Segoe UI Light"/>
                <a:cs typeface="Segoe UI Light"/>
              </a:rPr>
              <a:t> </a:t>
            </a:r>
            <a:r>
              <a:rPr sz="2400" u="heavy" spc="-5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  <a:hlinkClick r:id="rId2"/>
              </a:rPr>
              <a:t>http://agilemanifesto.org/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67265" y="4692396"/>
            <a:ext cx="8300084" cy="387350"/>
          </a:xfrm>
          <a:custGeom>
            <a:avLst/>
            <a:gdLst/>
            <a:ahLst/>
            <a:cxnLst/>
            <a:rect l="l" t="t" r="r" b="b"/>
            <a:pathLst>
              <a:path w="8300084" h="387350">
                <a:moveTo>
                  <a:pt x="85344" y="178308"/>
                </a:moveTo>
                <a:lnTo>
                  <a:pt x="48768" y="144780"/>
                </a:lnTo>
                <a:lnTo>
                  <a:pt x="27432" y="105156"/>
                </a:lnTo>
                <a:lnTo>
                  <a:pt x="13716" y="56388"/>
                </a:lnTo>
                <a:lnTo>
                  <a:pt x="12192" y="38100"/>
                </a:lnTo>
                <a:lnTo>
                  <a:pt x="9144" y="19812"/>
                </a:lnTo>
                <a:lnTo>
                  <a:pt x="9144" y="0"/>
                </a:lnTo>
                <a:lnTo>
                  <a:pt x="0" y="1524"/>
                </a:lnTo>
                <a:lnTo>
                  <a:pt x="0" y="21336"/>
                </a:lnTo>
                <a:lnTo>
                  <a:pt x="9144" y="76200"/>
                </a:lnTo>
                <a:lnTo>
                  <a:pt x="25908" y="123444"/>
                </a:lnTo>
                <a:lnTo>
                  <a:pt x="33528" y="138684"/>
                </a:lnTo>
                <a:lnTo>
                  <a:pt x="41148" y="150876"/>
                </a:lnTo>
                <a:lnTo>
                  <a:pt x="59436" y="172212"/>
                </a:lnTo>
                <a:lnTo>
                  <a:pt x="70104" y="179832"/>
                </a:lnTo>
                <a:lnTo>
                  <a:pt x="79248" y="185928"/>
                </a:lnTo>
                <a:lnTo>
                  <a:pt x="79248" y="187452"/>
                </a:lnTo>
                <a:lnTo>
                  <a:pt x="80772" y="187452"/>
                </a:lnTo>
                <a:lnTo>
                  <a:pt x="83820" y="188758"/>
                </a:lnTo>
                <a:lnTo>
                  <a:pt x="83820" y="178308"/>
                </a:lnTo>
                <a:lnTo>
                  <a:pt x="85344" y="178308"/>
                </a:lnTo>
                <a:close/>
              </a:path>
              <a:path w="8300084" h="387350">
                <a:moveTo>
                  <a:pt x="105156" y="185928"/>
                </a:moveTo>
                <a:lnTo>
                  <a:pt x="94488" y="182880"/>
                </a:lnTo>
                <a:lnTo>
                  <a:pt x="83820" y="178308"/>
                </a:lnTo>
                <a:lnTo>
                  <a:pt x="83820" y="188758"/>
                </a:lnTo>
                <a:lnTo>
                  <a:pt x="91440" y="192024"/>
                </a:lnTo>
                <a:lnTo>
                  <a:pt x="102108" y="195072"/>
                </a:lnTo>
                <a:lnTo>
                  <a:pt x="103632" y="195072"/>
                </a:lnTo>
                <a:lnTo>
                  <a:pt x="103632" y="185928"/>
                </a:lnTo>
                <a:lnTo>
                  <a:pt x="105156" y="185928"/>
                </a:lnTo>
                <a:close/>
              </a:path>
              <a:path w="8300084" h="387350">
                <a:moveTo>
                  <a:pt x="4149849" y="324612"/>
                </a:moveTo>
                <a:lnTo>
                  <a:pt x="4128513" y="259080"/>
                </a:lnTo>
                <a:lnTo>
                  <a:pt x="4094985" y="210312"/>
                </a:lnTo>
                <a:lnTo>
                  <a:pt x="4050789" y="187452"/>
                </a:lnTo>
                <a:lnTo>
                  <a:pt x="4038597" y="185928"/>
                </a:lnTo>
                <a:lnTo>
                  <a:pt x="103632" y="185928"/>
                </a:lnTo>
                <a:lnTo>
                  <a:pt x="103632" y="195072"/>
                </a:lnTo>
                <a:lnTo>
                  <a:pt x="114300" y="196596"/>
                </a:lnTo>
                <a:lnTo>
                  <a:pt x="4049265" y="196596"/>
                </a:lnTo>
                <a:lnTo>
                  <a:pt x="4059933" y="199644"/>
                </a:lnTo>
                <a:lnTo>
                  <a:pt x="4096509" y="227076"/>
                </a:lnTo>
                <a:lnTo>
                  <a:pt x="4119369" y="262128"/>
                </a:lnTo>
                <a:lnTo>
                  <a:pt x="4136133" y="307848"/>
                </a:lnTo>
                <a:lnTo>
                  <a:pt x="4145277" y="382524"/>
                </a:lnTo>
                <a:lnTo>
                  <a:pt x="4145277" y="361188"/>
                </a:lnTo>
                <a:lnTo>
                  <a:pt x="4146801" y="342900"/>
                </a:lnTo>
                <a:lnTo>
                  <a:pt x="4149849" y="324612"/>
                </a:lnTo>
                <a:close/>
              </a:path>
              <a:path w="8300084" h="387350">
                <a:moveTo>
                  <a:pt x="4154421" y="381000"/>
                </a:moveTo>
                <a:lnTo>
                  <a:pt x="4149849" y="324612"/>
                </a:lnTo>
                <a:lnTo>
                  <a:pt x="4146801" y="342900"/>
                </a:lnTo>
                <a:lnTo>
                  <a:pt x="4145277" y="361188"/>
                </a:lnTo>
                <a:lnTo>
                  <a:pt x="4145277" y="381000"/>
                </a:lnTo>
                <a:lnTo>
                  <a:pt x="4154421" y="381000"/>
                </a:lnTo>
                <a:close/>
              </a:path>
              <a:path w="8300084" h="387350">
                <a:moveTo>
                  <a:pt x="4154421" y="384048"/>
                </a:moveTo>
                <a:lnTo>
                  <a:pt x="4154421" y="381000"/>
                </a:lnTo>
                <a:lnTo>
                  <a:pt x="4145277" y="381000"/>
                </a:lnTo>
                <a:lnTo>
                  <a:pt x="4145277" y="384048"/>
                </a:lnTo>
                <a:lnTo>
                  <a:pt x="4146801" y="387096"/>
                </a:lnTo>
                <a:lnTo>
                  <a:pt x="4151373" y="387096"/>
                </a:lnTo>
                <a:lnTo>
                  <a:pt x="4154421" y="384048"/>
                </a:lnTo>
                <a:close/>
              </a:path>
              <a:path w="8300084" h="387350">
                <a:moveTo>
                  <a:pt x="8205213" y="192459"/>
                </a:moveTo>
                <a:lnTo>
                  <a:pt x="8205213" y="182880"/>
                </a:lnTo>
                <a:lnTo>
                  <a:pt x="8194545" y="185928"/>
                </a:lnTo>
                <a:lnTo>
                  <a:pt x="4259577" y="185928"/>
                </a:lnTo>
                <a:lnTo>
                  <a:pt x="4248909" y="187452"/>
                </a:lnTo>
                <a:lnTo>
                  <a:pt x="4247385" y="187452"/>
                </a:lnTo>
                <a:lnTo>
                  <a:pt x="4236717" y="190500"/>
                </a:lnTo>
                <a:lnTo>
                  <a:pt x="4235193" y="190500"/>
                </a:lnTo>
                <a:lnTo>
                  <a:pt x="4224525" y="195072"/>
                </a:lnTo>
                <a:lnTo>
                  <a:pt x="4213857" y="202692"/>
                </a:lnTo>
                <a:lnTo>
                  <a:pt x="4204713" y="210312"/>
                </a:lnTo>
                <a:lnTo>
                  <a:pt x="4194045" y="220980"/>
                </a:lnTo>
                <a:lnTo>
                  <a:pt x="4186425" y="231648"/>
                </a:lnTo>
                <a:lnTo>
                  <a:pt x="4177281" y="243840"/>
                </a:lnTo>
                <a:lnTo>
                  <a:pt x="4171185" y="259080"/>
                </a:lnTo>
                <a:lnTo>
                  <a:pt x="4163565" y="272796"/>
                </a:lnTo>
                <a:lnTo>
                  <a:pt x="4158993" y="289560"/>
                </a:lnTo>
                <a:lnTo>
                  <a:pt x="4152897" y="306324"/>
                </a:lnTo>
                <a:lnTo>
                  <a:pt x="4149849" y="324612"/>
                </a:lnTo>
                <a:lnTo>
                  <a:pt x="4154421" y="381000"/>
                </a:lnTo>
                <a:lnTo>
                  <a:pt x="4154421" y="362712"/>
                </a:lnTo>
                <a:lnTo>
                  <a:pt x="4155945" y="344424"/>
                </a:lnTo>
                <a:lnTo>
                  <a:pt x="4166613" y="292608"/>
                </a:lnTo>
                <a:lnTo>
                  <a:pt x="4194045" y="237744"/>
                </a:lnTo>
                <a:lnTo>
                  <a:pt x="4229097" y="204216"/>
                </a:lnTo>
                <a:lnTo>
                  <a:pt x="4238241" y="200297"/>
                </a:lnTo>
                <a:lnTo>
                  <a:pt x="4238241" y="199644"/>
                </a:lnTo>
                <a:lnTo>
                  <a:pt x="4248909" y="196977"/>
                </a:lnTo>
                <a:lnTo>
                  <a:pt x="4248909" y="196596"/>
                </a:lnTo>
                <a:lnTo>
                  <a:pt x="8183877" y="196596"/>
                </a:lnTo>
                <a:lnTo>
                  <a:pt x="8196069" y="195072"/>
                </a:lnTo>
                <a:lnTo>
                  <a:pt x="8205213" y="192459"/>
                </a:lnTo>
                <a:close/>
              </a:path>
              <a:path w="8300084" h="387350">
                <a:moveTo>
                  <a:pt x="4239765" y="199644"/>
                </a:moveTo>
                <a:lnTo>
                  <a:pt x="4238241" y="199644"/>
                </a:lnTo>
                <a:lnTo>
                  <a:pt x="4238241" y="200297"/>
                </a:lnTo>
                <a:lnTo>
                  <a:pt x="4239765" y="199644"/>
                </a:lnTo>
                <a:close/>
              </a:path>
              <a:path w="8300084" h="387350">
                <a:moveTo>
                  <a:pt x="4250433" y="196596"/>
                </a:moveTo>
                <a:lnTo>
                  <a:pt x="4248909" y="196596"/>
                </a:lnTo>
                <a:lnTo>
                  <a:pt x="4248909" y="196977"/>
                </a:lnTo>
                <a:lnTo>
                  <a:pt x="4250433" y="196596"/>
                </a:lnTo>
                <a:close/>
              </a:path>
              <a:path w="8300084" h="387350">
                <a:moveTo>
                  <a:pt x="8299701" y="1524"/>
                </a:moveTo>
                <a:lnTo>
                  <a:pt x="8289033" y="0"/>
                </a:lnTo>
                <a:lnTo>
                  <a:pt x="8289033" y="19812"/>
                </a:lnTo>
                <a:lnTo>
                  <a:pt x="8287509" y="38100"/>
                </a:lnTo>
                <a:lnTo>
                  <a:pt x="8276841" y="89916"/>
                </a:lnTo>
                <a:lnTo>
                  <a:pt x="8249409" y="144780"/>
                </a:lnTo>
                <a:lnTo>
                  <a:pt x="8214357" y="178308"/>
                </a:lnTo>
                <a:lnTo>
                  <a:pt x="8203689" y="182880"/>
                </a:lnTo>
                <a:lnTo>
                  <a:pt x="8205213" y="182880"/>
                </a:lnTo>
                <a:lnTo>
                  <a:pt x="8205213" y="192459"/>
                </a:lnTo>
                <a:lnTo>
                  <a:pt x="8206737" y="192024"/>
                </a:lnTo>
                <a:lnTo>
                  <a:pt x="8208261" y="192024"/>
                </a:lnTo>
                <a:lnTo>
                  <a:pt x="8218929" y="187452"/>
                </a:lnTo>
                <a:lnTo>
                  <a:pt x="8218929" y="185928"/>
                </a:lnTo>
                <a:lnTo>
                  <a:pt x="8229597" y="179832"/>
                </a:lnTo>
                <a:lnTo>
                  <a:pt x="8258553" y="150876"/>
                </a:lnTo>
                <a:lnTo>
                  <a:pt x="8285985" y="92964"/>
                </a:lnTo>
                <a:lnTo>
                  <a:pt x="8296653" y="39624"/>
                </a:lnTo>
                <a:lnTo>
                  <a:pt x="8299701" y="15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71829" y="501395"/>
              <a:ext cx="8289290" cy="838200"/>
            </a:xfrm>
            <a:custGeom>
              <a:avLst/>
              <a:gdLst/>
              <a:ahLst/>
              <a:cxnLst/>
              <a:rect l="l" t="t" r="r" b="b"/>
              <a:pathLst>
                <a:path w="8289290" h="838200">
                  <a:moveTo>
                    <a:pt x="6477000" y="6096"/>
                  </a:moveTo>
                  <a:lnTo>
                    <a:pt x="0" y="6096"/>
                  </a:lnTo>
                  <a:lnTo>
                    <a:pt x="0" y="838200"/>
                  </a:lnTo>
                  <a:lnTo>
                    <a:pt x="6477000" y="838200"/>
                  </a:lnTo>
                  <a:lnTo>
                    <a:pt x="6477000" y="6096"/>
                  </a:lnTo>
                  <a:close/>
                </a:path>
                <a:path w="8289290" h="838200">
                  <a:moveTo>
                    <a:pt x="8289036" y="0"/>
                  </a:moveTo>
                  <a:lnTo>
                    <a:pt x="6533388" y="0"/>
                  </a:lnTo>
                  <a:lnTo>
                    <a:pt x="6533388" y="838200"/>
                  </a:lnTo>
                  <a:lnTo>
                    <a:pt x="8289036" y="838200"/>
                  </a:lnTo>
                  <a:lnTo>
                    <a:pt x="8289036" y="0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50576" y="529843"/>
            <a:ext cx="57740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Каскадная</a:t>
            </a:r>
            <a:r>
              <a:rPr sz="3200" spc="-20" dirty="0"/>
              <a:t> </a:t>
            </a:r>
            <a:r>
              <a:rPr sz="3200" dirty="0"/>
              <a:t>и</a:t>
            </a:r>
            <a:r>
              <a:rPr sz="3200" spc="-10" dirty="0"/>
              <a:t> спиральная</a:t>
            </a:r>
            <a:r>
              <a:rPr sz="3200" spc="-15" dirty="0"/>
              <a:t> модели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923423" y="649224"/>
            <a:ext cx="8883650" cy="6487795"/>
            <a:chOff x="923423" y="649224"/>
            <a:chExt cx="8883650" cy="6487795"/>
          </a:xfrm>
        </p:grpSpPr>
        <p:sp>
          <p:nvSpPr>
            <p:cNvPr id="7" name="object 7"/>
            <p:cNvSpPr/>
            <p:nvPr/>
          </p:nvSpPr>
          <p:spPr>
            <a:xfrm>
              <a:off x="8320913" y="649236"/>
              <a:ext cx="554990" cy="544195"/>
            </a:xfrm>
            <a:custGeom>
              <a:avLst/>
              <a:gdLst/>
              <a:ahLst/>
              <a:cxnLst/>
              <a:rect l="l" t="t" r="r" b="b"/>
              <a:pathLst>
                <a:path w="554990" h="544194">
                  <a:moveTo>
                    <a:pt x="554736" y="271272"/>
                  </a:moveTo>
                  <a:lnTo>
                    <a:pt x="240792" y="0"/>
                  </a:lnTo>
                  <a:lnTo>
                    <a:pt x="0" y="0"/>
                  </a:lnTo>
                  <a:lnTo>
                    <a:pt x="13716" y="11874"/>
                  </a:lnTo>
                  <a:lnTo>
                    <a:pt x="314121" y="272034"/>
                  </a:lnTo>
                  <a:lnTo>
                    <a:pt x="0" y="544068"/>
                  </a:lnTo>
                  <a:lnTo>
                    <a:pt x="13716" y="544068"/>
                  </a:lnTo>
                  <a:lnTo>
                    <a:pt x="236220" y="544068"/>
                  </a:lnTo>
                  <a:lnTo>
                    <a:pt x="239268" y="544068"/>
                  </a:lnTo>
                  <a:lnTo>
                    <a:pt x="240792" y="544068"/>
                  </a:lnTo>
                  <a:lnTo>
                    <a:pt x="544068" y="280530"/>
                  </a:lnTo>
                  <a:lnTo>
                    <a:pt x="554736" y="2712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3423" y="1562100"/>
              <a:ext cx="2723388" cy="26990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95222" y="1412748"/>
              <a:ext cx="5911596" cy="5724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AF4F"/>
          </a:solidFill>
        </p:spPr>
        <p:txBody>
          <a:bodyPr vert="horz" wrap="square" lIns="0" tIns="3175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50"/>
              </a:spcBef>
            </a:pPr>
            <a:r>
              <a:rPr sz="3600" dirty="0"/>
              <a:t>8.</a:t>
            </a:r>
            <a:r>
              <a:rPr sz="3600" spc="-30" dirty="0"/>
              <a:t> </a:t>
            </a:r>
            <a:r>
              <a:rPr sz="3600" spc="-15" dirty="0"/>
              <a:t>Платформы </a:t>
            </a:r>
            <a:r>
              <a:rPr sz="3600" spc="15" dirty="0"/>
              <a:t>класса</a:t>
            </a:r>
            <a:r>
              <a:rPr sz="3600" spc="-40" dirty="0"/>
              <a:t> </a:t>
            </a:r>
            <a:r>
              <a:rPr sz="3600" spc="-5" dirty="0"/>
              <a:t>ALM</a:t>
            </a:r>
            <a:endParaRPr sz="3600"/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9052" y="1697227"/>
            <a:ext cx="8282940" cy="3622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Тесное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взаимодействие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между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группами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(Development)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эксплуатации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(Operation),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автоматизация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процессов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развертывания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отслеживанием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их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связей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методика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00B04F"/>
                </a:solidFill>
                <a:latin typeface="Segoe UI Light"/>
                <a:cs typeface="Segoe UI Light"/>
              </a:rPr>
              <a:t>DevOps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.</a:t>
            </a:r>
            <a:endParaRPr sz="2400">
              <a:latin typeface="Segoe UI Light"/>
              <a:cs typeface="Segoe UI Light"/>
            </a:endParaRPr>
          </a:p>
          <a:p>
            <a:pPr marL="12700" marR="840740">
              <a:lnSpc>
                <a:spcPct val="100000"/>
              </a:lnSpc>
              <a:spcBef>
                <a:spcPts val="119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автоматизированного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управления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ЖЦ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приложения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предназначены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платформы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ALM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(Application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Lifecycle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Management).</a:t>
            </a:r>
            <a:endParaRPr sz="2400">
              <a:latin typeface="Segoe UI Light"/>
              <a:cs typeface="Segoe UI Light"/>
            </a:endParaRPr>
          </a:p>
          <a:p>
            <a:pPr marL="469900" marR="854075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Облачное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решение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Visual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Studio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95" dirty="0">
                <a:solidFill>
                  <a:srgbClr val="FFFFFF"/>
                </a:solidFill>
                <a:latin typeface="Segoe UI Light"/>
                <a:cs typeface="Segoe UI Light"/>
              </a:rPr>
              <a:t>Team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Services;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ALM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Software;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ServiceNow.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4073" y="348995"/>
            <a:ext cx="9144000" cy="6858000"/>
            <a:chOff x="774073" y="348995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774073" y="348995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3999" y="6857999"/>
                  </a:moveTo>
                  <a:lnTo>
                    <a:pt x="9143999" y="0"/>
                  </a:lnTo>
                  <a:lnTo>
                    <a:pt x="0" y="0"/>
                  </a:lnTo>
                  <a:lnTo>
                    <a:pt x="0" y="6857999"/>
                  </a:lnTo>
                  <a:lnTo>
                    <a:pt x="9143999" y="6857999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05222" y="501395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647" y="838199"/>
                  </a:moveTo>
                  <a:lnTo>
                    <a:pt x="1755647" y="0"/>
                  </a:lnTo>
                  <a:lnTo>
                    <a:pt x="0" y="0"/>
                  </a:lnTo>
                  <a:lnTo>
                    <a:pt x="0" y="838199"/>
                  </a:lnTo>
                  <a:lnTo>
                    <a:pt x="1755647" y="838199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1837" y="507491"/>
            <a:ext cx="6477000" cy="832485"/>
          </a:xfrm>
          <a:prstGeom prst="rect">
            <a:avLst/>
          </a:prstGeom>
          <a:solidFill>
            <a:srgbClr val="00AF4F"/>
          </a:solidFill>
        </p:spPr>
        <p:txBody>
          <a:bodyPr vert="horz" wrap="square" lIns="0" tIns="3175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250"/>
              </a:spcBef>
            </a:pPr>
            <a:r>
              <a:rPr sz="3600" spc="-5" dirty="0"/>
              <a:t>Функции </a:t>
            </a:r>
            <a:r>
              <a:rPr sz="3600" spc="-15" dirty="0"/>
              <a:t>платформ</a:t>
            </a:r>
            <a:r>
              <a:rPr sz="3600" spc="-25" dirty="0"/>
              <a:t> </a:t>
            </a:r>
            <a:r>
              <a:rPr sz="3600" spc="-5" dirty="0"/>
              <a:t>ALM</a:t>
            </a:r>
            <a:endParaRPr sz="3600"/>
          </a:p>
        </p:txBody>
      </p:sp>
      <p:sp>
        <p:nvSpPr>
          <p:cNvPr id="6" name="object 6"/>
          <p:cNvSpPr/>
          <p:nvPr/>
        </p:nvSpPr>
        <p:spPr>
          <a:xfrm>
            <a:off x="8320913" y="649236"/>
            <a:ext cx="554990" cy="544195"/>
          </a:xfrm>
          <a:custGeom>
            <a:avLst/>
            <a:gdLst/>
            <a:ahLst/>
            <a:cxnLst/>
            <a:rect l="l" t="t" r="r" b="b"/>
            <a:pathLst>
              <a:path w="554990" h="544194">
                <a:moveTo>
                  <a:pt x="554736" y="271272"/>
                </a:moveTo>
                <a:lnTo>
                  <a:pt x="240792" y="0"/>
                </a:lnTo>
                <a:lnTo>
                  <a:pt x="0" y="0"/>
                </a:lnTo>
                <a:lnTo>
                  <a:pt x="13716" y="11874"/>
                </a:lnTo>
                <a:lnTo>
                  <a:pt x="314121" y="272034"/>
                </a:lnTo>
                <a:lnTo>
                  <a:pt x="0" y="544068"/>
                </a:lnTo>
                <a:lnTo>
                  <a:pt x="13716" y="544068"/>
                </a:lnTo>
                <a:lnTo>
                  <a:pt x="236220" y="544068"/>
                </a:lnTo>
                <a:lnTo>
                  <a:pt x="239268" y="544068"/>
                </a:lnTo>
                <a:lnTo>
                  <a:pt x="240792" y="544068"/>
                </a:lnTo>
                <a:lnTo>
                  <a:pt x="544068" y="280530"/>
                </a:lnTo>
                <a:lnTo>
                  <a:pt x="554736" y="271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249052" y="1544827"/>
            <a:ext cx="7999730" cy="526796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планирование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отслеживание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работы;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проектирование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реализация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кода;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управление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репозиторием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исходного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кода;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выполнение 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сборок;</a:t>
            </a:r>
            <a:endParaRPr sz="2400">
              <a:latin typeface="Segoe UI Light"/>
              <a:cs typeface="Segoe UI Light"/>
            </a:endParaRPr>
          </a:p>
          <a:p>
            <a:pPr marL="354965" marR="214122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управление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непрерывной</a:t>
            </a:r>
            <a:r>
              <a:rPr sz="24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интеграцией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развертываниями;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тестирование;</a:t>
            </a:r>
            <a:endParaRPr sz="2400">
              <a:latin typeface="Segoe UI Light"/>
              <a:cs typeface="Segoe UI Light"/>
            </a:endParaRPr>
          </a:p>
          <a:p>
            <a:pPr marL="354965" marR="508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выполнение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диагностики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средах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рабочих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средах;</a:t>
            </a:r>
            <a:endParaRPr sz="2400">
              <a:latin typeface="Segoe UI Light"/>
              <a:cs typeface="Segoe UI Light"/>
            </a:endParaRPr>
          </a:p>
          <a:p>
            <a:pPr marL="354965" marR="2159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отслеживание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производительности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приложения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поведения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пользователей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режиме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реального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времени.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253" y="0"/>
            <a:ext cx="10076815" cy="7557770"/>
            <a:chOff x="309253" y="0"/>
            <a:chExt cx="10076815" cy="7557770"/>
          </a:xfrm>
        </p:grpSpPr>
        <p:sp>
          <p:nvSpPr>
            <p:cNvPr id="3" name="object 3"/>
            <p:cNvSpPr/>
            <p:nvPr/>
          </p:nvSpPr>
          <p:spPr>
            <a:xfrm>
              <a:off x="309253" y="0"/>
              <a:ext cx="10076815" cy="7557770"/>
            </a:xfrm>
            <a:custGeom>
              <a:avLst/>
              <a:gdLst/>
              <a:ahLst/>
              <a:cxnLst/>
              <a:rect l="l" t="t" r="r" b="b"/>
              <a:pathLst>
                <a:path w="10076815" h="7557770">
                  <a:moveTo>
                    <a:pt x="10076687" y="7557515"/>
                  </a:moveTo>
                  <a:lnTo>
                    <a:pt x="10076687" y="0"/>
                  </a:lnTo>
                  <a:lnTo>
                    <a:pt x="0" y="0"/>
                  </a:lnTo>
                  <a:lnTo>
                    <a:pt x="0" y="7557515"/>
                  </a:lnTo>
                  <a:lnTo>
                    <a:pt x="10076687" y="7557515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46641" y="1595627"/>
              <a:ext cx="9135110" cy="3947160"/>
            </a:xfrm>
            <a:custGeom>
              <a:avLst/>
              <a:gdLst/>
              <a:ahLst/>
              <a:cxnLst/>
              <a:rect l="l" t="t" r="r" b="b"/>
              <a:pathLst>
                <a:path w="9135110" h="3947160">
                  <a:moveTo>
                    <a:pt x="9134855" y="3947159"/>
                  </a:moveTo>
                  <a:lnTo>
                    <a:pt x="9134855" y="0"/>
                  </a:lnTo>
                  <a:lnTo>
                    <a:pt x="0" y="0"/>
                  </a:lnTo>
                  <a:lnTo>
                    <a:pt x="0" y="3947159"/>
                  </a:lnTo>
                  <a:lnTo>
                    <a:pt x="9134855" y="394715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70720" y="2147111"/>
            <a:ext cx="5885180" cy="2683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685">
              <a:lnSpc>
                <a:spcPct val="120300"/>
              </a:lnSpc>
              <a:spcBef>
                <a:spcPts val="90"/>
              </a:spcBef>
            </a:pPr>
            <a:r>
              <a:rPr sz="7250" spc="-10" dirty="0"/>
              <a:t>Сертификация </a:t>
            </a:r>
            <a:r>
              <a:rPr sz="7250" spc="-1975" dirty="0"/>
              <a:t> </a:t>
            </a:r>
            <a:r>
              <a:rPr sz="7250" spc="10" dirty="0"/>
              <a:t>ИТ</a:t>
            </a:r>
            <a:r>
              <a:rPr sz="7250" spc="5" dirty="0"/>
              <a:t>-пр</a:t>
            </a:r>
            <a:r>
              <a:rPr sz="7250" spc="-135" dirty="0"/>
              <a:t>о</a:t>
            </a:r>
            <a:r>
              <a:rPr sz="7250" spc="5" dirty="0"/>
              <a:t>д</a:t>
            </a:r>
            <a:r>
              <a:rPr sz="7250" spc="10" dirty="0"/>
              <a:t>укции</a:t>
            </a:r>
            <a:endParaRPr sz="725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253" y="0"/>
            <a:ext cx="10076815" cy="7557770"/>
            <a:chOff x="309253" y="0"/>
            <a:chExt cx="10076815" cy="7557770"/>
          </a:xfrm>
        </p:grpSpPr>
        <p:sp>
          <p:nvSpPr>
            <p:cNvPr id="3" name="object 3"/>
            <p:cNvSpPr/>
            <p:nvPr/>
          </p:nvSpPr>
          <p:spPr>
            <a:xfrm>
              <a:off x="309253" y="0"/>
              <a:ext cx="10076815" cy="7557770"/>
            </a:xfrm>
            <a:custGeom>
              <a:avLst/>
              <a:gdLst/>
              <a:ahLst/>
              <a:cxnLst/>
              <a:rect l="l" t="t" r="r" b="b"/>
              <a:pathLst>
                <a:path w="10076815" h="7557770">
                  <a:moveTo>
                    <a:pt x="10076687" y="7557515"/>
                  </a:moveTo>
                  <a:lnTo>
                    <a:pt x="10076687" y="0"/>
                  </a:lnTo>
                  <a:lnTo>
                    <a:pt x="0" y="0"/>
                  </a:lnTo>
                  <a:lnTo>
                    <a:pt x="0" y="7557515"/>
                  </a:lnTo>
                  <a:lnTo>
                    <a:pt x="10076687" y="7557515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47538" y="169163"/>
              <a:ext cx="1934210" cy="923925"/>
            </a:xfrm>
            <a:custGeom>
              <a:avLst/>
              <a:gdLst/>
              <a:ahLst/>
              <a:cxnLst/>
              <a:rect l="l" t="t" r="r" b="b"/>
              <a:pathLst>
                <a:path w="1934209" h="923925">
                  <a:moveTo>
                    <a:pt x="1933955" y="923543"/>
                  </a:moveTo>
                  <a:lnTo>
                    <a:pt x="1933955" y="0"/>
                  </a:lnTo>
                  <a:lnTo>
                    <a:pt x="0" y="0"/>
                  </a:lnTo>
                  <a:lnTo>
                    <a:pt x="0" y="923543"/>
                  </a:lnTo>
                  <a:lnTo>
                    <a:pt x="1933955" y="923543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6641" y="173735"/>
            <a:ext cx="7137400" cy="919480"/>
          </a:xfrm>
          <a:prstGeom prst="rect">
            <a:avLst/>
          </a:prstGeom>
          <a:solidFill>
            <a:srgbClr val="006FBF"/>
          </a:solidFill>
        </p:spPr>
        <p:txBody>
          <a:bodyPr vert="horz" wrap="square" lIns="0" tIns="39369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309"/>
              </a:spcBef>
            </a:pPr>
            <a:r>
              <a:rPr sz="3950" spc="-5" dirty="0"/>
              <a:t>Сертификация</a:t>
            </a:r>
            <a:r>
              <a:rPr sz="3950" spc="-30" dirty="0"/>
              <a:t> </a:t>
            </a:r>
            <a:r>
              <a:rPr sz="3950" spc="10" dirty="0"/>
              <a:t>в</a:t>
            </a:r>
            <a:r>
              <a:rPr sz="3950" dirty="0"/>
              <a:t> </a:t>
            </a:r>
            <a:r>
              <a:rPr sz="3950" spc="-170" dirty="0"/>
              <a:t>ИТ.</a:t>
            </a:r>
            <a:r>
              <a:rPr sz="3950" spc="-30" dirty="0"/>
              <a:t> </a:t>
            </a:r>
            <a:r>
              <a:rPr sz="3950" spc="5" dirty="0"/>
              <a:t>Термины</a:t>
            </a:r>
            <a:endParaRPr sz="3950" dirty="0"/>
          </a:p>
        </p:txBody>
      </p:sp>
      <p:sp>
        <p:nvSpPr>
          <p:cNvPr id="6" name="object 6"/>
          <p:cNvSpPr/>
          <p:nvPr/>
        </p:nvSpPr>
        <p:spPr>
          <a:xfrm>
            <a:off x="8625713" y="330720"/>
            <a:ext cx="609600" cy="599440"/>
          </a:xfrm>
          <a:custGeom>
            <a:avLst/>
            <a:gdLst/>
            <a:ahLst/>
            <a:cxnLst/>
            <a:rect l="l" t="t" r="r" b="b"/>
            <a:pathLst>
              <a:path w="609600" h="599440">
                <a:moveTo>
                  <a:pt x="609600" y="300228"/>
                </a:moveTo>
                <a:lnTo>
                  <a:pt x="263652" y="0"/>
                </a:lnTo>
                <a:lnTo>
                  <a:pt x="19024" y="0"/>
                </a:lnTo>
                <a:lnTo>
                  <a:pt x="19024" y="10693"/>
                </a:lnTo>
                <a:lnTo>
                  <a:pt x="13716" y="10668"/>
                </a:lnTo>
                <a:lnTo>
                  <a:pt x="19011" y="10668"/>
                </a:lnTo>
                <a:lnTo>
                  <a:pt x="19024" y="0"/>
                </a:lnTo>
                <a:lnTo>
                  <a:pt x="0" y="0"/>
                </a:lnTo>
                <a:lnTo>
                  <a:pt x="13716" y="11861"/>
                </a:lnTo>
                <a:lnTo>
                  <a:pt x="346113" y="299466"/>
                </a:lnTo>
                <a:lnTo>
                  <a:pt x="0" y="598932"/>
                </a:lnTo>
                <a:lnTo>
                  <a:pt x="13716" y="598932"/>
                </a:lnTo>
                <a:lnTo>
                  <a:pt x="259080" y="598932"/>
                </a:lnTo>
                <a:lnTo>
                  <a:pt x="262128" y="598932"/>
                </a:lnTo>
                <a:lnTo>
                  <a:pt x="263652" y="598932"/>
                </a:lnTo>
                <a:lnTo>
                  <a:pt x="598932" y="309435"/>
                </a:lnTo>
                <a:lnTo>
                  <a:pt x="609600" y="3002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86943" y="2160270"/>
            <a:ext cx="8243570" cy="53975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270">
              <a:lnSpc>
                <a:spcPct val="101600"/>
              </a:lnSpc>
              <a:spcBef>
                <a:spcPts val="75"/>
              </a:spcBef>
            </a:pPr>
            <a:r>
              <a:rPr sz="3050" spc="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Сертификация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-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форма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подтверждения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соответствия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объектов</a:t>
            </a:r>
            <a:r>
              <a:rPr sz="26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требованиям</a:t>
            </a:r>
            <a:r>
              <a:rPr sz="2600" spc="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технических</a:t>
            </a:r>
            <a:r>
              <a:rPr sz="26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регламентов,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 положениям</a:t>
            </a:r>
            <a:r>
              <a:rPr sz="2600" spc="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стандартов,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сводов</a:t>
            </a:r>
            <a:r>
              <a:rPr sz="26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правил</a:t>
            </a:r>
            <a:r>
              <a:rPr sz="26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r>
              <a:rPr sz="26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условиям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договоров,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осуществляемого</a:t>
            </a:r>
            <a:r>
              <a:rPr sz="26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органом</a:t>
            </a:r>
            <a:r>
              <a:rPr sz="26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сертификации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(184-ФЗ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«О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техническом</a:t>
            </a:r>
            <a:r>
              <a:rPr sz="26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регулировании»).</a:t>
            </a:r>
            <a:endParaRPr sz="2600" dirty="0">
              <a:latin typeface="Segoe UI Light"/>
              <a:cs typeface="Segoe UI Light"/>
            </a:endParaRPr>
          </a:p>
          <a:p>
            <a:pPr marL="12700" marR="285750" indent="1270">
              <a:lnSpc>
                <a:spcPct val="101699"/>
              </a:lnSpc>
              <a:spcBef>
                <a:spcPts val="1300"/>
              </a:spcBef>
            </a:pPr>
            <a:r>
              <a:rPr sz="3050" spc="5" dirty="0">
                <a:solidFill>
                  <a:srgbClr val="FFFFFF"/>
                </a:solidFill>
                <a:latin typeface="Segoe UI Light"/>
                <a:cs typeface="Segoe UI Light"/>
              </a:rPr>
              <a:t>Объекты</a:t>
            </a:r>
            <a:r>
              <a:rPr sz="305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3050" spc="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сертификации</a:t>
            </a:r>
            <a:r>
              <a:rPr sz="3050" spc="-1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программные</a:t>
            </a:r>
            <a:r>
              <a:rPr sz="26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продукты,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информационные</a:t>
            </a:r>
            <a:r>
              <a:rPr sz="2600" spc="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системы,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системы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</a:t>
            </a:r>
            <a:r>
              <a:rPr sz="26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IT-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предприятий.</a:t>
            </a:r>
            <a:endParaRPr sz="2600" dirty="0">
              <a:latin typeface="Segoe UI Light"/>
              <a:cs typeface="Segoe UI Light"/>
            </a:endParaRPr>
          </a:p>
          <a:p>
            <a:pPr marL="12700" marR="598170" indent="1270" algn="just">
              <a:lnSpc>
                <a:spcPct val="101499"/>
              </a:lnSpc>
              <a:spcBef>
                <a:spcPts val="1305"/>
              </a:spcBef>
            </a:pPr>
            <a:r>
              <a:rPr sz="3050" spc="5" dirty="0">
                <a:solidFill>
                  <a:srgbClr val="FFFFFF"/>
                </a:solidFill>
                <a:latin typeface="Segoe UI Light"/>
                <a:cs typeface="Segoe UI Light"/>
              </a:rPr>
              <a:t>Система</a:t>
            </a:r>
            <a:r>
              <a:rPr sz="305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305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</a:t>
            </a:r>
            <a:r>
              <a:rPr sz="305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3050" spc="20" dirty="0">
                <a:solidFill>
                  <a:srgbClr val="FFFFFF"/>
                </a:solidFill>
                <a:latin typeface="Segoe UI Light"/>
                <a:cs typeface="Segoe UI Light"/>
              </a:rPr>
              <a:t>предприятия</a:t>
            </a:r>
            <a:r>
              <a:rPr sz="3050" spc="-1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совокупность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организационной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структуры,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методик, процессов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ресурсов,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необходимых 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для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осуществления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общего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руководства</a:t>
            </a:r>
            <a:r>
              <a:rPr sz="2600" spc="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качеством.</a:t>
            </a:r>
            <a:endParaRPr sz="26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253" y="0"/>
            <a:ext cx="10076815" cy="7557770"/>
            <a:chOff x="309253" y="0"/>
            <a:chExt cx="10076815" cy="7557770"/>
          </a:xfrm>
        </p:grpSpPr>
        <p:sp>
          <p:nvSpPr>
            <p:cNvPr id="3" name="object 3"/>
            <p:cNvSpPr/>
            <p:nvPr/>
          </p:nvSpPr>
          <p:spPr>
            <a:xfrm>
              <a:off x="309253" y="0"/>
              <a:ext cx="10076815" cy="7557770"/>
            </a:xfrm>
            <a:custGeom>
              <a:avLst/>
              <a:gdLst/>
              <a:ahLst/>
              <a:cxnLst/>
              <a:rect l="l" t="t" r="r" b="b"/>
              <a:pathLst>
                <a:path w="10076815" h="7557770">
                  <a:moveTo>
                    <a:pt x="10076687" y="7557515"/>
                  </a:moveTo>
                  <a:lnTo>
                    <a:pt x="10076687" y="0"/>
                  </a:lnTo>
                  <a:lnTo>
                    <a:pt x="0" y="0"/>
                  </a:lnTo>
                  <a:lnTo>
                    <a:pt x="0" y="7557515"/>
                  </a:lnTo>
                  <a:lnTo>
                    <a:pt x="10076687" y="7557515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47538" y="169163"/>
              <a:ext cx="1934210" cy="923925"/>
            </a:xfrm>
            <a:custGeom>
              <a:avLst/>
              <a:gdLst/>
              <a:ahLst/>
              <a:cxnLst/>
              <a:rect l="l" t="t" r="r" b="b"/>
              <a:pathLst>
                <a:path w="1934209" h="923925">
                  <a:moveTo>
                    <a:pt x="1933955" y="923543"/>
                  </a:moveTo>
                  <a:lnTo>
                    <a:pt x="1933955" y="0"/>
                  </a:lnTo>
                  <a:lnTo>
                    <a:pt x="0" y="0"/>
                  </a:lnTo>
                  <a:lnTo>
                    <a:pt x="0" y="923543"/>
                  </a:lnTo>
                  <a:lnTo>
                    <a:pt x="1933955" y="923543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6641" y="173735"/>
            <a:ext cx="7137400" cy="919480"/>
          </a:xfrm>
          <a:prstGeom prst="rect">
            <a:avLst/>
          </a:prstGeom>
          <a:solidFill>
            <a:srgbClr val="006FBF"/>
          </a:solidFill>
        </p:spPr>
        <p:txBody>
          <a:bodyPr vert="horz" wrap="square" lIns="0" tIns="3302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60"/>
              </a:spcBef>
            </a:pPr>
            <a:r>
              <a:rPr sz="4850" spc="-5" dirty="0"/>
              <a:t>Цели</a:t>
            </a:r>
            <a:r>
              <a:rPr sz="4850" spc="-35" dirty="0"/>
              <a:t> </a:t>
            </a:r>
            <a:r>
              <a:rPr sz="4850" spc="-15" dirty="0"/>
              <a:t>сертификации</a:t>
            </a:r>
            <a:endParaRPr sz="4850"/>
          </a:p>
        </p:txBody>
      </p:sp>
      <p:sp>
        <p:nvSpPr>
          <p:cNvPr id="6" name="object 6"/>
          <p:cNvSpPr/>
          <p:nvPr/>
        </p:nvSpPr>
        <p:spPr>
          <a:xfrm>
            <a:off x="8625713" y="330720"/>
            <a:ext cx="609600" cy="599440"/>
          </a:xfrm>
          <a:custGeom>
            <a:avLst/>
            <a:gdLst/>
            <a:ahLst/>
            <a:cxnLst/>
            <a:rect l="l" t="t" r="r" b="b"/>
            <a:pathLst>
              <a:path w="609600" h="599440">
                <a:moveTo>
                  <a:pt x="609600" y="300228"/>
                </a:moveTo>
                <a:lnTo>
                  <a:pt x="263652" y="0"/>
                </a:lnTo>
                <a:lnTo>
                  <a:pt x="19024" y="0"/>
                </a:lnTo>
                <a:lnTo>
                  <a:pt x="19024" y="10693"/>
                </a:lnTo>
                <a:lnTo>
                  <a:pt x="13716" y="10668"/>
                </a:lnTo>
                <a:lnTo>
                  <a:pt x="19011" y="10668"/>
                </a:lnTo>
                <a:lnTo>
                  <a:pt x="19024" y="0"/>
                </a:lnTo>
                <a:lnTo>
                  <a:pt x="0" y="0"/>
                </a:lnTo>
                <a:lnTo>
                  <a:pt x="13716" y="11861"/>
                </a:lnTo>
                <a:lnTo>
                  <a:pt x="346113" y="299466"/>
                </a:lnTo>
                <a:lnTo>
                  <a:pt x="0" y="598932"/>
                </a:lnTo>
                <a:lnTo>
                  <a:pt x="13716" y="598932"/>
                </a:lnTo>
                <a:lnTo>
                  <a:pt x="259080" y="598932"/>
                </a:lnTo>
                <a:lnTo>
                  <a:pt x="262128" y="598932"/>
                </a:lnTo>
                <a:lnTo>
                  <a:pt x="263652" y="598932"/>
                </a:lnTo>
                <a:lnTo>
                  <a:pt x="598932" y="309435"/>
                </a:lnTo>
                <a:lnTo>
                  <a:pt x="609600" y="3002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4524" y="1470151"/>
            <a:ext cx="8646160" cy="39554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1270">
              <a:lnSpc>
                <a:spcPct val="101600"/>
              </a:lnSpc>
              <a:spcBef>
                <a:spcPts val="75"/>
              </a:spcBef>
            </a:pPr>
            <a:r>
              <a:rPr sz="3050" spc="20" dirty="0">
                <a:solidFill>
                  <a:srgbClr val="FFFFFF"/>
                </a:solidFill>
                <a:latin typeface="Segoe UI Light"/>
                <a:cs typeface="Segoe UI Light"/>
              </a:rPr>
              <a:t>Основная </a:t>
            </a:r>
            <a:r>
              <a:rPr sz="3050" spc="15" dirty="0">
                <a:solidFill>
                  <a:srgbClr val="FFFFFF"/>
                </a:solidFill>
                <a:latin typeface="Segoe UI Light"/>
                <a:cs typeface="Segoe UI Light"/>
              </a:rPr>
              <a:t>цель </a:t>
            </a:r>
            <a:r>
              <a:rPr sz="3050" spc="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сертификации 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ПО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систем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качества,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обеспечивающих</a:t>
            </a:r>
            <a:r>
              <a:rPr sz="2600" spc="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их</a:t>
            </a:r>
            <a:r>
              <a:rPr sz="26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жизненный</a:t>
            </a:r>
            <a:r>
              <a:rPr sz="26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30" dirty="0">
                <a:solidFill>
                  <a:srgbClr val="FFFFFF"/>
                </a:solidFill>
                <a:latin typeface="Segoe UI Light"/>
                <a:cs typeface="Segoe UI Light"/>
              </a:rPr>
              <a:t>цикл,</a:t>
            </a:r>
            <a:r>
              <a:rPr sz="26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защита</a:t>
            </a:r>
            <a:r>
              <a:rPr sz="26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интересов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потребителей</a:t>
            </a:r>
            <a:r>
              <a:rPr sz="26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26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основе</a:t>
            </a:r>
            <a:r>
              <a:rPr sz="26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контроля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продукции,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гарантирования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их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высоких</a:t>
            </a:r>
            <a:r>
              <a:rPr sz="26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потребительских</a:t>
            </a:r>
            <a:r>
              <a:rPr sz="2600" spc="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свойств.</a:t>
            </a:r>
            <a:endParaRPr sz="2600">
              <a:latin typeface="Segoe UI Light"/>
              <a:cs typeface="Segoe UI Light"/>
            </a:endParaRPr>
          </a:p>
          <a:p>
            <a:pPr marL="12700" marR="819150" indent="1270">
              <a:lnSpc>
                <a:spcPct val="101499"/>
              </a:lnSpc>
              <a:spcBef>
                <a:spcPts val="1305"/>
              </a:spcBef>
            </a:pPr>
            <a:r>
              <a:rPr sz="3050" spc="20" dirty="0">
                <a:solidFill>
                  <a:srgbClr val="FFFFFF"/>
                </a:solidFill>
                <a:latin typeface="Segoe UI Light"/>
                <a:cs typeface="Segoe UI Light"/>
              </a:rPr>
              <a:t>Формальная</a:t>
            </a:r>
            <a:r>
              <a:rPr sz="305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3050" spc="20" dirty="0">
                <a:solidFill>
                  <a:srgbClr val="FFFFFF"/>
                </a:solidFill>
                <a:latin typeface="Segoe UI Light"/>
                <a:cs typeface="Segoe UI Light"/>
              </a:rPr>
              <a:t>цель</a:t>
            </a:r>
            <a:r>
              <a:rPr sz="305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3050" spc="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сертификации</a:t>
            </a:r>
            <a:r>
              <a:rPr sz="3050" spc="-1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15" dirty="0">
                <a:solidFill>
                  <a:srgbClr val="FFFFFF"/>
                </a:solidFill>
                <a:latin typeface="Segoe UI Light"/>
                <a:cs typeface="Segoe UI Light"/>
              </a:rPr>
              <a:t>подготовка</a:t>
            </a:r>
            <a:r>
              <a:rPr sz="2600" spc="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600" spc="-6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принятие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решения</a:t>
            </a:r>
            <a:r>
              <a:rPr sz="26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о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целесообразности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выдачи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сертификата</a:t>
            </a:r>
            <a:r>
              <a:rPr sz="26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соответствия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(знака</a:t>
            </a:r>
            <a:r>
              <a:rPr sz="26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соответствия).</a:t>
            </a:r>
            <a:endParaRPr sz="2600">
              <a:latin typeface="Segoe UI Light"/>
              <a:cs typeface="Segoe UI Light"/>
            </a:endParaRPr>
          </a:p>
          <a:p>
            <a:pPr marL="13970">
              <a:lnSpc>
                <a:spcPct val="100000"/>
              </a:lnSpc>
              <a:spcBef>
                <a:spcPts val="2695"/>
              </a:spcBef>
            </a:pPr>
            <a:r>
              <a:rPr sz="3050" u="heavy" spc="20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Segoe UI Light"/>
                <a:cs typeface="Segoe UI Light"/>
              </a:rPr>
              <a:t>Другие</a:t>
            </a:r>
            <a:r>
              <a:rPr sz="3050" u="heavy" spc="-40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Segoe UI Light"/>
                <a:cs typeface="Segoe UI Light"/>
              </a:rPr>
              <a:t> </a:t>
            </a:r>
            <a:r>
              <a:rPr sz="3050" u="heavy" spc="20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Segoe UI Light"/>
                <a:cs typeface="Segoe UI Light"/>
              </a:rPr>
              <a:t>цели</a:t>
            </a:r>
            <a:r>
              <a:rPr sz="3050" u="heavy" spc="-50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Segoe UI Light"/>
                <a:cs typeface="Segoe UI Light"/>
              </a:rPr>
              <a:t> </a:t>
            </a:r>
            <a:r>
              <a:rPr sz="3050" u="heavy" spc="10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Segoe UI Light"/>
                <a:cs typeface="Segoe UI Light"/>
              </a:rPr>
              <a:t>сертификации</a:t>
            </a:r>
            <a:r>
              <a:rPr sz="3050" u="heavy" spc="-45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Segoe UI Light"/>
                <a:cs typeface="Segoe UI Light"/>
              </a:rPr>
              <a:t> </a:t>
            </a:r>
            <a:r>
              <a:rPr sz="3050" u="heavy" spc="20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Segoe UI Light"/>
                <a:cs typeface="Segoe UI Light"/>
              </a:rPr>
              <a:t>&gt;</a:t>
            </a:r>
            <a:endParaRPr sz="305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9253" y="0"/>
            <a:ext cx="10076815" cy="7557770"/>
            <a:chOff x="309253" y="0"/>
            <a:chExt cx="10076815" cy="7557770"/>
          </a:xfrm>
        </p:grpSpPr>
        <p:sp>
          <p:nvSpPr>
            <p:cNvPr id="3" name="object 3"/>
            <p:cNvSpPr/>
            <p:nvPr/>
          </p:nvSpPr>
          <p:spPr>
            <a:xfrm>
              <a:off x="309253" y="0"/>
              <a:ext cx="10076815" cy="7557770"/>
            </a:xfrm>
            <a:custGeom>
              <a:avLst/>
              <a:gdLst/>
              <a:ahLst/>
              <a:cxnLst/>
              <a:rect l="l" t="t" r="r" b="b"/>
              <a:pathLst>
                <a:path w="10076815" h="7557770">
                  <a:moveTo>
                    <a:pt x="10076687" y="7557515"/>
                  </a:moveTo>
                  <a:lnTo>
                    <a:pt x="10076687" y="0"/>
                  </a:lnTo>
                  <a:lnTo>
                    <a:pt x="0" y="0"/>
                  </a:lnTo>
                  <a:lnTo>
                    <a:pt x="0" y="7557515"/>
                  </a:lnTo>
                  <a:lnTo>
                    <a:pt x="10076687" y="7557515"/>
                  </a:lnTo>
                  <a:close/>
                </a:path>
              </a:pathLst>
            </a:custGeom>
            <a:solidFill>
              <a:srgbClr val="1515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947538" y="169163"/>
              <a:ext cx="1934210" cy="923925"/>
            </a:xfrm>
            <a:custGeom>
              <a:avLst/>
              <a:gdLst/>
              <a:ahLst/>
              <a:cxnLst/>
              <a:rect l="l" t="t" r="r" b="b"/>
              <a:pathLst>
                <a:path w="1934209" h="923925">
                  <a:moveTo>
                    <a:pt x="1933955" y="923543"/>
                  </a:moveTo>
                  <a:lnTo>
                    <a:pt x="1933955" y="0"/>
                  </a:lnTo>
                  <a:lnTo>
                    <a:pt x="0" y="0"/>
                  </a:lnTo>
                  <a:lnTo>
                    <a:pt x="0" y="923543"/>
                  </a:lnTo>
                  <a:lnTo>
                    <a:pt x="1933955" y="923543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46641" y="173735"/>
            <a:ext cx="7137400" cy="919480"/>
          </a:xfrm>
          <a:prstGeom prst="rect">
            <a:avLst/>
          </a:prstGeom>
          <a:solidFill>
            <a:srgbClr val="006FBF"/>
          </a:solidFill>
        </p:spPr>
        <p:txBody>
          <a:bodyPr vert="horz" wrap="square" lIns="0" tIns="33020" rIns="0" bIns="0" rtlCol="0">
            <a:spAutoFit/>
          </a:bodyPr>
          <a:lstStyle/>
          <a:p>
            <a:pPr marL="100330">
              <a:lnSpc>
                <a:spcPct val="100000"/>
              </a:lnSpc>
              <a:spcBef>
                <a:spcPts val="260"/>
              </a:spcBef>
            </a:pPr>
            <a:r>
              <a:rPr sz="4850" spc="-5" dirty="0"/>
              <a:t>Цели</a:t>
            </a:r>
            <a:r>
              <a:rPr sz="4850" spc="-35" dirty="0"/>
              <a:t> </a:t>
            </a:r>
            <a:r>
              <a:rPr sz="4850" spc="-15" dirty="0"/>
              <a:t>сертификации</a:t>
            </a:r>
            <a:endParaRPr sz="4850"/>
          </a:p>
        </p:txBody>
      </p:sp>
      <p:sp>
        <p:nvSpPr>
          <p:cNvPr id="6" name="object 6"/>
          <p:cNvSpPr/>
          <p:nvPr/>
        </p:nvSpPr>
        <p:spPr>
          <a:xfrm>
            <a:off x="8625713" y="330720"/>
            <a:ext cx="609600" cy="599440"/>
          </a:xfrm>
          <a:custGeom>
            <a:avLst/>
            <a:gdLst/>
            <a:ahLst/>
            <a:cxnLst/>
            <a:rect l="l" t="t" r="r" b="b"/>
            <a:pathLst>
              <a:path w="609600" h="599440">
                <a:moveTo>
                  <a:pt x="609600" y="300228"/>
                </a:moveTo>
                <a:lnTo>
                  <a:pt x="263652" y="0"/>
                </a:lnTo>
                <a:lnTo>
                  <a:pt x="19024" y="0"/>
                </a:lnTo>
                <a:lnTo>
                  <a:pt x="19024" y="10693"/>
                </a:lnTo>
                <a:lnTo>
                  <a:pt x="13716" y="10668"/>
                </a:lnTo>
                <a:lnTo>
                  <a:pt x="19011" y="10668"/>
                </a:lnTo>
                <a:lnTo>
                  <a:pt x="19024" y="0"/>
                </a:lnTo>
                <a:lnTo>
                  <a:pt x="0" y="0"/>
                </a:lnTo>
                <a:lnTo>
                  <a:pt x="13716" y="11861"/>
                </a:lnTo>
                <a:lnTo>
                  <a:pt x="346113" y="299466"/>
                </a:lnTo>
                <a:lnTo>
                  <a:pt x="0" y="598932"/>
                </a:lnTo>
                <a:lnTo>
                  <a:pt x="13716" y="598932"/>
                </a:lnTo>
                <a:lnTo>
                  <a:pt x="259080" y="598932"/>
                </a:lnTo>
                <a:lnTo>
                  <a:pt x="262128" y="598932"/>
                </a:lnTo>
                <a:lnTo>
                  <a:pt x="263652" y="598932"/>
                </a:lnTo>
                <a:lnTo>
                  <a:pt x="598932" y="309435"/>
                </a:lnTo>
                <a:lnTo>
                  <a:pt x="609600" y="3002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34524" y="1471675"/>
            <a:ext cx="8832215" cy="47091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16890" marR="1453515" indent="-504825">
              <a:lnSpc>
                <a:spcPct val="101499"/>
              </a:lnSpc>
              <a:spcBef>
                <a:spcPts val="90"/>
              </a:spcBef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определение</a:t>
            </a:r>
            <a:r>
              <a:rPr sz="26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соответствия</a:t>
            </a:r>
            <a:r>
              <a:rPr sz="2600" spc="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несоответствия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технологии</a:t>
            </a:r>
            <a:r>
              <a:rPr sz="26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6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элементов</a:t>
            </a:r>
            <a:r>
              <a:rPr sz="26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системы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установленным</a:t>
            </a:r>
            <a:r>
              <a:rPr sz="26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требованиям</a:t>
            </a:r>
            <a:r>
              <a:rPr sz="2600" spc="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стандартов;</a:t>
            </a:r>
            <a:endParaRPr sz="2600">
              <a:latin typeface="Segoe UI Light"/>
              <a:cs typeface="Segoe UI Light"/>
            </a:endParaRPr>
          </a:p>
          <a:p>
            <a:pPr marL="516890" marR="628015" indent="-504825">
              <a:lnSpc>
                <a:spcPct val="101699"/>
              </a:lnSpc>
              <a:spcBef>
                <a:spcPts val="670"/>
              </a:spcBef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определение</a:t>
            </a:r>
            <a:r>
              <a:rPr sz="2600" spc="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эффективности</a:t>
            </a:r>
            <a:r>
              <a:rPr sz="26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применяемой</a:t>
            </a:r>
            <a:r>
              <a:rPr sz="2600" spc="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системы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</a:t>
            </a:r>
            <a:r>
              <a:rPr sz="26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предприятия</a:t>
            </a:r>
            <a:r>
              <a:rPr sz="2600" spc="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с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точки</a:t>
            </a:r>
            <a:r>
              <a:rPr sz="26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зрения</a:t>
            </a:r>
            <a:r>
              <a:rPr sz="26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соответствия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поставленным</a:t>
            </a:r>
            <a:r>
              <a:rPr sz="2600" spc="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целям</a:t>
            </a:r>
            <a:r>
              <a:rPr sz="26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6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обеспечения</a:t>
            </a:r>
            <a:r>
              <a:rPr sz="26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продукции;</a:t>
            </a:r>
            <a:endParaRPr sz="2600">
              <a:latin typeface="Segoe UI Light"/>
              <a:cs typeface="Segoe UI Light"/>
            </a:endParaRPr>
          </a:p>
          <a:p>
            <a:pPr marL="516890" marR="5080" indent="-504825">
              <a:lnSpc>
                <a:spcPct val="101899"/>
              </a:lnSpc>
              <a:spcBef>
                <a:spcPts val="645"/>
              </a:spcBef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выявление</a:t>
            </a:r>
            <a:r>
              <a:rPr sz="26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слабых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мест в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технологии</a:t>
            </a:r>
            <a:r>
              <a:rPr sz="26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системе</a:t>
            </a:r>
            <a:r>
              <a:rPr sz="26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 </a:t>
            </a:r>
            <a:r>
              <a:rPr sz="2600" spc="-6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предприятия;</a:t>
            </a:r>
            <a:endParaRPr sz="2600">
              <a:latin typeface="Segoe UI Light"/>
              <a:cs typeface="Segoe UI Light"/>
            </a:endParaRPr>
          </a:p>
          <a:p>
            <a:pPr marL="516890" marR="608330" indent="-504825">
              <a:lnSpc>
                <a:spcPct val="101899"/>
              </a:lnSpc>
              <a:spcBef>
                <a:spcPts val="650"/>
              </a:spcBef>
              <a:buFont typeface="Arial MT"/>
              <a:buChar char="•"/>
              <a:tabLst>
                <a:tab pos="516890" algn="l"/>
                <a:tab pos="517525" algn="l"/>
              </a:tabLst>
            </a:pP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предотвращение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 сокращение</a:t>
            </a:r>
            <a:r>
              <a:rPr sz="26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штрафов</a:t>
            </a:r>
            <a:r>
              <a:rPr sz="26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за 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недостаточное</a:t>
            </a:r>
            <a:r>
              <a:rPr sz="2600" spc="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качество</a:t>
            </a:r>
            <a:r>
              <a:rPr sz="26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r>
              <a:rPr sz="26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5" dirty="0">
                <a:solidFill>
                  <a:srgbClr val="FFFFFF"/>
                </a:solidFill>
                <a:latin typeface="Segoe UI Light"/>
                <a:cs typeface="Segoe UI Light"/>
              </a:rPr>
              <a:t>дефектную</a:t>
            </a:r>
            <a:r>
              <a:rPr sz="2600" spc="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10" dirty="0">
                <a:solidFill>
                  <a:srgbClr val="FFFFFF"/>
                </a:solidFill>
                <a:latin typeface="Segoe UI Light"/>
                <a:cs typeface="Segoe UI Light"/>
              </a:rPr>
              <a:t>продукцию.</a:t>
            </a:r>
            <a:endParaRPr sz="26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4392612"/>
            <a:ext cx="7648575" cy="804066"/>
          </a:xfrm>
          <a:prstGeom prst="rect">
            <a:avLst/>
          </a:prstGeom>
          <a:solidFill>
            <a:srgbClr val="3B8B92"/>
          </a:solidFill>
          <a:ln w="9525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3000" dirty="0">
              <a:latin typeface="Times New Roman"/>
              <a:cs typeface="Times New Roman"/>
            </a:endParaRPr>
          </a:p>
          <a:p>
            <a:pPr marL="4561840">
              <a:lnSpc>
                <a:spcPct val="100000"/>
              </a:lnSpc>
              <a:spcBef>
                <a:spcPts val="5"/>
              </a:spcBef>
            </a:pPr>
            <a:r>
              <a:rPr sz="2200" spc="5" dirty="0" smtClean="0">
                <a:solidFill>
                  <a:srgbClr val="FFFFFF"/>
                </a:solidFill>
                <a:latin typeface="Segoe UI Light"/>
                <a:cs typeface="Segoe UI Light"/>
              </a:rPr>
              <a:t>.</a:t>
            </a:r>
            <a:endParaRPr sz="2200" dirty="0">
              <a:latin typeface="Segoe UI Light"/>
              <a:cs typeface="Segoe UI Light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174505"/>
              </p:ext>
            </p:extLst>
          </p:nvPr>
        </p:nvGraphicFramePr>
        <p:xfrm>
          <a:off x="762000" y="1335150"/>
          <a:ext cx="7648575" cy="30003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0124">
                <a:tc gridSpan="2">
                  <a:txBody>
                    <a:bodyPr/>
                    <a:lstStyle/>
                    <a:p>
                      <a:pPr marL="243840" marR="486409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44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Стандартизация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и </a:t>
                      </a:r>
                      <a:r>
                        <a:rPr sz="4400" spc="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лицензирование</a:t>
                      </a:r>
                      <a:r>
                        <a:rPr sz="4400" spc="-7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ПО</a:t>
                      </a:r>
                      <a:endParaRPr sz="4400">
                        <a:latin typeface="Segoe UI Light"/>
                        <a:cs typeface="Segoe UI Light"/>
                      </a:endParaRPr>
                    </a:p>
                  </a:txBody>
                  <a:tcPr marL="0" marR="0" marT="5461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B8B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0251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3200" dirty="0">
                        <a:latin typeface="Segoe UI Light"/>
                        <a:cs typeface="Segoe UI Light"/>
                      </a:endParaRPr>
                    </a:p>
                  </a:txBody>
                  <a:tcPr marL="0" marR="0" marT="61594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3189" marR="117919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4000" spc="-1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Стандарты </a:t>
                      </a:r>
                      <a:r>
                        <a:rPr sz="40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000" spc="-1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тестирования</a:t>
                      </a:r>
                      <a:r>
                        <a:rPr sz="4000" spc="-5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0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ПО</a:t>
                      </a:r>
                      <a:endParaRPr sz="4000" dirty="0">
                        <a:latin typeface="Segoe UI Light"/>
                        <a:cs typeface="Segoe UI Light"/>
                      </a:endParaRPr>
                    </a:p>
                  </a:txBody>
                  <a:tcPr marL="0" marR="0" marT="5905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6F2F9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239063" y="1787588"/>
            <a:ext cx="542925" cy="542925"/>
            <a:chOff x="7239063" y="1787588"/>
            <a:chExt cx="542925" cy="542925"/>
          </a:xfrm>
        </p:grpSpPr>
        <p:sp>
          <p:nvSpPr>
            <p:cNvPr id="5" name="object 5"/>
            <p:cNvSpPr/>
            <p:nvPr/>
          </p:nvSpPr>
          <p:spPr>
            <a:xfrm>
              <a:off x="7243826" y="179235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044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044" y="533400"/>
                  </a:lnTo>
                  <a:lnTo>
                    <a:pt x="533400" y="266700"/>
                  </a:lnTo>
                  <a:lnTo>
                    <a:pt x="225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43826" y="179235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044" y="0"/>
                  </a:lnTo>
                  <a:lnTo>
                    <a:pt x="533400" y="266700"/>
                  </a:lnTo>
                  <a:lnTo>
                    <a:pt x="225044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600" spc="-10" dirty="0"/>
              <a:t>Тестирование</a:t>
            </a:r>
            <a:r>
              <a:rPr sz="3600" spc="10" dirty="0"/>
              <a:t> </a:t>
            </a:r>
            <a:r>
              <a:rPr sz="3600" dirty="0"/>
              <a:t>–</a:t>
            </a:r>
            <a:r>
              <a:rPr sz="3600" spc="-15" dirty="0"/>
              <a:t> </a:t>
            </a:r>
            <a:r>
              <a:rPr sz="3600" spc="-70" dirty="0"/>
              <a:t>это</a:t>
            </a:r>
            <a:r>
              <a:rPr sz="3600" spc="-10" dirty="0"/>
              <a:t> </a:t>
            </a:r>
            <a:r>
              <a:rPr sz="3600" dirty="0"/>
              <a:t>…</a:t>
            </a:r>
            <a:endParaRPr sz="3600"/>
          </a:p>
        </p:txBody>
      </p:sp>
      <p:sp>
        <p:nvSpPr>
          <p:cNvPr id="7" name="object 7"/>
          <p:cNvSpPr txBox="1"/>
          <p:nvPr/>
        </p:nvSpPr>
        <p:spPr>
          <a:xfrm>
            <a:off x="475589" y="1244853"/>
            <a:ext cx="8132445" cy="453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Тестирование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является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основным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действием при анализе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рисков,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оценке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качества,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верификации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валидации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ПО.</a:t>
            </a:r>
            <a:endParaRPr sz="2400">
              <a:latin typeface="Segoe UI Light"/>
              <a:cs typeface="Segoe UI Light"/>
            </a:endParaRPr>
          </a:p>
          <a:p>
            <a:pPr marL="12700" marR="5080" algn="just">
              <a:lnSpc>
                <a:spcPct val="100000"/>
              </a:lnSpc>
              <a:spcBef>
                <a:spcPts val="24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Тестирование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–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набор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операций,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проводимых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для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возможности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выявления и/или оценки свойств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одного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или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более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элементов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тестирования.</a:t>
            </a:r>
            <a:endParaRPr sz="2400">
              <a:latin typeface="Segoe UI Light"/>
              <a:cs typeface="Segoe UI Light"/>
            </a:endParaRPr>
          </a:p>
          <a:p>
            <a:pPr marL="12700" algn="just">
              <a:lnSpc>
                <a:spcPct val="100000"/>
              </a:lnSpc>
              <a:spcBef>
                <a:spcPts val="240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Термины</a:t>
            </a:r>
            <a:r>
              <a:rPr sz="2400" spc="1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«Контроль</a:t>
            </a:r>
            <a:r>
              <a:rPr sz="2400" spc="13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качества»</a:t>
            </a:r>
            <a:r>
              <a:rPr sz="2400" spc="13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(Quality</a:t>
            </a:r>
            <a:r>
              <a:rPr sz="2400" spc="13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Control,</a:t>
            </a:r>
            <a:r>
              <a:rPr sz="2400" spc="13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QC)</a:t>
            </a:r>
            <a:r>
              <a:rPr sz="2400" spc="13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endParaRPr sz="2400">
              <a:latin typeface="Segoe UI Light"/>
              <a:cs typeface="Segoe UI Light"/>
            </a:endParaRPr>
          </a:p>
          <a:p>
            <a:pPr marL="12700" algn="just">
              <a:lnSpc>
                <a:spcPct val="100000"/>
              </a:lnSpc>
            </a:pPr>
            <a:r>
              <a:rPr sz="2400" strike="sngStrike" dirty="0">
                <a:solidFill>
                  <a:srgbClr val="FFFFFF"/>
                </a:solidFill>
                <a:latin typeface="Segoe UI Light"/>
                <a:cs typeface="Segoe UI Light"/>
              </a:rPr>
              <a:t>«Обеспечение </a:t>
            </a:r>
            <a:r>
              <a:rPr sz="2400" strike="sngStrike" spc="-5" dirty="0">
                <a:solidFill>
                  <a:srgbClr val="FFFFFF"/>
                </a:solidFill>
                <a:latin typeface="Segoe UI Light"/>
                <a:cs typeface="Segoe UI Light"/>
              </a:rPr>
              <a:t>качества»</a:t>
            </a:r>
            <a:r>
              <a:rPr sz="2400" strike="noStrike" spc="-5" dirty="0">
                <a:solidFill>
                  <a:srgbClr val="FFFFFF"/>
                </a:solidFill>
                <a:latin typeface="Segoe UI Light"/>
                <a:cs typeface="Segoe UI Light"/>
              </a:rPr>
              <a:t> (Quality</a:t>
            </a:r>
            <a:r>
              <a:rPr sz="2400" strike="noStrike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trike="noStrike" spc="-5" dirty="0">
                <a:solidFill>
                  <a:srgbClr val="FFFFFF"/>
                </a:solidFill>
                <a:latin typeface="Segoe UI Light"/>
                <a:cs typeface="Segoe UI Light"/>
              </a:rPr>
              <a:t>Assurance,</a:t>
            </a:r>
            <a:r>
              <a:rPr sz="2400" strike="noStrike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trike="noStrike" spc="-5" dirty="0">
                <a:solidFill>
                  <a:srgbClr val="FFFFFF"/>
                </a:solidFill>
                <a:latin typeface="Segoe UI Light"/>
                <a:cs typeface="Segoe UI Light"/>
              </a:rPr>
              <a:t>QA).</a:t>
            </a:r>
            <a:endParaRPr sz="2400">
              <a:latin typeface="Segoe UI Light"/>
              <a:cs typeface="Segoe UI Light"/>
            </a:endParaRPr>
          </a:p>
          <a:p>
            <a:pPr marL="12700" algn="just">
              <a:lnSpc>
                <a:spcPct val="100000"/>
              </a:lnSpc>
              <a:spcBef>
                <a:spcPts val="24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Верификация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Строим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мы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продукт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правильно?</a:t>
            </a:r>
            <a:endParaRPr sz="2400">
              <a:latin typeface="Segoe UI Light"/>
              <a:cs typeface="Segoe UI Light"/>
            </a:endParaRPr>
          </a:p>
          <a:p>
            <a:pPr marL="12700" algn="just">
              <a:lnSpc>
                <a:spcPct val="100000"/>
              </a:lnSpc>
              <a:spcBef>
                <a:spcPts val="24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Валидация -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Строим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мы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правильный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продукт?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3200" spc="-15" dirty="0"/>
              <a:t>Зачем</a:t>
            </a:r>
            <a:r>
              <a:rPr sz="3200" spc="-25" dirty="0"/>
              <a:t> </a:t>
            </a:r>
            <a:r>
              <a:rPr sz="3200" spc="-5" dirty="0"/>
              <a:t>проводить</a:t>
            </a:r>
            <a:r>
              <a:rPr sz="3200" spc="-20" dirty="0"/>
              <a:t> </a:t>
            </a:r>
            <a:r>
              <a:rPr sz="3200" spc="-5" dirty="0"/>
              <a:t>тестирование?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475589" y="1549654"/>
            <a:ext cx="7973059" cy="3836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84455" indent="-343535">
              <a:lnSpc>
                <a:spcPct val="100000"/>
              </a:lnSpc>
              <a:spcBef>
                <a:spcPts val="95"/>
              </a:spcBef>
              <a:buChar char="–"/>
              <a:tabLst>
                <a:tab pos="355600" algn="l"/>
                <a:tab pos="356235" algn="l"/>
              </a:tabLst>
            </a:pP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нужна</a:t>
            </a:r>
            <a:r>
              <a:rPr sz="25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информация</a:t>
            </a:r>
            <a:r>
              <a:rPr sz="25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о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показателях</a:t>
            </a:r>
            <a:r>
              <a:rPr sz="25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</a:t>
            </a:r>
            <a:r>
              <a:rPr sz="25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Segoe UI Light"/>
                <a:cs typeface="Segoe UI Light"/>
              </a:rPr>
              <a:t>элементов </a:t>
            </a:r>
            <a:r>
              <a:rPr sz="2500" spc="-6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тестирования;</a:t>
            </a:r>
            <a:endParaRPr sz="2500">
              <a:latin typeface="Segoe UI Light"/>
              <a:cs typeface="Segoe UI Light"/>
            </a:endParaRPr>
          </a:p>
          <a:p>
            <a:pPr marL="355600" marR="885190" indent="-343535">
              <a:lnSpc>
                <a:spcPct val="100000"/>
              </a:lnSpc>
              <a:buChar char="–"/>
              <a:tabLst>
                <a:tab pos="355600" algn="l"/>
                <a:tab pos="356235" algn="l"/>
              </a:tabLst>
            </a:pP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элементы</a:t>
            </a:r>
            <a:r>
              <a:rPr sz="25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</a:t>
            </a:r>
            <a:r>
              <a:rPr sz="25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не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Segoe UI Light"/>
                <a:cs typeface="Segoe UI Light"/>
              </a:rPr>
              <a:t>всегда</a:t>
            </a:r>
            <a:r>
              <a:rPr sz="25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Segoe UI Light"/>
                <a:cs typeface="Segoe UI Light"/>
              </a:rPr>
              <a:t>делают</a:t>
            </a:r>
            <a:r>
              <a:rPr sz="25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Segoe UI Light"/>
                <a:cs typeface="Segoe UI Light"/>
              </a:rPr>
              <a:t>то,</a:t>
            </a:r>
            <a:r>
              <a:rPr sz="25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30" dirty="0">
                <a:solidFill>
                  <a:srgbClr val="FFFFFF"/>
                </a:solidFill>
                <a:latin typeface="Segoe UI Light"/>
                <a:cs typeface="Segoe UI Light"/>
              </a:rPr>
              <a:t>что </a:t>
            </a:r>
            <a:r>
              <a:rPr sz="2500" spc="-6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Segoe UI Light"/>
                <a:cs typeface="Segoe UI Light"/>
              </a:rPr>
              <a:t>ожидается;</a:t>
            </a:r>
            <a:endParaRPr sz="25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buChar char="–"/>
              <a:tabLst>
                <a:tab pos="355600" algn="l"/>
                <a:tab pos="356235" algn="l"/>
              </a:tabLst>
            </a:pPr>
            <a:r>
              <a:rPr sz="2500" spc="-1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необходимо</a:t>
            </a:r>
            <a:r>
              <a:rPr sz="25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произвести</a:t>
            </a:r>
            <a:r>
              <a:rPr sz="25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верификацию;</a:t>
            </a:r>
            <a:endParaRPr sz="25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5"/>
              </a:spcBef>
              <a:buChar char="–"/>
              <a:tabLst>
                <a:tab pos="355600" algn="l"/>
                <a:tab pos="356235" algn="l"/>
              </a:tabLst>
            </a:pPr>
            <a:r>
              <a:rPr sz="2500" spc="-1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необходимо</a:t>
            </a:r>
            <a:r>
              <a:rPr sz="25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произвести</a:t>
            </a:r>
            <a:r>
              <a:rPr sz="25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валидацию;</a:t>
            </a:r>
            <a:endParaRPr sz="2500">
              <a:latin typeface="Segoe UI Light"/>
              <a:cs typeface="Segoe UI Light"/>
            </a:endParaRPr>
          </a:p>
          <a:p>
            <a:pPr marL="355600" marR="5080" indent="-343535">
              <a:lnSpc>
                <a:spcPct val="100000"/>
              </a:lnSpc>
              <a:buChar char="–"/>
              <a:tabLst>
                <a:tab pos="355600" algn="l"/>
                <a:tab pos="356235" algn="l"/>
              </a:tabLst>
            </a:pPr>
            <a:r>
              <a:rPr sz="2500" spc="-1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необходимо</a:t>
            </a:r>
            <a:r>
              <a:rPr sz="25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провести</a:t>
            </a:r>
            <a:r>
              <a:rPr sz="25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оценку</a:t>
            </a:r>
            <a:r>
              <a:rPr sz="25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Segoe UI Light"/>
                <a:cs typeface="Segoe UI Light"/>
              </a:rPr>
              <a:t>элементов</a:t>
            </a:r>
            <a:r>
              <a:rPr sz="25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 </a:t>
            </a:r>
            <a:r>
              <a:rPr sz="2500" spc="-6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всему</a:t>
            </a:r>
            <a:r>
              <a:rPr sz="25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ЖЦ;</a:t>
            </a:r>
            <a:endParaRPr sz="2500">
              <a:latin typeface="Segoe UI Light"/>
              <a:cs typeface="Segoe UI Light"/>
            </a:endParaRPr>
          </a:p>
          <a:p>
            <a:pPr marL="355600" marR="701675" indent="-343535">
              <a:lnSpc>
                <a:spcPct val="100000"/>
              </a:lnSpc>
              <a:buChar char="–"/>
              <a:tabLst>
                <a:tab pos="355600" algn="l"/>
                <a:tab pos="356235" algn="l"/>
              </a:tabLst>
            </a:pPr>
            <a:r>
              <a:rPr sz="2500" spc="-1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необходимо</a:t>
            </a:r>
            <a:r>
              <a:rPr sz="25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минимизировать</a:t>
            </a:r>
            <a:r>
              <a:rPr sz="25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Segoe UI Light"/>
                <a:cs typeface="Segoe UI Light"/>
              </a:rPr>
              <a:t>дефекты</a:t>
            </a:r>
            <a:r>
              <a:rPr sz="25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Segoe UI Light"/>
                <a:cs typeface="Segoe UI Light"/>
              </a:rPr>
              <a:t>элементов </a:t>
            </a:r>
            <a:r>
              <a:rPr sz="2500" spc="-6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тестирования.</a:t>
            </a:r>
            <a:endParaRPr sz="25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349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75"/>
              </a:spcBef>
            </a:pPr>
            <a:r>
              <a:rPr sz="3000" dirty="0"/>
              <a:t>Актуальные</a:t>
            </a:r>
            <a:r>
              <a:rPr sz="3000" spc="10" dirty="0"/>
              <a:t> </a:t>
            </a:r>
            <a:r>
              <a:rPr sz="3000" spc="-10" dirty="0"/>
              <a:t>стандарты</a:t>
            </a:r>
            <a:r>
              <a:rPr sz="3000" spc="10" dirty="0"/>
              <a:t> </a:t>
            </a:r>
            <a:r>
              <a:rPr sz="3000" spc="-10" dirty="0"/>
              <a:t>тестирования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636905" y="1295400"/>
            <a:ext cx="8049895" cy="5193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672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ISO/IEC 25051:2006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качества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готового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коммерческого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программного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продукта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(Commercial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Off-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The-Shelf,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Segoe UI Light"/>
                <a:cs typeface="Segoe UI Light"/>
              </a:rPr>
              <a:t>COTS)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инструкции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тестированию.</a:t>
            </a:r>
            <a:endParaRPr sz="2400" dirty="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56920-2016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Системная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программная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инженерия.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Тестирование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программного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обеспечения.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Часть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1.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Понятия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определения.</a:t>
            </a:r>
            <a:endParaRPr sz="2400" dirty="0">
              <a:latin typeface="Segoe UI Light"/>
              <a:cs typeface="Segoe UI Light"/>
            </a:endParaRPr>
          </a:p>
          <a:p>
            <a:pPr marL="12700" marR="163195">
              <a:lnSpc>
                <a:spcPct val="162600"/>
              </a:lnSpc>
            </a:pP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ГОСТ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56921-2016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…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Часть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2.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Процессы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тестирования.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ГОСТ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56922-2016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… Часть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3.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Документация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тестирования.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Серия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ISO/IEC/IEEE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29119-1-3:2013.</a:t>
            </a:r>
            <a:endParaRPr sz="2400" dirty="0">
              <a:latin typeface="Segoe UI Light"/>
              <a:cs typeface="Segoe UI Light"/>
            </a:endParaRPr>
          </a:p>
          <a:p>
            <a:pPr marL="12700" marR="87630">
              <a:lnSpc>
                <a:spcPct val="100000"/>
              </a:lnSpc>
              <a:spcBef>
                <a:spcPts val="1800"/>
              </a:spcBef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(ПНСТ)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Требования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 мобильным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приложениям,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включая 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методику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их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тестирования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рекомендации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разработчикам.</a:t>
            </a:r>
            <a:endParaRPr sz="2400" dirty="0">
              <a:latin typeface="Segoe UI Light"/>
              <a:cs typeface="Segoe UI Ligh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326" y="2590800"/>
            <a:ext cx="396875" cy="2819400"/>
          </a:xfrm>
          <a:custGeom>
            <a:avLst/>
            <a:gdLst/>
            <a:ahLst/>
            <a:cxnLst/>
            <a:rect l="l" t="t" r="r" b="b"/>
            <a:pathLst>
              <a:path w="396875" h="2819400">
                <a:moveTo>
                  <a:pt x="396873" y="2819400"/>
                </a:moveTo>
                <a:lnTo>
                  <a:pt x="344123" y="2814840"/>
                </a:lnTo>
                <a:lnTo>
                  <a:pt x="296721" y="2801972"/>
                </a:lnTo>
                <a:lnTo>
                  <a:pt x="256559" y="2782014"/>
                </a:lnTo>
                <a:lnTo>
                  <a:pt x="225530" y="2756182"/>
                </a:lnTo>
                <a:lnTo>
                  <a:pt x="198436" y="2691765"/>
                </a:lnTo>
                <a:lnTo>
                  <a:pt x="198436" y="1537335"/>
                </a:lnTo>
                <a:lnTo>
                  <a:pt x="191348" y="1503406"/>
                </a:lnTo>
                <a:lnTo>
                  <a:pt x="140318" y="1447085"/>
                </a:lnTo>
                <a:lnTo>
                  <a:pt x="100157" y="1427127"/>
                </a:lnTo>
                <a:lnTo>
                  <a:pt x="52754" y="1414259"/>
                </a:lnTo>
                <a:lnTo>
                  <a:pt x="0" y="1409700"/>
                </a:lnTo>
                <a:lnTo>
                  <a:pt x="52754" y="1405140"/>
                </a:lnTo>
                <a:lnTo>
                  <a:pt x="100157" y="1392272"/>
                </a:lnTo>
                <a:lnTo>
                  <a:pt x="140318" y="1372314"/>
                </a:lnTo>
                <a:lnTo>
                  <a:pt x="171345" y="1346482"/>
                </a:lnTo>
                <a:lnTo>
                  <a:pt x="198436" y="1282064"/>
                </a:lnTo>
                <a:lnTo>
                  <a:pt x="198436" y="127635"/>
                </a:lnTo>
                <a:lnTo>
                  <a:pt x="205525" y="93706"/>
                </a:lnTo>
                <a:lnTo>
                  <a:pt x="225530" y="63217"/>
                </a:lnTo>
                <a:lnTo>
                  <a:pt x="256559" y="37385"/>
                </a:lnTo>
                <a:lnTo>
                  <a:pt x="296721" y="17427"/>
                </a:lnTo>
                <a:lnTo>
                  <a:pt x="344123" y="4559"/>
                </a:lnTo>
                <a:lnTo>
                  <a:pt x="396873" y="0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61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31025" y="152400"/>
            <a:ext cx="1755775" cy="838200"/>
          </a:xfrm>
          <a:custGeom>
            <a:avLst/>
            <a:gdLst/>
            <a:ahLst/>
            <a:cxnLst/>
            <a:rect l="l" t="t" r="r" b="b"/>
            <a:pathLst>
              <a:path w="1755775" h="838200">
                <a:moveTo>
                  <a:pt x="1755775" y="0"/>
                </a:moveTo>
                <a:lnTo>
                  <a:pt x="0" y="0"/>
                </a:lnTo>
                <a:lnTo>
                  <a:pt x="0" y="838200"/>
                </a:lnTo>
                <a:lnTo>
                  <a:pt x="1755775" y="838200"/>
                </a:lnTo>
                <a:lnTo>
                  <a:pt x="175577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875" y="157162"/>
            <a:ext cx="6477000" cy="833755"/>
          </a:xfrm>
          <a:custGeom>
            <a:avLst/>
            <a:gdLst/>
            <a:ahLst/>
            <a:cxnLst/>
            <a:rect l="l" t="t" r="r" b="b"/>
            <a:pathLst>
              <a:path w="6477000" h="833755">
                <a:moveTo>
                  <a:pt x="6477000" y="0"/>
                </a:moveTo>
                <a:lnTo>
                  <a:pt x="0" y="0"/>
                </a:lnTo>
                <a:lnTo>
                  <a:pt x="0" y="833437"/>
                </a:lnTo>
                <a:lnTo>
                  <a:pt x="6477000" y="833437"/>
                </a:lnTo>
                <a:lnTo>
                  <a:pt x="6477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5589" y="178053"/>
            <a:ext cx="47993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Методики</a:t>
            </a:r>
            <a:r>
              <a:rPr sz="3600" spc="-50" dirty="0"/>
              <a:t> </a:t>
            </a:r>
            <a:r>
              <a:rPr sz="3600" spc="-10" dirty="0"/>
              <a:t>тестирования</a:t>
            </a:r>
            <a:endParaRPr sz="3600"/>
          </a:p>
        </p:txBody>
      </p:sp>
      <p:grpSp>
        <p:nvGrpSpPr>
          <p:cNvPr id="6" name="object 6"/>
          <p:cNvGrpSpPr/>
          <p:nvPr/>
        </p:nvGrpSpPr>
        <p:grpSpPr>
          <a:xfrm>
            <a:off x="7554912" y="300037"/>
            <a:ext cx="542925" cy="542925"/>
            <a:chOff x="7554912" y="300037"/>
            <a:chExt cx="542925" cy="542925"/>
          </a:xfrm>
        </p:grpSpPr>
        <p:sp>
          <p:nvSpPr>
            <p:cNvPr id="7" name="object 7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63701" y="1295400"/>
            <a:ext cx="7411720" cy="4147185"/>
            <a:chOff x="863701" y="1295400"/>
            <a:chExt cx="7411720" cy="414718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" y="1295400"/>
              <a:ext cx="7360920" cy="414718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701" y="2540101"/>
              <a:ext cx="812698" cy="8126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0" y="4495749"/>
              <a:ext cx="477456" cy="65016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61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31025" y="152400"/>
            <a:ext cx="1755775" cy="838200"/>
          </a:xfrm>
          <a:custGeom>
            <a:avLst/>
            <a:gdLst/>
            <a:ahLst/>
            <a:cxnLst/>
            <a:rect l="l" t="t" r="r" b="b"/>
            <a:pathLst>
              <a:path w="1755775" h="838200">
                <a:moveTo>
                  <a:pt x="1755775" y="0"/>
                </a:moveTo>
                <a:lnTo>
                  <a:pt x="0" y="0"/>
                </a:lnTo>
                <a:lnTo>
                  <a:pt x="0" y="838200"/>
                </a:lnTo>
                <a:lnTo>
                  <a:pt x="1755775" y="838200"/>
                </a:lnTo>
                <a:lnTo>
                  <a:pt x="175577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875" y="157162"/>
            <a:ext cx="6477000" cy="833755"/>
          </a:xfrm>
          <a:custGeom>
            <a:avLst/>
            <a:gdLst/>
            <a:ahLst/>
            <a:cxnLst/>
            <a:rect l="l" t="t" r="r" b="b"/>
            <a:pathLst>
              <a:path w="6477000" h="833755">
                <a:moveTo>
                  <a:pt x="6477000" y="0"/>
                </a:moveTo>
                <a:lnTo>
                  <a:pt x="0" y="0"/>
                </a:lnTo>
                <a:lnTo>
                  <a:pt x="0" y="833437"/>
                </a:lnTo>
                <a:lnTo>
                  <a:pt x="6477000" y="833437"/>
                </a:lnTo>
                <a:lnTo>
                  <a:pt x="6477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5589" y="178053"/>
            <a:ext cx="58191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Типы</a:t>
            </a:r>
            <a:r>
              <a:rPr sz="3600" spc="-20" dirty="0"/>
              <a:t> </a:t>
            </a:r>
            <a:r>
              <a:rPr sz="3600" dirty="0"/>
              <a:t>и</a:t>
            </a:r>
            <a:r>
              <a:rPr sz="3600" spc="-25" dirty="0"/>
              <a:t> </a:t>
            </a:r>
            <a:r>
              <a:rPr sz="3600" spc="-5" dirty="0"/>
              <a:t>уровни</a:t>
            </a:r>
            <a:r>
              <a:rPr sz="3600" dirty="0"/>
              <a:t> </a:t>
            </a:r>
            <a:r>
              <a:rPr sz="3600" spc="-10" dirty="0"/>
              <a:t>тестирования</a:t>
            </a:r>
            <a:endParaRPr sz="3600"/>
          </a:p>
        </p:txBody>
      </p:sp>
      <p:grpSp>
        <p:nvGrpSpPr>
          <p:cNvPr id="6" name="object 6"/>
          <p:cNvGrpSpPr/>
          <p:nvPr/>
        </p:nvGrpSpPr>
        <p:grpSpPr>
          <a:xfrm>
            <a:off x="7554912" y="300037"/>
            <a:ext cx="542925" cy="542925"/>
            <a:chOff x="7554912" y="300037"/>
            <a:chExt cx="542925" cy="542925"/>
          </a:xfrm>
        </p:grpSpPr>
        <p:sp>
          <p:nvSpPr>
            <p:cNvPr id="7" name="object 7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066806"/>
            <a:ext cx="8329041" cy="5769991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20" dirty="0"/>
              <a:t>Тестовое</a:t>
            </a:r>
            <a:r>
              <a:rPr sz="4000" spc="-5" dirty="0"/>
              <a:t> покрытие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475589" y="1168653"/>
            <a:ext cx="7741920" cy="4156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73494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Тестовое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покрытие	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(coverage)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степень,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выраженная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процентах,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которой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некоторые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атрибуты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или их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комбинации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были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проверены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контрольными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примерами.</a:t>
            </a:r>
            <a:endParaRPr sz="2400">
              <a:latin typeface="Segoe UI Light"/>
              <a:cs typeface="Segoe UI Light"/>
            </a:endParaRPr>
          </a:p>
          <a:p>
            <a:pPr marL="272415" indent="-260350">
              <a:lnSpc>
                <a:spcPct val="100000"/>
              </a:lnSpc>
              <a:spcBef>
                <a:spcPts val="1800"/>
              </a:spcBef>
              <a:buAutoNum type="arabicPeriod"/>
              <a:tabLst>
                <a:tab pos="27305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Покрытие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требований.</a:t>
            </a:r>
            <a:endParaRPr sz="2400">
              <a:latin typeface="Segoe UI Light"/>
              <a:cs typeface="Segoe UI Light"/>
            </a:endParaRPr>
          </a:p>
          <a:p>
            <a:pPr marL="321310" indent="-30924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32194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Покрытие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кода.</a:t>
            </a:r>
            <a:endParaRPr sz="2400">
              <a:latin typeface="Segoe UI Light"/>
              <a:cs typeface="Segoe UI Light"/>
            </a:endParaRPr>
          </a:p>
          <a:p>
            <a:pPr marL="320675" indent="-308610">
              <a:lnSpc>
                <a:spcPct val="100000"/>
              </a:lnSpc>
              <a:spcBef>
                <a:spcPts val="605"/>
              </a:spcBef>
              <a:buAutoNum type="arabicPeriod"/>
              <a:tabLst>
                <a:tab pos="321310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Покрытие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 базе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анализа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потока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управления.</a:t>
            </a:r>
            <a:endParaRPr sz="24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3200">
              <a:latin typeface="Segoe UI Light"/>
              <a:cs typeface="Segoe UI Light"/>
            </a:endParaRPr>
          </a:p>
          <a:p>
            <a:pPr marL="12700" marR="12065">
              <a:lnSpc>
                <a:spcPct val="100000"/>
              </a:lnSpc>
              <a:spcBef>
                <a:spcPts val="2220"/>
              </a:spcBef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Библиотеки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автоматизированной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проверки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покрытия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тестами: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coverage.py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(для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языка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Python).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58000" cy="9144000"/>
          </a:xfrm>
          <a:custGeom>
            <a:avLst/>
            <a:gdLst/>
            <a:ahLst/>
            <a:cxnLst/>
            <a:rect l="l" t="t" r="r" b="b"/>
            <a:pathLst>
              <a:path w="6858000" h="9144000">
                <a:moveTo>
                  <a:pt x="6858000" y="9144000"/>
                </a:moveTo>
                <a:lnTo>
                  <a:pt x="6858000" y="0"/>
                </a:lnTo>
                <a:lnTo>
                  <a:pt x="0" y="0"/>
                </a:lnTo>
                <a:lnTo>
                  <a:pt x="0" y="9144000"/>
                </a:lnTo>
                <a:lnTo>
                  <a:pt x="6858000" y="9144000"/>
                </a:lnTo>
                <a:close/>
              </a:path>
            </a:pathLst>
          </a:custGeom>
          <a:solidFill>
            <a:srgbClr val="161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590800" y="310362"/>
            <a:ext cx="4267200" cy="1290320"/>
          </a:xfrm>
          <a:custGeom>
            <a:avLst/>
            <a:gdLst/>
            <a:ahLst/>
            <a:cxnLst/>
            <a:rect l="l" t="t" r="r" b="b"/>
            <a:pathLst>
              <a:path w="4267200" h="1290320">
                <a:moveTo>
                  <a:pt x="4267200" y="1289811"/>
                </a:moveTo>
                <a:lnTo>
                  <a:pt x="4267200" y="0"/>
                </a:lnTo>
                <a:lnTo>
                  <a:pt x="0" y="0"/>
                </a:lnTo>
                <a:lnTo>
                  <a:pt x="0" y="1289812"/>
                </a:lnTo>
                <a:lnTo>
                  <a:pt x="4267200" y="1289811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68651" y="331114"/>
            <a:ext cx="28848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Докум</a:t>
            </a:r>
            <a:r>
              <a:rPr sz="3600" spc="-15" dirty="0"/>
              <a:t>е</a:t>
            </a:r>
            <a:r>
              <a:rPr sz="3600" dirty="0"/>
              <a:t>нта</a:t>
            </a:r>
            <a:r>
              <a:rPr sz="3600" spc="-15" dirty="0"/>
              <a:t>ц</a:t>
            </a:r>
            <a:r>
              <a:rPr sz="3600" dirty="0"/>
              <a:t>ия  </a:t>
            </a:r>
            <a:r>
              <a:rPr sz="3600" spc="-10" dirty="0"/>
              <a:t>тестирования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32" y="2057400"/>
            <a:ext cx="7937468" cy="686917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61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931025" y="152400"/>
            <a:ext cx="1755775" cy="838200"/>
          </a:xfrm>
          <a:custGeom>
            <a:avLst/>
            <a:gdLst/>
            <a:ahLst/>
            <a:cxnLst/>
            <a:rect l="l" t="t" r="r" b="b"/>
            <a:pathLst>
              <a:path w="1755775" h="838200">
                <a:moveTo>
                  <a:pt x="1755775" y="0"/>
                </a:moveTo>
                <a:lnTo>
                  <a:pt x="0" y="0"/>
                </a:lnTo>
                <a:lnTo>
                  <a:pt x="0" y="838200"/>
                </a:lnTo>
                <a:lnTo>
                  <a:pt x="1755775" y="838200"/>
                </a:lnTo>
                <a:lnTo>
                  <a:pt x="1755775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6875" y="157162"/>
            <a:ext cx="6477000" cy="833755"/>
          </a:xfrm>
          <a:custGeom>
            <a:avLst/>
            <a:gdLst/>
            <a:ahLst/>
            <a:cxnLst/>
            <a:rect l="l" t="t" r="r" b="b"/>
            <a:pathLst>
              <a:path w="6477000" h="833755">
                <a:moveTo>
                  <a:pt x="6477000" y="0"/>
                </a:moveTo>
                <a:lnTo>
                  <a:pt x="0" y="0"/>
                </a:lnTo>
                <a:lnTo>
                  <a:pt x="0" y="833437"/>
                </a:lnTo>
                <a:lnTo>
                  <a:pt x="6477000" y="833437"/>
                </a:lnTo>
                <a:lnTo>
                  <a:pt x="6477000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5589" y="181102"/>
            <a:ext cx="4345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Инструменты </a:t>
            </a:r>
            <a:r>
              <a:rPr sz="2700" spc="-15" dirty="0"/>
              <a:t>автоматизации </a:t>
            </a:r>
            <a:r>
              <a:rPr sz="2700" spc="-730" dirty="0"/>
              <a:t> </a:t>
            </a:r>
            <a:r>
              <a:rPr sz="2700" spc="-10" dirty="0"/>
              <a:t>тестирования</a:t>
            </a:r>
            <a:endParaRPr sz="2700"/>
          </a:p>
        </p:txBody>
      </p:sp>
      <p:grpSp>
        <p:nvGrpSpPr>
          <p:cNvPr id="6" name="object 6"/>
          <p:cNvGrpSpPr/>
          <p:nvPr/>
        </p:nvGrpSpPr>
        <p:grpSpPr>
          <a:xfrm>
            <a:off x="7554912" y="300037"/>
            <a:ext cx="542925" cy="542925"/>
            <a:chOff x="7554912" y="300037"/>
            <a:chExt cx="542925" cy="542925"/>
          </a:xfrm>
        </p:grpSpPr>
        <p:sp>
          <p:nvSpPr>
            <p:cNvPr id="7" name="object 7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1617" y="1142961"/>
            <a:ext cx="8248396" cy="549414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5589" y="1168653"/>
            <a:ext cx="8118475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652270">
              <a:lnSpc>
                <a:spcPct val="100000"/>
              </a:lnSpc>
              <a:spcBef>
                <a:spcPts val="100"/>
              </a:spcBef>
            </a:pP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TDD,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test-driven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development ,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разработка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через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(Кент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Бек)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Каждый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цикл</a:t>
            </a:r>
            <a:r>
              <a:rPr sz="2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разработки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=</a:t>
            </a:r>
            <a:endParaRPr sz="2400">
              <a:latin typeface="Segoe UI Light"/>
              <a:cs typeface="Segoe UI Light"/>
            </a:endParaRPr>
          </a:p>
          <a:p>
            <a:pPr marL="469900" marR="5080" indent="-457834">
              <a:lnSpc>
                <a:spcPct val="100000"/>
              </a:lnSpc>
              <a:spcBef>
                <a:spcPts val="1800"/>
              </a:spcBef>
              <a:buAutoNum type="arabicParenR"/>
              <a:tabLst>
                <a:tab pos="469900" algn="l"/>
                <a:tab pos="470534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пишется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автоматический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тест,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который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проверяет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корректность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работы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еще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не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написанного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программного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кода;</a:t>
            </a:r>
            <a:endParaRPr sz="2400">
              <a:latin typeface="Segoe UI Light"/>
              <a:cs typeface="Segoe UI Light"/>
            </a:endParaRPr>
          </a:p>
          <a:p>
            <a:pPr marL="469900" marR="1311275" indent="-457834">
              <a:lnSpc>
                <a:spcPct val="100000"/>
              </a:lnSpc>
              <a:spcBef>
                <a:spcPts val="1805"/>
              </a:spcBef>
              <a:buAutoNum type="arabicParenR"/>
              <a:tabLst>
                <a:tab pos="469900" algn="l"/>
                <a:tab pos="470534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пишется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программный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код,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который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выполняет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действия,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требуемые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прохождения</a:t>
            </a:r>
            <a:r>
              <a:rPr sz="2400" spc="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теста;</a:t>
            </a:r>
            <a:endParaRPr sz="2400">
              <a:latin typeface="Segoe UI Light"/>
              <a:cs typeface="Segoe UI Light"/>
            </a:endParaRPr>
          </a:p>
          <a:p>
            <a:pPr marL="469900" indent="-457834">
              <a:lnSpc>
                <a:spcPct val="100000"/>
              </a:lnSpc>
              <a:spcBef>
                <a:spcPts val="1800"/>
              </a:spcBef>
              <a:buAutoNum type="arabicParenR"/>
              <a:tabLst>
                <a:tab pos="469900" algn="l"/>
                <a:tab pos="470534" algn="l"/>
              </a:tabLst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производится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рефакторинг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кода.</a:t>
            </a:r>
            <a:endParaRPr sz="2400">
              <a:latin typeface="Segoe UI Light"/>
              <a:cs typeface="Segoe U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4" name="object 4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600" spc="-20" dirty="0"/>
              <a:t>Стандарт </a:t>
            </a:r>
            <a:r>
              <a:rPr sz="3600" spc="-25" dirty="0"/>
              <a:t>де-факто:</a:t>
            </a:r>
            <a:r>
              <a:rPr sz="3600" spc="-20" dirty="0"/>
              <a:t> </a:t>
            </a:r>
            <a:r>
              <a:rPr sz="3600" spc="-5" dirty="0"/>
              <a:t>TDD</a:t>
            </a:r>
            <a:endParaRPr sz="36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1660" y="1828800"/>
            <a:ext cx="8105140" cy="55149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85"/>
              </a:spcBef>
            </a:pPr>
            <a:r>
              <a:rPr sz="2800" spc="-35" dirty="0">
                <a:solidFill>
                  <a:srgbClr val="FFFFFF"/>
                </a:solidFill>
                <a:latin typeface="Segoe UI Light"/>
                <a:cs typeface="Segoe UI Light"/>
              </a:rPr>
              <a:t>ISTQB</a:t>
            </a:r>
            <a:r>
              <a:rPr sz="2800" spc="-1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(International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Software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Segoe UI Light"/>
                <a:cs typeface="Segoe UI Light"/>
              </a:rPr>
              <a:t>Testing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Qualifications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Board)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международная,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независимая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некоммерческая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организация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сертификации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тестировщиков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Segoe UI Light"/>
                <a:cs typeface="Segoe UI Light"/>
              </a:rPr>
              <a:t>ПО.</a:t>
            </a:r>
            <a:endParaRPr sz="2400" dirty="0">
              <a:latin typeface="Segoe UI Light"/>
              <a:cs typeface="Segoe UI Light"/>
            </a:endParaRPr>
          </a:p>
          <a:p>
            <a:pPr marL="12700" marR="80645">
              <a:lnSpc>
                <a:spcPct val="100200"/>
              </a:lnSpc>
              <a:spcBef>
                <a:spcPts val="1775"/>
              </a:spcBef>
            </a:pPr>
            <a:r>
              <a:rPr sz="2800" spc="-40" dirty="0">
                <a:solidFill>
                  <a:srgbClr val="FFFFFF"/>
                </a:solidFill>
                <a:latin typeface="Segoe UI Light"/>
                <a:cs typeface="Segoe UI Light"/>
              </a:rPr>
              <a:t>RSTQB</a:t>
            </a:r>
            <a:r>
              <a:rPr sz="2800" spc="-1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(Russian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Software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Segoe UI Light"/>
                <a:cs typeface="Segoe UI Light"/>
              </a:rPr>
              <a:t>Testing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Qualifications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Board)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является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частью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ISTQB,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разрабатывает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программу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обучения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экзаменационные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вопросы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системы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сертификации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специалистов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тестированию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России.</a:t>
            </a:r>
            <a:endParaRPr sz="2400" dirty="0">
              <a:latin typeface="Segoe UI Light"/>
              <a:cs typeface="Segoe UI Light"/>
            </a:endParaRPr>
          </a:p>
          <a:p>
            <a:pPr marL="469900" marR="1329055">
              <a:lnSpc>
                <a:spcPct val="100000"/>
              </a:lnSpc>
              <a:spcBef>
                <a:spcPts val="1800"/>
              </a:spcBef>
            </a:pP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ISTQB®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Certified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Segoe UI Light"/>
                <a:cs typeface="Segoe UI Light"/>
              </a:rPr>
              <a:t>Tester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(базовый,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продвинутый,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экспертный);</a:t>
            </a:r>
            <a:endParaRPr sz="2400" dirty="0">
              <a:latin typeface="Segoe UI Light"/>
              <a:cs typeface="Segoe UI Light"/>
            </a:endParaRPr>
          </a:p>
          <a:p>
            <a:pPr marL="469900" marR="174625">
              <a:lnSpc>
                <a:spcPct val="100000"/>
              </a:lnSpc>
              <a:spcBef>
                <a:spcPts val="60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IREB®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Certified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Professional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Requirements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Engineering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(базовый,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продвинутый);</a:t>
            </a:r>
            <a:endParaRPr sz="2400" dirty="0">
              <a:latin typeface="Segoe UI Light"/>
              <a:cs typeface="Segoe UI Light"/>
            </a:endParaRPr>
          </a:p>
          <a:p>
            <a:pPr marL="469900" marR="13335">
              <a:lnSpc>
                <a:spcPct val="100000"/>
              </a:lnSpc>
              <a:spcBef>
                <a:spcPts val="6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REQB®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Certified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Professional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Requirements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Engineering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(базовый,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продвинутый).</a:t>
            </a:r>
            <a:endParaRPr sz="2400" dirty="0">
              <a:latin typeface="Segoe UI Light"/>
              <a:cs typeface="Segoe U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4" name="object 4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6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5"/>
              </a:spcBef>
            </a:pPr>
            <a:r>
              <a:rPr sz="3600" spc="-15" dirty="0"/>
              <a:t>Сертификация</a:t>
            </a:r>
            <a:r>
              <a:rPr sz="3600" spc="-5" dirty="0"/>
              <a:t> </a:t>
            </a:r>
            <a:r>
              <a:rPr sz="3600" spc="-20" dirty="0"/>
              <a:t>тестировщиков</a:t>
            </a:r>
            <a:endParaRPr sz="3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6164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42998"/>
            <a:ext cx="9133459" cy="571499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931025" y="152400"/>
            <a:ext cx="1755775" cy="838200"/>
          </a:xfrm>
          <a:custGeom>
            <a:avLst/>
            <a:gdLst/>
            <a:ahLst/>
            <a:cxnLst/>
            <a:rect l="l" t="t" r="r" b="b"/>
            <a:pathLst>
              <a:path w="1755775" h="838200">
                <a:moveTo>
                  <a:pt x="1755775" y="0"/>
                </a:moveTo>
                <a:lnTo>
                  <a:pt x="0" y="0"/>
                </a:lnTo>
                <a:lnTo>
                  <a:pt x="0" y="838200"/>
                </a:lnTo>
                <a:lnTo>
                  <a:pt x="1755775" y="838200"/>
                </a:lnTo>
                <a:lnTo>
                  <a:pt x="1755775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6875" y="157162"/>
            <a:ext cx="6477000" cy="833755"/>
          </a:xfrm>
          <a:custGeom>
            <a:avLst/>
            <a:gdLst/>
            <a:ahLst/>
            <a:cxnLst/>
            <a:rect l="l" t="t" r="r" b="b"/>
            <a:pathLst>
              <a:path w="6477000" h="833755">
                <a:moveTo>
                  <a:pt x="6477000" y="0"/>
                </a:moveTo>
                <a:lnTo>
                  <a:pt x="0" y="0"/>
                </a:lnTo>
                <a:lnTo>
                  <a:pt x="0" y="833437"/>
                </a:lnTo>
                <a:lnTo>
                  <a:pt x="6477000" y="833437"/>
                </a:lnTo>
                <a:lnTo>
                  <a:pt x="6477000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5589" y="178053"/>
            <a:ext cx="6038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5" dirty="0"/>
              <a:t>Сертификация</a:t>
            </a:r>
            <a:r>
              <a:rPr sz="3600" spc="-20" dirty="0"/>
              <a:t> тестировщиков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7554912" y="300037"/>
            <a:ext cx="542925" cy="542925"/>
            <a:chOff x="7554912" y="300037"/>
            <a:chExt cx="542925" cy="542925"/>
          </a:xfrm>
        </p:grpSpPr>
        <p:sp>
          <p:nvSpPr>
            <p:cNvPr id="8" name="object 8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0" y="4392612"/>
            <a:ext cx="7648575" cy="465512"/>
          </a:xfrm>
          <a:prstGeom prst="rect">
            <a:avLst/>
          </a:prstGeom>
          <a:solidFill>
            <a:srgbClr val="3B8B92"/>
          </a:solidFill>
          <a:ln w="9525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30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633570"/>
              </p:ext>
            </p:extLst>
          </p:nvPr>
        </p:nvGraphicFramePr>
        <p:xfrm>
          <a:off x="762000" y="1335150"/>
          <a:ext cx="7648575" cy="30120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9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00124">
                <a:tc gridSpan="2"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44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Стандартизация</a:t>
                      </a:r>
                      <a:r>
                        <a:rPr sz="4400" spc="-2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и</a:t>
                      </a:r>
                      <a:endParaRPr sz="4400">
                        <a:latin typeface="Segoe UI Light"/>
                        <a:cs typeface="Segoe UI Light"/>
                      </a:endParaRPr>
                    </a:p>
                    <a:p>
                      <a:pPr marL="243840">
                        <a:lnSpc>
                          <a:spcPct val="100000"/>
                        </a:lnSpc>
                      </a:pP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лицензирование</a:t>
                      </a:r>
                      <a:r>
                        <a:rPr sz="4400" spc="-3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44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ПО</a:t>
                      </a:r>
                      <a:endParaRPr sz="4400">
                        <a:latin typeface="Segoe UI Light"/>
                        <a:cs typeface="Segoe UI Light"/>
                      </a:endParaRPr>
                    </a:p>
                  </a:txBody>
                  <a:tcPr marL="0" marR="0" marT="54610" marB="0"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B8B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006F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0251"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3200" dirty="0">
                        <a:latin typeface="Segoe UI Light"/>
                        <a:cs typeface="Segoe UI Light"/>
                      </a:endParaRPr>
                    </a:p>
                  </a:txBody>
                  <a:tcPr marL="0" marR="0" marT="61594" marB="0"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006F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3189" marR="12509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32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Лицензирование ПО и </a:t>
                      </a:r>
                      <a:r>
                        <a:rPr sz="3200" spc="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2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управления</a:t>
                      </a:r>
                      <a:r>
                        <a:rPr sz="3200" spc="-7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20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программными </a:t>
                      </a:r>
                      <a:r>
                        <a:rPr sz="3200" spc="-860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3200" spc="-5" dirty="0">
                          <a:solidFill>
                            <a:srgbClr val="FFFFFF"/>
                          </a:solidFill>
                          <a:latin typeface="Segoe UI Light"/>
                          <a:cs typeface="Segoe UI Light"/>
                        </a:rPr>
                        <a:t>активами</a:t>
                      </a:r>
                      <a:endParaRPr sz="3200" dirty="0">
                        <a:latin typeface="Segoe UI Light"/>
                        <a:cs typeface="Segoe UI Light"/>
                      </a:endParaRPr>
                    </a:p>
                  </a:txBody>
                  <a:tcPr marL="0" marR="0" marT="48895" marB="0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6F2F9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239063" y="1787588"/>
            <a:ext cx="542925" cy="542925"/>
            <a:chOff x="7239063" y="1787588"/>
            <a:chExt cx="542925" cy="542925"/>
          </a:xfrm>
        </p:grpSpPr>
        <p:sp>
          <p:nvSpPr>
            <p:cNvPr id="5" name="object 5"/>
            <p:cNvSpPr/>
            <p:nvPr/>
          </p:nvSpPr>
          <p:spPr>
            <a:xfrm>
              <a:off x="7243826" y="179235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044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044" y="533400"/>
                  </a:lnTo>
                  <a:lnTo>
                    <a:pt x="533400" y="266700"/>
                  </a:lnTo>
                  <a:lnTo>
                    <a:pt x="2250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43826" y="1792351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044" y="0"/>
                  </a:lnTo>
                  <a:lnTo>
                    <a:pt x="533400" y="266700"/>
                  </a:lnTo>
                  <a:lnTo>
                    <a:pt x="225044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  <a:tabLst>
                <a:tab pos="3153410" algn="l"/>
              </a:tabLst>
            </a:pPr>
            <a:r>
              <a:rPr sz="4000" spc="5" dirty="0"/>
              <a:t>Актуальность	</a:t>
            </a:r>
            <a:r>
              <a:rPr sz="4000" spc="-5" dirty="0"/>
              <a:t>и</a:t>
            </a:r>
            <a:r>
              <a:rPr sz="4000" spc="-30" dirty="0"/>
              <a:t> </a:t>
            </a:r>
            <a:r>
              <a:rPr sz="4000" spc="-5" dirty="0"/>
              <a:t>опасности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540259" y="1752600"/>
            <a:ext cx="8131809" cy="444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568575" algn="l"/>
                <a:tab pos="3266440" algn="l"/>
                <a:tab pos="3943350" algn="l"/>
                <a:tab pos="6129020" algn="l"/>
                <a:tab pos="6536055" algn="l"/>
              </a:tabLst>
            </a:pP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Л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ицен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з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р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ова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н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ие	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	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	сос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т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авляющ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а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я	в	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упра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лении  программными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активами,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необходимая</a:t>
            </a:r>
            <a:r>
              <a:rPr sz="2400" spc="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для: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определения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потребности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компании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необходимом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ПО;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исключения использования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устаревшего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ПО;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получения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преимуществ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конкурентной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борьбе.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Опасности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от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нелицензионного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ПО: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юридическая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ответственность;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ущерб деловой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репутации;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отсутствие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прав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техподдержку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обновление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ПО;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проблемы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совместимости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ПО.</a:t>
            </a:r>
            <a:endParaRPr sz="24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25" dirty="0"/>
              <a:t>Авторские</a:t>
            </a:r>
            <a:r>
              <a:rPr sz="4000" dirty="0"/>
              <a:t> </a:t>
            </a:r>
            <a:r>
              <a:rPr sz="4000" spc="-25" dirty="0"/>
              <a:t>права</a:t>
            </a:r>
            <a:endParaRPr sz="40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615" y="3224783"/>
            <a:ext cx="2275332" cy="11765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63676" y="3631438"/>
            <a:ext cx="185166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b="1" spc="-15" dirty="0">
                <a:latin typeface="Arial"/>
                <a:cs typeface="Arial"/>
              </a:rPr>
              <a:t>Авторские</a:t>
            </a:r>
            <a:r>
              <a:rPr sz="1700" b="1" spc="-30" dirty="0">
                <a:latin typeface="Arial"/>
                <a:cs typeface="Arial"/>
              </a:rPr>
              <a:t> </a:t>
            </a:r>
            <a:r>
              <a:rPr sz="1700" b="1" spc="-5" dirty="0">
                <a:latin typeface="Arial"/>
                <a:cs typeface="Arial"/>
              </a:rPr>
              <a:t>права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67685" y="2598420"/>
            <a:ext cx="3183890" cy="1207770"/>
            <a:chOff x="2567685" y="2598420"/>
            <a:chExt cx="3183890" cy="1207770"/>
          </a:xfrm>
        </p:grpSpPr>
        <p:sp>
          <p:nvSpPr>
            <p:cNvPr id="10" name="object 10"/>
            <p:cNvSpPr/>
            <p:nvPr/>
          </p:nvSpPr>
          <p:spPr>
            <a:xfrm>
              <a:off x="2580385" y="3166491"/>
              <a:ext cx="871855" cy="626745"/>
            </a:xfrm>
            <a:custGeom>
              <a:avLst/>
              <a:gdLst/>
              <a:ahLst/>
              <a:cxnLst/>
              <a:rect l="l" t="t" r="r" b="b"/>
              <a:pathLst>
                <a:path w="871854" h="626745">
                  <a:moveTo>
                    <a:pt x="0" y="626618"/>
                  </a:moveTo>
                  <a:lnTo>
                    <a:pt x="871727" y="0"/>
                  </a:lnTo>
                </a:path>
              </a:pathLst>
            </a:custGeom>
            <a:ln w="25399">
              <a:solidFill>
                <a:srgbClr val="2C2C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9375" y="2598420"/>
              <a:ext cx="2362200" cy="117652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46728" y="3004820"/>
            <a:ext cx="19888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15" dirty="0">
                <a:latin typeface="Microsoft Sans Serif"/>
                <a:cs typeface="Microsoft Sans Serif"/>
              </a:rPr>
              <a:t>Неисключительные</a:t>
            </a:r>
            <a:endParaRPr sz="1700">
              <a:latin typeface="Microsoft Sans Serif"/>
              <a:cs typeface="Microsoft Sans Serif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18860" y="1488947"/>
            <a:ext cx="3263265" cy="1690370"/>
            <a:chOff x="5618860" y="1488947"/>
            <a:chExt cx="3263265" cy="1690370"/>
          </a:xfrm>
        </p:grpSpPr>
        <p:sp>
          <p:nvSpPr>
            <p:cNvPr id="14" name="object 14"/>
            <p:cNvSpPr/>
            <p:nvPr/>
          </p:nvSpPr>
          <p:spPr>
            <a:xfrm>
              <a:off x="5631560" y="1748916"/>
              <a:ext cx="871855" cy="1417955"/>
            </a:xfrm>
            <a:custGeom>
              <a:avLst/>
              <a:gdLst/>
              <a:ahLst/>
              <a:cxnLst/>
              <a:rect l="l" t="t" r="r" b="b"/>
              <a:pathLst>
                <a:path w="871854" h="1417955">
                  <a:moveTo>
                    <a:pt x="0" y="1417574"/>
                  </a:moveTo>
                  <a:lnTo>
                    <a:pt x="871728" y="0"/>
                  </a:lnTo>
                </a:path>
              </a:pathLst>
            </a:custGeom>
            <a:ln w="25400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00000"/>
                </a:solidFill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0235" y="1488947"/>
              <a:ext cx="2266188" cy="56083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31560" y="2408300"/>
              <a:ext cx="871855" cy="758190"/>
            </a:xfrm>
            <a:custGeom>
              <a:avLst/>
              <a:gdLst/>
              <a:ahLst/>
              <a:cxnLst/>
              <a:rect l="l" t="t" r="r" b="b"/>
              <a:pathLst>
                <a:path w="871854" h="758189">
                  <a:moveTo>
                    <a:pt x="0" y="758189"/>
                  </a:moveTo>
                  <a:lnTo>
                    <a:pt x="871728" y="0"/>
                  </a:lnTo>
                </a:path>
              </a:pathLst>
            </a:custGeom>
            <a:ln w="25399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rgbClr val="C00000"/>
                </a:solidFill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4223" y="2124455"/>
              <a:ext cx="2517648" cy="606551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520942" y="1586864"/>
            <a:ext cx="2147570" cy="9598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Право</a:t>
            </a:r>
            <a:r>
              <a:rPr sz="1700" spc="-2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авторства</a:t>
            </a:r>
            <a:endParaRPr sz="1700" dirty="0">
              <a:solidFill>
                <a:srgbClr val="C00000"/>
              </a:solidFill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50" dirty="0">
              <a:solidFill>
                <a:srgbClr val="C00000"/>
              </a:solidFill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Право </a:t>
            </a:r>
            <a:r>
              <a:rPr sz="17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автора</a:t>
            </a:r>
            <a:r>
              <a:rPr sz="17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на</a:t>
            </a:r>
            <a:r>
              <a:rPr sz="170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имя</a:t>
            </a:r>
            <a:endParaRPr sz="17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18860" y="2807207"/>
            <a:ext cx="3239135" cy="1178560"/>
            <a:chOff x="5618860" y="2807207"/>
            <a:chExt cx="3239135" cy="1178560"/>
          </a:xfrm>
        </p:grpSpPr>
        <p:sp>
          <p:nvSpPr>
            <p:cNvPr id="20" name="object 20"/>
            <p:cNvSpPr/>
            <p:nvPr/>
          </p:nvSpPr>
          <p:spPr>
            <a:xfrm>
              <a:off x="5631560" y="3166490"/>
              <a:ext cx="871855" cy="209550"/>
            </a:xfrm>
            <a:custGeom>
              <a:avLst/>
              <a:gdLst/>
              <a:ahLst/>
              <a:cxnLst/>
              <a:rect l="l" t="t" r="r" b="b"/>
              <a:pathLst>
                <a:path w="871854" h="209550">
                  <a:moveTo>
                    <a:pt x="0" y="0"/>
                  </a:moveTo>
                  <a:lnTo>
                    <a:pt x="871728" y="209550"/>
                  </a:lnTo>
                </a:path>
              </a:pathLst>
            </a:custGeom>
            <a:ln w="25400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7083" y="2807207"/>
              <a:ext cx="2470404" cy="1178052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545071" y="2990850"/>
            <a:ext cx="2098040" cy="7321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indent="635" algn="ctr">
              <a:lnSpc>
                <a:spcPct val="86200"/>
              </a:lnSpc>
              <a:spcBef>
                <a:spcPts val="385"/>
              </a:spcBef>
            </a:pP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Право</a:t>
            </a:r>
            <a:r>
              <a:rPr sz="1700" spc="1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на </a:t>
            </a: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неприкосновенность </a:t>
            </a:r>
            <a:r>
              <a:rPr sz="1700" spc="-44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произведения</a:t>
            </a:r>
            <a:endParaRPr sz="1700" dirty="0">
              <a:solidFill>
                <a:srgbClr val="C00000"/>
              </a:solidFill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18860" y="3153791"/>
            <a:ext cx="3107690" cy="1731010"/>
            <a:chOff x="5618860" y="3153791"/>
            <a:chExt cx="3107690" cy="1731010"/>
          </a:xfrm>
        </p:grpSpPr>
        <p:sp>
          <p:nvSpPr>
            <p:cNvPr id="24" name="object 24"/>
            <p:cNvSpPr/>
            <p:nvPr/>
          </p:nvSpPr>
          <p:spPr>
            <a:xfrm>
              <a:off x="5631560" y="3166491"/>
              <a:ext cx="871855" cy="1286510"/>
            </a:xfrm>
            <a:custGeom>
              <a:avLst/>
              <a:gdLst/>
              <a:ahLst/>
              <a:cxnLst/>
              <a:rect l="l" t="t" r="r" b="b"/>
              <a:pathLst>
                <a:path w="871854" h="1286510">
                  <a:moveTo>
                    <a:pt x="0" y="0"/>
                  </a:moveTo>
                  <a:lnTo>
                    <a:pt x="871728" y="1286002"/>
                  </a:lnTo>
                </a:path>
              </a:pathLst>
            </a:custGeom>
            <a:ln w="25400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0235" y="4059936"/>
              <a:ext cx="2266188" cy="82448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802881" y="4179189"/>
            <a:ext cx="1583055" cy="50800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315595">
              <a:lnSpc>
                <a:spcPts val="1750"/>
              </a:lnSpc>
              <a:spcBef>
                <a:spcPts val="400"/>
              </a:spcBef>
            </a:pP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Право</a:t>
            </a:r>
            <a:r>
              <a:rPr sz="1700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на </a:t>
            </a: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об</a:t>
            </a:r>
            <a:r>
              <a:rPr sz="17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н</a:t>
            </a: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ар</a:t>
            </a:r>
            <a:r>
              <a:rPr sz="1700" spc="-35" dirty="0">
                <a:solidFill>
                  <a:srgbClr val="C00000"/>
                </a:solidFill>
                <a:latin typeface="Microsoft Sans Serif"/>
                <a:cs typeface="Microsoft Sans Serif"/>
              </a:rPr>
              <a:t>о</a:t>
            </a:r>
            <a:r>
              <a:rPr sz="1700" spc="-5" dirty="0">
                <a:solidFill>
                  <a:srgbClr val="C00000"/>
                </a:solidFill>
                <a:latin typeface="Microsoft Sans Serif"/>
                <a:cs typeface="Microsoft Sans Serif"/>
              </a:rPr>
              <a:t>до</a:t>
            </a:r>
            <a:r>
              <a:rPr sz="1700" spc="-30" dirty="0">
                <a:solidFill>
                  <a:srgbClr val="C00000"/>
                </a:solidFill>
                <a:latin typeface="Microsoft Sans Serif"/>
                <a:cs typeface="Microsoft Sans Serif"/>
              </a:rPr>
              <a:t>в</a:t>
            </a:r>
            <a:r>
              <a:rPr sz="1700" spc="-10" dirty="0">
                <a:solidFill>
                  <a:srgbClr val="C00000"/>
                </a:solidFill>
                <a:latin typeface="Microsoft Sans Serif"/>
                <a:cs typeface="Microsoft Sans Serif"/>
              </a:rPr>
              <a:t>ан</a:t>
            </a:r>
            <a:r>
              <a:rPr sz="1700" spc="-15" dirty="0">
                <a:solidFill>
                  <a:srgbClr val="C00000"/>
                </a:solidFill>
                <a:latin typeface="Microsoft Sans Serif"/>
                <a:cs typeface="Microsoft Sans Serif"/>
              </a:rPr>
              <a:t>и</a:t>
            </a:r>
            <a:r>
              <a:rPr sz="1700" dirty="0">
                <a:solidFill>
                  <a:srgbClr val="C00000"/>
                </a:solidFill>
                <a:latin typeface="Microsoft Sans Serif"/>
                <a:cs typeface="Microsoft Sans Serif"/>
              </a:rPr>
              <a:t>е</a:t>
            </a:r>
          </a:p>
        </p:txBody>
      </p:sp>
      <p:grpSp>
        <p:nvGrpSpPr>
          <p:cNvPr id="27" name="object 27"/>
          <p:cNvGrpSpPr/>
          <p:nvPr/>
        </p:nvGrpSpPr>
        <p:grpSpPr>
          <a:xfrm>
            <a:off x="2567685" y="3780409"/>
            <a:ext cx="3107690" cy="1247775"/>
            <a:chOff x="2567685" y="3780409"/>
            <a:chExt cx="3107690" cy="1247775"/>
          </a:xfrm>
        </p:grpSpPr>
        <p:sp>
          <p:nvSpPr>
            <p:cNvPr id="28" name="object 28"/>
            <p:cNvSpPr/>
            <p:nvPr/>
          </p:nvSpPr>
          <p:spPr>
            <a:xfrm>
              <a:off x="2580385" y="3793109"/>
              <a:ext cx="871855" cy="626745"/>
            </a:xfrm>
            <a:custGeom>
              <a:avLst/>
              <a:gdLst/>
              <a:ahLst/>
              <a:cxnLst/>
              <a:rect l="l" t="t" r="r" b="b"/>
              <a:pathLst>
                <a:path w="871854" h="626745">
                  <a:moveTo>
                    <a:pt x="0" y="0"/>
                  </a:moveTo>
                  <a:lnTo>
                    <a:pt x="871727" y="626618"/>
                  </a:lnTo>
                </a:path>
              </a:pathLst>
            </a:custGeom>
            <a:ln w="25399">
              <a:solidFill>
                <a:srgbClr val="2C2C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07663" y="3851148"/>
              <a:ext cx="2267712" cy="117652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644265" y="4145991"/>
            <a:ext cx="1795780" cy="508634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24130">
              <a:lnSpc>
                <a:spcPts val="1750"/>
              </a:lnSpc>
              <a:spcBef>
                <a:spcPts val="405"/>
              </a:spcBef>
            </a:pPr>
            <a:r>
              <a:rPr sz="1700" spc="-15" dirty="0">
                <a:latin typeface="Microsoft Sans Serif"/>
                <a:cs typeface="Microsoft Sans Serif"/>
              </a:rPr>
              <a:t>Исключительные </a:t>
            </a:r>
            <a:r>
              <a:rPr sz="1700" spc="-440" dirty="0">
                <a:latin typeface="Microsoft Sans Serif"/>
                <a:cs typeface="Microsoft Sans Serif"/>
              </a:rPr>
              <a:t> </a:t>
            </a:r>
            <a:r>
              <a:rPr sz="1700" dirty="0">
                <a:latin typeface="Microsoft Sans Serif"/>
                <a:cs typeface="Microsoft Sans Serif"/>
              </a:rPr>
              <a:t>(</a:t>
            </a:r>
            <a:r>
              <a:rPr sz="1700" spc="-15" dirty="0">
                <a:latin typeface="Microsoft Sans Serif"/>
                <a:cs typeface="Microsoft Sans Serif"/>
              </a:rPr>
              <a:t>и</a:t>
            </a:r>
            <a:r>
              <a:rPr sz="1700" spc="-25" dirty="0">
                <a:latin typeface="Microsoft Sans Serif"/>
                <a:cs typeface="Microsoft Sans Serif"/>
              </a:rPr>
              <a:t>м</a:t>
            </a:r>
            <a:r>
              <a:rPr sz="1700" spc="-30" dirty="0">
                <a:latin typeface="Microsoft Sans Serif"/>
                <a:cs typeface="Microsoft Sans Serif"/>
              </a:rPr>
              <a:t>у</a:t>
            </a:r>
            <a:r>
              <a:rPr sz="1700" spc="-15" dirty="0">
                <a:latin typeface="Microsoft Sans Serif"/>
                <a:cs typeface="Microsoft Sans Serif"/>
              </a:rPr>
              <a:t>щ</a:t>
            </a:r>
            <a:r>
              <a:rPr sz="1700" spc="-5" dirty="0">
                <a:latin typeface="Microsoft Sans Serif"/>
                <a:cs typeface="Microsoft Sans Serif"/>
              </a:rPr>
              <a:t>ест</a:t>
            </a:r>
            <a:r>
              <a:rPr sz="1700" spc="-35" dirty="0">
                <a:latin typeface="Microsoft Sans Serif"/>
                <a:cs typeface="Microsoft Sans Serif"/>
              </a:rPr>
              <a:t>в</a:t>
            </a:r>
            <a:r>
              <a:rPr sz="1700" spc="-5" dirty="0">
                <a:latin typeface="Microsoft Sans Serif"/>
                <a:cs typeface="Microsoft Sans Serif"/>
              </a:rPr>
              <a:t>е</a:t>
            </a:r>
            <a:r>
              <a:rPr sz="1700" spc="-10" dirty="0">
                <a:latin typeface="Microsoft Sans Serif"/>
                <a:cs typeface="Microsoft Sans Serif"/>
              </a:rPr>
              <a:t>н</a:t>
            </a:r>
            <a:r>
              <a:rPr sz="1700" spc="-15" dirty="0">
                <a:latin typeface="Microsoft Sans Serif"/>
                <a:cs typeface="Microsoft Sans Serif"/>
              </a:rPr>
              <a:t>н</a:t>
            </a:r>
            <a:r>
              <a:rPr sz="1700" dirty="0">
                <a:latin typeface="Microsoft Sans Serif"/>
                <a:cs typeface="Microsoft Sans Serif"/>
              </a:rPr>
              <a:t>ые)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5589" y="5513019"/>
            <a:ext cx="635254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Основной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российский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закон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сфере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правовой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охраны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4-я часть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ГК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65" dirty="0">
                <a:solidFill>
                  <a:srgbClr val="FFFFFF"/>
                </a:solidFill>
                <a:latin typeface="Segoe UI Light"/>
                <a:cs typeface="Segoe UI Light"/>
              </a:rPr>
              <a:t>РФ.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15" dirty="0"/>
              <a:t>Передача</a:t>
            </a:r>
            <a:r>
              <a:rPr sz="4000" spc="10" dirty="0"/>
              <a:t> </a:t>
            </a:r>
            <a:r>
              <a:rPr sz="4000" spc="-30" dirty="0"/>
              <a:t>прав</a:t>
            </a:r>
            <a:r>
              <a:rPr sz="4000" dirty="0"/>
              <a:t> </a:t>
            </a:r>
            <a:r>
              <a:rPr sz="4000" spc="-5" dirty="0"/>
              <a:t>на</a:t>
            </a:r>
            <a:r>
              <a:rPr sz="4000" dirty="0"/>
              <a:t> </a:t>
            </a:r>
            <a:r>
              <a:rPr sz="4000" spc="-5" dirty="0"/>
              <a:t>ПО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475589" y="1168653"/>
            <a:ext cx="75596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Договор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отчуждения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–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договор,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которому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могут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быть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переданы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исключительные,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т.е.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имущественные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права.</a:t>
            </a:r>
            <a:endParaRPr sz="24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0" y="2260612"/>
            <a:ext cx="1300352" cy="113778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875" y="2239517"/>
            <a:ext cx="1219200" cy="12192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900237" y="2362212"/>
            <a:ext cx="3302635" cy="1581785"/>
            <a:chOff x="1900237" y="2362212"/>
            <a:chExt cx="3302635" cy="158178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21023" y="2362212"/>
              <a:ext cx="1581442" cy="15814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05000" y="2590800"/>
              <a:ext cx="1846580" cy="685800"/>
            </a:xfrm>
            <a:custGeom>
              <a:avLst/>
              <a:gdLst/>
              <a:ahLst/>
              <a:cxnLst/>
              <a:rect l="l" t="t" r="r" b="b"/>
              <a:pathLst>
                <a:path w="1846579" h="685800">
                  <a:moveTo>
                    <a:pt x="1503172" y="0"/>
                  </a:moveTo>
                  <a:lnTo>
                    <a:pt x="1503172" y="171450"/>
                  </a:lnTo>
                  <a:lnTo>
                    <a:pt x="0" y="171450"/>
                  </a:lnTo>
                  <a:lnTo>
                    <a:pt x="0" y="514350"/>
                  </a:lnTo>
                  <a:lnTo>
                    <a:pt x="1503172" y="514350"/>
                  </a:lnTo>
                  <a:lnTo>
                    <a:pt x="1503172" y="685800"/>
                  </a:lnTo>
                  <a:lnTo>
                    <a:pt x="1846072" y="342900"/>
                  </a:lnTo>
                  <a:lnTo>
                    <a:pt x="150317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05000" y="2590800"/>
              <a:ext cx="1846580" cy="685800"/>
            </a:xfrm>
            <a:custGeom>
              <a:avLst/>
              <a:gdLst/>
              <a:ahLst/>
              <a:cxnLst/>
              <a:rect l="l" t="t" r="r" b="b"/>
              <a:pathLst>
                <a:path w="1846579" h="685800">
                  <a:moveTo>
                    <a:pt x="0" y="171450"/>
                  </a:moveTo>
                  <a:lnTo>
                    <a:pt x="1503172" y="171450"/>
                  </a:lnTo>
                  <a:lnTo>
                    <a:pt x="1503172" y="0"/>
                  </a:lnTo>
                  <a:lnTo>
                    <a:pt x="1846072" y="342900"/>
                  </a:lnTo>
                  <a:lnTo>
                    <a:pt x="1503172" y="685800"/>
                  </a:lnTo>
                  <a:lnTo>
                    <a:pt x="1503172" y="514350"/>
                  </a:lnTo>
                  <a:lnTo>
                    <a:pt x="0" y="514350"/>
                  </a:lnTo>
                  <a:lnTo>
                    <a:pt x="0" y="171450"/>
                  </a:lnTo>
                  <a:close/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27047" y="2789935"/>
            <a:ext cx="143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права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на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ПО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35765" y="2586037"/>
            <a:ext cx="1856105" cy="695325"/>
            <a:chOff x="5235765" y="2586037"/>
            <a:chExt cx="1856105" cy="695325"/>
          </a:xfrm>
        </p:grpSpPr>
        <p:sp>
          <p:nvSpPr>
            <p:cNvPr id="16" name="object 16"/>
            <p:cNvSpPr/>
            <p:nvPr/>
          </p:nvSpPr>
          <p:spPr>
            <a:xfrm>
              <a:off x="5240528" y="2590800"/>
              <a:ext cx="1846580" cy="685800"/>
            </a:xfrm>
            <a:custGeom>
              <a:avLst/>
              <a:gdLst/>
              <a:ahLst/>
              <a:cxnLst/>
              <a:rect l="l" t="t" r="r" b="b"/>
              <a:pathLst>
                <a:path w="1846579" h="685800">
                  <a:moveTo>
                    <a:pt x="1503172" y="0"/>
                  </a:moveTo>
                  <a:lnTo>
                    <a:pt x="1503172" y="171450"/>
                  </a:lnTo>
                  <a:lnTo>
                    <a:pt x="0" y="171450"/>
                  </a:lnTo>
                  <a:lnTo>
                    <a:pt x="0" y="514350"/>
                  </a:lnTo>
                  <a:lnTo>
                    <a:pt x="1503172" y="514350"/>
                  </a:lnTo>
                  <a:lnTo>
                    <a:pt x="1503172" y="685800"/>
                  </a:lnTo>
                  <a:lnTo>
                    <a:pt x="1846072" y="342900"/>
                  </a:lnTo>
                  <a:lnTo>
                    <a:pt x="1503172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40528" y="2590800"/>
              <a:ext cx="1846580" cy="685800"/>
            </a:xfrm>
            <a:custGeom>
              <a:avLst/>
              <a:gdLst/>
              <a:ahLst/>
              <a:cxnLst/>
              <a:rect l="l" t="t" r="r" b="b"/>
              <a:pathLst>
                <a:path w="1846579" h="685800">
                  <a:moveTo>
                    <a:pt x="0" y="171450"/>
                  </a:moveTo>
                  <a:lnTo>
                    <a:pt x="1503172" y="171450"/>
                  </a:lnTo>
                  <a:lnTo>
                    <a:pt x="1503172" y="0"/>
                  </a:lnTo>
                  <a:lnTo>
                    <a:pt x="1846072" y="342900"/>
                  </a:lnTo>
                  <a:lnTo>
                    <a:pt x="1503172" y="685800"/>
                  </a:lnTo>
                  <a:lnTo>
                    <a:pt x="1503172" y="514350"/>
                  </a:lnTo>
                  <a:lnTo>
                    <a:pt x="0" y="514350"/>
                  </a:lnTo>
                  <a:lnTo>
                    <a:pt x="0" y="171450"/>
                  </a:lnTo>
                  <a:close/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63083" y="2789935"/>
            <a:ext cx="14300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права</a:t>
            </a:r>
            <a:r>
              <a:rPr sz="18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на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ПО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607" y="3533013"/>
            <a:ext cx="192658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marR="5080" indent="-30988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Правообладатель </a:t>
            </a:r>
            <a:r>
              <a:rPr sz="1800" spc="-4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(лицензиар)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8326" y="3533013"/>
            <a:ext cx="25755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0" marR="5080" indent="-647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Конечный</a:t>
            </a:r>
            <a:r>
              <a:rPr sz="18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пользователь </a:t>
            </a:r>
            <a:r>
              <a:rPr sz="1800" spc="-4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(лицензиат)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51175" y="3856101"/>
            <a:ext cx="202311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Лицензионный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договор 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(предмет, </a:t>
            </a:r>
            <a:r>
              <a:rPr sz="1800" spc="-4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вознаграждение,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территория,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срок, </a:t>
            </a:r>
            <a:r>
              <a:rPr sz="18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вид</a:t>
            </a:r>
            <a:r>
              <a:rPr sz="18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лицензии)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43837" y="4321365"/>
            <a:ext cx="695325" cy="1856105"/>
            <a:chOff x="7843837" y="4321365"/>
            <a:chExt cx="695325" cy="1856105"/>
          </a:xfrm>
        </p:grpSpPr>
        <p:sp>
          <p:nvSpPr>
            <p:cNvPr id="23" name="object 23"/>
            <p:cNvSpPr/>
            <p:nvPr/>
          </p:nvSpPr>
          <p:spPr>
            <a:xfrm>
              <a:off x="7848600" y="4326128"/>
              <a:ext cx="685800" cy="1846580"/>
            </a:xfrm>
            <a:custGeom>
              <a:avLst/>
              <a:gdLst/>
              <a:ahLst/>
              <a:cxnLst/>
              <a:rect l="l" t="t" r="r" b="b"/>
              <a:pathLst>
                <a:path w="685800" h="1846579">
                  <a:moveTo>
                    <a:pt x="514350" y="0"/>
                  </a:moveTo>
                  <a:lnTo>
                    <a:pt x="171450" y="0"/>
                  </a:lnTo>
                  <a:lnTo>
                    <a:pt x="171450" y="1503172"/>
                  </a:lnTo>
                  <a:lnTo>
                    <a:pt x="0" y="1503172"/>
                  </a:lnTo>
                  <a:lnTo>
                    <a:pt x="342900" y="1846072"/>
                  </a:lnTo>
                  <a:lnTo>
                    <a:pt x="685800" y="1503172"/>
                  </a:lnTo>
                  <a:lnTo>
                    <a:pt x="514350" y="1503172"/>
                  </a:lnTo>
                  <a:lnTo>
                    <a:pt x="514350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848600" y="4326128"/>
              <a:ext cx="685800" cy="1846580"/>
            </a:xfrm>
            <a:custGeom>
              <a:avLst/>
              <a:gdLst/>
              <a:ahLst/>
              <a:cxnLst/>
              <a:rect l="l" t="t" r="r" b="b"/>
              <a:pathLst>
                <a:path w="685800" h="1846579">
                  <a:moveTo>
                    <a:pt x="514350" y="0"/>
                  </a:moveTo>
                  <a:lnTo>
                    <a:pt x="514350" y="1503172"/>
                  </a:lnTo>
                  <a:lnTo>
                    <a:pt x="685800" y="1503172"/>
                  </a:lnTo>
                  <a:lnTo>
                    <a:pt x="342900" y="1846072"/>
                  </a:lnTo>
                  <a:lnTo>
                    <a:pt x="0" y="1503172"/>
                  </a:lnTo>
                  <a:lnTo>
                    <a:pt x="171450" y="1503172"/>
                  </a:lnTo>
                  <a:lnTo>
                    <a:pt x="171450" y="0"/>
                  </a:lnTo>
                  <a:lnTo>
                    <a:pt x="514350" y="0"/>
                  </a:lnTo>
                  <a:close/>
                </a:path>
              </a:pathLst>
            </a:custGeom>
            <a:ln w="9525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034979" y="4448936"/>
            <a:ext cx="281305" cy="143002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права</a:t>
            </a:r>
            <a:r>
              <a:rPr sz="18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на</a:t>
            </a:r>
            <a:r>
              <a:rPr sz="18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ПО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248906" y="6288430"/>
            <a:ext cx="1333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Третьи</a:t>
            </a: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лица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773292" y="4715636"/>
            <a:ext cx="21482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Сублицензионный</a:t>
            </a:r>
            <a:endParaRPr sz="1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договор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5" dirty="0"/>
              <a:t>Классификация</a:t>
            </a:r>
            <a:r>
              <a:rPr sz="4000" spc="-25" dirty="0"/>
              <a:t> </a:t>
            </a:r>
            <a:r>
              <a:rPr sz="4000" spc="-5" dirty="0"/>
              <a:t>ПО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475589" y="1168653"/>
            <a:ext cx="65608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Классификация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точки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зрения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предоставляемых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лицензионных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прав: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589" y="2178558"/>
            <a:ext cx="3539490" cy="1717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Проприетарное</a:t>
            </a:r>
            <a:r>
              <a:rPr sz="2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endParaRPr sz="24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Примеры: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Windows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большинство</a:t>
            </a:r>
            <a:r>
              <a:rPr sz="2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приложений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нее.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5103" y="2178558"/>
            <a:ext cx="3662679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Свободное</a:t>
            </a:r>
            <a:r>
              <a:rPr sz="24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endParaRPr sz="24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Примеры: ОС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Linux, Mozilla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Firefox,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OpenOffice.</a:t>
            </a:r>
            <a:endParaRPr sz="2400">
              <a:latin typeface="Segoe UI Light"/>
              <a:cs typeface="Segoe UI Light"/>
            </a:endParaRPr>
          </a:p>
          <a:p>
            <a:pPr marL="12700" marR="57150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1985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5" dirty="0">
                <a:solidFill>
                  <a:srgbClr val="FFFFFF"/>
                </a:solidFill>
                <a:latin typeface="Segoe UI Light"/>
                <a:cs typeface="Segoe UI Light"/>
              </a:rPr>
              <a:t>г,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Ричард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Столлман,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Фонд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свободного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(Free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Software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Foundation,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FSF).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4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права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(свободы).</a:t>
            </a:r>
            <a:endParaRPr sz="2400">
              <a:latin typeface="Segoe UI Light"/>
              <a:cs typeface="Segoe UI Light"/>
            </a:endParaRPr>
          </a:p>
          <a:p>
            <a:pPr marL="12700" marR="930275">
              <a:lnSpc>
                <a:spcPct val="100000"/>
              </a:lnSpc>
              <a:spcBef>
                <a:spcPts val="180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Типовые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свободные </a:t>
            </a:r>
            <a:r>
              <a:rPr sz="2400" spc="-6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лицензии.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191000" y="2209800"/>
            <a:ext cx="0" cy="4206240"/>
          </a:xfrm>
          <a:custGeom>
            <a:avLst/>
            <a:gdLst/>
            <a:ahLst/>
            <a:cxnLst/>
            <a:rect l="l" t="t" r="r" b="b"/>
            <a:pathLst>
              <a:path h="4206240">
                <a:moveTo>
                  <a:pt x="0" y="0"/>
                </a:moveTo>
                <a:lnTo>
                  <a:pt x="0" y="4206125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15" dirty="0"/>
              <a:t>Свободные</a:t>
            </a:r>
            <a:r>
              <a:rPr sz="4000" dirty="0"/>
              <a:t> </a:t>
            </a:r>
            <a:r>
              <a:rPr sz="4000" spc="-5" dirty="0"/>
              <a:t>лицензии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475589" y="1244853"/>
            <a:ext cx="8133715" cy="502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Типовые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лицензии: GNU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General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Public License, GNU Free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Documentation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License,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MIT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License,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BSD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License,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Apache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License.</a:t>
            </a:r>
            <a:endParaRPr sz="2400">
              <a:latin typeface="Segoe UI Light"/>
              <a:cs typeface="Segoe UI Light"/>
            </a:endParaRPr>
          </a:p>
          <a:p>
            <a:pPr marL="12700" algn="just">
              <a:lnSpc>
                <a:spcPct val="100000"/>
              </a:lnSpc>
              <a:spcBef>
                <a:spcPts val="585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Принцип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«</a:t>
            </a:r>
            <a:r>
              <a:rPr sz="2800" spc="5" dirty="0">
                <a:solidFill>
                  <a:srgbClr val="FFFFFF"/>
                </a:solidFill>
                <a:latin typeface="Segoe UI Light"/>
                <a:cs typeface="Segoe UI Light"/>
              </a:rPr>
              <a:t>copyleft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»</a:t>
            </a:r>
            <a:r>
              <a:rPr sz="2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(«авторское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лево»).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Преимущества:</a:t>
            </a:r>
            <a:endParaRPr sz="24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стандартизация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сфере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лицензирования;</a:t>
            </a:r>
            <a:endParaRPr sz="24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юридическая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совместимость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свободных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проектов.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Недостатки:</a:t>
            </a:r>
            <a:endParaRPr sz="24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большое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многообразие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типовых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лицензий;</a:t>
            </a:r>
            <a:endParaRPr sz="24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юридическое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несовершенство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(для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некоторых);</a:t>
            </a:r>
            <a:endParaRPr sz="24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5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несоответствие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принципам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СПО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(для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некоторых).</a:t>
            </a:r>
            <a:endParaRPr sz="2400">
              <a:latin typeface="Segoe UI Light"/>
              <a:cs typeface="Segoe UI Ligh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4156" y="2362149"/>
            <a:ext cx="568883" cy="56888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5" dirty="0"/>
              <a:t>Связь</a:t>
            </a:r>
            <a:r>
              <a:rPr sz="4000" spc="-40" dirty="0"/>
              <a:t> </a:t>
            </a:r>
            <a:r>
              <a:rPr sz="4000" spc="-20" dirty="0"/>
              <a:t>терминов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974852" y="1244853"/>
            <a:ext cx="71240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90490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Продукт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открытым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исходным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кодом	(открытое</a:t>
            </a:r>
            <a:r>
              <a:rPr sz="2400" spc="-10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ПО)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589" y="1778330"/>
            <a:ext cx="3606800" cy="2449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33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 версии Инициативы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открытых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кодов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(1998,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Open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Source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Initiative,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OSI)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это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есть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свободное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Segoe UI Light"/>
                <a:cs typeface="Segoe UI Light"/>
              </a:rPr>
              <a:t>ПО.</a:t>
            </a:r>
            <a:endParaRPr sz="24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80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Термин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FOSS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(от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англ.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Free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Open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Source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Software).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5103" y="1778330"/>
            <a:ext cx="3874135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другой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версии 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это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любое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60" dirty="0">
                <a:solidFill>
                  <a:srgbClr val="FFFFFF"/>
                </a:solidFill>
                <a:latin typeface="Segoe UI Light"/>
                <a:cs typeface="Segoe UI Light"/>
              </a:rPr>
              <a:t>ПО,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которого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конечный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пользователь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тем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иным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способом 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может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получить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исходный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код.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6350" y="4903470"/>
            <a:ext cx="6892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Не </a:t>
            </a:r>
            <a:r>
              <a:rPr sz="2400" spc="-20" dirty="0">
                <a:solidFill>
                  <a:srgbClr val="FFFFFF"/>
                </a:solidFill>
                <a:latin typeface="Segoe UI Light"/>
                <a:cs typeface="Segoe UI Light"/>
              </a:rPr>
              <a:t>всегда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открытость исходного 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кода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означает, что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программный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продукт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свободный</a:t>
            </a:r>
            <a:r>
              <a:rPr sz="2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бесплатный!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267200" y="1813686"/>
            <a:ext cx="0" cy="2529840"/>
          </a:xfrm>
          <a:custGeom>
            <a:avLst/>
            <a:gdLst/>
            <a:ahLst/>
            <a:cxnLst/>
            <a:rect l="l" t="t" r="r" b="b"/>
            <a:pathLst>
              <a:path h="2529840">
                <a:moveTo>
                  <a:pt x="0" y="0"/>
                </a:moveTo>
                <a:lnTo>
                  <a:pt x="0" y="2529713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556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0"/>
              </a:spcBef>
            </a:pPr>
            <a:r>
              <a:rPr sz="3200" dirty="0"/>
              <a:t>Бесплатное</a:t>
            </a:r>
            <a:r>
              <a:rPr sz="3200" spc="-15" dirty="0"/>
              <a:t> </a:t>
            </a:r>
            <a:r>
              <a:rPr sz="3200" dirty="0"/>
              <a:t>и</a:t>
            </a:r>
            <a:r>
              <a:rPr sz="3200" spc="-5" dirty="0"/>
              <a:t> </a:t>
            </a:r>
            <a:r>
              <a:rPr sz="3200" spc="-20" dirty="0"/>
              <a:t>коммерческое</a:t>
            </a:r>
            <a:r>
              <a:rPr sz="3200" spc="-35" dirty="0"/>
              <a:t> </a:t>
            </a:r>
            <a:r>
              <a:rPr sz="3200" dirty="0"/>
              <a:t>ПО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546100" y="1524000"/>
            <a:ext cx="7983855" cy="5680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Как</a:t>
            </a:r>
            <a:r>
              <a:rPr sz="2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правило</a:t>
            </a:r>
            <a:endParaRPr sz="2400" dirty="0">
              <a:latin typeface="Segoe UI Light"/>
              <a:cs typeface="Segoe UI Light"/>
            </a:endParaRPr>
          </a:p>
          <a:p>
            <a:pPr marL="355600" marR="9398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проприетарное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распространяется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коммерческой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основе;</a:t>
            </a:r>
            <a:endParaRPr sz="2400" dirty="0">
              <a:latin typeface="Segoe UI Light"/>
              <a:cs typeface="Segoe UI Light"/>
            </a:endParaRPr>
          </a:p>
          <a:p>
            <a:pPr marL="355600" marR="104521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свободное ПО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распространяется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без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каких-либо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платежей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со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стороны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конечного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пользователя.</a:t>
            </a:r>
            <a:endParaRPr sz="2400" dirty="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Исключения:</a:t>
            </a:r>
            <a:endParaRPr sz="2400" dirty="0">
              <a:latin typeface="Segoe UI Light"/>
              <a:cs typeface="Segoe UI Light"/>
            </a:endParaRPr>
          </a:p>
          <a:p>
            <a:pPr marL="355600" marR="838835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проприетарное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распространяется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бесплатно 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(некоторые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продукты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для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виртуализации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VMware);</a:t>
            </a:r>
            <a:endParaRPr sz="2400" dirty="0">
              <a:latin typeface="Segoe UI Light"/>
              <a:cs typeface="Segoe UI Light"/>
            </a:endParaRPr>
          </a:p>
          <a:p>
            <a:pPr marL="355600" marR="23114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коммерциализация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свободного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ПО: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права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передаются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бесплатно,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платежи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связаны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сопутствующими</a:t>
            </a:r>
            <a:endParaRPr sz="2400" dirty="0">
              <a:latin typeface="Segoe UI Light"/>
              <a:cs typeface="Segoe UI Light"/>
            </a:endParaRPr>
          </a:p>
          <a:p>
            <a:pPr marL="355600" marR="32956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сервисами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(платная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подписка на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FOSS-операционную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систему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Red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Hat Enterprise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Linux);</a:t>
            </a:r>
            <a:endParaRPr sz="2400" dirty="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5"/>
              </a:spcBef>
              <a:buChar char="–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несколько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вариантов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распространения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одного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того же</a:t>
            </a:r>
            <a:endParaRPr sz="2400" dirty="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ПО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(СУБД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MySQL,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антивирус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Avast).</a:t>
            </a:r>
            <a:endParaRPr sz="24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15" dirty="0"/>
              <a:t>Модели</a:t>
            </a:r>
            <a:r>
              <a:rPr sz="4000" spc="15" dirty="0"/>
              <a:t> </a:t>
            </a:r>
            <a:r>
              <a:rPr sz="4000" spc="-5" dirty="0"/>
              <a:t>лицензирования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475589" y="1168653"/>
            <a:ext cx="799020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Модель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лицензирования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определяет,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какие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типы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лицензий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необходимо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приобретать</a:t>
            </a:r>
            <a:r>
              <a:rPr sz="240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каким</a:t>
            </a:r>
            <a:r>
              <a:rPr sz="240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образом</a:t>
            </a:r>
            <a:r>
              <a:rPr sz="240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производится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расчет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лицензионных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платежей.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589" y="2468117"/>
            <a:ext cx="318452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Лицензирование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локальных</a:t>
            </a:r>
            <a:r>
              <a:rPr sz="24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приложений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Один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тип лицензий.</a:t>
            </a:r>
            <a:endParaRPr sz="24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80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Лицензионный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платеж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пропорционален</a:t>
            </a:r>
            <a:r>
              <a:rPr sz="240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числу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устройств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или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пользователей.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15103" y="2468117"/>
            <a:ext cx="348043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8419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Лицензирование</a:t>
            </a:r>
            <a:r>
              <a:rPr sz="240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клиент-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серверных</a:t>
            </a:r>
            <a:r>
              <a:rPr sz="2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приложений</a:t>
            </a:r>
            <a:endParaRPr sz="2400">
              <a:latin typeface="Segoe UI Light"/>
              <a:cs typeface="Segoe UI Light"/>
            </a:endParaRPr>
          </a:p>
          <a:p>
            <a:pPr marL="12700" marR="140970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Серверные</a:t>
            </a:r>
            <a:r>
              <a:rPr sz="2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клиентские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лицензии.</a:t>
            </a:r>
            <a:endParaRPr sz="2400">
              <a:latin typeface="Segoe UI Light"/>
              <a:cs typeface="Segoe UI Light"/>
            </a:endParaRPr>
          </a:p>
          <a:p>
            <a:pPr marL="12700" marR="5080">
              <a:lnSpc>
                <a:spcPct val="100000"/>
              </a:lnSpc>
              <a:spcBef>
                <a:spcPts val="1805"/>
              </a:spcBef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Лицензионный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платеж</a:t>
            </a:r>
            <a:r>
              <a:rPr sz="2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на </a:t>
            </a:r>
            <a:r>
              <a:rPr sz="2400" spc="-6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основе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других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метрик</a:t>
            </a:r>
            <a:endParaRPr sz="24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лицензирования.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5589" y="5748934"/>
            <a:ext cx="79673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В</a:t>
            </a:r>
            <a:r>
              <a:rPr sz="2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обеих</a:t>
            </a:r>
            <a:r>
              <a:rPr sz="2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моделях</a:t>
            </a:r>
            <a:r>
              <a:rPr sz="240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лицензирования</a:t>
            </a:r>
            <a:r>
              <a:rPr sz="2400" spc="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предусмотрены</a:t>
            </a:r>
            <a:r>
              <a:rPr sz="2400" spc="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базовые </a:t>
            </a:r>
            <a:r>
              <a:rPr sz="2400" spc="-6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и</a:t>
            </a:r>
            <a:r>
              <a:rPr sz="2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Segoe UI Light"/>
                <a:cs typeface="Segoe UI Light"/>
              </a:rPr>
              <a:t>дополнительные</a:t>
            </a:r>
            <a:r>
              <a:rPr sz="24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dirty="0">
                <a:solidFill>
                  <a:srgbClr val="FFFFFF"/>
                </a:solidFill>
                <a:latin typeface="Segoe UI Light"/>
                <a:cs typeface="Segoe UI Light"/>
              </a:rPr>
              <a:t>лицензии.</a:t>
            </a:r>
            <a:endParaRPr sz="240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14800" y="2575686"/>
            <a:ext cx="0" cy="2910840"/>
          </a:xfrm>
          <a:custGeom>
            <a:avLst/>
            <a:gdLst/>
            <a:ahLst/>
            <a:cxnLst/>
            <a:rect l="l" t="t" r="r" b="b"/>
            <a:pathLst>
              <a:path h="2910840">
                <a:moveTo>
                  <a:pt x="0" y="0"/>
                </a:moveTo>
                <a:lnTo>
                  <a:pt x="0" y="2910713"/>
                </a:lnTo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3111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44"/>
              </a:spcBef>
            </a:pPr>
            <a:r>
              <a:rPr sz="4400" spc="-5" dirty="0"/>
              <a:t>Типы</a:t>
            </a:r>
            <a:r>
              <a:rPr sz="4400" spc="-40" dirty="0"/>
              <a:t> </a:t>
            </a:r>
            <a:r>
              <a:rPr sz="4400" dirty="0"/>
              <a:t>лицензий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475589" y="1243932"/>
            <a:ext cx="8125459" cy="405002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00"/>
              </a:spcBef>
              <a:buChar char="–"/>
              <a:tabLst>
                <a:tab pos="356235" algn="l"/>
              </a:tabLst>
            </a:pP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коммерческая</a:t>
            </a:r>
            <a:r>
              <a:rPr sz="26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лицензия</a:t>
            </a:r>
            <a:r>
              <a:rPr sz="26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(англ.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commercial</a:t>
            </a:r>
            <a:r>
              <a:rPr sz="26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license);</a:t>
            </a:r>
            <a:endParaRPr sz="26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6235" algn="l"/>
              </a:tabLst>
            </a:pP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свободная</a:t>
            </a:r>
            <a:r>
              <a:rPr sz="26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лицензия</a:t>
            </a:r>
            <a:r>
              <a:rPr sz="26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(англ.</a:t>
            </a:r>
            <a:r>
              <a:rPr sz="26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free</a:t>
            </a:r>
            <a:r>
              <a:rPr sz="26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/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public</a:t>
            </a:r>
            <a:r>
              <a:rPr sz="26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license);</a:t>
            </a:r>
            <a:endParaRPr sz="26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6235" algn="l"/>
              </a:tabLst>
            </a:pP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лицензия</a:t>
            </a:r>
            <a:r>
              <a:rPr sz="260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оценки</a:t>
            </a:r>
            <a:r>
              <a:rPr sz="26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(англ.</a:t>
            </a:r>
            <a:r>
              <a:rPr sz="26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evaluation</a:t>
            </a:r>
            <a:r>
              <a:rPr sz="26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/ trial license);</a:t>
            </a:r>
            <a:endParaRPr sz="2600">
              <a:latin typeface="Segoe UI Light"/>
              <a:cs typeface="Segoe UI Light"/>
            </a:endParaRPr>
          </a:p>
          <a:p>
            <a:pPr marL="355600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6235" algn="l"/>
              </a:tabLst>
            </a:pP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лицензия</a:t>
            </a:r>
            <a:r>
              <a:rPr sz="26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для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 разработчиков</a:t>
            </a:r>
            <a:r>
              <a:rPr sz="26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(англ.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developer</a:t>
            </a:r>
            <a:r>
              <a:rPr sz="26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license);</a:t>
            </a:r>
            <a:endParaRPr sz="2600">
              <a:latin typeface="Segoe UI Light"/>
              <a:cs typeface="Segoe UI Light"/>
            </a:endParaRPr>
          </a:p>
          <a:p>
            <a:pPr marL="355600" marR="135890" indent="-343535">
              <a:lnSpc>
                <a:spcPct val="100000"/>
              </a:lnSpc>
              <a:spcBef>
                <a:spcPts val="605"/>
              </a:spcBef>
              <a:buChar char="–"/>
              <a:tabLst>
                <a:tab pos="356235" algn="l"/>
              </a:tabLst>
            </a:pP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лицензия для независимых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разработчиков (англ. ISV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license);</a:t>
            </a:r>
            <a:endParaRPr sz="2600">
              <a:latin typeface="Segoe UI Light"/>
              <a:cs typeface="Segoe UI Light"/>
            </a:endParaRPr>
          </a:p>
          <a:p>
            <a:pPr marL="355600" marR="611505" indent="-343535">
              <a:lnSpc>
                <a:spcPct val="100000"/>
              </a:lnSpc>
              <a:spcBef>
                <a:spcPts val="600"/>
              </a:spcBef>
              <a:buChar char="–"/>
              <a:tabLst>
                <a:tab pos="356235" algn="l"/>
              </a:tabLst>
            </a:pP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лицензия для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учебных заведений (англ.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academic </a:t>
            </a:r>
            <a:r>
              <a:rPr sz="2600" spc="-7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license), программа от Autodesk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Inc.,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программа </a:t>
            </a:r>
            <a:r>
              <a:rPr sz="26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Microsoft</a:t>
            </a:r>
            <a:r>
              <a:rPr sz="26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spc="-5" dirty="0">
                <a:solidFill>
                  <a:srgbClr val="FFFFFF"/>
                </a:solidFill>
                <a:latin typeface="Segoe UI Light"/>
                <a:cs typeface="Segoe UI Light"/>
              </a:rPr>
              <a:t>Imagine</a:t>
            </a:r>
            <a:r>
              <a:rPr sz="260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600" dirty="0">
                <a:solidFill>
                  <a:srgbClr val="FFFFFF"/>
                </a:solidFill>
                <a:latin typeface="Segoe UI Light"/>
                <a:cs typeface="Segoe UI Light"/>
              </a:rPr>
              <a:t>Premium.</a:t>
            </a:r>
            <a:endParaRPr sz="26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6F2F9F"/>
          </a:solidFill>
        </p:spPr>
        <p:txBody>
          <a:bodyPr vert="horz" wrap="square" lIns="0" tIns="3619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4"/>
              </a:spcBef>
            </a:pPr>
            <a:r>
              <a:rPr sz="3100" spc="-5" dirty="0"/>
              <a:t>Каналы</a:t>
            </a:r>
            <a:r>
              <a:rPr sz="3100" spc="20" dirty="0"/>
              <a:t> </a:t>
            </a:r>
            <a:r>
              <a:rPr sz="3100" spc="-15" dirty="0"/>
              <a:t>распространения</a:t>
            </a:r>
            <a:r>
              <a:rPr sz="3100" spc="45" dirty="0"/>
              <a:t> </a:t>
            </a:r>
            <a:r>
              <a:rPr sz="3100" spc="-5" dirty="0"/>
              <a:t>лицензий</a:t>
            </a:r>
            <a:endParaRPr sz="3100"/>
          </a:p>
        </p:txBody>
      </p:sp>
      <p:sp>
        <p:nvSpPr>
          <p:cNvPr id="7" name="object 7"/>
          <p:cNvSpPr txBox="1"/>
          <p:nvPr/>
        </p:nvSpPr>
        <p:spPr>
          <a:xfrm>
            <a:off x="475589" y="1328369"/>
            <a:ext cx="7658734" cy="4125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89685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FFFFFF"/>
                </a:solidFill>
                <a:latin typeface="Segoe UI Light"/>
                <a:cs typeface="Segoe UI Light"/>
              </a:rPr>
              <a:t>Исходя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 из способа</a:t>
            </a:r>
            <a:r>
              <a:rPr sz="28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получения 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конечным </a:t>
            </a:r>
            <a:r>
              <a:rPr sz="2800" spc="-7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пользователем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Segoe UI Light"/>
                <a:cs typeface="Segoe UI Light"/>
              </a:rPr>
              <a:t>программного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продукта:</a:t>
            </a:r>
            <a:endParaRPr sz="2800">
              <a:latin typeface="Segoe UI Light"/>
              <a:cs typeface="Segoe UI Light"/>
            </a:endParaRPr>
          </a:p>
          <a:p>
            <a:pPr marL="469900" marR="570230" indent="-457834">
              <a:lnSpc>
                <a:spcPct val="100000"/>
              </a:lnSpc>
              <a:spcBef>
                <a:spcPts val="1800"/>
              </a:spcBef>
              <a:buChar char="–"/>
              <a:tabLst>
                <a:tab pos="469900" algn="l"/>
                <a:tab pos="470534" algn="l"/>
              </a:tabLst>
            </a:pPr>
            <a:r>
              <a:rPr sz="2800" dirty="0">
                <a:solidFill>
                  <a:srgbClr val="FFFFFF"/>
                </a:solidFill>
                <a:latin typeface="Segoe UI Light"/>
                <a:cs typeface="Segoe UI Light"/>
              </a:rPr>
              <a:t>OEM-лицензия </a:t>
            </a:r>
            <a:r>
              <a:rPr sz="2800" spc="-25" dirty="0">
                <a:solidFill>
                  <a:srgbClr val="FFFFFF"/>
                </a:solidFill>
                <a:latin typeface="Segoe UI Light"/>
                <a:cs typeface="Segoe UI Light"/>
              </a:rPr>
              <a:t>(от </a:t>
            </a:r>
            <a:r>
              <a:rPr sz="2800" spc="-35" dirty="0">
                <a:solidFill>
                  <a:srgbClr val="FFFFFF"/>
                </a:solidFill>
                <a:latin typeface="Segoe UI Light"/>
                <a:cs typeface="Segoe UI Light"/>
              </a:rPr>
              <a:t>англ.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original equipment </a:t>
            </a:r>
            <a:r>
              <a:rPr sz="2800" spc="-7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manufacturer);</a:t>
            </a:r>
            <a:endParaRPr sz="2800">
              <a:latin typeface="Segoe UI Light"/>
              <a:cs typeface="Segoe UI Light"/>
            </a:endParaRPr>
          </a:p>
          <a:p>
            <a:pPr marL="469900" marR="5080" indent="-457834">
              <a:lnSpc>
                <a:spcPct val="100000"/>
              </a:lnSpc>
              <a:spcBef>
                <a:spcPts val="1805"/>
              </a:spcBef>
              <a:buChar char="–"/>
              <a:tabLst>
                <a:tab pos="469900" algn="l"/>
                <a:tab pos="470534" algn="l"/>
              </a:tabLst>
            </a:pP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коробочная лицензия </a:t>
            </a:r>
            <a:r>
              <a:rPr sz="2800" spc="-25" dirty="0">
                <a:solidFill>
                  <a:srgbClr val="FFFFFF"/>
                </a:solidFill>
                <a:latin typeface="Segoe UI Light"/>
                <a:cs typeface="Segoe UI Light"/>
              </a:rPr>
              <a:t>(от </a:t>
            </a:r>
            <a:r>
              <a:rPr sz="2800" spc="-35" dirty="0">
                <a:solidFill>
                  <a:srgbClr val="FFFFFF"/>
                </a:solidFill>
                <a:latin typeface="Segoe UI Light"/>
                <a:cs typeface="Segoe UI Light"/>
              </a:rPr>
              <a:t>англ. </a:t>
            </a:r>
            <a:r>
              <a:rPr sz="2800" spc="-20" dirty="0">
                <a:solidFill>
                  <a:srgbClr val="FFFFFF"/>
                </a:solidFill>
                <a:latin typeface="Segoe UI Light"/>
                <a:cs typeface="Segoe UI Light"/>
              </a:rPr>
              <a:t>box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license или </a:t>
            </a:r>
            <a:r>
              <a:rPr sz="2800" spc="-7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Segoe UI Light"/>
                <a:cs typeface="Segoe UI Light"/>
              </a:rPr>
              <a:t>BOX);</a:t>
            </a:r>
            <a:endParaRPr sz="2800">
              <a:latin typeface="Segoe UI Light"/>
              <a:cs typeface="Segoe UI Light"/>
            </a:endParaRPr>
          </a:p>
          <a:p>
            <a:pPr marL="469900" marR="790575" indent="-457834">
              <a:lnSpc>
                <a:spcPct val="100000"/>
              </a:lnSpc>
              <a:spcBef>
                <a:spcPts val="1800"/>
              </a:spcBef>
              <a:buChar char="–"/>
              <a:tabLst>
                <a:tab pos="469900" algn="l"/>
                <a:tab pos="470534" algn="l"/>
              </a:tabLst>
            </a:pPr>
            <a:r>
              <a:rPr sz="2800" spc="-10" dirty="0">
                <a:solidFill>
                  <a:srgbClr val="FFFFFF"/>
                </a:solidFill>
                <a:latin typeface="Segoe UI Light"/>
                <a:cs typeface="Segoe UI Light"/>
              </a:rPr>
              <a:t>корпоративная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лицензия </a:t>
            </a:r>
            <a:r>
              <a:rPr sz="2800" spc="-30" dirty="0">
                <a:solidFill>
                  <a:srgbClr val="FFFFFF"/>
                </a:solidFill>
                <a:latin typeface="Segoe UI Light"/>
                <a:cs typeface="Segoe UI Light"/>
              </a:rPr>
              <a:t>(англ.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corporate </a:t>
            </a:r>
            <a:r>
              <a:rPr sz="2800" spc="-7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Segoe UI Light"/>
                <a:cs typeface="Segoe UI Light"/>
              </a:rPr>
              <a:t>license).</a:t>
            </a:r>
            <a:endParaRPr sz="2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931025" y="152400"/>
            <a:ext cx="1755775" cy="838200"/>
            <a:chOff x="6931025" y="152400"/>
            <a:chExt cx="1755775" cy="838200"/>
          </a:xfrm>
        </p:grpSpPr>
        <p:sp>
          <p:nvSpPr>
            <p:cNvPr id="3" name="object 3"/>
            <p:cNvSpPr/>
            <p:nvPr/>
          </p:nvSpPr>
          <p:spPr>
            <a:xfrm>
              <a:off x="6931025" y="152400"/>
              <a:ext cx="1755775" cy="838200"/>
            </a:xfrm>
            <a:custGeom>
              <a:avLst/>
              <a:gdLst/>
              <a:ahLst/>
              <a:cxnLst/>
              <a:rect l="l" t="t" r="r" b="b"/>
              <a:pathLst>
                <a:path w="1755775" h="838200">
                  <a:moveTo>
                    <a:pt x="1755775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755775" y="838200"/>
                  </a:lnTo>
                  <a:lnTo>
                    <a:pt x="175577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25171" y="0"/>
                  </a:moveTo>
                  <a:lnTo>
                    <a:pt x="0" y="0"/>
                  </a:lnTo>
                  <a:lnTo>
                    <a:pt x="308228" y="266700"/>
                  </a:lnTo>
                  <a:lnTo>
                    <a:pt x="0" y="533400"/>
                  </a:lnTo>
                  <a:lnTo>
                    <a:pt x="225171" y="533400"/>
                  </a:lnTo>
                  <a:lnTo>
                    <a:pt x="533400" y="266700"/>
                  </a:lnTo>
                  <a:lnTo>
                    <a:pt x="2251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59675" y="30480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225171" y="0"/>
                  </a:lnTo>
                  <a:lnTo>
                    <a:pt x="533400" y="266700"/>
                  </a:lnTo>
                  <a:lnTo>
                    <a:pt x="225171" y="533400"/>
                  </a:lnTo>
                  <a:lnTo>
                    <a:pt x="0" y="533400"/>
                  </a:lnTo>
                  <a:lnTo>
                    <a:pt x="308228" y="266700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875" y="157162"/>
            <a:ext cx="6477000" cy="833755"/>
          </a:xfrm>
          <a:prstGeom prst="rect">
            <a:avLst/>
          </a:prstGeom>
          <a:solidFill>
            <a:srgbClr val="00AF50"/>
          </a:solidFill>
        </p:spPr>
        <p:txBody>
          <a:bodyPr vert="horz" wrap="square" lIns="0" tIns="3302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60"/>
              </a:spcBef>
            </a:pPr>
            <a:r>
              <a:rPr sz="4000" spc="-10" dirty="0"/>
              <a:t>Метрики</a:t>
            </a:r>
            <a:r>
              <a:rPr sz="4000" spc="5" dirty="0"/>
              <a:t> </a:t>
            </a:r>
            <a:r>
              <a:rPr sz="4000" spc="-5" dirty="0"/>
              <a:t>лицензирования</a:t>
            </a:r>
            <a:endParaRPr sz="40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790080"/>
              </p:ext>
            </p:extLst>
          </p:nvPr>
        </p:nvGraphicFramePr>
        <p:xfrm>
          <a:off x="390525" y="1040638"/>
          <a:ext cx="8289925" cy="5706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76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Метрика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Примеры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Device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(устройство)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или</a:t>
                      </a:r>
                      <a:r>
                        <a:rPr sz="1800" spc="-3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Seat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(рабочее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место)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Локальные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приложения</a:t>
                      </a:r>
                      <a:r>
                        <a:rPr sz="1800" spc="-4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(из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пакета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MS</a:t>
                      </a: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Office),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клиентские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лицензии</a:t>
                      </a:r>
                      <a:r>
                        <a:rPr sz="1800" spc="-4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серверных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продуктов.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85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100">
                        <a:solidFill>
                          <a:srgbClr val="C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User</a:t>
                      </a:r>
                      <a:r>
                        <a:rPr sz="1800" spc="-3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(пользователь)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Локальные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приложения,</a:t>
                      </a:r>
                      <a:r>
                        <a:rPr sz="1800" spc="-5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приложения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для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  <a:p>
                      <a:pPr marL="10795" marR="218440">
                        <a:lnSpc>
                          <a:spcPct val="100000"/>
                        </a:lnSpc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домашнего использования, клиентские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лицензии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серверных 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продуктов.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4624">
                <a:tc>
                  <a:txBody>
                    <a:bodyPr/>
                    <a:lstStyle/>
                    <a:p>
                      <a:pPr marL="10160" marR="10223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Access (доступ) или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Subscriber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(подписчик)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535"/>
                        </a:spcBef>
                      </a:pP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Web-приложения,</a:t>
                      </a:r>
                      <a:r>
                        <a:rPr sz="1800" spc="-6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web-сервисы.</a:t>
                      </a:r>
                    </a:p>
                  </a:txBody>
                  <a:tcPr marL="0" marR="0" marT="1949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0165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Concurrent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connection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  <a:p>
                      <a:pPr marL="101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(конкурентное</a:t>
                      </a:r>
                      <a:r>
                        <a:rPr sz="1800" spc="-3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подключение)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Приложения,</a:t>
                      </a:r>
                      <a:r>
                        <a:rPr sz="1800" spc="-5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работа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 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которыми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возможна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по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сети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(продукты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1C).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374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660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Processor</a:t>
                      </a: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(процессор)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2108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 marR="37655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Серверные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приложения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(СУБД Oracle Database,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Microsoft</a:t>
                      </a:r>
                      <a:r>
                        <a:rPr sz="1800" spc="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SQL</a:t>
                      </a:r>
                      <a:r>
                        <a:rPr sz="1800" spc="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Server).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73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123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Named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User</a:t>
                      </a:r>
                      <a:r>
                        <a:rPr sz="1800" spc="-2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(NU)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Продукты</a:t>
                      </a:r>
                      <a:r>
                        <a:rPr sz="1800" spc="-4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Oracle.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996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9574">
                <a:tc>
                  <a:txBody>
                    <a:bodyPr/>
                    <a:lstStyle/>
                    <a:p>
                      <a:pPr marL="10160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Processor</a:t>
                      </a:r>
                      <a:r>
                        <a:rPr sz="1800" spc="-1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4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Value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Unit (PVU)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28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Серверные</a:t>
                      </a:r>
                      <a:r>
                        <a:rPr sz="1800" spc="-3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приложения</a:t>
                      </a:r>
                      <a:r>
                        <a:rPr sz="1800" spc="-4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IBM</a:t>
                      </a:r>
                      <a:r>
                        <a:rPr sz="1800" spc="-2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(Lotus).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62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9111">
                <a:tc>
                  <a:txBody>
                    <a:bodyPr/>
                    <a:lstStyle/>
                    <a:p>
                      <a:pPr marL="10160" marR="586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Network </a:t>
                      </a: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address (сетевой </a:t>
                      </a:r>
                      <a:r>
                        <a:rPr sz="1800" spc="-48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адрес)</a:t>
                      </a:r>
                      <a:endParaRPr sz="180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sz="1800" spc="-1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Сетевые</a:t>
                      </a:r>
                      <a:r>
                        <a:rPr sz="1800" spc="-50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 </a:t>
                      </a:r>
                      <a:r>
                        <a:rPr sz="1800" spc="-5" dirty="0">
                          <a:solidFill>
                            <a:srgbClr val="C00000"/>
                          </a:solidFill>
                          <a:latin typeface="Segoe UI Light"/>
                          <a:cs typeface="Segoe UI Light"/>
                        </a:rPr>
                        <a:t>продукты.</a:t>
                      </a:r>
                      <a:endParaRPr sz="1800" dirty="0">
                        <a:solidFill>
                          <a:srgbClr val="C00000"/>
                        </a:solidFill>
                        <a:latin typeface="Segoe UI Light"/>
                        <a:cs typeface="Segoe UI Light"/>
                      </a:endParaRPr>
                    </a:p>
                  </a:txBody>
                  <a:tcPr marL="0" marR="0" marT="1422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3429</Words>
  <Application>Microsoft Office PowerPoint</Application>
  <PresentationFormat>Произвольный</PresentationFormat>
  <Paragraphs>544</Paragraphs>
  <Slides>62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72" baseType="lpstr">
      <vt:lpstr>Arial</vt:lpstr>
      <vt:lpstr>Arial MT</vt:lpstr>
      <vt:lpstr>Century Gothic</vt:lpstr>
      <vt:lpstr>Microsoft Sans Serif</vt:lpstr>
      <vt:lpstr>Segoe UI</vt:lpstr>
      <vt:lpstr>Segoe UI Light</vt:lpstr>
      <vt:lpstr>Segoe UI Semibold</vt:lpstr>
      <vt:lpstr>Times New Roman</vt:lpstr>
      <vt:lpstr>Wingdings 3</vt:lpstr>
      <vt:lpstr>Ион</vt:lpstr>
      <vt:lpstr>Презентация PowerPoint</vt:lpstr>
      <vt:lpstr>1. Основные термины</vt:lpstr>
      <vt:lpstr>Основные термины</vt:lpstr>
      <vt:lpstr>Презентация PowerPoint</vt:lpstr>
      <vt:lpstr>Алгоритм разработки и пересмотра  стандарта</vt:lpstr>
      <vt:lpstr>Презентация PowerPoint</vt:lpstr>
      <vt:lpstr>4. Цели стандартизации ИТ</vt:lpstr>
      <vt:lpstr>5. «Слабые» места российской и  зарубежных систем стандартизации</vt:lpstr>
      <vt:lpstr>6. Нормативные документы по  стандартизации</vt:lpstr>
      <vt:lpstr>7. Виды стандартов</vt:lpstr>
      <vt:lpstr>Презентация PowerPoint</vt:lpstr>
      <vt:lpstr>8. Международные организации по  стандартизации в сфере ИТ</vt:lpstr>
      <vt:lpstr>9. Структура стандарта</vt:lpstr>
      <vt:lpstr>Структура названия стандарта</vt:lpstr>
      <vt:lpstr>Реквизиты стандартов</vt:lpstr>
      <vt:lpstr>Классификаторы</vt:lpstr>
      <vt:lpstr>Презентация PowerPoint</vt:lpstr>
      <vt:lpstr>10. Профессиональные стандарты</vt:lpstr>
      <vt:lpstr>Профессиональные стандарты</vt:lpstr>
      <vt:lpstr>Стандарты WorldSkills</vt:lpstr>
      <vt:lpstr>11. Информационно-поисковые системы  нормативов</vt:lpstr>
      <vt:lpstr>Презентация PowerPoint</vt:lpstr>
      <vt:lpstr>1. Понятие о ЖЦ ПС</vt:lpstr>
      <vt:lpstr>2. Классификация стандартов на  организацию ЖЦ ПC</vt:lpstr>
      <vt:lpstr>3. Развитие стандартизации ЖЦ ПС:  истоки</vt:lpstr>
      <vt:lpstr>4. Стандарты ГОСТ 34.ХХХ на  автоматизированные системы</vt:lpstr>
      <vt:lpstr>5. Современные стандарты,  регламентирующие ЖЦ ПС</vt:lpstr>
      <vt:lpstr>6. ГОСТ Р ИСО/МЭК 12207</vt:lpstr>
      <vt:lpstr>Описание процесса ЖЦ</vt:lpstr>
      <vt:lpstr>Презентация PowerPoint</vt:lpstr>
      <vt:lpstr>7. Модели жизненного цикла</vt:lpstr>
      <vt:lpstr>Каскадная и спиральная модели</vt:lpstr>
      <vt:lpstr>8. Платформы класса ALM</vt:lpstr>
      <vt:lpstr>Функции платформ ALM</vt:lpstr>
      <vt:lpstr>Сертификация  ИТ-продукции</vt:lpstr>
      <vt:lpstr>Сертификация в ИТ. Термины</vt:lpstr>
      <vt:lpstr>Цели сертификации</vt:lpstr>
      <vt:lpstr>Цели сертификации</vt:lpstr>
      <vt:lpstr>Презентация PowerPoint</vt:lpstr>
      <vt:lpstr>Тестирование – это …</vt:lpstr>
      <vt:lpstr>Зачем проводить тестирование?</vt:lpstr>
      <vt:lpstr>Актуальные стандарты тестирования</vt:lpstr>
      <vt:lpstr>Методики тестирования</vt:lpstr>
      <vt:lpstr>Типы и уровни тестирования</vt:lpstr>
      <vt:lpstr>Тестовое покрытие</vt:lpstr>
      <vt:lpstr>Документация  тестирования</vt:lpstr>
      <vt:lpstr>Инструменты автоматизации  тестирования</vt:lpstr>
      <vt:lpstr>Стандарт де-факто: TDD</vt:lpstr>
      <vt:lpstr>Сертификация тестировщиков</vt:lpstr>
      <vt:lpstr>Сертификация тестировщиков</vt:lpstr>
      <vt:lpstr>Презентация PowerPoint</vt:lpstr>
      <vt:lpstr>Актуальность и опасности</vt:lpstr>
      <vt:lpstr>Авторские права</vt:lpstr>
      <vt:lpstr>Передача прав на ПО</vt:lpstr>
      <vt:lpstr>Классификация ПО</vt:lpstr>
      <vt:lpstr>Свободные лицензии</vt:lpstr>
      <vt:lpstr>Связь терминов</vt:lpstr>
      <vt:lpstr>Бесплатное и коммерческое ПО</vt:lpstr>
      <vt:lpstr>Модели лицензирования</vt:lpstr>
      <vt:lpstr>Типы лицензий</vt:lpstr>
      <vt:lpstr>Каналы распространения лицензий</vt:lpstr>
      <vt:lpstr>Метрики лицензирования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Р. Хорошева</dc:creator>
  <cp:lastModifiedBy>Елена Р. Хорошева</cp:lastModifiedBy>
  <cp:revision>5</cp:revision>
  <dcterms:created xsi:type="dcterms:W3CDTF">2023-11-21T10:13:53Z</dcterms:created>
  <dcterms:modified xsi:type="dcterms:W3CDTF">2023-12-06T07:25:59Z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2023-11-21T00:00:00Z</vt:filetime>
  </property>
</Properties>
</file>