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4" r:id="rId31"/>
    <p:sldId id="273" r:id="rId32"/>
    <p:sldId id="275" r:id="rId33"/>
    <p:sldId id="272" r:id="rId34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85316" y="636269"/>
            <a:ext cx="6373367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7DB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Применение</a:t>
            </a:r>
            <a:r>
              <a:rPr spc="10" dirty="0"/>
              <a:t> </a:t>
            </a:r>
            <a:r>
              <a:rPr spc="-5" dirty="0"/>
              <a:t>методологии</a:t>
            </a:r>
            <a:r>
              <a:rPr spc="50" dirty="0"/>
              <a:t> </a:t>
            </a:r>
            <a:r>
              <a:rPr spc="-5" dirty="0"/>
              <a:t>COBIT5</a:t>
            </a:r>
            <a:r>
              <a:rPr dirty="0"/>
              <a:t> в </a:t>
            </a:r>
            <a:r>
              <a:rPr spc="-5" dirty="0"/>
              <a:t>решении</a:t>
            </a:r>
            <a:r>
              <a:rPr spc="10" dirty="0"/>
              <a:t> </a:t>
            </a:r>
            <a:r>
              <a:rPr spc="-5" dirty="0"/>
              <a:t>задач</a:t>
            </a:r>
            <a:r>
              <a:rPr spc="5" dirty="0"/>
              <a:t> </a:t>
            </a:r>
            <a:r>
              <a:rPr spc="-5" dirty="0"/>
              <a:t>управления </a:t>
            </a:r>
            <a:r>
              <a:rPr spc="-345" dirty="0"/>
              <a:t> </a:t>
            </a:r>
            <a:r>
              <a:rPr dirty="0"/>
              <a:t>ИТ</a:t>
            </a:r>
            <a:r>
              <a:rPr spc="-5" dirty="0"/>
              <a:t> на</a:t>
            </a:r>
            <a:r>
              <a:rPr dirty="0"/>
              <a:t> </a:t>
            </a:r>
            <a:r>
              <a:rPr spc="-5" dirty="0"/>
              <a:t>предприятии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7DB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Применение</a:t>
            </a:r>
            <a:r>
              <a:rPr spc="10" dirty="0"/>
              <a:t> </a:t>
            </a:r>
            <a:r>
              <a:rPr spc="-5" dirty="0"/>
              <a:t>методологии</a:t>
            </a:r>
            <a:r>
              <a:rPr spc="50" dirty="0"/>
              <a:t> </a:t>
            </a:r>
            <a:r>
              <a:rPr spc="-5" dirty="0"/>
              <a:t>COBIT5</a:t>
            </a:r>
            <a:r>
              <a:rPr dirty="0"/>
              <a:t> в </a:t>
            </a:r>
            <a:r>
              <a:rPr spc="-5" dirty="0"/>
              <a:t>решении</a:t>
            </a:r>
            <a:r>
              <a:rPr spc="10" dirty="0"/>
              <a:t> </a:t>
            </a:r>
            <a:r>
              <a:rPr spc="-5" dirty="0"/>
              <a:t>задач</a:t>
            </a:r>
            <a:r>
              <a:rPr spc="5" dirty="0"/>
              <a:t> </a:t>
            </a:r>
            <a:r>
              <a:rPr spc="-5" dirty="0"/>
              <a:t>управления </a:t>
            </a:r>
            <a:r>
              <a:rPr spc="-345" dirty="0"/>
              <a:t> </a:t>
            </a:r>
            <a:r>
              <a:rPr dirty="0"/>
              <a:t>ИТ</a:t>
            </a:r>
            <a:r>
              <a:rPr spc="-5" dirty="0"/>
              <a:t> на</a:t>
            </a:r>
            <a:r>
              <a:rPr dirty="0"/>
              <a:t> </a:t>
            </a:r>
            <a:r>
              <a:rPr spc="-5" dirty="0"/>
              <a:t>предприятии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7DB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Применение</a:t>
            </a:r>
            <a:r>
              <a:rPr spc="10" dirty="0"/>
              <a:t> </a:t>
            </a:r>
            <a:r>
              <a:rPr spc="-5" dirty="0"/>
              <a:t>методологии</a:t>
            </a:r>
            <a:r>
              <a:rPr spc="50" dirty="0"/>
              <a:t> </a:t>
            </a:r>
            <a:r>
              <a:rPr spc="-5" dirty="0"/>
              <a:t>COBIT5</a:t>
            </a:r>
            <a:r>
              <a:rPr dirty="0"/>
              <a:t> в </a:t>
            </a:r>
            <a:r>
              <a:rPr spc="-5" dirty="0"/>
              <a:t>решении</a:t>
            </a:r>
            <a:r>
              <a:rPr spc="10" dirty="0"/>
              <a:t> </a:t>
            </a:r>
            <a:r>
              <a:rPr spc="-5" dirty="0"/>
              <a:t>задач</a:t>
            </a:r>
            <a:r>
              <a:rPr spc="5" dirty="0"/>
              <a:t> </a:t>
            </a:r>
            <a:r>
              <a:rPr spc="-5" dirty="0"/>
              <a:t>управления </a:t>
            </a:r>
            <a:r>
              <a:rPr spc="-345" dirty="0"/>
              <a:t> </a:t>
            </a:r>
            <a:r>
              <a:rPr dirty="0"/>
              <a:t>ИТ</a:t>
            </a:r>
            <a:r>
              <a:rPr spc="-5" dirty="0"/>
              <a:t> на</a:t>
            </a:r>
            <a:r>
              <a:rPr dirty="0"/>
              <a:t> </a:t>
            </a:r>
            <a:r>
              <a:rPr spc="-5" dirty="0"/>
              <a:t>предприятии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7DB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Применение</a:t>
            </a:r>
            <a:r>
              <a:rPr spc="10" dirty="0"/>
              <a:t> </a:t>
            </a:r>
            <a:r>
              <a:rPr spc="-5" dirty="0"/>
              <a:t>методологии</a:t>
            </a:r>
            <a:r>
              <a:rPr spc="50" dirty="0"/>
              <a:t> </a:t>
            </a:r>
            <a:r>
              <a:rPr spc="-5" dirty="0"/>
              <a:t>COBIT5</a:t>
            </a:r>
            <a:r>
              <a:rPr dirty="0"/>
              <a:t> в </a:t>
            </a:r>
            <a:r>
              <a:rPr spc="-5" dirty="0"/>
              <a:t>решении</a:t>
            </a:r>
            <a:r>
              <a:rPr spc="10" dirty="0"/>
              <a:t> </a:t>
            </a:r>
            <a:r>
              <a:rPr spc="-5" dirty="0"/>
              <a:t>задач</a:t>
            </a:r>
            <a:r>
              <a:rPr spc="5" dirty="0"/>
              <a:t> </a:t>
            </a:r>
            <a:r>
              <a:rPr spc="-5" dirty="0"/>
              <a:t>управления </a:t>
            </a:r>
            <a:r>
              <a:rPr spc="-345" dirty="0"/>
              <a:t> </a:t>
            </a:r>
            <a:r>
              <a:rPr dirty="0"/>
              <a:t>ИТ</a:t>
            </a:r>
            <a:r>
              <a:rPr spc="-5" dirty="0"/>
              <a:t> на</a:t>
            </a:r>
            <a:r>
              <a:rPr dirty="0"/>
              <a:t> </a:t>
            </a:r>
            <a:r>
              <a:rPr spc="-5" dirty="0"/>
              <a:t>предприятии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Применение</a:t>
            </a:r>
            <a:r>
              <a:rPr spc="10" dirty="0"/>
              <a:t> </a:t>
            </a:r>
            <a:r>
              <a:rPr spc="-5" dirty="0"/>
              <a:t>методологии</a:t>
            </a:r>
            <a:r>
              <a:rPr spc="50" dirty="0"/>
              <a:t> </a:t>
            </a:r>
            <a:r>
              <a:rPr spc="-5" dirty="0"/>
              <a:t>COBIT5</a:t>
            </a:r>
            <a:r>
              <a:rPr dirty="0"/>
              <a:t> в </a:t>
            </a:r>
            <a:r>
              <a:rPr spc="-5" dirty="0"/>
              <a:t>решении</a:t>
            </a:r>
            <a:r>
              <a:rPr spc="10" dirty="0"/>
              <a:t> </a:t>
            </a:r>
            <a:r>
              <a:rPr spc="-5" dirty="0"/>
              <a:t>задач</a:t>
            </a:r>
            <a:r>
              <a:rPr spc="5" dirty="0"/>
              <a:t> </a:t>
            </a:r>
            <a:r>
              <a:rPr spc="-5" dirty="0"/>
              <a:t>управления </a:t>
            </a:r>
            <a:r>
              <a:rPr spc="-345" dirty="0"/>
              <a:t> </a:t>
            </a:r>
            <a:r>
              <a:rPr dirty="0"/>
              <a:t>ИТ</a:t>
            </a:r>
            <a:r>
              <a:rPr spc="-5" dirty="0"/>
              <a:t> на</a:t>
            </a:r>
            <a:r>
              <a:rPr dirty="0"/>
              <a:t> </a:t>
            </a:r>
            <a:r>
              <a:rPr spc="-5" dirty="0"/>
              <a:t>предприятии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3427" y="302209"/>
            <a:ext cx="7537145" cy="112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7DB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7169" y="1722247"/>
            <a:ext cx="8444230" cy="406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50442" y="6158438"/>
            <a:ext cx="4521200" cy="385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Применение</a:t>
            </a:r>
            <a:r>
              <a:rPr spc="10" dirty="0"/>
              <a:t> </a:t>
            </a:r>
            <a:r>
              <a:rPr spc="-5" dirty="0"/>
              <a:t>методологии</a:t>
            </a:r>
            <a:r>
              <a:rPr spc="50" dirty="0"/>
              <a:t> </a:t>
            </a:r>
            <a:r>
              <a:rPr spc="-5" dirty="0"/>
              <a:t>COBIT5</a:t>
            </a:r>
            <a:r>
              <a:rPr dirty="0"/>
              <a:t> в </a:t>
            </a:r>
            <a:r>
              <a:rPr spc="-5" dirty="0"/>
              <a:t>решении</a:t>
            </a:r>
            <a:r>
              <a:rPr spc="10" dirty="0"/>
              <a:t> </a:t>
            </a:r>
            <a:r>
              <a:rPr spc="-5" dirty="0"/>
              <a:t>задач</a:t>
            </a:r>
            <a:r>
              <a:rPr spc="5" dirty="0"/>
              <a:t> </a:t>
            </a:r>
            <a:r>
              <a:rPr spc="-5" dirty="0"/>
              <a:t>управления </a:t>
            </a:r>
            <a:r>
              <a:rPr spc="-345" dirty="0"/>
              <a:t> </a:t>
            </a:r>
            <a:r>
              <a:rPr dirty="0"/>
              <a:t>ИТ</a:t>
            </a:r>
            <a:r>
              <a:rPr spc="-5" dirty="0"/>
              <a:t> на</a:t>
            </a:r>
            <a:r>
              <a:rPr dirty="0"/>
              <a:t> </a:t>
            </a:r>
            <a:r>
              <a:rPr spc="-5" dirty="0"/>
              <a:t>предприятии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85506" y="6225325"/>
            <a:ext cx="375284" cy="321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saca.ru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sm-docs.com/blogs/service-management/itsm-service-strategy?_pos=5&amp;_sid=91e54b6a2&amp;_ss=r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5370" y="2489073"/>
            <a:ext cx="74320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3090" marR="5080" indent="-58102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accent1">
                    <a:lumMod val="50000"/>
                  </a:schemeClr>
                </a:solidFill>
              </a:rPr>
              <a:t>Применение</a:t>
            </a:r>
            <a:r>
              <a:rPr sz="2800" spc="3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10" dirty="0">
                <a:solidFill>
                  <a:schemeClr val="accent1">
                    <a:lumMod val="50000"/>
                  </a:schemeClr>
                </a:solidFill>
              </a:rPr>
              <a:t>методологии</a:t>
            </a:r>
            <a:r>
              <a:rPr sz="2800" spc="2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10" dirty="0">
                <a:solidFill>
                  <a:schemeClr val="accent1">
                    <a:lumMod val="50000"/>
                  </a:schemeClr>
                </a:solidFill>
              </a:rPr>
              <a:t>COBIT5 </a:t>
            </a:r>
            <a:r>
              <a:rPr sz="2800" spc="-5" dirty="0">
                <a:solidFill>
                  <a:schemeClr val="accent1">
                    <a:lumMod val="50000"/>
                  </a:schemeClr>
                </a:solidFill>
              </a:rPr>
              <a:t>в </a:t>
            </a:r>
            <a:r>
              <a:rPr sz="2800" spc="-10" dirty="0">
                <a:solidFill>
                  <a:schemeClr val="accent1">
                    <a:lumMod val="50000"/>
                  </a:schemeClr>
                </a:solidFill>
              </a:rPr>
              <a:t>решении </a:t>
            </a:r>
            <a:r>
              <a:rPr sz="2800" spc="-83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5" dirty="0">
                <a:solidFill>
                  <a:schemeClr val="accent1">
                    <a:lumMod val="50000"/>
                  </a:schemeClr>
                </a:solidFill>
              </a:rPr>
              <a:t>задач </a:t>
            </a:r>
            <a:r>
              <a:rPr sz="2800" spc="-10" dirty="0">
                <a:solidFill>
                  <a:schemeClr val="accent1">
                    <a:lumMod val="50000"/>
                  </a:schemeClr>
                </a:solidFill>
              </a:rPr>
              <a:t>управления</a:t>
            </a:r>
            <a:r>
              <a:rPr sz="2800" spc="1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5" dirty="0">
                <a:solidFill>
                  <a:schemeClr val="accent1">
                    <a:lumMod val="50000"/>
                  </a:schemeClr>
                </a:solidFill>
              </a:rPr>
              <a:t>ИТ</a:t>
            </a:r>
            <a:r>
              <a:rPr sz="2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5" dirty="0">
                <a:solidFill>
                  <a:schemeClr val="accent1">
                    <a:lumMod val="50000"/>
                  </a:schemeClr>
                </a:solidFill>
              </a:rPr>
              <a:t>на предприятии</a:t>
            </a:r>
            <a:endParaRPr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7582" y="3429000"/>
            <a:ext cx="7416800" cy="72390"/>
          </a:xfrm>
          <a:custGeom>
            <a:avLst/>
            <a:gdLst/>
            <a:ahLst/>
            <a:cxnLst/>
            <a:rect l="l" t="t" r="r" b="b"/>
            <a:pathLst>
              <a:path w="7416800" h="72389">
                <a:moveTo>
                  <a:pt x="7416800" y="0"/>
                </a:moveTo>
                <a:lnTo>
                  <a:pt x="0" y="0"/>
                </a:lnTo>
                <a:lnTo>
                  <a:pt x="0" y="72009"/>
                </a:lnTo>
                <a:lnTo>
                  <a:pt x="7416800" y="72009"/>
                </a:lnTo>
                <a:lnTo>
                  <a:pt x="74168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7582" y="2492882"/>
            <a:ext cx="7416800" cy="72390"/>
          </a:xfrm>
          <a:custGeom>
            <a:avLst/>
            <a:gdLst/>
            <a:ahLst/>
            <a:cxnLst/>
            <a:rect l="l" t="t" r="r" b="b"/>
            <a:pathLst>
              <a:path w="7416800" h="72389">
                <a:moveTo>
                  <a:pt x="7416800" y="0"/>
                </a:moveTo>
                <a:lnTo>
                  <a:pt x="0" y="0"/>
                </a:lnTo>
                <a:lnTo>
                  <a:pt x="0" y="72009"/>
                </a:lnTo>
                <a:lnTo>
                  <a:pt x="7416800" y="72009"/>
                </a:lnTo>
                <a:lnTo>
                  <a:pt x="7416800" y="0"/>
                </a:lnTo>
                <a:close/>
              </a:path>
            </a:pathLst>
          </a:custGeom>
          <a:solidFill>
            <a:srgbClr val="5DBA0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765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COBIT5</a:t>
            </a:r>
            <a:r>
              <a:rPr sz="2800" dirty="0"/>
              <a:t> </a:t>
            </a:r>
            <a:r>
              <a:rPr sz="2800" spc="-5" dirty="0"/>
              <a:t>–</a:t>
            </a:r>
            <a:r>
              <a:rPr sz="2800" spc="-15" dirty="0"/>
              <a:t> </a:t>
            </a:r>
            <a:r>
              <a:rPr sz="2800" spc="-5" dirty="0"/>
              <a:t>«лучшая</a:t>
            </a:r>
            <a:r>
              <a:rPr sz="2800" spc="-25" dirty="0"/>
              <a:t> </a:t>
            </a:r>
            <a:r>
              <a:rPr sz="2800" spc="-5" dirty="0"/>
              <a:t>практика»</a:t>
            </a:r>
            <a:r>
              <a:rPr sz="2800" spc="20" dirty="0"/>
              <a:t> </a:t>
            </a:r>
            <a:r>
              <a:rPr sz="2800" spc="-5" dirty="0"/>
              <a:t>интеграции</a:t>
            </a:r>
            <a:endParaRPr sz="2800" dirty="0"/>
          </a:p>
          <a:p>
            <a:pPr marL="20955" algn="ctr">
              <a:lnSpc>
                <a:spcPct val="100000"/>
              </a:lnSpc>
            </a:pPr>
            <a:r>
              <a:rPr sz="2800" spc="-10" dirty="0"/>
              <a:t>«лучших</a:t>
            </a:r>
            <a:r>
              <a:rPr sz="2800" spc="-25" dirty="0"/>
              <a:t> </a:t>
            </a:r>
            <a:r>
              <a:rPr sz="2800" spc="-5" dirty="0"/>
              <a:t>практик»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59" y="1568919"/>
            <a:ext cx="8107680" cy="45243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2400" y="609600"/>
            <a:ext cx="1111091" cy="402995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2550" spc="233" dirty="0"/>
              <a:t>COBIT</a:t>
            </a:r>
            <a:endParaRPr sz="2550" dirty="0"/>
          </a:p>
        </p:txBody>
      </p:sp>
      <p:sp>
        <p:nvSpPr>
          <p:cNvPr id="52" name="object 52"/>
          <p:cNvSpPr txBox="1"/>
          <p:nvPr/>
        </p:nvSpPr>
        <p:spPr>
          <a:xfrm>
            <a:off x="457199" y="1600200"/>
            <a:ext cx="8121492" cy="298992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975" marR="3810" indent="-171450">
              <a:lnSpc>
                <a:spcPct val="120100"/>
              </a:lnSpc>
              <a:spcBef>
                <a:spcPts val="75"/>
              </a:spcBef>
              <a:buFont typeface="Arial MT"/>
              <a:buChar char="•"/>
              <a:tabLst>
                <a:tab pos="180975" algn="l"/>
              </a:tabLst>
            </a:pPr>
            <a:r>
              <a:rPr sz="2000" spc="6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sz="2000" spc="6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8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r>
              <a:rPr sz="2000" spc="7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000" spc="8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sz="2000" spc="7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sz="2000" spc="6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6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sz="2000" spc="12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или </a:t>
            </a:r>
            <a:r>
              <a:rPr sz="2000"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</a:t>
            </a:r>
            <a:r>
              <a:rPr sz="2000" spc="-43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Контрольные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Объекты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Информационных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смежных 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Технологий. </a:t>
            </a:r>
            <a:endParaRPr lang="ru-RU" sz="2000" spc="4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 marR="3810" indent="-171450">
              <a:lnSpc>
                <a:spcPct val="120100"/>
              </a:lnSpc>
              <a:spcBef>
                <a:spcPts val="75"/>
              </a:spcBef>
              <a:buFont typeface="Arial MT"/>
              <a:buChar char="•"/>
              <a:tabLst>
                <a:tab pos="180975" algn="l"/>
              </a:tabLst>
            </a:pPr>
            <a:r>
              <a:rPr sz="2000" spc="-4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sz="2000" spc="-4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39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этой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аббревиатурой</a:t>
            </a:r>
            <a:r>
              <a:rPr sz="2000" spc="6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скрывается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набор 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документов,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которых</a:t>
            </a:r>
            <a:r>
              <a:rPr sz="2000"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изложены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принципы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управления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sz="2000" spc="-4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аудита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информационных 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технологий</a:t>
            </a:r>
            <a:r>
              <a:rPr sz="2000" spc="1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spc="1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 marR="3810" indent="-171450">
              <a:lnSpc>
                <a:spcPct val="120100"/>
              </a:lnSpc>
              <a:spcBef>
                <a:spcPts val="75"/>
              </a:spcBef>
              <a:buFont typeface="Arial MT"/>
              <a:buChar char="•"/>
              <a:tabLst>
                <a:tab pos="180975" algn="l"/>
              </a:tabLst>
            </a:pPr>
            <a:r>
              <a:rPr sz="2000" spc="1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1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CobiT </a:t>
            </a:r>
            <a:r>
              <a:rPr sz="2000" spc="12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позиционируется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открытый стандарт 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"де-факто",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настоящее время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переживающий </a:t>
            </a:r>
            <a:r>
              <a:rPr sz="2000" spc="-4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свое</a:t>
            </a:r>
            <a:r>
              <a:rPr sz="2000" spc="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шестое</a:t>
            </a:r>
            <a:r>
              <a:rPr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издание.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2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bject 99"/>
          <p:cNvSpPr txBox="1"/>
          <p:nvPr/>
        </p:nvSpPr>
        <p:spPr>
          <a:xfrm>
            <a:off x="685800" y="990600"/>
            <a:ext cx="7755731" cy="3958808"/>
          </a:xfrm>
          <a:prstGeom prst="rect">
            <a:avLst/>
          </a:prstGeom>
        </p:spPr>
        <p:txBody>
          <a:bodyPr vert="horz" wrap="square" lIns="0" tIns="155734" rIns="0" bIns="0" rtlCol="0">
            <a:spAutoFit/>
          </a:bodyPr>
          <a:lstStyle/>
          <a:p>
            <a:pPr marL="9525">
              <a:spcBef>
                <a:spcPts val="1226"/>
              </a:spcBef>
            </a:pP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стандарта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входят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шесть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книг,</a:t>
            </a:r>
            <a:r>
              <a:rPr sz="1650" spc="-9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ориентированных</a:t>
            </a:r>
            <a:r>
              <a:rPr sz="1650"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разные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аудитории:</a:t>
            </a:r>
            <a:endParaRPr sz="16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 marR="3810" indent="-386715">
              <a:lnSpc>
                <a:spcPct val="120100"/>
              </a:lnSpc>
              <a:spcBef>
                <a:spcPts val="754"/>
              </a:spcBef>
              <a:buFont typeface="Trebuchet MS"/>
              <a:buAutoNum type="arabicPeriod"/>
              <a:tabLst>
                <a:tab pos="395764" algn="l"/>
                <a:tab pos="396240" algn="l"/>
              </a:tabLst>
            </a:pPr>
            <a:r>
              <a:rPr sz="1650"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Резюме</a:t>
            </a:r>
            <a:r>
              <a:rPr sz="1650" b="1" spc="-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650" b="1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руководителя.</a:t>
            </a:r>
            <a:r>
              <a:rPr sz="1650" b="1" spc="-1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стандарта</a:t>
            </a:r>
            <a:r>
              <a:rPr sz="1650"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9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CobiT,</a:t>
            </a:r>
            <a:r>
              <a:rPr sz="1650" spc="-11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ориентированное</a:t>
            </a:r>
            <a:r>
              <a:rPr sz="1650"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топ- </a:t>
            </a:r>
            <a:r>
              <a:rPr sz="1650" spc="-3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менеджеров</a:t>
            </a:r>
            <a:r>
              <a:rPr sz="1650" spc="-6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организации</a:t>
            </a:r>
            <a:r>
              <a:rPr sz="1650"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принятия ими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решения</a:t>
            </a:r>
            <a:r>
              <a:rPr sz="1650"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1650"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применимости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стандарта</a:t>
            </a:r>
            <a:r>
              <a:rPr sz="1650"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sz="1650" spc="-40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конкретной </a:t>
            </a:r>
            <a:r>
              <a:rPr sz="165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организации.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переводом 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этой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книги на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русский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 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можете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ознакомиться:</a:t>
            </a:r>
            <a:r>
              <a:rPr sz="1650" spc="-9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http://www.isaca.ru</a:t>
            </a:r>
            <a:endParaRPr sz="16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 indent="-386715">
              <a:spcBef>
                <a:spcPts val="1136"/>
              </a:spcBef>
              <a:buFont typeface="Trebuchet MS"/>
              <a:buAutoNum type="arabicPeriod"/>
              <a:tabLst>
                <a:tab pos="395764" algn="l"/>
                <a:tab pos="396240" algn="l"/>
              </a:tabLst>
            </a:pPr>
            <a:r>
              <a:rPr sz="1650" b="1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sz="1650" b="1" spc="-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структуры.</a:t>
            </a:r>
            <a:r>
              <a:rPr sz="1650" b="1" spc="-127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Книга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содержит</a:t>
            </a:r>
            <a:r>
              <a:rPr sz="1650" spc="-4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развернутое</a:t>
            </a:r>
            <a:r>
              <a:rPr sz="1650" spc="2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sz="1650"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структуры</a:t>
            </a:r>
            <a:endParaRPr sz="16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>
              <a:spcBef>
                <a:spcPts val="398"/>
              </a:spcBef>
            </a:pP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165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анда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165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1650"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1650" spc="14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650" spc="-11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ысо</a:t>
            </a:r>
            <a:r>
              <a:rPr sz="1650" spc="-8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1650" spc="-7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ых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целе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sz="1650"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8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165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1650"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ля</a:t>
            </a:r>
            <a:r>
              <a:rPr sz="1650"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1650" spc="-4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сне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ия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ним</a:t>
            </a:r>
            <a:r>
              <a:rPr sz="1650" spc="14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650" spc="-9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</a:t>
            </a:r>
            <a:r>
              <a:rPr sz="1650" spc="-7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бх</a:t>
            </a:r>
            <a:r>
              <a:rPr sz="1650" spc="-5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ые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endParaRPr sz="16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>
              <a:spcBef>
                <a:spcPts val="398"/>
              </a:spcBef>
            </a:pP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эффективной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навигации</a:t>
            </a:r>
            <a:r>
              <a:rPr sz="1650"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результативной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работы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</a:t>
            </a:r>
            <a:r>
              <a:rPr sz="1650"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стандартом.</a:t>
            </a:r>
            <a:endParaRPr sz="16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 indent="-386715">
              <a:spcBef>
                <a:spcPts val="1155"/>
              </a:spcBef>
              <a:buFont typeface="Trebuchet MS"/>
              <a:buAutoNum type="arabicPeriod" startAt="3"/>
              <a:tabLst>
                <a:tab pos="395764" algn="l"/>
                <a:tab pos="396240" algn="l"/>
              </a:tabLst>
            </a:pPr>
            <a:r>
              <a:rPr sz="1650"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Объекты</a:t>
            </a:r>
            <a:r>
              <a:rPr sz="1650" b="1" spc="-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контроля.</a:t>
            </a:r>
            <a:r>
              <a:rPr sz="1650" b="1" spc="-12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1650"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книгу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включены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детальные</a:t>
            </a:r>
            <a:r>
              <a:rPr sz="1650"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описания</a:t>
            </a:r>
            <a:r>
              <a:rPr sz="1650"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объектов</a:t>
            </a:r>
            <a:r>
              <a:rPr sz="1650" spc="-3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контроля,</a:t>
            </a:r>
            <a:endParaRPr sz="16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>
              <a:spcBef>
                <a:spcPts val="394"/>
              </a:spcBef>
            </a:pP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содержащие</a:t>
            </a:r>
            <a:r>
              <a:rPr sz="1650"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расшифровку</a:t>
            </a:r>
            <a:r>
              <a:rPr sz="1650" spc="-4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каждого</a:t>
            </a:r>
            <a:r>
              <a:rPr sz="1650" spc="-5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</a:t>
            </a:r>
            <a:r>
              <a:rPr sz="1650"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объектов.</a:t>
            </a:r>
            <a:endParaRPr sz="16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053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ject 114"/>
          <p:cNvSpPr txBox="1"/>
          <p:nvPr/>
        </p:nvSpPr>
        <p:spPr>
          <a:xfrm>
            <a:off x="533400" y="990600"/>
            <a:ext cx="8153400" cy="380296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95764" marR="277654" indent="-386715">
              <a:spcBef>
                <a:spcPts val="75"/>
              </a:spcBef>
              <a:buFont typeface="Trebuchet MS"/>
              <a:buAutoNum type="arabicPeriod" startAt="4"/>
              <a:tabLst>
                <a:tab pos="395764" algn="l"/>
                <a:tab pos="396240" algn="l"/>
              </a:tabLst>
            </a:pPr>
            <a:r>
              <a:rPr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Принципы</a:t>
            </a:r>
            <a:r>
              <a:rPr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управления.</a:t>
            </a:r>
            <a:r>
              <a:rPr b="1" spc="-9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Книга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отвечает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вопросы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управлять</a:t>
            </a:r>
            <a:r>
              <a:rPr spc="5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ИТ, </a:t>
            </a:r>
            <a:r>
              <a:rPr spc="-38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правильно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поставить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достижимую </a:t>
            </a:r>
            <a:r>
              <a:rPr spc="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цель,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ее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достичь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проконтролировать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полноту</a:t>
            </a:r>
            <a:r>
              <a:rPr spc="-3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ее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достижения.</a:t>
            </a:r>
            <a:r>
              <a:rPr spc="-11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Предназначена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</a:t>
            </a:r>
          </a:p>
          <a:p>
            <a:pPr marL="395764">
              <a:spcBef>
                <a:spcPts val="4"/>
              </a:spcBef>
            </a:pPr>
            <a:r>
              <a:rPr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руководителей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ИТ-служб.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 marR="3810" indent="-386715">
              <a:spcBef>
                <a:spcPts val="739"/>
              </a:spcBef>
              <a:buFont typeface="Trebuchet MS"/>
              <a:buAutoNum type="arabicPeriod" startAt="5"/>
              <a:tabLst>
                <a:tab pos="395764" algn="l"/>
                <a:tab pos="396240" algn="l"/>
              </a:tabLst>
            </a:pPr>
            <a:r>
              <a:rPr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Принципы</a:t>
            </a:r>
            <a:r>
              <a:rPr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2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аудита.</a:t>
            </a:r>
            <a:r>
              <a:rPr b="1" spc="-13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Правила</a:t>
            </a:r>
            <a:r>
              <a:rPr spc="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проведения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ИТ-аудита.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того,</a:t>
            </a:r>
            <a:r>
              <a:rPr spc="-9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кого </a:t>
            </a:r>
            <a:r>
              <a:rPr spc="-43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можно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получить </a:t>
            </a:r>
            <a:r>
              <a:rPr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необходимую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информацию,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ее 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проверить,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какие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вопросы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задавать?</a:t>
            </a:r>
            <a:r>
              <a:rPr spc="7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Книга</a:t>
            </a:r>
            <a:r>
              <a:rPr spc="-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предназначена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внутренних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внешних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/>
            <a:r>
              <a:rPr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аудиторов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ИТ,</a:t>
            </a:r>
            <a:r>
              <a:rPr spc="-7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также </a:t>
            </a:r>
            <a:r>
              <a:rPr spc="-2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консультантов</a:t>
            </a:r>
            <a:r>
              <a:rPr spc="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сфере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ИТ.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5764" marR="156686" indent="-386715">
              <a:spcBef>
                <a:spcPts val="761"/>
              </a:spcBef>
              <a:buFont typeface="Trebuchet MS"/>
              <a:buAutoNum type="arabicPeriod" startAt="6"/>
              <a:tabLst>
                <a:tab pos="395764" algn="l"/>
                <a:tab pos="396240" algn="l"/>
              </a:tabLst>
            </a:pPr>
            <a:r>
              <a:rPr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Набор </a:t>
            </a:r>
            <a:r>
              <a:rPr b="1"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инструментов </a:t>
            </a:r>
            <a:r>
              <a:rPr b="1"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внедрения </a:t>
            </a:r>
            <a:r>
              <a:rPr b="1"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стандарта </a:t>
            </a:r>
            <a:r>
              <a:rPr spc="47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практические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советы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</a:t>
            </a:r>
            <a:r>
              <a:rPr spc="-43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ежедневному</a:t>
            </a:r>
            <a:r>
              <a:rPr spc="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использованию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стандарта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управлении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аудите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ИТ.</a:t>
            </a:r>
            <a:r>
              <a:rPr spc="-7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Книга </a:t>
            </a:r>
            <a:r>
              <a:rPr spc="-43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предназначена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внутренних</a:t>
            </a:r>
            <a:r>
              <a:rPr spc="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внешних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аудиторов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ИТ,</a:t>
            </a:r>
            <a:r>
              <a:rPr spc="-94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6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консультантов</a:t>
            </a:r>
            <a:r>
              <a:rPr spc="23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spc="-43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сфере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9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ИТ.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99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Основы COBIT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676400"/>
            <a:ext cx="3348567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057400" y="381000"/>
            <a:ext cx="60219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var(--typeHeaderPrimary)"/>
              </a:rPr>
              <a:t>COBIT 6: Комплексная основа управления ИТ</a:t>
            </a:r>
            <a:endParaRPr lang="ru-RU" b="1" i="0" dirty="0">
              <a:solidFill>
                <a:schemeClr val="accent1">
                  <a:lumMod val="50000"/>
                </a:schemeClr>
              </a:solidFill>
              <a:effectLst/>
              <a:latin typeface="var(--typeHeaderPrimary)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1000" y="1104543"/>
            <a:ext cx="4572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Первоначально разработанная Ассоциацией аудита и контроля информационных систем (ISACA), COBIT с годами развивалась для решения растущих сложностей управления ИТ. </a:t>
            </a:r>
          </a:p>
          <a:p>
            <a:r>
              <a:rPr lang="ru-R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COBIT 6 представляет собой изменение парадигмы по сравнению с предыдущими версиями, объединяя современные лучшие практики, новейшие технологии и отраслевые стандарты. </a:t>
            </a:r>
          </a:p>
          <a:p>
            <a:r>
              <a:rPr lang="ru-R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Это не просто ИТ-инфраструктура; это универсальный инструмент, который помогает организациям оптимизировать </a:t>
            </a:r>
            <a:r>
              <a:rPr lang="ru-RU" b="0" i="0" u="sng" dirty="0" smtClean="0">
                <a:solidFill>
                  <a:srgbClr val="2B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ИТ-операции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и достичь бизнес-целей.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2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5800" y="1371600"/>
            <a:ext cx="7620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1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Удовлетворение потребностей заинтересованных сторон: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COBIT 6 призывает организации принять подход, ориентированный на заинтересованные стороны. Понимая и удовлетворяя потребности различных заинтересованных сторон, таких как клиенты, инвесторы и регулирующие органы, организации могут гарантировать, что их </a:t>
            </a:r>
            <a:r>
              <a:rPr lang="ru-RU" sz="1400" b="0" i="0" u="sng" dirty="0" smtClean="0">
                <a:solidFill>
                  <a:srgbClr val="2B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ИТ-стратегии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соответствуют более широким бизнес-целям.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Комплексное покрытие предприятия.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В отличие от своих предшественников, COBIT 6 выходит за рамки ИТ-процессов и охватывает все предприятие. Он объединяет принципы управления во всех функциях и видах деятельности, продвигая целостный и взаимосвязанный подход к управлению ИТ.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Применение единой интегрированной структуры: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COBIT 6 признает разнообразие структур, стандартов и практик, преобладающих в сфере управления ИТ. Объединив их в единую целостную структуру, это упрощает принятие решений и их реализацию для организаций.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Обеспечение целостного подхода.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Четвертый принцип подчеркивает, что управление не ограничивается только ИТ; оно должно охватывать все ресурсы и возможности, необходимые для достижения организационных целей. Такой целостный подход гарантирует согласованность всех аспектов бизнеса.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Отделение управления от менеджмента.</a:t>
            </a:r>
            <a:r>
              <a:rPr lang="ru-RU" sz="1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Четкое различие между руководством и менеджментом имеет решающее значение для эффективного принятия решений и подотчетности. COBIT 6 разграничивает эти роли, гарантируя, что стратегические решения принимаются на уровне управления и выполняются посредством процессов управления.</a:t>
            </a:r>
            <a:endParaRPr lang="ru-RU" sz="1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95400" y="685800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Основы COBIT 6: основные принципы и концепции</a:t>
            </a:r>
          </a:p>
        </p:txBody>
      </p:sp>
    </p:spTree>
    <p:extLst>
      <p:ext uri="{BB962C8B-B14F-4D97-AF65-F5344CB8AC3E}">
        <p14:creationId xmlns:p14="http://schemas.microsoft.com/office/powerpoint/2010/main" val="3448617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381000"/>
            <a:ext cx="8893683" cy="51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78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object 161"/>
          <p:cNvSpPr txBox="1"/>
          <p:nvPr/>
        </p:nvSpPr>
        <p:spPr>
          <a:xfrm>
            <a:off x="609600" y="228600"/>
            <a:ext cx="7739539" cy="627126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550545">
              <a:lnSpc>
                <a:spcPct val="120000"/>
              </a:lnSpc>
              <a:spcBef>
                <a:spcPts val="75"/>
              </a:spcBef>
            </a:pPr>
            <a:r>
              <a:rPr b="1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Модель</a:t>
            </a:r>
            <a:r>
              <a:rPr b="1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процессов</a:t>
            </a:r>
            <a:r>
              <a:rPr b="1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b="1" spc="-4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выстраиваемая</a:t>
            </a:r>
            <a:r>
              <a:rPr b="1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b="1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базе</a:t>
            </a:r>
            <a:r>
              <a:rPr b="1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b="1" spc="8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CobiT</a:t>
            </a:r>
            <a:r>
              <a:rPr spc="8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6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предпочтительней</a:t>
            </a:r>
            <a:r>
              <a:rPr spc="8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других</a:t>
            </a:r>
            <a:r>
              <a:rPr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подходов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4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 </a:t>
            </a:r>
            <a:r>
              <a:rPr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основе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которых</a:t>
            </a:r>
            <a:r>
              <a:rPr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лежат</a:t>
            </a:r>
            <a:r>
              <a:rPr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бизнес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процессы</a:t>
            </a:r>
            <a:r>
              <a:rPr spc="7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организации</a:t>
            </a:r>
            <a:r>
              <a:rPr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(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методики</a:t>
            </a:r>
            <a:r>
              <a:rPr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стандарты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аудита </a:t>
            </a:r>
            <a:r>
              <a:rPr spc="-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производителей</a:t>
            </a:r>
            <a:r>
              <a:rPr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программно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аппаратных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средств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),</a:t>
            </a:r>
            <a:r>
              <a:rPr spc="-4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нескольким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причинам</a:t>
            </a:r>
            <a:r>
              <a:rPr dirty="0" smtClean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</a:t>
            </a:r>
            <a:endParaRPr lang="ru-RU" dirty="0" smtClean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550545">
              <a:lnSpc>
                <a:spcPct val="120000"/>
              </a:lnSpc>
              <a:spcBef>
                <a:spcPts val="75"/>
              </a:spcBef>
            </a:pPr>
            <a:endParaRPr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marR="3810" indent="-386715">
              <a:lnSpc>
                <a:spcPct val="120100"/>
              </a:lnSpc>
              <a:spcBef>
                <a:spcPts val="754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 определению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 </a:t>
            </a:r>
            <a:r>
              <a:rPr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это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действие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направленное на достижение результата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оптимальном</a:t>
            </a:r>
            <a:r>
              <a:rPr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использовании</a:t>
            </a:r>
            <a:r>
              <a:rPr spc="7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ресурсов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4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которое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может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корректироваться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</a:t>
            </a:r>
            <a:r>
              <a:rPr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его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выполнении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выполнении</a:t>
            </a:r>
            <a:r>
              <a:rPr spc="8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процесса</a:t>
            </a:r>
            <a:r>
              <a:rPr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все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задействованные</a:t>
            </a:r>
            <a:r>
              <a:rPr spc="8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ресурсы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структурируются</a:t>
            </a:r>
            <a:r>
              <a:rPr spc="9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 </a:t>
            </a:r>
            <a:r>
              <a:rPr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выстраиваются</a:t>
            </a:r>
            <a:r>
              <a:rPr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таким</a:t>
            </a:r>
            <a:r>
              <a:rPr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образом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9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чтобы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максимально</a:t>
            </a:r>
            <a:r>
              <a:rPr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эффективно</a:t>
            </a:r>
            <a:r>
              <a:rPr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выполнять</a:t>
            </a:r>
            <a:r>
              <a:rPr spc="6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этот</a:t>
            </a:r>
            <a:r>
              <a:rPr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marR="195739" indent="-386715" algn="just">
              <a:lnSpc>
                <a:spcPct val="120100"/>
              </a:lnSpc>
              <a:spcBef>
                <a:spcPts val="739"/>
              </a:spcBef>
              <a:buFont typeface="Cambria"/>
              <a:buAutoNum type="arabicPeriod"/>
              <a:tabLst>
                <a:tab pos="396240" algn="l"/>
              </a:tabLst>
            </a:pP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Во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вторых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процессы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подавляющем большинстве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организаций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 особенно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их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цели не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так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часто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изменяются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 сравнению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организационными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объектами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(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организационно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штатная</a:t>
            </a:r>
            <a:r>
              <a:rPr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структура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сотрудники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отделы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4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департаменты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.).</a:t>
            </a:r>
            <a:endParaRPr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marR="134779" indent="-386715">
              <a:lnSpc>
                <a:spcPct val="120000"/>
              </a:lnSpc>
              <a:spcBef>
                <a:spcPts val="754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третьих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2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развертывание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информационной</a:t>
            </a:r>
            <a:r>
              <a:rPr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системы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или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внедрение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информационных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технологий</a:t>
            </a:r>
            <a:r>
              <a:rPr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</a:t>
            </a:r>
            <a:r>
              <a:rPr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может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быть</a:t>
            </a:r>
            <a:r>
              <a:rPr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ограничено</a:t>
            </a:r>
            <a:r>
              <a:rPr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спецификой</a:t>
            </a:r>
            <a:r>
              <a:rPr spc="7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одного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отдела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или</a:t>
            </a:r>
            <a:r>
              <a:rPr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департамента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4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затрагивает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руководителей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пользователей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из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других</a:t>
            </a:r>
            <a:r>
              <a:rPr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подразделений</a:t>
            </a:r>
            <a:r>
              <a:rPr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специалистов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19401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81797" y="1041425"/>
            <a:ext cx="8433603" cy="691696"/>
          </a:xfrm>
          <a:prstGeom prst="rect">
            <a:avLst/>
          </a:prstGeom>
        </p:spPr>
        <p:txBody>
          <a:bodyPr vert="horz" wrap="square" lIns="0" tIns="50006" rIns="0" bIns="0" rtlCol="0">
            <a:spAutoFit/>
          </a:bodyPr>
          <a:lstStyle/>
          <a:p>
            <a:pPr marR="3810" indent="9525" algn="ctr">
              <a:lnSpc>
                <a:spcPts val="2505"/>
              </a:lnSpc>
              <a:spcBef>
                <a:spcPts val="394"/>
              </a:spcBef>
              <a:tabLst>
                <a:tab pos="1467803" algn="l"/>
                <a:tab pos="2658903" algn="l"/>
                <a:tab pos="3673316" algn="l"/>
                <a:tab pos="4013835" algn="l"/>
                <a:tab pos="4957286" algn="l"/>
                <a:tab pos="6047899" algn="l"/>
              </a:tabLst>
            </a:pPr>
            <a:r>
              <a:rPr spc="341" dirty="0"/>
              <a:t>О</a:t>
            </a:r>
            <a:r>
              <a:rPr spc="266" dirty="0"/>
              <a:t>С</a:t>
            </a:r>
            <a:r>
              <a:rPr spc="195" dirty="0"/>
              <a:t>НОВА</a:t>
            </a:r>
            <a:r>
              <a:rPr lang="ru-RU" dirty="0"/>
              <a:t> </a:t>
            </a:r>
            <a:r>
              <a:rPr spc="375" dirty="0"/>
              <a:t>C</a:t>
            </a:r>
            <a:r>
              <a:rPr spc="158" dirty="0"/>
              <a:t>OBI</a:t>
            </a:r>
            <a:r>
              <a:rPr spc="172" dirty="0"/>
              <a:t>T</a:t>
            </a:r>
            <a:r>
              <a:rPr spc="248" dirty="0"/>
              <a:t>.</a:t>
            </a:r>
            <a:r>
              <a:rPr dirty="0"/>
              <a:t>	</a:t>
            </a:r>
            <a:r>
              <a:rPr spc="233" dirty="0" smtClean="0"/>
              <a:t>РАЗ</a:t>
            </a:r>
            <a:r>
              <a:rPr spc="274" dirty="0" smtClean="0"/>
              <a:t>Д</a:t>
            </a:r>
            <a:r>
              <a:rPr spc="210" dirty="0" smtClean="0"/>
              <a:t>ЕЛЕН</a:t>
            </a:r>
            <a:r>
              <a:rPr spc="248" dirty="0" smtClean="0"/>
              <a:t>И</a:t>
            </a:r>
            <a:r>
              <a:rPr spc="330" dirty="0" smtClean="0"/>
              <a:t>Е</a:t>
            </a:r>
            <a:r>
              <a:rPr lang="ru-RU" spc="330" dirty="0" smtClean="0"/>
              <a:t> </a:t>
            </a:r>
            <a:r>
              <a:rPr spc="375" dirty="0" smtClean="0"/>
              <a:t>C</a:t>
            </a:r>
            <a:r>
              <a:rPr spc="161" dirty="0" smtClean="0"/>
              <a:t>OBIT</a:t>
            </a:r>
            <a:r>
              <a:rPr lang="ru-RU" spc="161" dirty="0" smtClean="0"/>
              <a:t> </a:t>
            </a:r>
            <a:r>
              <a:rPr lang="ru-RU" spc="161" dirty="0"/>
              <a:t/>
            </a:r>
            <a:br>
              <a:rPr lang="ru-RU" spc="161" dirty="0"/>
            </a:br>
            <a:r>
              <a:rPr spc="124" dirty="0"/>
              <a:t>НА  </a:t>
            </a:r>
            <a:r>
              <a:rPr spc="191" dirty="0"/>
              <a:t>УПРАВЛЕНИЕ</a:t>
            </a:r>
            <a:r>
              <a:rPr lang="ru-RU" spc="191" dirty="0"/>
              <a:t> </a:t>
            </a:r>
            <a:r>
              <a:rPr spc="203" dirty="0" smtClean="0"/>
              <a:t>И</a:t>
            </a:r>
            <a:r>
              <a:rPr lang="ru-RU" spc="203" dirty="0" smtClean="0"/>
              <a:t> </a:t>
            </a:r>
            <a:r>
              <a:rPr spc="206" dirty="0" smtClean="0"/>
              <a:t>АУДИТ</a:t>
            </a:r>
            <a:endParaRPr spc="206" dirty="0"/>
          </a:p>
        </p:txBody>
      </p:sp>
      <p:sp>
        <p:nvSpPr>
          <p:cNvPr id="39" name="object 39"/>
          <p:cNvSpPr txBox="1"/>
          <p:nvPr/>
        </p:nvSpPr>
        <p:spPr>
          <a:xfrm>
            <a:off x="481797" y="2209800"/>
            <a:ext cx="4618196" cy="2770791"/>
          </a:xfrm>
          <a:prstGeom prst="rect">
            <a:avLst/>
          </a:prstGeom>
        </p:spPr>
        <p:txBody>
          <a:bodyPr vert="horz" wrap="square" lIns="0" tIns="64294" rIns="0" bIns="0" rtlCol="0">
            <a:spAutoFit/>
          </a:bodyPr>
          <a:lstStyle/>
          <a:p>
            <a:pPr marL="9525" algn="just">
              <a:spcBef>
                <a:spcPts val="506"/>
              </a:spcBef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основу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стандарта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11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CobiT</a:t>
            </a:r>
            <a:r>
              <a:rPr sz="2000" spc="5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положено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 marR="3810" algn="just">
              <a:lnSpc>
                <a:spcPts val="2595"/>
              </a:lnSpc>
              <a:spcBef>
                <a:spcPts val="158"/>
              </a:spcBef>
            </a:pP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следующее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утверждение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 </a:t>
            </a:r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 </a:t>
            </a:r>
            <a:r>
              <a:rPr sz="20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предоставления </a:t>
            </a:r>
            <a:r>
              <a:rPr sz="2000" b="1" spc="-43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, </a:t>
            </a:r>
            <a:r>
              <a:rPr sz="2000" b="1" spc="-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необходимой </a:t>
            </a:r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организации </a:t>
            </a:r>
            <a:r>
              <a:rPr sz="20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 </a:t>
            </a:r>
            <a:r>
              <a:rPr sz="2000" b="1" spc="-43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достижения</a:t>
            </a:r>
            <a:r>
              <a:rPr sz="2000" b="1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ее</a:t>
            </a:r>
            <a:r>
              <a:rPr sz="2000" b="1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целей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,</a:t>
            </a:r>
            <a:r>
              <a:rPr sz="2000" b="1" spc="-79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ресурсы </a:t>
            </a:r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2000" b="1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должны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 algn="just">
              <a:spcBef>
                <a:spcPts val="270"/>
              </a:spcBef>
            </a:pPr>
            <a:r>
              <a:rPr sz="20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управляться</a:t>
            </a:r>
            <a:r>
              <a:rPr sz="2000" b="1" spc="-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набором </a:t>
            </a:r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естественно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 algn="just">
              <a:spcBef>
                <a:spcPts val="435"/>
              </a:spcBef>
            </a:pP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сгруппированных</a:t>
            </a:r>
            <a:r>
              <a:rPr sz="2000" b="1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процессов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4115" y="2511266"/>
            <a:ext cx="3150394" cy="237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54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object 93"/>
          <p:cNvSpPr txBox="1"/>
          <p:nvPr/>
        </p:nvSpPr>
        <p:spPr>
          <a:xfrm>
            <a:off x="4507879" y="4242425"/>
            <a:ext cx="12049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1"/>
              </a:lnSpc>
            </a:pPr>
            <a:r>
              <a:rPr sz="1500" spc="-8" dirty="0">
                <a:solidFill>
                  <a:srgbClr val="FFFFFF"/>
                </a:solidFill>
                <a:latin typeface="Times New Roman"/>
                <a:cs typeface="Times New Roman"/>
              </a:rPr>
              <a:t>м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81000" y="1132972"/>
            <a:ext cx="4458653" cy="41697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97631">
              <a:lnSpc>
                <a:spcPct val="120000"/>
              </a:lnSpc>
              <a:spcBef>
                <a:spcPts val="75"/>
              </a:spcBef>
            </a:pP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этого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9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CobiT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выделяет</a:t>
            </a:r>
            <a:r>
              <a:rPr sz="1500"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34</a:t>
            </a:r>
            <a:r>
              <a:rPr sz="1500" spc="6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высокоуровневые</a:t>
            </a:r>
            <a:r>
              <a:rPr sz="1500" spc="6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цели </a:t>
            </a:r>
            <a:r>
              <a:rPr sz="1500"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контроля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4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одной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каждый</a:t>
            </a:r>
            <a:r>
              <a:rPr sz="1500"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4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которые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сгруппированы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 </a:t>
            </a:r>
            <a:r>
              <a:rPr sz="1500" spc="-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4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домена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Планирование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Организация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;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Проектирование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Внедрение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;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468154">
              <a:lnSpc>
                <a:spcPct val="120100"/>
              </a:lnSpc>
            </a:pP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Эксплуатация</a:t>
            </a:r>
            <a:r>
              <a:rPr sz="1500" spc="9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Сопровождение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;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Мониторинг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 </a:t>
            </a:r>
            <a:endParaRPr lang="ru-RU" sz="1500" dirty="0" smtClean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468154">
              <a:lnSpc>
                <a:spcPct val="120100"/>
              </a:lnSpc>
            </a:pPr>
            <a:endParaRPr lang="ru-RU" sz="1500" spc="4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468154">
              <a:lnSpc>
                <a:spcPct val="120100"/>
              </a:lnSpc>
            </a:pPr>
            <a:r>
              <a:rPr sz="1500" spc="4" dirty="0" smtClean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Предлагаемая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структура</a:t>
            </a:r>
            <a:r>
              <a:rPr sz="15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объединяет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все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аспекты </a:t>
            </a:r>
            <a:r>
              <a:rPr sz="1500"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технологий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поддерживающих</a:t>
            </a:r>
            <a:r>
              <a:rPr sz="1500"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ее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 </a:t>
            </a:r>
            <a:r>
              <a:rPr sz="1500" spc="-3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endParaRPr lang="ru-RU" sz="1500" spc="-323" dirty="0" smtClean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468154">
              <a:lnSpc>
                <a:spcPct val="120100"/>
              </a:lnSpc>
            </a:pPr>
            <a:endParaRPr lang="ru-RU" sz="1500" spc="-323" dirty="0">
              <a:solidFill>
                <a:schemeClr val="accent1">
                  <a:lumMod val="50000"/>
                </a:schemeClr>
              </a:solidFill>
              <a:latin typeface="Cambria"/>
              <a:cs typeface="Times New Roman"/>
            </a:endParaRPr>
          </a:p>
          <a:p>
            <a:pPr marL="9525" marR="468154">
              <a:lnSpc>
                <a:spcPct val="120100"/>
              </a:lnSpc>
            </a:pPr>
            <a:r>
              <a:rPr sz="1500" spc="-8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Применяя</a:t>
            </a:r>
            <a:r>
              <a:rPr sz="1500" spc="34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34</a:t>
            </a:r>
            <a:r>
              <a:rPr sz="1500" spc="6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высокоуровневые</a:t>
            </a:r>
            <a:r>
              <a:rPr sz="1500" spc="7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цели</a:t>
            </a:r>
            <a:r>
              <a:rPr sz="1500"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контроля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руководитель</a:t>
            </a:r>
            <a:r>
              <a:rPr sz="1500" spc="8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может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быть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уверен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3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что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ему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будет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>
              <a:spcBef>
                <a:spcPts val="360"/>
              </a:spcBef>
            </a:pP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предоставлена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адекватная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система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контроля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над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ИТ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3810">
              <a:lnSpc>
                <a:spcPct val="120100"/>
              </a:lnSpc>
            </a:pP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средой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6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которая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учитывает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задействованные</a:t>
            </a:r>
            <a:r>
              <a:rPr sz="1500" spc="9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ресурсы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</a:t>
            </a:r>
            <a:r>
              <a:rPr sz="1500" spc="127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8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дающая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</a:t>
            </a:r>
            <a:r>
              <a:rPr sz="1500" spc="-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жн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сть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ь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л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агае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ы  </a:t>
            </a:r>
            <a:r>
              <a:rPr sz="1500" spc="9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CobiT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семи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критериям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оценки</a:t>
            </a:r>
            <a:r>
              <a:rPr sz="1500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</p:txBody>
      </p:sp>
      <p:pic>
        <p:nvPicPr>
          <p:cNvPr id="95" name="object 9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0650" y="1428750"/>
            <a:ext cx="3716256" cy="302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9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object 106"/>
          <p:cNvSpPr txBox="1"/>
          <p:nvPr/>
        </p:nvSpPr>
        <p:spPr>
          <a:xfrm>
            <a:off x="762000" y="381000"/>
            <a:ext cx="7524274" cy="5541710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 marL="9525">
              <a:spcBef>
                <a:spcPts val="68"/>
              </a:spcBef>
            </a:pP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Ресурсы</a:t>
            </a:r>
            <a:r>
              <a:rPr sz="2000" b="1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2000" b="1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9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CobiT</a:t>
            </a:r>
            <a:r>
              <a:rPr sz="2000" b="1" spc="6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описаны</a:t>
            </a:r>
            <a:r>
              <a:rPr sz="2000" b="1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пятью</a:t>
            </a:r>
            <a:r>
              <a:rPr sz="2000" b="1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составляющими</a:t>
            </a:r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</a:t>
            </a:r>
          </a:p>
          <a:p>
            <a:pPr>
              <a:lnSpc>
                <a:spcPct val="100000"/>
              </a:lnSpc>
            </a:pPr>
            <a:endParaRPr sz="2000" b="1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marR="1199198" indent="-386715">
              <a:lnSpc>
                <a:spcPct val="110000"/>
              </a:lnSpc>
              <a:spcBef>
                <a:spcPts val="1454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Данные </a:t>
            </a:r>
            <a:r>
              <a:rPr sz="20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объекты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 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широком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смысле 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(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то 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есть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внутренние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 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внешние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), 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структурированные</a:t>
            </a:r>
            <a:r>
              <a:rPr sz="2000" spc="10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неструктурированные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также</a:t>
            </a:r>
            <a:r>
              <a:rPr sz="2000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графика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4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звук</a:t>
            </a:r>
            <a:r>
              <a:rPr sz="20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</a:t>
            </a:r>
            <a:r>
              <a:rPr sz="2000" spc="5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r>
              <a:rPr sz="20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</a:t>
            </a:r>
            <a:r>
              <a:rPr sz="2000" spc="5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indent="-386715">
              <a:spcBef>
                <a:spcPts val="938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Приложения</a:t>
            </a:r>
            <a:r>
              <a:rPr sz="2000"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394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2000" spc="-75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совокупность</a:t>
            </a:r>
            <a:r>
              <a:rPr sz="2000" spc="8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автоматизированных</a:t>
            </a:r>
            <a:r>
              <a:rPr sz="2000" spc="9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выполняемых</a:t>
            </a:r>
            <a:r>
              <a:rPr sz="2000"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вручную</a:t>
            </a:r>
            <a:r>
              <a:rPr sz="2000" spc="7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процедур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marR="431006" indent="-386715">
              <a:lnSpc>
                <a:spcPct val="110100"/>
              </a:lnSpc>
              <a:spcBef>
                <a:spcPts val="739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Технология</a:t>
            </a:r>
            <a:r>
              <a:rPr sz="20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2000" spc="-64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аппаратное</a:t>
            </a:r>
            <a:r>
              <a:rPr sz="20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обеспечение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программное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обеспечение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операционные </a:t>
            </a:r>
            <a:r>
              <a:rPr sz="2000"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системы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системы</a:t>
            </a:r>
            <a:r>
              <a:rPr sz="20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управления</a:t>
            </a:r>
            <a:r>
              <a:rPr sz="2000" spc="9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базами 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данных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3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сетью</a:t>
            </a:r>
            <a:r>
              <a:rPr sz="20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мультимедиа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marR="579596" indent="-386715">
              <a:lnSpc>
                <a:spcPct val="110000"/>
              </a:lnSpc>
              <a:spcBef>
                <a:spcPts val="758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Оборудование</a:t>
            </a:r>
            <a:r>
              <a:rPr sz="2000"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2000" spc="-71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все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ресурсы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4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создающие</a:t>
            </a:r>
            <a:r>
              <a:rPr sz="20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поддерживающие</a:t>
            </a:r>
            <a:r>
              <a:rPr sz="2000"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информационные </a:t>
            </a:r>
            <a:r>
              <a:rPr sz="2000"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технологии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</a:p>
          <a:p>
            <a:pPr marL="395764" marR="97154" indent="-386715">
              <a:lnSpc>
                <a:spcPct val="110000"/>
              </a:lnSpc>
              <a:spcBef>
                <a:spcPts val="758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z="2000" spc="-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Люди</a:t>
            </a:r>
            <a:r>
              <a:rPr sz="2000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2000" spc="-68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персонал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его</a:t>
            </a:r>
            <a:r>
              <a:rPr sz="20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навыки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</a:t>
            </a:r>
            <a:r>
              <a:rPr sz="2000" spc="-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умение</a:t>
            </a:r>
            <a:r>
              <a:rPr sz="2000" spc="6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планировать</a:t>
            </a:r>
            <a:r>
              <a:rPr sz="2000" spc="6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организовывать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комплектовать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sz="2000" spc="-31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обслуживать</a:t>
            </a:r>
            <a:r>
              <a:rPr sz="2000" spc="7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контролировать</a:t>
            </a:r>
            <a:r>
              <a:rPr sz="20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информационные</a:t>
            </a:r>
            <a:r>
              <a:rPr sz="2000" spc="8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системы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услуги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2155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object 113"/>
          <p:cNvSpPr txBox="1"/>
          <p:nvPr/>
        </p:nvSpPr>
        <p:spPr>
          <a:xfrm>
            <a:off x="441961" y="1325308"/>
            <a:ext cx="8146256" cy="3973845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 marL="9525">
              <a:spcBef>
                <a:spcPts val="68"/>
              </a:spcBef>
            </a:pP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Критерии</a:t>
            </a:r>
            <a:r>
              <a:rPr sz="1500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оценки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: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180975" indent="-171450">
              <a:spcBef>
                <a:spcPts val="1118"/>
              </a:spcBef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15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Эффективность</a:t>
            </a:r>
            <a:r>
              <a:rPr sz="1500" b="1" spc="-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394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1500" spc="-75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актуальность</a:t>
            </a:r>
            <a:r>
              <a:rPr sz="1500" spc="7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соответствующего</a:t>
            </a:r>
            <a:r>
              <a:rPr sz="1500" spc="7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бизнес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процесса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гарантия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180975">
              <a:spcBef>
                <a:spcPts val="360"/>
              </a:spcBef>
            </a:pP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своевременного</a:t>
            </a:r>
            <a:r>
              <a:rPr sz="1500"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регулярного</a:t>
            </a:r>
            <a:r>
              <a:rPr sz="1500" spc="7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получения</a:t>
            </a:r>
            <a:r>
              <a:rPr sz="1500" spc="10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правильной</a:t>
            </a:r>
            <a:r>
              <a:rPr sz="1500"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</a:p>
          <a:p>
            <a:pPr marL="180975" indent="-171450">
              <a:spcBef>
                <a:spcPts val="1099"/>
              </a:spcBef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15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Продуктивность</a:t>
            </a:r>
            <a:r>
              <a:rPr sz="1500" b="1" spc="-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1500" spc="-68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обеспечение</a:t>
            </a:r>
            <a:r>
              <a:rPr sz="1500"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доступности</a:t>
            </a:r>
            <a:r>
              <a:rPr sz="1500" spc="9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помощью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оптимального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(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наиболее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180975">
              <a:spcBef>
                <a:spcPts val="363"/>
              </a:spcBef>
            </a:pP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продуктивного</a:t>
            </a:r>
            <a:r>
              <a:rPr sz="1500" spc="9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экономичного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)</a:t>
            </a:r>
            <a:r>
              <a:rPr sz="1500" spc="6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использования</a:t>
            </a:r>
            <a:r>
              <a:rPr sz="1500"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ресурсов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180975" indent="-171450">
              <a:spcBef>
                <a:spcPts val="1118"/>
              </a:spcBef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15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Конфиденциальность</a:t>
            </a:r>
            <a:r>
              <a:rPr sz="1500" b="1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1500" spc="-64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обеспечение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защиты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от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неавторизованного</a:t>
            </a:r>
            <a:r>
              <a:rPr sz="1500" spc="6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ознакомления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180975" indent="-171450">
              <a:spcBef>
                <a:spcPts val="1118"/>
              </a:spcBef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15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Целостность</a:t>
            </a:r>
            <a:r>
              <a:rPr sz="1500" b="1" spc="-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1500" spc="-68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точность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6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полнота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достоверность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соответствии</a:t>
            </a:r>
            <a:r>
              <a:rPr sz="1500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требованиями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180975">
              <a:spcBef>
                <a:spcPts val="360"/>
              </a:spcBef>
            </a:pP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бизнеса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180975" indent="-171450">
              <a:spcBef>
                <a:spcPts val="1099"/>
              </a:spcBef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15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Пригодность</a:t>
            </a:r>
            <a:r>
              <a:rPr sz="1500" b="1" spc="-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1500" spc="-68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предоставление</a:t>
            </a:r>
            <a:r>
              <a:rPr sz="1500" spc="7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информации</a:t>
            </a:r>
            <a:r>
              <a:rPr sz="1500"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требованию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бизнес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процессов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180975" indent="-171450">
              <a:spcBef>
                <a:spcPts val="1118"/>
              </a:spcBef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1500" b="1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Согласованность</a:t>
            </a:r>
            <a:r>
              <a:rPr sz="1500" b="1" spc="-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394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1500" spc="-71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соответствие</a:t>
            </a:r>
            <a:r>
              <a:rPr sz="15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законам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6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правилам</a:t>
            </a:r>
            <a:r>
              <a:rPr sz="15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договорным</a:t>
            </a:r>
            <a:r>
              <a:rPr sz="1500"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обязательствам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180975" marR="207169" indent="-171450">
              <a:lnSpc>
                <a:spcPct val="120000"/>
              </a:lnSpc>
              <a:spcBef>
                <a:spcPts val="758"/>
              </a:spcBef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15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Надежность </a:t>
            </a:r>
            <a:r>
              <a:rPr sz="1500" spc="390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доступ </a:t>
            </a:r>
            <a:r>
              <a:rPr sz="1500" spc="-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руководства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организации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соответствующей информации для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текущей </a:t>
            </a:r>
            <a:r>
              <a:rPr sz="1500"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деятельности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создания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финансовых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отчетов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оценки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степени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соответствия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0192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bject 60"/>
          <p:cNvSpPr txBox="1"/>
          <p:nvPr/>
        </p:nvSpPr>
        <p:spPr>
          <a:xfrm>
            <a:off x="533400" y="762000"/>
            <a:ext cx="4800600" cy="400045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258128">
              <a:lnSpc>
                <a:spcPct val="120100"/>
              </a:lnSpc>
              <a:spcBef>
                <a:spcPts val="75"/>
              </a:spcBef>
            </a:pP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достижения</a:t>
            </a:r>
            <a:r>
              <a:rPr sz="2000" spc="7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целей</a:t>
            </a:r>
            <a:r>
              <a:rPr sz="2000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организации</a:t>
            </a:r>
            <a:r>
              <a:rPr sz="20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 </a:t>
            </a:r>
            <a:r>
              <a:rPr sz="2000"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ф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</a:t>
            </a:r>
            <a:r>
              <a:rPr sz="2000" spc="127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8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</a:t>
            </a:r>
            <a:r>
              <a:rPr sz="2000" spc="172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o</a:t>
            </a:r>
            <a:r>
              <a:rPr sz="2000" spc="14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b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iT</a:t>
            </a:r>
            <a:r>
              <a:rPr sz="2000" spc="5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л</a:t>
            </a:r>
            <a:r>
              <a:rPr sz="2000" spc="-6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ю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ча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</a:t>
            </a:r>
            <a:r>
              <a:rPr sz="20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с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</a:t>
            </a:r>
            <a:r>
              <a:rPr sz="2000" spc="-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я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е 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основные</a:t>
            </a:r>
            <a:r>
              <a:rPr sz="20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книги</a:t>
            </a:r>
            <a:r>
              <a:rPr sz="2000"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0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которые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отражают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Принципы</a:t>
            </a:r>
            <a:r>
              <a:rPr sz="2000" spc="7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управления</a:t>
            </a:r>
            <a:r>
              <a:rPr sz="2000" spc="8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20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Принципы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аудита</a:t>
            </a:r>
            <a:r>
              <a:rPr sz="2000" spc="-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3810">
              <a:lnSpc>
                <a:spcPct val="120000"/>
              </a:lnSpc>
              <a:spcBef>
                <a:spcPts val="758"/>
              </a:spcBef>
            </a:pPr>
            <a:endParaRPr lang="ru-RU" sz="2000" spc="-23" dirty="0" smtClean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 marR="3810">
              <a:lnSpc>
                <a:spcPct val="120000"/>
              </a:lnSpc>
              <a:spcBef>
                <a:spcPts val="758"/>
              </a:spcBef>
            </a:pPr>
            <a:r>
              <a:rPr sz="2000" spc="-23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Управляем</a:t>
            </a:r>
            <a:r>
              <a:rPr sz="2000" spc="26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394" dirty="0" smtClean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2000" spc="-19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воздействуем</a:t>
            </a:r>
            <a:r>
              <a:rPr sz="2000" spc="83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sz="20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20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11" dirty="0" err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20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достижения</a:t>
            </a:r>
            <a:r>
              <a:rPr lang="ru-RU" sz="2000" spc="-8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4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поставленных</a:t>
            </a:r>
            <a:r>
              <a:rPr sz="2000" spc="53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целей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r>
              <a:rPr sz="2000" spc="-4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endParaRPr lang="ru-RU" sz="2000" spc="-41" dirty="0" smtClean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3810">
              <a:lnSpc>
                <a:spcPct val="120000"/>
              </a:lnSpc>
              <a:spcBef>
                <a:spcPts val="758"/>
              </a:spcBef>
            </a:pPr>
            <a:endParaRPr lang="ru-RU" sz="2000" spc="-41" dirty="0" smtClean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>
              <a:spcBef>
                <a:spcPts val="363"/>
              </a:spcBef>
            </a:pPr>
            <a:r>
              <a:rPr sz="2000" spc="-49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Аудит</a:t>
            </a:r>
            <a:r>
              <a:rPr sz="2000" spc="56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394" dirty="0" smtClean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2000" spc="-19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контролируем</a:t>
            </a:r>
            <a:r>
              <a:rPr sz="2000" spc="7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достижение</a:t>
            </a:r>
            <a:r>
              <a:rPr sz="20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цели</a:t>
            </a:r>
            <a:r>
              <a:rPr sz="20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1524000"/>
            <a:ext cx="294322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85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4198" y="1220724"/>
            <a:ext cx="4857750" cy="40251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  <a:tabLst>
                <a:tab pos="2519363" algn="l"/>
                <a:tab pos="3120866" algn="l"/>
                <a:tab pos="3756660" algn="l"/>
              </a:tabLst>
            </a:pPr>
            <a:r>
              <a:rPr sz="2550" spc="191" dirty="0"/>
              <a:t>УПРА</a:t>
            </a:r>
            <a:r>
              <a:rPr sz="2550" spc="180" dirty="0"/>
              <a:t>В</a:t>
            </a:r>
            <a:r>
              <a:rPr sz="2550" spc="210" dirty="0"/>
              <a:t>Л</a:t>
            </a:r>
            <a:r>
              <a:rPr sz="2550" spc="161" dirty="0"/>
              <a:t>Е</a:t>
            </a:r>
            <a:r>
              <a:rPr sz="2550" spc="248" dirty="0"/>
              <a:t>Н</a:t>
            </a:r>
            <a:r>
              <a:rPr sz="2550" spc="221" dirty="0"/>
              <a:t>И</a:t>
            </a:r>
            <a:r>
              <a:rPr sz="2550" spc="368" dirty="0"/>
              <a:t>Е</a:t>
            </a:r>
            <a:r>
              <a:rPr sz="2550" dirty="0"/>
              <a:t>	</a:t>
            </a:r>
            <a:r>
              <a:rPr sz="2550" spc="221" dirty="0"/>
              <a:t>И</a:t>
            </a:r>
            <a:r>
              <a:rPr sz="2550" spc="158" dirty="0"/>
              <a:t>Т</a:t>
            </a:r>
            <a:r>
              <a:rPr sz="2550" dirty="0"/>
              <a:t>	</a:t>
            </a:r>
            <a:r>
              <a:rPr sz="2550" spc="285" dirty="0"/>
              <a:t>П</a:t>
            </a:r>
            <a:r>
              <a:rPr sz="2550" spc="270" dirty="0"/>
              <a:t>О</a:t>
            </a:r>
            <a:r>
              <a:rPr sz="2550" dirty="0"/>
              <a:t>	</a:t>
            </a:r>
            <a:r>
              <a:rPr sz="2550" spc="233" dirty="0"/>
              <a:t>COBIT</a:t>
            </a:r>
            <a:endParaRPr sz="2550" dirty="0"/>
          </a:p>
        </p:txBody>
      </p:sp>
      <p:sp>
        <p:nvSpPr>
          <p:cNvPr id="121" name="object 121"/>
          <p:cNvSpPr txBox="1"/>
          <p:nvPr/>
        </p:nvSpPr>
        <p:spPr>
          <a:xfrm>
            <a:off x="685800" y="1771651"/>
            <a:ext cx="8077200" cy="3681457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 marL="395764" indent="-386715">
              <a:spcBef>
                <a:spcPts val="68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z="1500" spc="-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Управление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1500"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осуществляется</a:t>
            </a:r>
            <a:r>
              <a:rPr sz="1500" spc="9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учетом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бизнес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потребностей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395764" indent="-386715">
              <a:spcBef>
                <a:spcPts val="1118"/>
              </a:spcBef>
              <a:buFont typeface="Cambria"/>
              <a:buAutoNum type="arabicPeriod"/>
              <a:tabLst>
                <a:tab pos="395764" algn="l"/>
                <a:tab pos="396240" algn="l"/>
              </a:tabLst>
            </a:pP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управления</a:t>
            </a:r>
            <a:r>
              <a:rPr sz="1500" spc="9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определены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информационные</a:t>
            </a:r>
            <a:r>
              <a:rPr sz="1500" spc="9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критерии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 marR="423386">
              <a:lnSpc>
                <a:spcPct val="120000"/>
              </a:lnSpc>
              <a:spcBef>
                <a:spcPts val="739"/>
              </a:spcBef>
            </a:pP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Потребности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бизнеса</a:t>
            </a:r>
            <a:r>
              <a:rPr sz="1500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определяются</a:t>
            </a:r>
            <a:r>
              <a:rPr sz="1500" spc="6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Ключевыми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Индикаторами</a:t>
            </a:r>
            <a:r>
              <a:rPr sz="15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Цели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4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чему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способствует </a:t>
            </a:r>
            <a:r>
              <a:rPr sz="1500" spc="-36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организация</a:t>
            </a:r>
            <a:r>
              <a:rPr sz="1500" spc="6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постоянного</a:t>
            </a:r>
            <a:r>
              <a:rPr sz="1500"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контроля</a:t>
            </a:r>
            <a:r>
              <a:rPr sz="1500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над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всеми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ресурсами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1500" spc="4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r>
              <a:rPr sz="1500" spc="-6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Достижение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необходимого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уровня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контроля</a:t>
            </a:r>
            <a:r>
              <a:rPr sz="1500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измеряется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Ключевыми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Показателями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Результата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2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которые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учитывают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Критические</a:t>
            </a:r>
            <a:r>
              <a:rPr sz="1500" spc="6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Факторы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Успеха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>
              <a:spcBef>
                <a:spcPts val="1118"/>
              </a:spcBef>
            </a:pP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Модель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Зрелости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используется</a:t>
            </a:r>
            <a:r>
              <a:rPr sz="1500" spc="8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оценки</a:t>
            </a:r>
            <a:r>
              <a:rPr sz="15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уровня</a:t>
            </a:r>
            <a:r>
              <a:rPr sz="1500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управления</a:t>
            </a:r>
            <a:r>
              <a:rPr sz="1500" spc="9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1500"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данной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организации</a:t>
            </a:r>
            <a:r>
              <a:rPr sz="1500" spc="8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394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</a:t>
            </a:r>
            <a:r>
              <a:rPr sz="1500" spc="-71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от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>
              <a:spcBef>
                <a:spcPts val="360"/>
              </a:spcBef>
            </a:pP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несуществующего</a:t>
            </a:r>
            <a:r>
              <a:rPr sz="1500" spc="12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(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самый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низкий</a:t>
            </a:r>
            <a:r>
              <a:rPr sz="1500" spc="8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уровень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)</a:t>
            </a:r>
            <a:r>
              <a:rPr sz="1500" spc="9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оптимизированного</a:t>
            </a:r>
            <a:r>
              <a:rPr sz="1500" spc="8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(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самый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высокий</a:t>
            </a:r>
            <a:r>
              <a:rPr sz="1500" spc="4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 err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уровень</a:t>
            </a:r>
            <a:r>
              <a:rPr sz="1500" spc="4" dirty="0" smtClean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).</a:t>
            </a:r>
            <a:endParaRPr lang="ru-RU" sz="1500" spc="4" dirty="0" smtClean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>
              <a:spcBef>
                <a:spcPts val="360"/>
              </a:spcBef>
            </a:pP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  <a:p>
            <a:pPr marL="9525">
              <a:spcBef>
                <a:spcPts val="1118"/>
              </a:spcBef>
            </a:pP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достижения</a:t>
            </a:r>
            <a:r>
              <a:rPr sz="1500" spc="9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пятого</a:t>
            </a:r>
            <a:r>
              <a:rPr sz="1500"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3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"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оптимизированного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"</a:t>
            </a:r>
            <a:r>
              <a:rPr sz="1500" spc="12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уровня</a:t>
            </a:r>
            <a:r>
              <a:rPr sz="1500" spc="7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зрелости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управлении</a:t>
            </a:r>
            <a:r>
              <a:rPr sz="1500" spc="9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организация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>
              <a:spcBef>
                <a:spcPts val="363"/>
              </a:spcBef>
            </a:pP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должна</a:t>
            </a:r>
            <a:r>
              <a:rPr sz="1500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быть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6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по</a:t>
            </a:r>
            <a:r>
              <a:rPr sz="1500" spc="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крайней</a:t>
            </a:r>
            <a:r>
              <a:rPr sz="1500" spc="4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мере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z="1500" spc="-8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пятом</a:t>
            </a:r>
            <a:r>
              <a:rPr sz="1500"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уровне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домене</a:t>
            </a:r>
            <a:r>
              <a:rPr sz="1500" spc="2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мониторинг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как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минимум</a:t>
            </a:r>
            <a:r>
              <a:rPr sz="1500" spc="56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9525">
              <a:spcBef>
                <a:spcPts val="360"/>
              </a:spcBef>
            </a:pP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четвертом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уровне</a:t>
            </a:r>
            <a:r>
              <a:rPr sz="1500"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моделей</a:t>
            </a:r>
            <a:r>
              <a:rPr sz="15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зрелости</a:t>
            </a:r>
            <a:r>
              <a:rPr sz="1500" spc="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</a:t>
            </a:r>
            <a:r>
              <a:rPr sz="1500" spc="2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всех</a:t>
            </a:r>
            <a:r>
              <a:rPr sz="1500"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других</a:t>
            </a:r>
            <a:r>
              <a:rPr sz="1500"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доменов</a:t>
            </a:r>
            <a:r>
              <a:rPr sz="1500"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27306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28566" y="1374824"/>
            <a:ext cx="7543934" cy="747801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algn="ctr">
              <a:spcBef>
                <a:spcPts val="71"/>
              </a:spcBef>
              <a:tabLst>
                <a:tab pos="2073593" algn="l"/>
                <a:tab pos="3500914" algn="l"/>
                <a:tab pos="4148138" algn="l"/>
                <a:tab pos="5995511" algn="l"/>
              </a:tabLst>
            </a:pPr>
            <a:r>
              <a:rPr spc="221" dirty="0"/>
              <a:t>ПРИН</a:t>
            </a:r>
            <a:r>
              <a:rPr spc="233" dirty="0"/>
              <a:t>Ц</a:t>
            </a:r>
            <a:r>
              <a:rPr spc="229" dirty="0"/>
              <a:t>ИПЫ</a:t>
            </a:r>
            <a:r>
              <a:rPr lang="ru-RU" spc="229" dirty="0"/>
              <a:t> </a:t>
            </a:r>
            <a:r>
              <a:rPr spc="214" dirty="0"/>
              <a:t>АУД</a:t>
            </a:r>
            <a:r>
              <a:rPr spc="248" dirty="0"/>
              <a:t>И</a:t>
            </a:r>
            <a:r>
              <a:rPr spc="143" dirty="0"/>
              <a:t>Т</a:t>
            </a:r>
            <a:r>
              <a:rPr spc="150" dirty="0"/>
              <a:t>А</a:t>
            </a:r>
            <a:r>
              <a:rPr dirty="0"/>
              <a:t>	</a:t>
            </a:r>
            <a:r>
              <a:rPr spc="195" dirty="0"/>
              <a:t>ИТ,</a:t>
            </a:r>
            <a:r>
              <a:rPr lang="ru-RU" dirty="0"/>
              <a:t/>
            </a:r>
            <a:br>
              <a:rPr lang="ru-RU" dirty="0"/>
            </a:br>
            <a:r>
              <a:rPr spc="375" dirty="0" smtClean="0"/>
              <a:t>С</a:t>
            </a:r>
            <a:r>
              <a:rPr spc="184" dirty="0" smtClean="0"/>
              <a:t>ТАНДАР</a:t>
            </a:r>
            <a:r>
              <a:rPr spc="180" dirty="0" smtClean="0"/>
              <a:t>Т</a:t>
            </a:r>
            <a:r>
              <a:rPr lang="ru-RU" dirty="0"/>
              <a:t> </a:t>
            </a:r>
            <a:r>
              <a:rPr spc="375" dirty="0" smtClean="0"/>
              <a:t>C</a:t>
            </a:r>
            <a:r>
              <a:rPr spc="161" dirty="0" smtClean="0"/>
              <a:t>OBIT</a:t>
            </a:r>
            <a:endParaRPr spc="161" dirty="0"/>
          </a:p>
        </p:txBody>
      </p:sp>
      <p:sp>
        <p:nvSpPr>
          <p:cNvPr id="68" name="object 68"/>
          <p:cNvSpPr txBox="1"/>
          <p:nvPr/>
        </p:nvSpPr>
        <p:spPr>
          <a:xfrm>
            <a:off x="857250" y="2686050"/>
            <a:ext cx="7469029" cy="20040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lnSpc>
                <a:spcPct val="120100"/>
              </a:lnSpc>
              <a:spcBef>
                <a:spcPts val="75"/>
              </a:spcBef>
            </a:pPr>
            <a:r>
              <a:rPr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Принципы </a:t>
            </a:r>
            <a:r>
              <a:rPr b="1" spc="-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аудита </a:t>
            </a:r>
            <a:r>
              <a:rPr spc="11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CobiT </a:t>
            </a:r>
            <a:r>
              <a:rPr spc="476" dirty="0">
                <a:solidFill>
                  <a:schemeClr val="accent1">
                    <a:lumMod val="50000"/>
                  </a:schemeClr>
                </a:solidFill>
                <a:latin typeface="Trebuchet MS"/>
                <a:cs typeface="Trebuchet MS"/>
              </a:rPr>
              <a:t>—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книга 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стандарта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 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которая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большей степени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ориентирована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аудит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процессов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75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чем</a:t>
            </a:r>
            <a:r>
              <a:rPr spc="3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аудит</a:t>
            </a:r>
            <a:r>
              <a:rPr spc="4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конкретных</a:t>
            </a:r>
            <a:r>
              <a:rPr spc="-3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функций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или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приложений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 </a:t>
            </a:r>
            <a:r>
              <a:rPr spc="116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CobiT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состоит из 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высокоуровневых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целей </a:t>
            </a:r>
            <a:r>
              <a:rPr spc="-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контроля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(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определенных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для 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ИТ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-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процессов 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организации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), </a:t>
            </a:r>
            <a:r>
              <a:rPr spc="-19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которые охватывают </a:t>
            </a:r>
            <a:r>
              <a:rPr spc="-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все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параметры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информационных систем</a:t>
            </a:r>
            <a:r>
              <a:rPr spc="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применяемых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информационных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технологий</a:t>
            </a:r>
            <a:r>
              <a:rPr spc="11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127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учитывают</a:t>
            </a:r>
            <a:r>
              <a:rPr spc="53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цикл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жизни</a:t>
            </a:r>
            <a:r>
              <a:rPr spc="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и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специфические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задачи</a:t>
            </a:r>
            <a:r>
              <a:rPr spc="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,</a:t>
            </a:r>
            <a:r>
              <a:rPr spc="-94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pc="-4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решаемые</a:t>
            </a:r>
            <a:r>
              <a:rPr spc="38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ИТ</a:t>
            </a:r>
            <a:r>
              <a:rPr sz="1500" spc="38" dirty="0">
                <a:solidFill>
                  <a:schemeClr val="accent1">
                    <a:lumMod val="50000"/>
                  </a:schemeClr>
                </a:solidFill>
                <a:latin typeface="Cambria"/>
                <a:cs typeface="Cambria"/>
              </a:rPr>
              <a:t>.</a:t>
            </a:r>
            <a:endParaRPr sz="1500" dirty="0">
              <a:solidFill>
                <a:schemeClr val="accent1">
                  <a:lumMod val="50000"/>
                </a:schemeClr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549658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5041" y="1115009"/>
            <a:ext cx="31826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rebuchet MS"/>
                <a:cs typeface="Trebuchet MS"/>
              </a:rPr>
              <a:t>Каскад</a:t>
            </a:r>
            <a:r>
              <a:rPr b="1" spc="-20" dirty="0">
                <a:latin typeface="Trebuchet MS"/>
                <a:cs typeface="Trebuchet MS"/>
              </a:rPr>
              <a:t> </a:t>
            </a:r>
            <a:r>
              <a:rPr b="1" spc="-5" dirty="0">
                <a:latin typeface="Trebuchet MS"/>
                <a:cs typeface="Trebuchet MS"/>
              </a:rPr>
              <a:t>целей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COBIT5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3638" y="1942592"/>
            <a:ext cx="3789679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Trebuchet MS"/>
                <a:cs typeface="Trebuchet MS"/>
              </a:rPr>
              <a:t>Бизнес-цели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–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Trebuchet MS"/>
                <a:cs typeface="Trebuchet MS"/>
              </a:rPr>
              <a:t>представление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о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компании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Microsoft Sans Serif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ИТ-цели </a:t>
            </a:r>
            <a:r>
              <a:rPr sz="2000" dirty="0">
                <a:latin typeface="Trebuchet MS"/>
                <a:cs typeface="Trebuchet MS"/>
              </a:rPr>
              <a:t>– </a:t>
            </a:r>
            <a:r>
              <a:rPr sz="2000" spc="-5" dirty="0">
                <a:latin typeface="Trebuchet MS"/>
                <a:cs typeface="Trebuchet MS"/>
              </a:rPr>
              <a:t>представление </a:t>
            </a:r>
            <a:r>
              <a:rPr sz="2000" dirty="0">
                <a:latin typeface="Trebuchet MS"/>
                <a:cs typeface="Trebuchet MS"/>
              </a:rPr>
              <a:t>об </a:t>
            </a:r>
            <a:r>
              <a:rPr sz="2000" spc="-59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ИТ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в</a:t>
            </a:r>
            <a:r>
              <a:rPr sz="2000" spc="-5" dirty="0">
                <a:latin typeface="Trebuchet MS"/>
                <a:cs typeface="Trebuchet MS"/>
              </a:rPr>
              <a:t> компании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4009" y="1772794"/>
            <a:ext cx="4032885" cy="72390"/>
          </a:xfrm>
          <a:custGeom>
            <a:avLst/>
            <a:gdLst/>
            <a:ahLst/>
            <a:cxnLst/>
            <a:rect l="l" t="t" r="r" b="b"/>
            <a:pathLst>
              <a:path w="4032884" h="72389">
                <a:moveTo>
                  <a:pt x="4032504" y="0"/>
                </a:moveTo>
                <a:lnTo>
                  <a:pt x="0" y="0"/>
                </a:lnTo>
                <a:lnTo>
                  <a:pt x="0" y="72007"/>
                </a:lnTo>
                <a:lnTo>
                  <a:pt x="4032504" y="72007"/>
                </a:lnTo>
                <a:lnTo>
                  <a:pt x="403250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44009" y="836677"/>
            <a:ext cx="4032885" cy="72390"/>
          </a:xfrm>
          <a:custGeom>
            <a:avLst/>
            <a:gdLst/>
            <a:ahLst/>
            <a:cxnLst/>
            <a:rect l="l" t="t" r="r" b="b"/>
            <a:pathLst>
              <a:path w="4032884" h="72390">
                <a:moveTo>
                  <a:pt x="4032504" y="0"/>
                </a:moveTo>
                <a:lnTo>
                  <a:pt x="0" y="0"/>
                </a:lnTo>
                <a:lnTo>
                  <a:pt x="0" y="72007"/>
                </a:lnTo>
                <a:lnTo>
                  <a:pt x="4032504" y="72007"/>
                </a:lnTo>
                <a:lnTo>
                  <a:pt x="4032504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99591" y="212991"/>
            <a:ext cx="4100829" cy="5772785"/>
            <a:chOff x="899591" y="212991"/>
            <a:chExt cx="4100829" cy="57727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591" y="212991"/>
              <a:ext cx="3440938" cy="57726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5344" y="3314700"/>
              <a:ext cx="1104900" cy="11734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5451" y="2830068"/>
              <a:ext cx="1196339" cy="9464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5451" y="4055364"/>
              <a:ext cx="1196339" cy="94640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«Большинство</a:t>
            </a:r>
            <a:r>
              <a:rPr spc="-35" dirty="0"/>
              <a:t> </a:t>
            </a:r>
            <a:r>
              <a:rPr dirty="0"/>
              <a:t>целей,</a:t>
            </a:r>
            <a:r>
              <a:rPr spc="15" dirty="0"/>
              <a:t> </a:t>
            </a:r>
            <a:r>
              <a:rPr spc="-5" dirty="0"/>
              <a:t>сформулированных</a:t>
            </a:r>
            <a:r>
              <a:rPr spc="20" dirty="0"/>
              <a:t> </a:t>
            </a:r>
            <a:r>
              <a:rPr dirty="0"/>
              <a:t>для </a:t>
            </a:r>
            <a:r>
              <a:rPr spc="5" dirty="0"/>
              <a:t> </a:t>
            </a:r>
            <a:r>
              <a:rPr spc="-5" dirty="0"/>
              <a:t>конкретного </a:t>
            </a:r>
            <a:r>
              <a:rPr dirty="0"/>
              <a:t>предприятия, </a:t>
            </a:r>
            <a:r>
              <a:rPr spc="-5" dirty="0"/>
              <a:t>можно </a:t>
            </a:r>
            <a:r>
              <a:rPr dirty="0"/>
              <a:t>легко </a:t>
            </a:r>
            <a:r>
              <a:rPr spc="-5" dirty="0"/>
              <a:t>перевести </a:t>
            </a:r>
            <a:r>
              <a:rPr dirty="0"/>
              <a:t>в </a:t>
            </a:r>
            <a:r>
              <a:rPr spc="-710" dirty="0"/>
              <a:t> </a:t>
            </a:r>
            <a:r>
              <a:rPr spc="-5" dirty="0"/>
              <a:t>термины</a:t>
            </a:r>
            <a:r>
              <a:rPr spc="5" dirty="0"/>
              <a:t> </a:t>
            </a:r>
            <a:r>
              <a:rPr spc="-5" dirty="0"/>
              <a:t>универсальных»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5541" y="1700796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80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370" y="2049271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Ф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инан</a:t>
            </a:r>
            <a:r>
              <a:rPr sz="1800" b="1" spc="-10" dirty="0">
                <a:solidFill>
                  <a:srgbClr val="B61C61"/>
                </a:solidFill>
                <a:latin typeface="Trebuchet MS"/>
                <a:cs typeface="Trebuchet MS"/>
              </a:rPr>
              <a:t>с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ы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5541" y="2780931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79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4370" y="3129788"/>
            <a:ext cx="10236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З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ака</a:t>
            </a:r>
            <a:r>
              <a:rPr sz="1800" b="1" spc="-10" dirty="0">
                <a:solidFill>
                  <a:srgbClr val="B61C61"/>
                </a:solidFill>
                <a:latin typeface="Trebuchet MS"/>
                <a:cs typeface="Trebuchet MS"/>
              </a:rPr>
              <a:t>з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чик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3336" y="3861066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79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2178" y="4072890"/>
            <a:ext cx="1338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Внутренн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ее  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упр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авл</a:t>
            </a:r>
            <a:r>
              <a:rPr sz="1800" b="1" spc="5" dirty="0">
                <a:solidFill>
                  <a:srgbClr val="B61C61"/>
                </a:solidFill>
                <a:latin typeface="Trebuchet MS"/>
                <a:cs typeface="Trebuchet MS"/>
              </a:rPr>
              <a:t>е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ние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9536" y="4941163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79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8404" y="5153101"/>
            <a:ext cx="13150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Обучение</a:t>
            </a:r>
            <a:r>
              <a:rPr sz="1800" b="1" spc="-70" dirty="0">
                <a:solidFill>
                  <a:srgbClr val="B61C61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и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развитие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71472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7" y="600075"/>
                </a:lnTo>
                <a:lnTo>
                  <a:pt x="1266697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98091" y="1867916"/>
            <a:ext cx="101346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05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Отдача от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инвестиций</a:t>
            </a:r>
            <a:r>
              <a:rPr sz="105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для </a:t>
            </a:r>
            <a:r>
              <a:rPr sz="105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за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нтересо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ан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н</a:t>
            </a:r>
            <a:endParaRPr sz="1050">
              <a:latin typeface="Trebuchet MS"/>
              <a:cs typeface="Trebuchet MS"/>
            </a:endParaRPr>
          </a:p>
          <a:p>
            <a:pPr marL="196850">
              <a:lnSpc>
                <a:spcPct val="100000"/>
              </a:lnSpc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ых</a:t>
            </a:r>
            <a:r>
              <a:rPr sz="10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сторон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58311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372992" y="1852676"/>
            <a:ext cx="10401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3810" algn="ctr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Портфель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конкурентоспо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собны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х</a:t>
            </a:r>
            <a:r>
              <a:rPr sz="11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т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в  и</a:t>
            </a:r>
            <a:r>
              <a:rPr sz="11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услуг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45152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89170" y="1822196"/>
            <a:ext cx="9810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У</a:t>
            </a:r>
            <a:r>
              <a:rPr sz="1200" spc="5" dirty="0">
                <a:solidFill>
                  <a:srgbClr val="FFFFFF"/>
                </a:solidFill>
                <a:latin typeface="Trebuchet MS"/>
                <a:cs typeface="Trebuchet MS"/>
              </a:rPr>
              <a:t>п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ля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м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ые  б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изн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200" spc="5" dirty="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-рис</a:t>
            </a:r>
            <a:r>
              <a:rPr sz="1200" spc="5" dirty="0">
                <a:solidFill>
                  <a:srgbClr val="FFFFFF"/>
                </a:solidFill>
                <a:latin typeface="Trebuchet MS"/>
                <a:cs typeface="Trebuchet MS"/>
              </a:rPr>
              <a:t>к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и  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(защита 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активов)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31991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64071" y="1852676"/>
            <a:ext cx="10033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Соответствие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законам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 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г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ул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рую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щим 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нормам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18831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563357" y="2005076"/>
            <a:ext cx="9791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58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Финансовая </a:t>
            </a:r>
            <a:r>
              <a:rPr sz="1200" spc="-3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про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з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чно</a:t>
            </a:r>
            <a:r>
              <a:rPr sz="1200" spc="5" dirty="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ть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4200" y="2924936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70277" y="2948432"/>
            <a:ext cx="103505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46379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Клиенто </a:t>
            </a:r>
            <a:r>
              <a:rPr sz="105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ори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нтир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ов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анна</a:t>
            </a:r>
            <a:endParaRPr sz="1050">
              <a:latin typeface="Trebuchet MS"/>
              <a:cs typeface="Trebuchet MS"/>
            </a:endParaRPr>
          </a:p>
          <a:p>
            <a:pPr marL="242570" marR="134620" indent="-100965">
              <a:lnSpc>
                <a:spcPct val="100000"/>
              </a:lnSpc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я</a:t>
            </a:r>
            <a:r>
              <a:rPr sz="105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сервисная </a:t>
            </a:r>
            <a:r>
              <a:rPr sz="105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культура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27879" y="2924936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758309" y="2902407"/>
            <a:ext cx="10064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Гибкая</a:t>
            </a:r>
            <a:endParaRPr sz="1200">
              <a:latin typeface="Trebuchet MS"/>
              <a:cs typeface="Trebuchet MS"/>
            </a:endParaRPr>
          </a:p>
          <a:p>
            <a:pPr marL="12700" marR="5080" indent="99060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реакция на 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 и</a:t>
            </a:r>
            <a:r>
              <a:rPr sz="1200" spc="-10" dirty="0">
                <a:solidFill>
                  <a:srgbClr val="FFFFFF"/>
                </a:solidFill>
                <a:latin typeface="Trebuchet MS"/>
                <a:cs typeface="Trebuchet MS"/>
              </a:rPr>
              <a:t>з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меняю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щ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ес  я</a:t>
            </a:r>
            <a:r>
              <a:rPr sz="12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условия</a:t>
            </a:r>
            <a:r>
              <a:rPr sz="12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…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31991" y="2924936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171691" y="2868295"/>
            <a:ext cx="989965" cy="826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Принятие </a:t>
            </a:r>
            <a:r>
              <a:rPr sz="105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стратегических </a:t>
            </a:r>
            <a:r>
              <a:rPr sz="1050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решений на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основе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информации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18831" y="2924936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551166" y="2902407"/>
            <a:ext cx="100456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Оптимизация </a:t>
            </a:r>
            <a:r>
              <a:rPr sz="1200" spc="-3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затрат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на 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 пре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д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ста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л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ен  ие 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услуг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71472" y="400507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7" y="600075"/>
                </a:lnTo>
                <a:lnTo>
                  <a:pt x="1266697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009013" y="4028694"/>
            <a:ext cx="99377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Оптимизация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функ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ц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ио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н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л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ь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но 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сти</a:t>
            </a:r>
            <a:r>
              <a:rPr sz="10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бизнес-</a:t>
            </a:r>
            <a:endParaRPr sz="10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процессов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41039" y="400507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386454" y="4097273"/>
            <a:ext cx="9779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Оптимизация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затрат</a:t>
            </a:r>
            <a:r>
              <a:rPr sz="11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бизнес- </a:t>
            </a:r>
            <a:r>
              <a:rPr sz="1100" spc="-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процессов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45152" y="400507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827270" y="4013453"/>
            <a:ext cx="9042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Управление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п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ограм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м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ами  бизнес-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изменений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31991" y="400507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167120" y="4013453"/>
            <a:ext cx="996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Операционная </a:t>
            </a:r>
            <a:r>
              <a:rPr sz="11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п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зв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ди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т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ль 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ность</a:t>
            </a:r>
            <a:endParaRPr sz="11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персонала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18831" y="400507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601457" y="4074414"/>
            <a:ext cx="904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Соб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люд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ние  внутренних </a:t>
            </a: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rebuchet MS"/>
                <a:cs typeface="Trebuchet MS"/>
              </a:rPr>
              <a:t>политик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71472" y="506679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11"/>
                </a:lnTo>
                <a:lnTo>
                  <a:pt x="9429" y="646726"/>
                </a:lnTo>
                <a:lnTo>
                  <a:pt x="35147" y="684874"/>
                </a:lnTo>
                <a:lnTo>
                  <a:pt x="73294" y="710594"/>
                </a:lnTo>
                <a:lnTo>
                  <a:pt x="120014" y="720026"/>
                </a:lnTo>
                <a:lnTo>
                  <a:pt x="1146683" y="720026"/>
                </a:lnTo>
                <a:lnTo>
                  <a:pt x="1193403" y="710594"/>
                </a:lnTo>
                <a:lnTo>
                  <a:pt x="1231550" y="684874"/>
                </a:lnTo>
                <a:lnTo>
                  <a:pt x="1257268" y="646726"/>
                </a:lnTo>
                <a:lnTo>
                  <a:pt x="1266697" y="600011"/>
                </a:lnTo>
                <a:lnTo>
                  <a:pt x="1266697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85898" y="5075301"/>
            <a:ext cx="10401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Квалифициров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анный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 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мот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ов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нн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ы  й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персонал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258311" y="5034788"/>
            <a:ext cx="1266825" cy="720725"/>
          </a:xfrm>
          <a:custGeom>
            <a:avLst/>
            <a:gdLst/>
            <a:ahLst/>
            <a:cxnLst/>
            <a:rect l="l" t="t" r="r" b="b"/>
            <a:pathLst>
              <a:path w="1266825" h="720725">
                <a:moveTo>
                  <a:pt x="1146683" y="0"/>
                </a:moveTo>
                <a:lnTo>
                  <a:pt x="120014" y="0"/>
                </a:lnTo>
                <a:lnTo>
                  <a:pt x="73294" y="9447"/>
                </a:lnTo>
                <a:lnTo>
                  <a:pt x="35147" y="35194"/>
                </a:lnTo>
                <a:lnTo>
                  <a:pt x="9429" y="73348"/>
                </a:lnTo>
                <a:lnTo>
                  <a:pt x="0" y="120014"/>
                </a:lnTo>
                <a:lnTo>
                  <a:pt x="0" y="600113"/>
                </a:lnTo>
                <a:lnTo>
                  <a:pt x="9429" y="646833"/>
                </a:lnTo>
                <a:lnTo>
                  <a:pt x="35147" y="684980"/>
                </a:lnTo>
                <a:lnTo>
                  <a:pt x="73294" y="710698"/>
                </a:lnTo>
                <a:lnTo>
                  <a:pt x="120014" y="720128"/>
                </a:lnTo>
                <a:lnTo>
                  <a:pt x="1146683" y="720128"/>
                </a:lnTo>
                <a:lnTo>
                  <a:pt x="1193403" y="710698"/>
                </a:lnTo>
                <a:lnTo>
                  <a:pt x="1231550" y="684980"/>
                </a:lnTo>
                <a:lnTo>
                  <a:pt x="1257268" y="646833"/>
                </a:lnTo>
                <a:lnTo>
                  <a:pt x="1266698" y="600113"/>
                </a:lnTo>
                <a:lnTo>
                  <a:pt x="1266698" y="120014"/>
                </a:lnTo>
                <a:lnTo>
                  <a:pt x="1257268" y="73348"/>
                </a:lnTo>
                <a:lnTo>
                  <a:pt x="1231550" y="35194"/>
                </a:lnTo>
                <a:lnTo>
                  <a:pt x="1193403" y="9447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423284" y="4959477"/>
            <a:ext cx="938530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129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Культура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д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лг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осро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ч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ных</a:t>
            </a:r>
            <a:endParaRPr sz="1100">
              <a:latin typeface="Trebuchet MS"/>
              <a:cs typeface="Trebuchet MS"/>
            </a:endParaRPr>
          </a:p>
          <a:p>
            <a:pPr marL="76200" marR="70485" indent="635" algn="ctr">
              <a:lnSpc>
                <a:spcPct val="100000"/>
              </a:lnSpc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инноваций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продуктов</a:t>
            </a:r>
            <a:r>
              <a:rPr sz="11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 </a:t>
            </a:r>
            <a:r>
              <a:rPr sz="11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бизнеса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33442" y="2564892"/>
            <a:ext cx="4232275" cy="2501900"/>
            <a:chOff x="2433442" y="2564892"/>
            <a:chExt cx="4232275" cy="2501900"/>
          </a:xfrm>
        </p:grpSpPr>
        <p:sp>
          <p:nvSpPr>
            <p:cNvPr id="46" name="object 46"/>
            <p:cNvSpPr/>
            <p:nvPr/>
          </p:nvSpPr>
          <p:spPr>
            <a:xfrm>
              <a:off x="2433434" y="2564891"/>
              <a:ext cx="4232275" cy="2501900"/>
            </a:xfrm>
            <a:custGeom>
              <a:avLst/>
              <a:gdLst/>
              <a:ahLst/>
              <a:cxnLst/>
              <a:rect l="l" t="t" r="r" b="b"/>
              <a:pathLst>
                <a:path w="4232275" h="2501900">
                  <a:moveTo>
                    <a:pt x="1461655" y="2454402"/>
                  </a:moveTo>
                  <a:lnTo>
                    <a:pt x="162661" y="2164423"/>
                  </a:lnTo>
                  <a:lnTo>
                    <a:pt x="202692" y="2151634"/>
                  </a:lnTo>
                  <a:lnTo>
                    <a:pt x="211848" y="2148713"/>
                  </a:lnTo>
                  <a:lnTo>
                    <a:pt x="217385" y="2145652"/>
                  </a:lnTo>
                  <a:lnTo>
                    <a:pt x="221195" y="2140889"/>
                  </a:lnTo>
                  <a:lnTo>
                    <a:pt x="222935" y="2135060"/>
                  </a:lnTo>
                  <a:lnTo>
                    <a:pt x="222262" y="2128774"/>
                  </a:lnTo>
                  <a:lnTo>
                    <a:pt x="219595" y="2120519"/>
                  </a:lnTo>
                  <a:lnTo>
                    <a:pt x="210578" y="2115820"/>
                  </a:lnTo>
                  <a:lnTo>
                    <a:pt x="71424" y="2160219"/>
                  </a:lnTo>
                  <a:lnTo>
                    <a:pt x="71259" y="2160270"/>
                  </a:lnTo>
                  <a:lnTo>
                    <a:pt x="2044" y="2278888"/>
                  </a:lnTo>
                  <a:lnTo>
                    <a:pt x="0" y="2284895"/>
                  </a:lnTo>
                  <a:lnTo>
                    <a:pt x="419" y="2290991"/>
                  </a:lnTo>
                  <a:lnTo>
                    <a:pt x="3073" y="2296464"/>
                  </a:lnTo>
                  <a:lnTo>
                    <a:pt x="7759" y="2300605"/>
                  </a:lnTo>
                  <a:lnTo>
                    <a:pt x="13741" y="2302662"/>
                  </a:lnTo>
                  <a:lnTo>
                    <a:pt x="19799" y="2302281"/>
                  </a:lnTo>
                  <a:lnTo>
                    <a:pt x="25273" y="2299627"/>
                  </a:lnTo>
                  <a:lnTo>
                    <a:pt x="29476" y="2294890"/>
                  </a:lnTo>
                  <a:lnTo>
                    <a:pt x="55435" y="2250427"/>
                  </a:lnTo>
                  <a:lnTo>
                    <a:pt x="55511" y="2191639"/>
                  </a:lnTo>
                  <a:lnTo>
                    <a:pt x="55511" y="2250313"/>
                  </a:lnTo>
                  <a:lnTo>
                    <a:pt x="55511" y="2501900"/>
                  </a:lnTo>
                  <a:lnTo>
                    <a:pt x="87261" y="2501900"/>
                  </a:lnTo>
                  <a:lnTo>
                    <a:pt x="87185" y="2250313"/>
                  </a:lnTo>
                  <a:lnTo>
                    <a:pt x="113169" y="2294890"/>
                  </a:lnTo>
                  <a:lnTo>
                    <a:pt x="117373" y="2299627"/>
                  </a:lnTo>
                  <a:lnTo>
                    <a:pt x="122885" y="2302281"/>
                  </a:lnTo>
                  <a:lnTo>
                    <a:pt x="128955" y="2302662"/>
                  </a:lnTo>
                  <a:lnTo>
                    <a:pt x="134886" y="2300605"/>
                  </a:lnTo>
                  <a:lnTo>
                    <a:pt x="139611" y="2296464"/>
                  </a:lnTo>
                  <a:lnTo>
                    <a:pt x="142265" y="2290991"/>
                  </a:lnTo>
                  <a:lnTo>
                    <a:pt x="142646" y="2284895"/>
                  </a:lnTo>
                  <a:lnTo>
                    <a:pt x="140601" y="2278888"/>
                  </a:lnTo>
                  <a:lnTo>
                    <a:pt x="89738" y="2191639"/>
                  </a:lnTo>
                  <a:lnTo>
                    <a:pt x="71691" y="2160676"/>
                  </a:lnTo>
                  <a:lnTo>
                    <a:pt x="172097" y="2253742"/>
                  </a:lnTo>
                  <a:lnTo>
                    <a:pt x="177444" y="2257044"/>
                  </a:lnTo>
                  <a:lnTo>
                    <a:pt x="183464" y="2257971"/>
                  </a:lnTo>
                  <a:lnTo>
                    <a:pt x="189382" y="2256574"/>
                  </a:lnTo>
                  <a:lnTo>
                    <a:pt x="194449" y="2252853"/>
                  </a:lnTo>
                  <a:lnTo>
                    <a:pt x="197739" y="2247531"/>
                  </a:lnTo>
                  <a:lnTo>
                    <a:pt x="198678" y="2241537"/>
                  </a:lnTo>
                  <a:lnTo>
                    <a:pt x="197319" y="2235619"/>
                  </a:lnTo>
                  <a:lnTo>
                    <a:pt x="193687" y="2230501"/>
                  </a:lnTo>
                  <a:lnTo>
                    <a:pt x="155867" y="2195423"/>
                  </a:lnTo>
                  <a:lnTo>
                    <a:pt x="1454670" y="2485390"/>
                  </a:lnTo>
                  <a:lnTo>
                    <a:pt x="1461655" y="2454402"/>
                  </a:lnTo>
                  <a:close/>
                </a:path>
                <a:path w="4232275" h="2501900">
                  <a:moveTo>
                    <a:pt x="4231906" y="1080135"/>
                  </a:moveTo>
                  <a:lnTo>
                    <a:pt x="4204271" y="1067054"/>
                  </a:lnTo>
                  <a:lnTo>
                    <a:pt x="4107688" y="1021334"/>
                  </a:lnTo>
                  <a:lnTo>
                    <a:pt x="4101541" y="1019848"/>
                  </a:lnTo>
                  <a:lnTo>
                    <a:pt x="4095521" y="1020762"/>
                  </a:lnTo>
                  <a:lnTo>
                    <a:pt x="4090276" y="1023874"/>
                  </a:lnTo>
                  <a:lnTo>
                    <a:pt x="4086491" y="1028966"/>
                  </a:lnTo>
                  <a:lnTo>
                    <a:pt x="4084993" y="1035062"/>
                  </a:lnTo>
                  <a:lnTo>
                    <a:pt x="4085920" y="1041069"/>
                  </a:lnTo>
                  <a:lnTo>
                    <a:pt x="4089019" y="1046302"/>
                  </a:lnTo>
                  <a:lnTo>
                    <a:pt x="4094111" y="1050036"/>
                  </a:lnTo>
                  <a:lnTo>
                    <a:pt x="4140809" y="1072121"/>
                  </a:lnTo>
                  <a:lnTo>
                    <a:pt x="112255" y="1420660"/>
                  </a:lnTo>
                  <a:lnTo>
                    <a:pt x="1407096" y="75946"/>
                  </a:lnTo>
                  <a:lnTo>
                    <a:pt x="1394853" y="126111"/>
                  </a:lnTo>
                  <a:lnTo>
                    <a:pt x="1392821" y="134620"/>
                  </a:lnTo>
                  <a:lnTo>
                    <a:pt x="1398028" y="143129"/>
                  </a:lnTo>
                  <a:lnTo>
                    <a:pt x="1406537" y="145288"/>
                  </a:lnTo>
                  <a:lnTo>
                    <a:pt x="1415046" y="147320"/>
                  </a:lnTo>
                  <a:lnTo>
                    <a:pt x="1423682" y="142113"/>
                  </a:lnTo>
                  <a:lnTo>
                    <a:pt x="1425714" y="133604"/>
                  </a:lnTo>
                  <a:lnTo>
                    <a:pt x="1455381" y="11684"/>
                  </a:lnTo>
                  <a:lnTo>
                    <a:pt x="1458226" y="0"/>
                  </a:lnTo>
                  <a:lnTo>
                    <a:pt x="1317510" y="39878"/>
                  </a:lnTo>
                  <a:lnTo>
                    <a:pt x="1312684" y="48641"/>
                  </a:lnTo>
                  <a:lnTo>
                    <a:pt x="1314970" y="57023"/>
                  </a:lnTo>
                  <a:lnTo>
                    <a:pt x="1317383" y="65532"/>
                  </a:lnTo>
                  <a:lnTo>
                    <a:pt x="1326146" y="70358"/>
                  </a:lnTo>
                  <a:lnTo>
                    <a:pt x="1384274" y="53936"/>
                  </a:lnTo>
                  <a:lnTo>
                    <a:pt x="59956" y="1429131"/>
                  </a:lnTo>
                  <a:lnTo>
                    <a:pt x="71323" y="1440129"/>
                  </a:lnTo>
                  <a:lnTo>
                    <a:pt x="72656" y="1455928"/>
                  </a:lnTo>
                  <a:lnTo>
                    <a:pt x="4143349" y="1103757"/>
                  </a:lnTo>
                  <a:lnTo>
                    <a:pt x="4101211" y="1133475"/>
                  </a:lnTo>
                  <a:lnTo>
                    <a:pt x="4096931" y="1138008"/>
                  </a:lnTo>
                  <a:lnTo>
                    <a:pt x="4094784" y="1143673"/>
                  </a:lnTo>
                  <a:lnTo>
                    <a:pt x="4094911" y="1149769"/>
                  </a:lnTo>
                  <a:lnTo>
                    <a:pt x="4097413" y="1155573"/>
                  </a:lnTo>
                  <a:lnTo>
                    <a:pt x="4102011" y="1159891"/>
                  </a:lnTo>
                  <a:lnTo>
                    <a:pt x="4107713" y="1162050"/>
                  </a:lnTo>
                  <a:lnTo>
                    <a:pt x="4113822" y="1161935"/>
                  </a:lnTo>
                  <a:lnTo>
                    <a:pt x="4119638" y="1159383"/>
                  </a:lnTo>
                  <a:lnTo>
                    <a:pt x="4231906" y="1080135"/>
                  </a:lnTo>
                  <a:close/>
                </a:path>
              </a:pathLst>
            </a:custGeom>
            <a:solidFill>
              <a:srgbClr val="B61C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41039" y="2924937"/>
              <a:ext cx="1266825" cy="720090"/>
            </a:xfrm>
            <a:custGeom>
              <a:avLst/>
              <a:gdLst/>
              <a:ahLst/>
              <a:cxnLst/>
              <a:rect l="l" t="t" r="r" b="b"/>
              <a:pathLst>
                <a:path w="1266825" h="720089">
                  <a:moveTo>
                    <a:pt x="1146683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600075"/>
                  </a:lnTo>
                  <a:lnTo>
                    <a:pt x="9429" y="646795"/>
                  </a:lnTo>
                  <a:lnTo>
                    <a:pt x="35147" y="684942"/>
                  </a:lnTo>
                  <a:lnTo>
                    <a:pt x="73294" y="710660"/>
                  </a:lnTo>
                  <a:lnTo>
                    <a:pt x="120014" y="720089"/>
                  </a:lnTo>
                  <a:lnTo>
                    <a:pt x="1146683" y="720089"/>
                  </a:lnTo>
                  <a:lnTo>
                    <a:pt x="1193403" y="710660"/>
                  </a:lnTo>
                  <a:lnTo>
                    <a:pt x="1231550" y="684942"/>
                  </a:lnTo>
                  <a:lnTo>
                    <a:pt x="1257268" y="646795"/>
                  </a:lnTo>
                  <a:lnTo>
                    <a:pt x="1266698" y="600075"/>
                  </a:lnTo>
                  <a:lnTo>
                    <a:pt x="1266698" y="120014"/>
                  </a:lnTo>
                  <a:lnTo>
                    <a:pt x="1257268" y="73294"/>
                  </a:lnTo>
                  <a:lnTo>
                    <a:pt x="1231550" y="35147"/>
                  </a:lnTo>
                  <a:lnTo>
                    <a:pt x="1193403" y="9429"/>
                  </a:lnTo>
                  <a:lnTo>
                    <a:pt x="1146683" y="0"/>
                  </a:lnTo>
                  <a:close/>
                </a:path>
              </a:pathLst>
            </a:custGeom>
            <a:solidFill>
              <a:srgbClr val="5D7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362071" y="3017012"/>
            <a:ext cx="102616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Н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п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еры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вн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ос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т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ь  и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доступность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бизнес-услуг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500757" y="3605910"/>
            <a:ext cx="1374140" cy="414655"/>
          </a:xfrm>
          <a:custGeom>
            <a:avLst/>
            <a:gdLst/>
            <a:ahLst/>
            <a:cxnLst/>
            <a:rect l="l" t="t" r="r" b="b"/>
            <a:pathLst>
              <a:path w="1374139" h="414654">
                <a:moveTo>
                  <a:pt x="1282445" y="46673"/>
                </a:moveTo>
                <a:lnTo>
                  <a:pt x="0" y="383794"/>
                </a:lnTo>
                <a:lnTo>
                  <a:pt x="8000" y="414527"/>
                </a:lnTo>
                <a:lnTo>
                  <a:pt x="1290397" y="77452"/>
                </a:lnTo>
                <a:lnTo>
                  <a:pt x="1312791" y="55094"/>
                </a:lnTo>
                <a:lnTo>
                  <a:pt x="1282445" y="46673"/>
                </a:lnTo>
                <a:close/>
              </a:path>
              <a:path w="1374139" h="414654">
                <a:moveTo>
                  <a:pt x="1347266" y="31750"/>
                </a:moveTo>
                <a:lnTo>
                  <a:pt x="1339215" y="31750"/>
                </a:lnTo>
                <a:lnTo>
                  <a:pt x="1347343" y="62483"/>
                </a:lnTo>
                <a:lnTo>
                  <a:pt x="1290397" y="77452"/>
                </a:lnTo>
                <a:lnTo>
                  <a:pt x="1253997" y="113791"/>
                </a:lnTo>
                <a:lnTo>
                  <a:pt x="1250569" y="119054"/>
                </a:lnTo>
                <a:lnTo>
                  <a:pt x="1249426" y="125031"/>
                </a:lnTo>
                <a:lnTo>
                  <a:pt x="1250569" y="131008"/>
                </a:lnTo>
                <a:lnTo>
                  <a:pt x="1253997" y="136270"/>
                </a:lnTo>
                <a:lnTo>
                  <a:pt x="1259260" y="139771"/>
                </a:lnTo>
                <a:lnTo>
                  <a:pt x="1265237" y="140938"/>
                </a:lnTo>
                <a:lnTo>
                  <a:pt x="1271214" y="139771"/>
                </a:lnTo>
                <a:lnTo>
                  <a:pt x="1276477" y="136270"/>
                </a:lnTo>
                <a:lnTo>
                  <a:pt x="1373758" y="39115"/>
                </a:lnTo>
                <a:lnTo>
                  <a:pt x="1347266" y="31750"/>
                </a:lnTo>
                <a:close/>
              </a:path>
              <a:path w="1374139" h="414654">
                <a:moveTo>
                  <a:pt x="1312791" y="55094"/>
                </a:moveTo>
                <a:lnTo>
                  <a:pt x="1290397" y="77452"/>
                </a:lnTo>
                <a:lnTo>
                  <a:pt x="1347343" y="62483"/>
                </a:lnTo>
                <a:lnTo>
                  <a:pt x="1338960" y="62356"/>
                </a:lnTo>
                <a:lnTo>
                  <a:pt x="1312791" y="55094"/>
                </a:lnTo>
                <a:close/>
              </a:path>
              <a:path w="1374139" h="414654">
                <a:moveTo>
                  <a:pt x="1332103" y="35813"/>
                </a:moveTo>
                <a:lnTo>
                  <a:pt x="1312791" y="55094"/>
                </a:lnTo>
                <a:lnTo>
                  <a:pt x="1338960" y="62356"/>
                </a:lnTo>
                <a:lnTo>
                  <a:pt x="1332103" y="35813"/>
                </a:lnTo>
                <a:close/>
              </a:path>
              <a:path w="1374139" h="414654">
                <a:moveTo>
                  <a:pt x="1340289" y="35813"/>
                </a:moveTo>
                <a:lnTo>
                  <a:pt x="1332103" y="35813"/>
                </a:lnTo>
                <a:lnTo>
                  <a:pt x="1338960" y="62356"/>
                </a:lnTo>
                <a:lnTo>
                  <a:pt x="1347309" y="62356"/>
                </a:lnTo>
                <a:lnTo>
                  <a:pt x="1340289" y="35813"/>
                </a:lnTo>
                <a:close/>
              </a:path>
              <a:path w="1374139" h="414654">
                <a:moveTo>
                  <a:pt x="1339215" y="31750"/>
                </a:moveTo>
                <a:lnTo>
                  <a:pt x="1282445" y="46673"/>
                </a:lnTo>
                <a:lnTo>
                  <a:pt x="1312791" y="55094"/>
                </a:lnTo>
                <a:lnTo>
                  <a:pt x="1332103" y="35813"/>
                </a:lnTo>
                <a:lnTo>
                  <a:pt x="1340289" y="35813"/>
                </a:lnTo>
                <a:lnTo>
                  <a:pt x="1339215" y="31750"/>
                </a:lnTo>
                <a:close/>
              </a:path>
              <a:path w="1374139" h="414654">
                <a:moveTo>
                  <a:pt x="1232789" y="0"/>
                </a:moveTo>
                <a:lnTo>
                  <a:pt x="1224026" y="4825"/>
                </a:lnTo>
                <a:lnTo>
                  <a:pt x="1221740" y="13334"/>
                </a:lnTo>
                <a:lnTo>
                  <a:pt x="1219327" y="21716"/>
                </a:lnTo>
                <a:lnTo>
                  <a:pt x="1224280" y="30480"/>
                </a:lnTo>
                <a:lnTo>
                  <a:pt x="1282445" y="46673"/>
                </a:lnTo>
                <a:lnTo>
                  <a:pt x="1339215" y="31750"/>
                </a:lnTo>
                <a:lnTo>
                  <a:pt x="1347266" y="31750"/>
                </a:lnTo>
                <a:lnTo>
                  <a:pt x="1232789" y="0"/>
                </a:lnTo>
                <a:close/>
              </a:path>
            </a:pathLst>
          </a:custGeom>
          <a:solidFill>
            <a:srgbClr val="B61C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036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Важность</a:t>
            </a:r>
            <a:r>
              <a:rPr spc="-20" dirty="0"/>
              <a:t> </a:t>
            </a:r>
            <a:r>
              <a:rPr spc="-5" dirty="0"/>
              <a:t>ИТ-целей</a:t>
            </a:r>
            <a:r>
              <a:rPr spc="20" dirty="0"/>
              <a:t> </a:t>
            </a:r>
            <a:r>
              <a:rPr spc="-5" dirty="0"/>
              <a:t>COBIT5</a:t>
            </a:r>
            <a:r>
              <a:rPr spc="-20" dirty="0"/>
              <a:t> </a:t>
            </a:r>
            <a:r>
              <a:rPr dirty="0"/>
              <a:t>в</a:t>
            </a:r>
            <a:r>
              <a:rPr spc="-5" dirty="0"/>
              <a:t> достижении</a:t>
            </a:r>
          </a:p>
          <a:p>
            <a:pPr marL="1270" algn="ctr">
              <a:lnSpc>
                <a:spcPct val="100000"/>
              </a:lnSpc>
            </a:pPr>
            <a:r>
              <a:rPr spc="-5" dirty="0"/>
              <a:t>целей</a:t>
            </a:r>
            <a:r>
              <a:rPr spc="-15" dirty="0"/>
              <a:t> </a:t>
            </a:r>
            <a:r>
              <a:rPr spc="-10" dirty="0"/>
              <a:t>компании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" y="1556778"/>
            <a:ext cx="8854440" cy="456476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269" y="668273"/>
            <a:ext cx="3337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Приоритетные</a:t>
            </a:r>
            <a:r>
              <a:rPr spc="-30" dirty="0"/>
              <a:t> </a:t>
            </a:r>
            <a:r>
              <a:rPr spc="-5" dirty="0"/>
              <a:t>ИТ-цели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5541" y="1700796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80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370" y="2049271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Ф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инан</a:t>
            </a:r>
            <a:r>
              <a:rPr sz="1800" b="1" spc="-10" dirty="0">
                <a:solidFill>
                  <a:srgbClr val="B61C61"/>
                </a:solidFill>
                <a:latin typeface="Trebuchet MS"/>
                <a:cs typeface="Trebuchet MS"/>
              </a:rPr>
              <a:t>с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ы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5541" y="2780931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79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4370" y="3129788"/>
            <a:ext cx="10236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З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ака</a:t>
            </a:r>
            <a:r>
              <a:rPr sz="1800" b="1" spc="-10" dirty="0">
                <a:solidFill>
                  <a:srgbClr val="B61C61"/>
                </a:solidFill>
                <a:latin typeface="Trebuchet MS"/>
                <a:cs typeface="Trebuchet MS"/>
              </a:rPr>
              <a:t>з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чик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3336" y="3861066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79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2178" y="4072890"/>
            <a:ext cx="1338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Внутренн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ее  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упр</a:t>
            </a: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авл</a:t>
            </a:r>
            <a:r>
              <a:rPr sz="1800" b="1" spc="5" dirty="0">
                <a:solidFill>
                  <a:srgbClr val="B61C61"/>
                </a:solidFill>
                <a:latin typeface="Trebuchet MS"/>
                <a:cs typeface="Trebuchet MS"/>
              </a:rPr>
              <a:t>е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ние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9536" y="4941163"/>
            <a:ext cx="8425180" cy="1008380"/>
          </a:xfrm>
          <a:custGeom>
            <a:avLst/>
            <a:gdLst/>
            <a:ahLst/>
            <a:cxnLst/>
            <a:rect l="l" t="t" r="r" b="b"/>
            <a:pathLst>
              <a:path w="8425180" h="1008379">
                <a:moveTo>
                  <a:pt x="8424926" y="0"/>
                </a:moveTo>
                <a:lnTo>
                  <a:pt x="0" y="0"/>
                </a:lnTo>
                <a:lnTo>
                  <a:pt x="0" y="1008113"/>
                </a:lnTo>
                <a:lnTo>
                  <a:pt x="8424926" y="1008113"/>
                </a:lnTo>
                <a:lnTo>
                  <a:pt x="8424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8404" y="5153101"/>
            <a:ext cx="13150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B61C61"/>
                </a:solidFill>
                <a:latin typeface="Trebuchet MS"/>
                <a:cs typeface="Trebuchet MS"/>
              </a:rPr>
              <a:t>Обучение</a:t>
            </a:r>
            <a:r>
              <a:rPr sz="1800" b="1" spc="-70" dirty="0">
                <a:solidFill>
                  <a:srgbClr val="B61C61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и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B61C61"/>
                </a:solidFill>
                <a:latin typeface="Trebuchet MS"/>
                <a:cs typeface="Trebuchet MS"/>
              </a:rPr>
              <a:t>развитие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6519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90673" y="1867916"/>
            <a:ext cx="85788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Со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отв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етс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тви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е 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между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ИТ- и </a:t>
            </a:r>
            <a:r>
              <a:rPr sz="105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бизнес-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 стратегиями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58311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18713" y="1852676"/>
            <a:ext cx="9467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2545" algn="ctr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Следование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законам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 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т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б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н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иями  в</a:t>
            </a:r>
            <a:r>
              <a:rPr sz="11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области</a:t>
            </a:r>
            <a:r>
              <a:rPr sz="11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ИТ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39183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2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2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7" y="600075"/>
                </a:lnTo>
                <a:lnTo>
                  <a:pt x="1266697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2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04664" y="1857248"/>
            <a:ext cx="937894" cy="6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085" algn="ctr">
              <a:lnSpc>
                <a:spcPct val="100600"/>
              </a:lnSpc>
              <a:spcBef>
                <a:spcPts val="95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Лидирующая </a:t>
            </a:r>
            <a:r>
              <a:rPr sz="11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роль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ру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к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одс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т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в  области</a:t>
            </a:r>
            <a:r>
              <a:rPr sz="11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ИТ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31991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37223" y="2020316"/>
            <a:ext cx="90043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920" marR="5080" indent="-109855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Упр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ав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ля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емые  ИТ-риски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18831" y="184480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607554" y="1857248"/>
            <a:ext cx="893444" cy="6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43180" algn="ctr">
              <a:lnSpc>
                <a:spcPct val="100600"/>
              </a:lnSpc>
              <a:spcBef>
                <a:spcPts val="95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Получение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выгод от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и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нв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ес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т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иц</a:t>
            </a:r>
            <a:r>
              <a:rPr sz="1100" spc="-1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й</a:t>
            </a:r>
            <a:r>
              <a:rPr sz="11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в  ИТ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21039" y="1844801"/>
            <a:ext cx="323215" cy="720090"/>
          </a:xfrm>
          <a:custGeom>
            <a:avLst/>
            <a:gdLst/>
            <a:ahLst/>
            <a:cxnLst/>
            <a:rect l="l" t="t" r="r" b="b"/>
            <a:pathLst>
              <a:path w="323215" h="720089">
                <a:moveTo>
                  <a:pt x="322960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322960" y="720089"/>
                </a:lnTo>
                <a:lnTo>
                  <a:pt x="322960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038970" y="1948053"/>
            <a:ext cx="1111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П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68867" y="2268092"/>
            <a:ext cx="1860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ы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58311" y="2924936"/>
            <a:ext cx="1260475" cy="720090"/>
          </a:xfrm>
          <a:custGeom>
            <a:avLst/>
            <a:gdLst/>
            <a:ahLst/>
            <a:cxnLst/>
            <a:rect l="l" t="t" r="r" b="b"/>
            <a:pathLst>
              <a:path w="1260475" h="720089">
                <a:moveTo>
                  <a:pt x="1140078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0078" y="720089"/>
                </a:lnTo>
                <a:lnTo>
                  <a:pt x="1186799" y="710660"/>
                </a:lnTo>
                <a:lnTo>
                  <a:pt x="1224946" y="684942"/>
                </a:lnTo>
                <a:lnTo>
                  <a:pt x="1250664" y="646795"/>
                </a:lnTo>
                <a:lnTo>
                  <a:pt x="1260093" y="600075"/>
                </a:lnTo>
                <a:lnTo>
                  <a:pt x="1260093" y="120014"/>
                </a:lnTo>
                <a:lnTo>
                  <a:pt x="1250664" y="73294"/>
                </a:lnTo>
                <a:lnTo>
                  <a:pt x="1224946" y="35147"/>
                </a:lnTo>
                <a:lnTo>
                  <a:pt x="1186799" y="9429"/>
                </a:lnTo>
                <a:lnTo>
                  <a:pt x="1140078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391280" y="2888691"/>
            <a:ext cx="99314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31115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Адекватное 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использование 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приложений, 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информации</a:t>
            </a:r>
            <a:r>
              <a:rPr sz="10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и </a:t>
            </a: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т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х</a:t>
            </a:r>
            <a:r>
              <a:rPr sz="1000" spc="-15" dirty="0">
                <a:solidFill>
                  <a:srgbClr val="FFFFFF"/>
                </a:solidFill>
                <a:latin typeface="Trebuchet MS"/>
                <a:cs typeface="Trebuchet MS"/>
              </a:rPr>
              <a:t>н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ол</a:t>
            </a:r>
            <a:r>
              <a:rPr sz="1000" spc="-15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р</a:t>
            </a:r>
            <a:r>
              <a:rPr sz="1000" spc="-15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ш</a:t>
            </a: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ени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й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66519" y="4005071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6683" y="720089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4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124201" y="4268851"/>
            <a:ext cx="791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Гибкость</a:t>
            </a:r>
            <a:r>
              <a:rPr sz="105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ИТ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58311" y="4005071"/>
            <a:ext cx="1260475" cy="720090"/>
          </a:xfrm>
          <a:custGeom>
            <a:avLst/>
            <a:gdLst/>
            <a:ahLst/>
            <a:cxnLst/>
            <a:rect l="l" t="t" r="r" b="b"/>
            <a:pathLst>
              <a:path w="1260475" h="720089">
                <a:moveTo>
                  <a:pt x="1140078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40078" y="720089"/>
                </a:lnTo>
                <a:lnTo>
                  <a:pt x="1186799" y="710660"/>
                </a:lnTo>
                <a:lnTo>
                  <a:pt x="1224946" y="684942"/>
                </a:lnTo>
                <a:lnTo>
                  <a:pt x="1250664" y="646795"/>
                </a:lnTo>
                <a:lnTo>
                  <a:pt x="1260093" y="600075"/>
                </a:lnTo>
                <a:lnTo>
                  <a:pt x="1260093" y="120014"/>
                </a:lnTo>
                <a:lnTo>
                  <a:pt x="1250664" y="73294"/>
                </a:lnTo>
                <a:lnTo>
                  <a:pt x="1224946" y="35147"/>
                </a:lnTo>
                <a:lnTo>
                  <a:pt x="1186799" y="9429"/>
                </a:lnTo>
                <a:lnTo>
                  <a:pt x="1140078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401948" y="3948429"/>
            <a:ext cx="972819" cy="827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Безопасность </a:t>
            </a:r>
            <a:r>
              <a:rPr sz="105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информации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в </a:t>
            </a:r>
            <a:r>
              <a:rPr sz="105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приложениях</a:t>
            </a:r>
            <a:r>
              <a:rPr sz="105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и </a:t>
            </a:r>
            <a:r>
              <a:rPr sz="105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инфраструктур </a:t>
            </a:r>
            <a:r>
              <a:rPr sz="1050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е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39183" y="3996690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2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5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90"/>
                </a:lnTo>
                <a:lnTo>
                  <a:pt x="1146682" y="720090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7" y="600075"/>
                </a:lnTo>
                <a:lnTo>
                  <a:pt x="1266697" y="120015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2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36667" y="4020058"/>
            <a:ext cx="877569" cy="66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34925" algn="ctr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пти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миза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ц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я 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ИТ-активов,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ресурсов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и </a:t>
            </a:r>
            <a:r>
              <a:rPr sz="105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Trebuchet MS"/>
                <a:cs typeface="Trebuchet MS"/>
              </a:rPr>
              <a:t>способностей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031991" y="4006088"/>
            <a:ext cx="1208405" cy="720090"/>
          </a:xfrm>
          <a:custGeom>
            <a:avLst/>
            <a:gdLst/>
            <a:ahLst/>
            <a:cxnLst/>
            <a:rect l="l" t="t" r="r" b="b"/>
            <a:pathLst>
              <a:path w="1208404" h="720089">
                <a:moveTo>
                  <a:pt x="1088009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1088009" y="720089"/>
                </a:lnTo>
                <a:lnTo>
                  <a:pt x="1134729" y="710660"/>
                </a:lnTo>
                <a:lnTo>
                  <a:pt x="1172876" y="684942"/>
                </a:lnTo>
                <a:lnTo>
                  <a:pt x="1198594" y="646795"/>
                </a:lnTo>
                <a:lnTo>
                  <a:pt x="1208024" y="600075"/>
                </a:lnTo>
                <a:lnTo>
                  <a:pt x="1208024" y="120014"/>
                </a:lnTo>
                <a:lnTo>
                  <a:pt x="1198594" y="73294"/>
                </a:lnTo>
                <a:lnTo>
                  <a:pt x="1172876" y="35147"/>
                </a:lnTo>
                <a:lnTo>
                  <a:pt x="1134729" y="9429"/>
                </a:lnTo>
                <a:lnTo>
                  <a:pt x="1088009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162294" y="4008246"/>
            <a:ext cx="94869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Обеспечение</a:t>
            </a:r>
            <a:endParaRPr sz="9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работы</a:t>
            </a:r>
            <a:endParaRPr sz="9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процессов путем </a:t>
            </a:r>
            <a:r>
              <a:rPr sz="900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интеграции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9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них </a:t>
            </a:r>
            <a:r>
              <a:rPr sz="900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приложений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18831" y="3996690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3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5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90"/>
                </a:lnTo>
                <a:lnTo>
                  <a:pt x="1146683" y="720090"/>
                </a:lnTo>
                <a:lnTo>
                  <a:pt x="1193403" y="710660"/>
                </a:lnTo>
                <a:lnTo>
                  <a:pt x="1231550" y="684942"/>
                </a:lnTo>
                <a:lnTo>
                  <a:pt x="1257268" y="646795"/>
                </a:lnTo>
                <a:lnTo>
                  <a:pt x="1266698" y="600075"/>
                </a:lnTo>
                <a:lnTo>
                  <a:pt x="1266698" y="120015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3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92897" y="4113098"/>
            <a:ext cx="72136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Из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вле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ч</a:t>
            </a:r>
            <a:r>
              <a:rPr sz="1000" spc="-15" dirty="0">
                <a:solidFill>
                  <a:srgbClr val="FFFFFF"/>
                </a:solidFill>
                <a:latin typeface="Trebuchet MS"/>
                <a:cs typeface="Trebuchet MS"/>
              </a:rPr>
              <a:t>ени</a:t>
            </a:r>
            <a:r>
              <a:rPr sz="1000" spc="-5" dirty="0">
                <a:solidFill>
                  <a:srgbClr val="FFFFFF"/>
                </a:solidFill>
                <a:latin typeface="Trebuchet MS"/>
                <a:cs typeface="Trebuchet MS"/>
              </a:rPr>
              <a:t>е  выгоды из </a:t>
            </a: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проектов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820531" y="4006088"/>
            <a:ext cx="323850" cy="720090"/>
          </a:xfrm>
          <a:custGeom>
            <a:avLst/>
            <a:gdLst/>
            <a:ahLst/>
            <a:cxnLst/>
            <a:rect l="l" t="t" r="r" b="b"/>
            <a:pathLst>
              <a:path w="323850" h="720089">
                <a:moveTo>
                  <a:pt x="323469" y="0"/>
                </a:moveTo>
                <a:lnTo>
                  <a:pt x="120015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5" y="720089"/>
                </a:lnTo>
                <a:lnTo>
                  <a:pt x="323469" y="720089"/>
                </a:lnTo>
                <a:lnTo>
                  <a:pt x="323469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000490" y="4419980"/>
            <a:ext cx="1549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ин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950197" y="4557141"/>
            <a:ext cx="21780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при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66519" y="5085207"/>
            <a:ext cx="1277620" cy="720090"/>
          </a:xfrm>
          <a:custGeom>
            <a:avLst/>
            <a:gdLst/>
            <a:ahLst/>
            <a:cxnLst/>
            <a:rect l="l" t="t" r="r" b="b"/>
            <a:pathLst>
              <a:path w="1277620" h="720089">
                <a:moveTo>
                  <a:pt x="1157351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5"/>
                </a:lnTo>
                <a:lnTo>
                  <a:pt x="0" y="600036"/>
                </a:lnTo>
                <a:lnTo>
                  <a:pt x="9429" y="646751"/>
                </a:lnTo>
                <a:lnTo>
                  <a:pt x="35147" y="684899"/>
                </a:lnTo>
                <a:lnTo>
                  <a:pt x="73294" y="710620"/>
                </a:lnTo>
                <a:lnTo>
                  <a:pt x="120014" y="720051"/>
                </a:lnTo>
                <a:lnTo>
                  <a:pt x="1157351" y="720051"/>
                </a:lnTo>
                <a:lnTo>
                  <a:pt x="1204071" y="710620"/>
                </a:lnTo>
                <a:lnTo>
                  <a:pt x="1242218" y="684899"/>
                </a:lnTo>
                <a:lnTo>
                  <a:pt x="1267936" y="646751"/>
                </a:lnTo>
                <a:lnTo>
                  <a:pt x="1277366" y="600036"/>
                </a:lnTo>
                <a:lnTo>
                  <a:pt x="1277366" y="120015"/>
                </a:lnTo>
                <a:lnTo>
                  <a:pt x="1267936" y="73294"/>
                </a:lnTo>
                <a:lnTo>
                  <a:pt x="1242218" y="35147"/>
                </a:lnTo>
                <a:lnTo>
                  <a:pt x="1204071" y="9429"/>
                </a:lnTo>
                <a:lnTo>
                  <a:pt x="1157351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85264" y="5093589"/>
            <a:ext cx="104076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41275" algn="ctr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Компетентный </a:t>
            </a:r>
            <a:r>
              <a:rPr sz="11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11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мотивирован- </a:t>
            </a:r>
            <a:r>
              <a:rPr sz="11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rebuchet MS"/>
                <a:cs typeface="Trebuchet MS"/>
              </a:rPr>
              <a:t>ный персонал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 ИТ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257422" y="5085207"/>
            <a:ext cx="1266825" cy="720090"/>
          </a:xfrm>
          <a:custGeom>
            <a:avLst/>
            <a:gdLst/>
            <a:ahLst/>
            <a:cxnLst/>
            <a:rect l="l" t="t" r="r" b="b"/>
            <a:pathLst>
              <a:path w="1266825" h="720089">
                <a:moveTo>
                  <a:pt x="1146682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5"/>
                </a:lnTo>
                <a:lnTo>
                  <a:pt x="0" y="600036"/>
                </a:lnTo>
                <a:lnTo>
                  <a:pt x="9429" y="646751"/>
                </a:lnTo>
                <a:lnTo>
                  <a:pt x="35147" y="684899"/>
                </a:lnTo>
                <a:lnTo>
                  <a:pt x="73294" y="710620"/>
                </a:lnTo>
                <a:lnTo>
                  <a:pt x="120014" y="720051"/>
                </a:lnTo>
                <a:lnTo>
                  <a:pt x="1146682" y="720051"/>
                </a:lnTo>
                <a:lnTo>
                  <a:pt x="1193403" y="710620"/>
                </a:lnTo>
                <a:lnTo>
                  <a:pt x="1231550" y="684899"/>
                </a:lnTo>
                <a:lnTo>
                  <a:pt x="1257268" y="646751"/>
                </a:lnTo>
                <a:lnTo>
                  <a:pt x="1266698" y="600036"/>
                </a:lnTo>
                <a:lnTo>
                  <a:pt x="1266698" y="120015"/>
                </a:lnTo>
                <a:lnTo>
                  <a:pt x="1257268" y="73294"/>
                </a:lnTo>
                <a:lnTo>
                  <a:pt x="1231550" y="35147"/>
                </a:lnTo>
                <a:lnTo>
                  <a:pt x="1193403" y="9429"/>
                </a:lnTo>
                <a:lnTo>
                  <a:pt x="1146682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93694" y="5087492"/>
            <a:ext cx="99631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Знания</a:t>
            </a:r>
            <a:r>
              <a:rPr sz="9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инициативность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для</a:t>
            </a:r>
            <a:endParaRPr sz="900">
              <a:latin typeface="Trebuchet MS"/>
              <a:cs typeface="Trebuchet MS"/>
            </a:endParaRPr>
          </a:p>
          <a:p>
            <a:pPr marL="12700" marR="5080" indent="80645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осуществления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б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изне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sz="900" spc="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инн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ц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866519" y="2924936"/>
            <a:ext cx="1228725" cy="720090"/>
          </a:xfrm>
          <a:custGeom>
            <a:avLst/>
            <a:gdLst/>
            <a:ahLst/>
            <a:cxnLst/>
            <a:rect l="l" t="t" r="r" b="b"/>
            <a:pathLst>
              <a:path w="1228725" h="720089">
                <a:moveTo>
                  <a:pt x="1108329" y="0"/>
                </a:moveTo>
                <a:lnTo>
                  <a:pt x="120014" y="0"/>
                </a:lnTo>
                <a:lnTo>
                  <a:pt x="73294" y="9429"/>
                </a:lnTo>
                <a:lnTo>
                  <a:pt x="35147" y="35147"/>
                </a:lnTo>
                <a:lnTo>
                  <a:pt x="9429" y="73294"/>
                </a:lnTo>
                <a:lnTo>
                  <a:pt x="0" y="120014"/>
                </a:lnTo>
                <a:lnTo>
                  <a:pt x="0" y="600075"/>
                </a:lnTo>
                <a:lnTo>
                  <a:pt x="9429" y="646795"/>
                </a:lnTo>
                <a:lnTo>
                  <a:pt x="35147" y="684942"/>
                </a:lnTo>
                <a:lnTo>
                  <a:pt x="73294" y="710660"/>
                </a:lnTo>
                <a:lnTo>
                  <a:pt x="120014" y="720089"/>
                </a:lnTo>
                <a:lnTo>
                  <a:pt x="1108329" y="720089"/>
                </a:lnTo>
                <a:lnTo>
                  <a:pt x="1155049" y="710660"/>
                </a:lnTo>
                <a:lnTo>
                  <a:pt x="1193196" y="684942"/>
                </a:lnTo>
                <a:lnTo>
                  <a:pt x="1218914" y="646795"/>
                </a:lnTo>
                <a:lnTo>
                  <a:pt x="1228344" y="600075"/>
                </a:lnTo>
                <a:lnTo>
                  <a:pt x="1228344" y="120014"/>
                </a:lnTo>
                <a:lnTo>
                  <a:pt x="1218914" y="73294"/>
                </a:lnTo>
                <a:lnTo>
                  <a:pt x="1193196" y="35147"/>
                </a:lnTo>
                <a:lnTo>
                  <a:pt x="1155049" y="9429"/>
                </a:lnTo>
                <a:lnTo>
                  <a:pt x="1108329" y="0"/>
                </a:lnTo>
                <a:close/>
              </a:path>
            </a:pathLst>
          </a:custGeom>
          <a:solidFill>
            <a:srgbClr val="5D7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051050" y="2927096"/>
            <a:ext cx="89535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Пре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дост</a:t>
            </a: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л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ение 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ИТ-услуг</a:t>
            </a:r>
            <a:r>
              <a:rPr sz="9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в </a:t>
            </a:r>
            <a:r>
              <a:rPr sz="9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соответствии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с </a:t>
            </a:r>
            <a:r>
              <a:rPr sz="9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бизнес-</a:t>
            </a:r>
            <a:endParaRPr sz="900">
              <a:latin typeface="Trebuchet MS"/>
              <a:cs typeface="Trebuchet MS"/>
            </a:endParaRPr>
          </a:p>
          <a:p>
            <a:pPr marR="28575" algn="ctr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требованиями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27472" y="5149977"/>
            <a:ext cx="35769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07DB3"/>
                </a:solidFill>
                <a:latin typeface="Trebuchet MS"/>
                <a:cs typeface="Trebuchet MS"/>
              </a:rPr>
              <a:t>Соответствуют ли выводы COBIT5 </a:t>
            </a:r>
            <a:r>
              <a:rPr sz="1800" spc="-530" dirty="0">
                <a:solidFill>
                  <a:srgbClr val="207DB3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207DB3"/>
                </a:solidFill>
                <a:latin typeface="Trebuchet MS"/>
                <a:cs typeface="Trebuchet MS"/>
              </a:rPr>
              <a:t>вашему</a:t>
            </a:r>
            <a:r>
              <a:rPr sz="1800" spc="-10" dirty="0">
                <a:solidFill>
                  <a:srgbClr val="207DB3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207DB3"/>
                </a:solidFill>
                <a:latin typeface="Trebuchet MS"/>
                <a:cs typeface="Trebuchet MS"/>
              </a:rPr>
              <a:t>представлению?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480691" y="3589400"/>
            <a:ext cx="5571490" cy="1511300"/>
          </a:xfrm>
          <a:custGeom>
            <a:avLst/>
            <a:gdLst/>
            <a:ahLst/>
            <a:cxnLst/>
            <a:rect l="l" t="t" r="r" b="b"/>
            <a:pathLst>
              <a:path w="5571490" h="1511300">
                <a:moveTo>
                  <a:pt x="5571490" y="55626"/>
                </a:moveTo>
                <a:lnTo>
                  <a:pt x="5547715" y="50927"/>
                </a:lnTo>
                <a:lnTo>
                  <a:pt x="5427980" y="27305"/>
                </a:lnTo>
                <a:lnTo>
                  <a:pt x="5419725" y="32893"/>
                </a:lnTo>
                <a:lnTo>
                  <a:pt x="5417947" y="41529"/>
                </a:lnTo>
                <a:lnTo>
                  <a:pt x="5416296" y="50038"/>
                </a:lnTo>
                <a:lnTo>
                  <a:pt x="5421884" y="58420"/>
                </a:lnTo>
                <a:lnTo>
                  <a:pt x="5481129" y="70116"/>
                </a:lnTo>
                <a:lnTo>
                  <a:pt x="1414411" y="1477518"/>
                </a:lnTo>
                <a:lnTo>
                  <a:pt x="331965" y="372021"/>
                </a:lnTo>
                <a:lnTo>
                  <a:pt x="2704261" y="82321"/>
                </a:lnTo>
                <a:lnTo>
                  <a:pt x="2663190" y="113538"/>
                </a:lnTo>
                <a:lnTo>
                  <a:pt x="2659024" y="118237"/>
                </a:lnTo>
                <a:lnTo>
                  <a:pt x="2657094" y="123990"/>
                </a:lnTo>
                <a:lnTo>
                  <a:pt x="2657437" y="130086"/>
                </a:lnTo>
                <a:lnTo>
                  <a:pt x="2660142" y="135763"/>
                </a:lnTo>
                <a:lnTo>
                  <a:pt x="2664891" y="139928"/>
                </a:lnTo>
                <a:lnTo>
                  <a:pt x="2670683" y="141859"/>
                </a:lnTo>
                <a:lnTo>
                  <a:pt x="2676741" y="141516"/>
                </a:lnTo>
                <a:lnTo>
                  <a:pt x="2682367" y="138811"/>
                </a:lnTo>
                <a:lnTo>
                  <a:pt x="2791968" y="55626"/>
                </a:lnTo>
                <a:lnTo>
                  <a:pt x="2764205" y="43688"/>
                </a:lnTo>
                <a:lnTo>
                  <a:pt x="2665603" y="1282"/>
                </a:lnTo>
                <a:lnTo>
                  <a:pt x="2659443" y="0"/>
                </a:lnTo>
                <a:lnTo>
                  <a:pt x="2653474" y="1117"/>
                </a:lnTo>
                <a:lnTo>
                  <a:pt x="2648343" y="4381"/>
                </a:lnTo>
                <a:lnTo>
                  <a:pt x="2644775" y="9525"/>
                </a:lnTo>
                <a:lnTo>
                  <a:pt x="2643492" y="15735"/>
                </a:lnTo>
                <a:lnTo>
                  <a:pt x="2644610" y="21704"/>
                </a:lnTo>
                <a:lnTo>
                  <a:pt x="2647873" y="26797"/>
                </a:lnTo>
                <a:lnTo>
                  <a:pt x="2653030" y="30353"/>
                </a:lnTo>
                <a:lnTo>
                  <a:pt x="2700451" y="50800"/>
                </a:lnTo>
                <a:lnTo>
                  <a:pt x="304012" y="343458"/>
                </a:lnTo>
                <a:lnTo>
                  <a:pt x="74358" y="108902"/>
                </a:lnTo>
                <a:lnTo>
                  <a:pt x="132588" y="124841"/>
                </a:lnTo>
                <a:lnTo>
                  <a:pt x="141351" y="119888"/>
                </a:lnTo>
                <a:lnTo>
                  <a:pt x="143637" y="111506"/>
                </a:lnTo>
                <a:lnTo>
                  <a:pt x="145923" y="102997"/>
                </a:lnTo>
                <a:lnTo>
                  <a:pt x="140970" y="94234"/>
                </a:lnTo>
                <a:lnTo>
                  <a:pt x="41262" y="66929"/>
                </a:lnTo>
                <a:lnTo>
                  <a:pt x="0" y="55626"/>
                </a:lnTo>
                <a:lnTo>
                  <a:pt x="33528" y="188849"/>
                </a:lnTo>
                <a:lnTo>
                  <a:pt x="35687" y="197358"/>
                </a:lnTo>
                <a:lnTo>
                  <a:pt x="44323" y="202565"/>
                </a:lnTo>
                <a:lnTo>
                  <a:pt x="61341" y="198247"/>
                </a:lnTo>
                <a:lnTo>
                  <a:pt x="66421" y="189611"/>
                </a:lnTo>
                <a:lnTo>
                  <a:pt x="64262" y="181102"/>
                </a:lnTo>
                <a:lnTo>
                  <a:pt x="51638" y="131013"/>
                </a:lnTo>
                <a:lnTo>
                  <a:pt x="264388" y="348310"/>
                </a:lnTo>
                <a:lnTo>
                  <a:pt x="22606" y="377825"/>
                </a:lnTo>
                <a:lnTo>
                  <a:pt x="26416" y="409321"/>
                </a:lnTo>
                <a:lnTo>
                  <a:pt x="292341" y="376859"/>
                </a:lnTo>
                <a:lnTo>
                  <a:pt x="1398778" y="1506855"/>
                </a:lnTo>
                <a:lnTo>
                  <a:pt x="1410055" y="1495767"/>
                </a:lnTo>
                <a:lnTo>
                  <a:pt x="1415288" y="1510792"/>
                </a:lnTo>
                <a:lnTo>
                  <a:pt x="5491353" y="100152"/>
                </a:lnTo>
                <a:lnTo>
                  <a:pt x="5457825" y="139192"/>
                </a:lnTo>
                <a:lnTo>
                  <a:pt x="5454739" y="144729"/>
                </a:lnTo>
                <a:lnTo>
                  <a:pt x="5454040" y="150749"/>
                </a:lnTo>
                <a:lnTo>
                  <a:pt x="5455678" y="156591"/>
                </a:lnTo>
                <a:lnTo>
                  <a:pt x="5459603" y="161544"/>
                </a:lnTo>
                <a:lnTo>
                  <a:pt x="5465076" y="164630"/>
                </a:lnTo>
                <a:lnTo>
                  <a:pt x="5471109" y="165341"/>
                </a:lnTo>
                <a:lnTo>
                  <a:pt x="5476976" y="163741"/>
                </a:lnTo>
                <a:lnTo>
                  <a:pt x="5481955" y="159893"/>
                </a:lnTo>
                <a:lnTo>
                  <a:pt x="5571490" y="55626"/>
                </a:lnTo>
                <a:close/>
              </a:path>
            </a:pathLst>
          </a:custGeom>
          <a:solidFill>
            <a:srgbClr val="B61C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476754" y="2524759"/>
            <a:ext cx="2867660" cy="415925"/>
          </a:xfrm>
          <a:custGeom>
            <a:avLst/>
            <a:gdLst/>
            <a:ahLst/>
            <a:cxnLst/>
            <a:rect l="l" t="t" r="r" b="b"/>
            <a:pathLst>
              <a:path w="2867660" h="415925">
                <a:moveTo>
                  <a:pt x="1414907" y="40132"/>
                </a:moveTo>
                <a:lnTo>
                  <a:pt x="1388186" y="32512"/>
                </a:lnTo>
                <a:lnTo>
                  <a:pt x="1274318" y="0"/>
                </a:lnTo>
                <a:lnTo>
                  <a:pt x="1265555" y="4826"/>
                </a:lnTo>
                <a:lnTo>
                  <a:pt x="1263142" y="13208"/>
                </a:lnTo>
                <a:lnTo>
                  <a:pt x="1260729" y="21717"/>
                </a:lnTo>
                <a:lnTo>
                  <a:pt x="1265555" y="30480"/>
                </a:lnTo>
                <a:lnTo>
                  <a:pt x="1323594" y="47040"/>
                </a:lnTo>
                <a:lnTo>
                  <a:pt x="0" y="384810"/>
                </a:lnTo>
                <a:lnTo>
                  <a:pt x="7874" y="415544"/>
                </a:lnTo>
                <a:lnTo>
                  <a:pt x="1331531" y="77749"/>
                </a:lnTo>
                <a:lnTo>
                  <a:pt x="1294765" y="114046"/>
                </a:lnTo>
                <a:lnTo>
                  <a:pt x="1291183" y="119240"/>
                </a:lnTo>
                <a:lnTo>
                  <a:pt x="1289964" y="125183"/>
                </a:lnTo>
                <a:lnTo>
                  <a:pt x="1291082" y="131140"/>
                </a:lnTo>
                <a:lnTo>
                  <a:pt x="1294511" y="136398"/>
                </a:lnTo>
                <a:lnTo>
                  <a:pt x="1299768" y="139979"/>
                </a:lnTo>
                <a:lnTo>
                  <a:pt x="1305750" y="141198"/>
                </a:lnTo>
                <a:lnTo>
                  <a:pt x="1311719" y="140081"/>
                </a:lnTo>
                <a:lnTo>
                  <a:pt x="1316990" y="136652"/>
                </a:lnTo>
                <a:lnTo>
                  <a:pt x="1414907" y="40132"/>
                </a:lnTo>
                <a:close/>
              </a:path>
              <a:path w="2867660" h="415925">
                <a:moveTo>
                  <a:pt x="2867037" y="164807"/>
                </a:moveTo>
                <a:lnTo>
                  <a:pt x="2864993" y="158877"/>
                </a:lnTo>
                <a:lnTo>
                  <a:pt x="2814129" y="71628"/>
                </a:lnTo>
                <a:lnTo>
                  <a:pt x="2795778" y="40132"/>
                </a:lnTo>
                <a:lnTo>
                  <a:pt x="2726563" y="158877"/>
                </a:lnTo>
                <a:lnTo>
                  <a:pt x="2724505" y="164807"/>
                </a:lnTo>
                <a:lnTo>
                  <a:pt x="2724886" y="170878"/>
                </a:lnTo>
                <a:lnTo>
                  <a:pt x="2727541" y="176390"/>
                </a:lnTo>
                <a:lnTo>
                  <a:pt x="2732278" y="180594"/>
                </a:lnTo>
                <a:lnTo>
                  <a:pt x="2738196" y="182587"/>
                </a:lnTo>
                <a:lnTo>
                  <a:pt x="2744254" y="182168"/>
                </a:lnTo>
                <a:lnTo>
                  <a:pt x="2749715" y="179552"/>
                </a:lnTo>
                <a:lnTo>
                  <a:pt x="2753868" y="174879"/>
                </a:lnTo>
                <a:lnTo>
                  <a:pt x="2779890" y="130302"/>
                </a:lnTo>
                <a:lnTo>
                  <a:pt x="2779903" y="71628"/>
                </a:lnTo>
                <a:lnTo>
                  <a:pt x="2779903" y="130302"/>
                </a:lnTo>
                <a:lnTo>
                  <a:pt x="2779903" y="400177"/>
                </a:lnTo>
                <a:lnTo>
                  <a:pt x="2811653" y="400177"/>
                </a:lnTo>
                <a:lnTo>
                  <a:pt x="2811653" y="130302"/>
                </a:lnTo>
                <a:lnTo>
                  <a:pt x="2837688" y="174879"/>
                </a:lnTo>
                <a:lnTo>
                  <a:pt x="2841828" y="179552"/>
                </a:lnTo>
                <a:lnTo>
                  <a:pt x="2847289" y="182168"/>
                </a:lnTo>
                <a:lnTo>
                  <a:pt x="2853347" y="182587"/>
                </a:lnTo>
                <a:lnTo>
                  <a:pt x="2859278" y="180594"/>
                </a:lnTo>
                <a:lnTo>
                  <a:pt x="2864002" y="176390"/>
                </a:lnTo>
                <a:lnTo>
                  <a:pt x="2866656" y="170878"/>
                </a:lnTo>
                <a:lnTo>
                  <a:pt x="2867037" y="164807"/>
                </a:lnTo>
                <a:close/>
              </a:path>
            </a:pathLst>
          </a:custGeom>
          <a:solidFill>
            <a:srgbClr val="B61C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6629" y="668273"/>
            <a:ext cx="3676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Операционная</a:t>
            </a:r>
            <a:r>
              <a:rPr spc="-15" dirty="0"/>
              <a:t> </a:t>
            </a:r>
            <a:r>
              <a:rPr spc="-5" dirty="0"/>
              <a:t>модель</a:t>
            </a:r>
            <a:r>
              <a:rPr spc="-35" dirty="0"/>
              <a:t> </a:t>
            </a:r>
            <a:r>
              <a:rPr dirty="0"/>
              <a:t>ИТ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73" y="1781555"/>
            <a:ext cx="9103126" cy="34767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81647" y="1412749"/>
            <a:ext cx="8060055" cy="4723130"/>
            <a:chOff x="581647" y="1412749"/>
            <a:chExt cx="8060055" cy="4723130"/>
          </a:xfrm>
        </p:grpSpPr>
        <p:sp>
          <p:nvSpPr>
            <p:cNvPr id="4" name="object 4"/>
            <p:cNvSpPr/>
            <p:nvPr/>
          </p:nvSpPr>
          <p:spPr>
            <a:xfrm>
              <a:off x="1691640" y="1412749"/>
              <a:ext cx="5760720" cy="72390"/>
            </a:xfrm>
            <a:custGeom>
              <a:avLst/>
              <a:gdLst/>
              <a:ahLst/>
              <a:cxnLst/>
              <a:rect l="l" t="t" r="r" b="b"/>
              <a:pathLst>
                <a:path w="5760720" h="72390">
                  <a:moveTo>
                    <a:pt x="5760593" y="0"/>
                  </a:moveTo>
                  <a:lnTo>
                    <a:pt x="0" y="0"/>
                  </a:lnTo>
                  <a:lnTo>
                    <a:pt x="0" y="72007"/>
                  </a:lnTo>
                  <a:lnTo>
                    <a:pt x="5760593" y="72007"/>
                  </a:lnTo>
                  <a:lnTo>
                    <a:pt x="576059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647" y="1507032"/>
              <a:ext cx="8059928" cy="462876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23441" y="641730"/>
            <a:ext cx="5897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Важность</a:t>
            </a:r>
            <a:r>
              <a:rPr spc="-25" dirty="0"/>
              <a:t> </a:t>
            </a:r>
            <a:r>
              <a:rPr spc="-5" dirty="0"/>
              <a:t>процессов</a:t>
            </a:r>
            <a:r>
              <a:rPr spc="10" dirty="0"/>
              <a:t> </a:t>
            </a:r>
            <a:r>
              <a:rPr dirty="0"/>
              <a:t>в</a:t>
            </a:r>
            <a:r>
              <a:rPr spc="-10" dirty="0"/>
              <a:t> </a:t>
            </a:r>
            <a:r>
              <a:rPr spc="-5" dirty="0"/>
              <a:t>достижении</a:t>
            </a:r>
            <a:r>
              <a:rPr spc="-20" dirty="0"/>
              <a:t> </a:t>
            </a:r>
            <a:r>
              <a:rPr spc="-5" dirty="0"/>
              <a:t>целей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3854" y="668273"/>
            <a:ext cx="589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Важность</a:t>
            </a:r>
            <a:r>
              <a:rPr spc="-35" dirty="0"/>
              <a:t> </a:t>
            </a:r>
            <a:r>
              <a:rPr spc="-5" dirty="0"/>
              <a:t>процессов</a:t>
            </a:r>
            <a:r>
              <a:rPr spc="10" dirty="0"/>
              <a:t> </a:t>
            </a:r>
            <a:r>
              <a:rPr dirty="0"/>
              <a:t>в</a:t>
            </a:r>
            <a:r>
              <a:rPr spc="-10" dirty="0"/>
              <a:t> </a:t>
            </a:r>
            <a:r>
              <a:rPr spc="-5" dirty="0"/>
              <a:t>достижении</a:t>
            </a:r>
            <a:r>
              <a:rPr spc="-20" dirty="0"/>
              <a:t> </a:t>
            </a:r>
            <a:r>
              <a:rPr spc="-5" dirty="0"/>
              <a:t>целей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7629" y="1706914"/>
            <a:ext cx="9016365" cy="1527810"/>
            <a:chOff x="77629" y="1706914"/>
            <a:chExt cx="9016365" cy="1527810"/>
          </a:xfrm>
        </p:grpSpPr>
        <p:sp>
          <p:nvSpPr>
            <p:cNvPr id="6" name="object 6"/>
            <p:cNvSpPr/>
            <p:nvPr/>
          </p:nvSpPr>
          <p:spPr>
            <a:xfrm>
              <a:off x="113411" y="1742922"/>
              <a:ext cx="8980805" cy="1491615"/>
            </a:xfrm>
            <a:custGeom>
              <a:avLst/>
              <a:gdLst/>
              <a:ahLst/>
              <a:cxnLst/>
              <a:rect l="l" t="t" r="r" b="b"/>
              <a:pathLst>
                <a:path w="8980805" h="1491614">
                  <a:moveTo>
                    <a:pt x="8980462" y="0"/>
                  </a:moveTo>
                  <a:lnTo>
                    <a:pt x="0" y="0"/>
                  </a:lnTo>
                  <a:lnTo>
                    <a:pt x="0" y="1456715"/>
                  </a:lnTo>
                  <a:lnTo>
                    <a:pt x="0" y="1491361"/>
                  </a:lnTo>
                  <a:lnTo>
                    <a:pt x="8980462" y="1491361"/>
                  </a:lnTo>
                  <a:lnTo>
                    <a:pt x="8980462" y="1456715"/>
                  </a:lnTo>
                  <a:lnTo>
                    <a:pt x="898046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899" y="1708184"/>
              <a:ext cx="8980805" cy="1491615"/>
            </a:xfrm>
            <a:custGeom>
              <a:avLst/>
              <a:gdLst/>
              <a:ahLst/>
              <a:cxnLst/>
              <a:rect l="l" t="t" r="r" b="b"/>
              <a:pathLst>
                <a:path w="8980805" h="1491614">
                  <a:moveTo>
                    <a:pt x="0" y="1491447"/>
                  </a:moveTo>
                  <a:lnTo>
                    <a:pt x="8980267" y="1491447"/>
                  </a:lnTo>
                  <a:lnTo>
                    <a:pt x="8980267" y="0"/>
                  </a:lnTo>
                  <a:lnTo>
                    <a:pt x="0" y="0"/>
                  </a:lnTo>
                  <a:lnTo>
                    <a:pt x="0" y="1491447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899" y="1708184"/>
              <a:ext cx="8980805" cy="1491615"/>
            </a:xfrm>
            <a:custGeom>
              <a:avLst/>
              <a:gdLst/>
              <a:ahLst/>
              <a:cxnLst/>
              <a:rect l="l" t="t" r="r" b="b"/>
              <a:pathLst>
                <a:path w="8980805" h="1491614">
                  <a:moveTo>
                    <a:pt x="0" y="1491447"/>
                  </a:moveTo>
                  <a:lnTo>
                    <a:pt x="8980267" y="1491447"/>
                  </a:lnTo>
                  <a:lnTo>
                    <a:pt x="8980267" y="0"/>
                  </a:lnTo>
                  <a:lnTo>
                    <a:pt x="0" y="0"/>
                  </a:lnTo>
                  <a:lnTo>
                    <a:pt x="0" y="149144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6887" y="1702210"/>
            <a:ext cx="140081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dirty="0">
                <a:latin typeface="Arial"/>
                <a:cs typeface="Arial"/>
              </a:rPr>
              <a:t>Процессы</a:t>
            </a:r>
            <a:r>
              <a:rPr sz="950" b="1" spc="-45" dirty="0">
                <a:latin typeface="Arial"/>
                <a:cs typeface="Arial"/>
              </a:rPr>
              <a:t> </a:t>
            </a:r>
            <a:r>
              <a:rPr sz="950" b="1" spc="5" dirty="0">
                <a:latin typeface="Arial"/>
                <a:cs typeface="Arial"/>
              </a:rPr>
              <a:t>управления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154" y="3253745"/>
            <a:ext cx="9053195" cy="1873885"/>
            <a:chOff x="59154" y="3253745"/>
            <a:chExt cx="9053195" cy="1873885"/>
          </a:xfrm>
        </p:grpSpPr>
        <p:sp>
          <p:nvSpPr>
            <p:cNvPr id="11" name="object 11"/>
            <p:cNvSpPr/>
            <p:nvPr/>
          </p:nvSpPr>
          <p:spPr>
            <a:xfrm>
              <a:off x="111175" y="3289668"/>
              <a:ext cx="8985250" cy="845185"/>
            </a:xfrm>
            <a:custGeom>
              <a:avLst/>
              <a:gdLst/>
              <a:ahLst/>
              <a:cxnLst/>
              <a:rect l="l" t="t" r="r" b="b"/>
              <a:pathLst>
                <a:path w="8985250" h="845185">
                  <a:moveTo>
                    <a:pt x="8984894" y="0"/>
                  </a:moveTo>
                  <a:lnTo>
                    <a:pt x="0" y="0"/>
                  </a:lnTo>
                  <a:lnTo>
                    <a:pt x="0" y="810260"/>
                  </a:lnTo>
                  <a:lnTo>
                    <a:pt x="0" y="844905"/>
                  </a:lnTo>
                  <a:lnTo>
                    <a:pt x="8984894" y="844905"/>
                  </a:lnTo>
                  <a:lnTo>
                    <a:pt x="8984894" y="810260"/>
                  </a:lnTo>
                  <a:lnTo>
                    <a:pt x="898489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463" y="3255015"/>
              <a:ext cx="8985250" cy="845185"/>
            </a:xfrm>
            <a:custGeom>
              <a:avLst/>
              <a:gdLst/>
              <a:ahLst/>
              <a:cxnLst/>
              <a:rect l="l" t="t" r="r" b="b"/>
              <a:pathLst>
                <a:path w="8985250" h="845185">
                  <a:moveTo>
                    <a:pt x="0" y="844901"/>
                  </a:moveTo>
                  <a:lnTo>
                    <a:pt x="8985142" y="844901"/>
                  </a:lnTo>
                  <a:lnTo>
                    <a:pt x="8985142" y="0"/>
                  </a:lnTo>
                  <a:lnTo>
                    <a:pt x="0" y="0"/>
                  </a:lnTo>
                  <a:lnTo>
                    <a:pt x="0" y="844901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463" y="3255015"/>
              <a:ext cx="8985250" cy="845185"/>
            </a:xfrm>
            <a:custGeom>
              <a:avLst/>
              <a:gdLst/>
              <a:ahLst/>
              <a:cxnLst/>
              <a:rect l="l" t="t" r="r" b="b"/>
              <a:pathLst>
                <a:path w="8985250" h="845185">
                  <a:moveTo>
                    <a:pt x="0" y="844901"/>
                  </a:moveTo>
                  <a:lnTo>
                    <a:pt x="8985143" y="844901"/>
                  </a:lnTo>
                  <a:lnTo>
                    <a:pt x="8985143" y="0"/>
                  </a:lnTo>
                  <a:lnTo>
                    <a:pt x="0" y="0"/>
                  </a:lnTo>
                  <a:lnTo>
                    <a:pt x="0" y="84490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932" y="4236148"/>
              <a:ext cx="9017635" cy="891540"/>
            </a:xfrm>
            <a:custGeom>
              <a:avLst/>
              <a:gdLst/>
              <a:ahLst/>
              <a:cxnLst/>
              <a:rect l="l" t="t" r="r" b="b"/>
              <a:pathLst>
                <a:path w="9017635" h="891539">
                  <a:moveTo>
                    <a:pt x="9017394" y="0"/>
                  </a:moveTo>
                  <a:lnTo>
                    <a:pt x="0" y="0"/>
                  </a:lnTo>
                  <a:lnTo>
                    <a:pt x="0" y="856513"/>
                  </a:lnTo>
                  <a:lnTo>
                    <a:pt x="0" y="890968"/>
                  </a:lnTo>
                  <a:lnTo>
                    <a:pt x="9017394" y="890968"/>
                  </a:lnTo>
                  <a:lnTo>
                    <a:pt x="9017394" y="856513"/>
                  </a:lnTo>
                  <a:lnTo>
                    <a:pt x="901739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13" y="4201502"/>
              <a:ext cx="9017635" cy="891540"/>
            </a:xfrm>
            <a:custGeom>
              <a:avLst/>
              <a:gdLst/>
              <a:ahLst/>
              <a:cxnLst/>
              <a:rect l="l" t="t" r="r" b="b"/>
              <a:pathLst>
                <a:path w="9017635" h="891539">
                  <a:moveTo>
                    <a:pt x="9017203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891159"/>
                  </a:lnTo>
                  <a:lnTo>
                    <a:pt x="9017203" y="891159"/>
                  </a:lnTo>
                  <a:lnTo>
                    <a:pt x="9017203" y="12700"/>
                  </a:lnTo>
                  <a:lnTo>
                    <a:pt x="9017203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424" y="4201494"/>
              <a:ext cx="9017635" cy="891540"/>
            </a:xfrm>
            <a:custGeom>
              <a:avLst/>
              <a:gdLst/>
              <a:ahLst/>
              <a:cxnLst/>
              <a:rect l="l" t="t" r="r" b="b"/>
              <a:pathLst>
                <a:path w="9017635" h="891539">
                  <a:moveTo>
                    <a:pt x="0" y="891155"/>
                  </a:moveTo>
                  <a:lnTo>
                    <a:pt x="9017197" y="891155"/>
                  </a:lnTo>
                  <a:lnTo>
                    <a:pt x="9017197" y="0"/>
                  </a:lnTo>
                  <a:lnTo>
                    <a:pt x="0" y="0"/>
                  </a:lnTo>
                  <a:lnTo>
                    <a:pt x="0" y="89115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0100" y="4218567"/>
            <a:ext cx="1771014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dirty="0">
                <a:latin typeface="Arial"/>
                <a:cs typeface="Arial"/>
              </a:rPr>
              <a:t>Вспомогательные</a:t>
            </a:r>
            <a:r>
              <a:rPr sz="950" b="1" spc="-25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процессы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51667" y="4421790"/>
            <a:ext cx="1261110" cy="556895"/>
            <a:chOff x="2651667" y="4421790"/>
            <a:chExt cx="1261110" cy="556895"/>
          </a:xfrm>
        </p:grpSpPr>
        <p:sp>
          <p:nvSpPr>
            <p:cNvPr id="19" name="object 19"/>
            <p:cNvSpPr/>
            <p:nvPr/>
          </p:nvSpPr>
          <p:spPr>
            <a:xfrm>
              <a:off x="2687651" y="4457721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086" y="226242"/>
                  </a:lnTo>
                  <a:lnTo>
                    <a:pt x="0" y="450248"/>
                  </a:lnTo>
                  <a:lnTo>
                    <a:pt x="1075821" y="450248"/>
                  </a:lnTo>
                  <a:lnTo>
                    <a:pt x="1154192" y="226242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52937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086" y="226234"/>
                  </a:lnTo>
                  <a:lnTo>
                    <a:pt x="0" y="450248"/>
                  </a:lnTo>
                  <a:lnTo>
                    <a:pt x="1075821" y="450248"/>
                  </a:lnTo>
                  <a:lnTo>
                    <a:pt x="1154355" y="226234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2937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821" y="0"/>
                  </a:lnTo>
                  <a:lnTo>
                    <a:pt x="1154355" y="226234"/>
                  </a:lnTo>
                  <a:lnTo>
                    <a:pt x="1075821" y="450248"/>
                  </a:lnTo>
                  <a:lnTo>
                    <a:pt x="0" y="450248"/>
                  </a:lnTo>
                  <a:lnTo>
                    <a:pt x="83086" y="22623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7557" y="4883741"/>
              <a:ext cx="94628" cy="9447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841044" y="4500144"/>
            <a:ext cx="77914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36830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45" dirty="0">
                <a:latin typeface="Microsoft Sans Serif"/>
                <a:cs typeface="Microsoft Sans Serif"/>
              </a:rPr>
              <a:t>з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я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5" dirty="0">
                <a:latin typeface="Microsoft Sans Serif"/>
                <a:cs typeface="Microsoft Sans Serif"/>
              </a:rPr>
              <a:t>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659131" y="3449959"/>
            <a:ext cx="1263015" cy="558800"/>
            <a:chOff x="7659131" y="3449959"/>
            <a:chExt cx="1263015" cy="558800"/>
          </a:xfrm>
        </p:grpSpPr>
        <p:sp>
          <p:nvSpPr>
            <p:cNvPr id="25" name="object 25"/>
            <p:cNvSpPr/>
            <p:nvPr/>
          </p:nvSpPr>
          <p:spPr>
            <a:xfrm>
              <a:off x="7697094" y="348809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62624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62624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7244" y="3914141"/>
              <a:ext cx="94547" cy="9442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889916" y="3530512"/>
            <a:ext cx="70294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86360" marR="5080" indent="-74295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 </a:t>
            </a:r>
            <a:r>
              <a:rPr sz="950" spc="-10" dirty="0">
                <a:latin typeface="Microsoft Sans Serif"/>
                <a:cs typeface="Microsoft Sans Serif"/>
              </a:rPr>
              <a:t>доступом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165873" y="4419567"/>
            <a:ext cx="1263015" cy="558800"/>
            <a:chOff x="5165873" y="4419567"/>
            <a:chExt cx="1263015" cy="558800"/>
          </a:xfrm>
        </p:grpSpPr>
        <p:sp>
          <p:nvSpPr>
            <p:cNvPr id="31" name="object 31"/>
            <p:cNvSpPr/>
            <p:nvPr/>
          </p:nvSpPr>
          <p:spPr>
            <a:xfrm>
              <a:off x="5203836" y="4457721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42"/>
                  </a:lnTo>
                  <a:lnTo>
                    <a:pt x="0" y="450248"/>
                  </a:lnTo>
                  <a:lnTo>
                    <a:pt x="1075821" y="450248"/>
                  </a:lnTo>
                  <a:lnTo>
                    <a:pt x="1154355" y="226242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69365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34"/>
                  </a:lnTo>
                  <a:lnTo>
                    <a:pt x="0" y="450248"/>
                  </a:lnTo>
                  <a:lnTo>
                    <a:pt x="1075740" y="450248"/>
                  </a:lnTo>
                  <a:lnTo>
                    <a:pt x="1154111" y="226234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69365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34"/>
                  </a:lnTo>
                  <a:lnTo>
                    <a:pt x="1075740" y="450248"/>
                  </a:lnTo>
                  <a:lnTo>
                    <a:pt x="0" y="450248"/>
                  </a:lnTo>
                  <a:lnTo>
                    <a:pt x="83005" y="226234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986" y="4883741"/>
              <a:ext cx="94547" cy="9447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396658" y="4440141"/>
            <a:ext cx="702945" cy="4178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065" marR="5080" algn="ctr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 </a:t>
            </a:r>
            <a:r>
              <a:rPr sz="950" spc="-10" dirty="0">
                <a:latin typeface="Microsoft Sans Serif"/>
                <a:cs typeface="Microsoft Sans Serif"/>
              </a:rPr>
              <a:t>объемами </a:t>
            </a:r>
            <a:r>
              <a:rPr sz="950" spc="-5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данных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382030" y="1928692"/>
            <a:ext cx="1260475" cy="556895"/>
            <a:chOff x="1382030" y="1928692"/>
            <a:chExt cx="1260475" cy="556895"/>
          </a:xfrm>
        </p:grpSpPr>
        <p:sp>
          <p:nvSpPr>
            <p:cNvPr id="37" name="object 37"/>
            <p:cNvSpPr/>
            <p:nvPr/>
          </p:nvSpPr>
          <p:spPr>
            <a:xfrm>
              <a:off x="1417770" y="1964444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83300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30" h="450214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061"/>
                  </a:lnTo>
                  <a:lnTo>
                    <a:pt x="1075740" y="450061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83300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30" h="450214">
                  <a:moveTo>
                    <a:pt x="0" y="0"/>
                  </a:moveTo>
                  <a:lnTo>
                    <a:pt x="1075740" y="0"/>
                  </a:lnTo>
                  <a:lnTo>
                    <a:pt x="1154111" y="226250"/>
                  </a:lnTo>
                  <a:lnTo>
                    <a:pt x="1075740" y="450061"/>
                  </a:lnTo>
                  <a:lnTo>
                    <a:pt x="0" y="450061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7920" y="2390488"/>
              <a:ext cx="94547" cy="9466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594496" y="1946840"/>
            <a:ext cx="735330" cy="4178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-1270" algn="ctr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spc="-240" dirty="0">
                <a:latin typeface="Microsoft Sans Serif"/>
                <a:cs typeface="Microsoft Sans Serif"/>
              </a:rPr>
              <a:t> 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орт</a:t>
            </a:r>
            <a:r>
              <a:rPr sz="950" spc="10" dirty="0">
                <a:latin typeface="Microsoft Sans Serif"/>
                <a:cs typeface="Microsoft Sans Serif"/>
              </a:rPr>
              <a:t>ф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5" dirty="0">
                <a:latin typeface="Microsoft Sans Serif"/>
                <a:cs typeface="Microsoft Sans Serif"/>
              </a:rPr>
              <a:t>я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5" dirty="0">
                <a:latin typeface="Microsoft Sans Serif"/>
                <a:cs typeface="Microsoft Sans Serif"/>
              </a:rPr>
              <a:t>и  </a:t>
            </a:r>
            <a:r>
              <a:rPr sz="950" spc="-15" dirty="0">
                <a:latin typeface="Microsoft Sans Serif"/>
                <a:cs typeface="Microsoft Sans Serif"/>
              </a:rPr>
              <a:t>проектов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12142" y="4421790"/>
            <a:ext cx="1261110" cy="556895"/>
            <a:chOff x="112142" y="4421790"/>
            <a:chExt cx="1261110" cy="556895"/>
          </a:xfrm>
        </p:grpSpPr>
        <p:sp>
          <p:nvSpPr>
            <p:cNvPr id="43" name="object 43"/>
            <p:cNvSpPr/>
            <p:nvPr/>
          </p:nvSpPr>
          <p:spPr>
            <a:xfrm>
              <a:off x="148126" y="4457721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9" y="0"/>
                  </a:moveTo>
                  <a:lnTo>
                    <a:pt x="0" y="0"/>
                  </a:lnTo>
                  <a:lnTo>
                    <a:pt x="83038" y="226242"/>
                  </a:lnTo>
                  <a:lnTo>
                    <a:pt x="0" y="450248"/>
                  </a:lnTo>
                  <a:lnTo>
                    <a:pt x="1075829" y="450248"/>
                  </a:lnTo>
                  <a:lnTo>
                    <a:pt x="1154363" y="226242"/>
                  </a:lnTo>
                  <a:lnTo>
                    <a:pt x="107582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13412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8" y="0"/>
                  </a:moveTo>
                  <a:lnTo>
                    <a:pt x="0" y="0"/>
                  </a:lnTo>
                  <a:lnTo>
                    <a:pt x="83240" y="226234"/>
                  </a:lnTo>
                  <a:lnTo>
                    <a:pt x="0" y="450248"/>
                  </a:lnTo>
                  <a:lnTo>
                    <a:pt x="1075828" y="450248"/>
                  </a:lnTo>
                  <a:lnTo>
                    <a:pt x="1154362" y="226234"/>
                  </a:lnTo>
                  <a:lnTo>
                    <a:pt x="1075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13412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0" y="0"/>
                  </a:moveTo>
                  <a:lnTo>
                    <a:pt x="1075828" y="0"/>
                  </a:lnTo>
                  <a:lnTo>
                    <a:pt x="1154362" y="226234"/>
                  </a:lnTo>
                  <a:lnTo>
                    <a:pt x="1075828" y="450248"/>
                  </a:lnTo>
                  <a:lnTo>
                    <a:pt x="0" y="450248"/>
                  </a:lnTo>
                  <a:lnTo>
                    <a:pt x="83240" y="22623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8203" y="4883741"/>
              <a:ext cx="94628" cy="9447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278551" y="4440141"/>
            <a:ext cx="822325" cy="4178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065" marR="5080" algn="ctr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-15" dirty="0">
                <a:latin typeface="Microsoft Sans Serif"/>
                <a:cs typeface="Microsoft Sans Serif"/>
              </a:rPr>
              <a:t>проектно- </a:t>
            </a:r>
            <a:r>
              <a:rPr sz="950" spc="-10" dirty="0">
                <a:latin typeface="Microsoft Sans Serif"/>
                <a:cs typeface="Microsoft Sans Serif"/>
              </a:rPr>
              <a:t> </a:t>
            </a:r>
            <a:r>
              <a:rPr sz="950" spc="-5" dirty="0">
                <a:latin typeface="Microsoft Sans Serif"/>
                <a:cs typeface="Microsoft Sans Serif"/>
              </a:rPr>
              <a:t>те</a:t>
            </a:r>
            <a:r>
              <a:rPr sz="950" spc="-10" dirty="0">
                <a:latin typeface="Microsoft Sans Serif"/>
                <a:cs typeface="Microsoft Sans Serif"/>
              </a:rPr>
              <a:t>х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5" dirty="0">
                <a:latin typeface="Microsoft Sans Serif"/>
                <a:cs typeface="Microsoft Sans Serif"/>
              </a:rPr>
              <a:t>че</a:t>
            </a:r>
            <a:r>
              <a:rPr sz="950" spc="10" dirty="0">
                <a:latin typeface="Microsoft Sans Serif"/>
                <a:cs typeface="Microsoft Sans Serif"/>
              </a:rPr>
              <a:t>с</a:t>
            </a:r>
            <a:r>
              <a:rPr sz="950" spc="-65" dirty="0">
                <a:latin typeface="Microsoft Sans Serif"/>
                <a:cs typeface="Microsoft Sans Serif"/>
              </a:rPr>
              <a:t>к</a:t>
            </a:r>
            <a:r>
              <a:rPr sz="950" spc="-5" dirty="0">
                <a:latin typeface="Microsoft Sans Serif"/>
                <a:cs typeface="Microsoft Sans Serif"/>
              </a:rPr>
              <a:t>о</a:t>
            </a:r>
            <a:r>
              <a:rPr sz="950" spc="-10" dirty="0">
                <a:latin typeface="Microsoft Sans Serif"/>
                <a:cs typeface="Microsoft Sans Serif"/>
              </a:rPr>
              <a:t>й</a:t>
            </a:r>
            <a:r>
              <a:rPr sz="950" dirty="0">
                <a:latin typeface="Microsoft Sans Serif"/>
                <a:cs typeface="Microsoft Sans Serif"/>
              </a:rPr>
              <a:t>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921385" y="1928692"/>
            <a:ext cx="1190625" cy="486409"/>
            <a:chOff x="3921385" y="1928692"/>
            <a:chExt cx="1190625" cy="486409"/>
          </a:xfrm>
        </p:grpSpPr>
        <p:sp>
          <p:nvSpPr>
            <p:cNvPr id="49" name="object 49"/>
            <p:cNvSpPr/>
            <p:nvPr/>
          </p:nvSpPr>
          <p:spPr>
            <a:xfrm>
              <a:off x="3957369" y="1964444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22655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1075740" y="0"/>
                  </a:moveTo>
                  <a:lnTo>
                    <a:pt x="0" y="0"/>
                  </a:lnTo>
                  <a:lnTo>
                    <a:pt x="83168" y="226250"/>
                  </a:lnTo>
                  <a:lnTo>
                    <a:pt x="0" y="450061"/>
                  </a:lnTo>
                  <a:lnTo>
                    <a:pt x="1075740" y="450061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22655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0" y="0"/>
                  </a:moveTo>
                  <a:lnTo>
                    <a:pt x="1075740" y="0"/>
                  </a:lnTo>
                  <a:lnTo>
                    <a:pt x="1154355" y="226250"/>
                  </a:lnTo>
                  <a:lnTo>
                    <a:pt x="1075740" y="450061"/>
                  </a:lnTo>
                  <a:lnTo>
                    <a:pt x="0" y="450061"/>
                  </a:lnTo>
                  <a:lnTo>
                    <a:pt x="83168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029869" y="2006859"/>
            <a:ext cx="94043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76530" marR="5080" indent="-164465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</a:t>
            </a:r>
            <a:r>
              <a:rPr sz="950" dirty="0">
                <a:latin typeface="Microsoft Sans Serif"/>
                <a:cs typeface="Microsoft Sans Serif"/>
              </a:rPr>
              <a:t>И</a:t>
            </a:r>
            <a:r>
              <a:rPr sz="950" spc="10" dirty="0">
                <a:latin typeface="Microsoft Sans Serif"/>
                <a:cs typeface="Microsoft Sans Serif"/>
              </a:rPr>
              <a:t>Т</a:t>
            </a:r>
            <a:r>
              <a:rPr sz="950" dirty="0">
                <a:latin typeface="Microsoft Sans Serif"/>
                <a:cs typeface="Microsoft Sans Serif"/>
              </a:rPr>
              <a:t>-  </a:t>
            </a:r>
            <a:r>
              <a:rPr sz="950" spc="-10" dirty="0">
                <a:latin typeface="Microsoft Sans Serif"/>
                <a:cs typeface="Microsoft Sans Serif"/>
              </a:rPr>
              <a:t>бюджетом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165873" y="1926469"/>
            <a:ext cx="1192530" cy="488315"/>
            <a:chOff x="5165873" y="1926469"/>
            <a:chExt cx="1192530" cy="488315"/>
          </a:xfrm>
        </p:grpSpPr>
        <p:sp>
          <p:nvSpPr>
            <p:cNvPr id="54" name="object 54"/>
            <p:cNvSpPr/>
            <p:nvPr/>
          </p:nvSpPr>
          <p:spPr>
            <a:xfrm>
              <a:off x="5203836" y="1964444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69365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061"/>
                  </a:lnTo>
                  <a:lnTo>
                    <a:pt x="1075740" y="450061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69365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0" y="0"/>
                  </a:moveTo>
                  <a:lnTo>
                    <a:pt x="1075740" y="0"/>
                  </a:lnTo>
                  <a:lnTo>
                    <a:pt x="1154111" y="226250"/>
                  </a:lnTo>
                  <a:lnTo>
                    <a:pt x="1075740" y="450061"/>
                  </a:lnTo>
                  <a:lnTo>
                    <a:pt x="0" y="450061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276662" y="2006859"/>
            <a:ext cx="94043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30175" marR="5080" indent="-118110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</a:t>
            </a:r>
            <a:r>
              <a:rPr sz="950" dirty="0">
                <a:latin typeface="Microsoft Sans Serif"/>
                <a:cs typeface="Microsoft Sans Serif"/>
              </a:rPr>
              <a:t>И</a:t>
            </a:r>
            <a:r>
              <a:rPr sz="950" spc="10" dirty="0">
                <a:latin typeface="Microsoft Sans Serif"/>
                <a:cs typeface="Microsoft Sans Serif"/>
              </a:rPr>
              <a:t>Т</a:t>
            </a:r>
            <a:r>
              <a:rPr sz="950" dirty="0">
                <a:latin typeface="Microsoft Sans Serif"/>
                <a:cs typeface="Microsoft Sans Serif"/>
              </a:rPr>
              <a:t>-  </a:t>
            </a:r>
            <a:r>
              <a:rPr sz="950" spc="-10" dirty="0">
                <a:latin typeface="Microsoft Sans Serif"/>
                <a:cs typeface="Microsoft Sans Serif"/>
              </a:rPr>
              <a:t>персоналом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921385" y="2551897"/>
            <a:ext cx="1190625" cy="486409"/>
            <a:chOff x="3921385" y="2551897"/>
            <a:chExt cx="1190625" cy="486409"/>
          </a:xfrm>
        </p:grpSpPr>
        <p:sp>
          <p:nvSpPr>
            <p:cNvPr id="59" name="object 59"/>
            <p:cNvSpPr/>
            <p:nvPr/>
          </p:nvSpPr>
          <p:spPr>
            <a:xfrm>
              <a:off x="3957369" y="258781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22655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168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22655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355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168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150110" y="2630227"/>
            <a:ext cx="70294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58419" marR="5080" indent="-46355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 </a:t>
            </a:r>
            <a:r>
              <a:rPr sz="950" spc="-10" dirty="0">
                <a:latin typeface="Microsoft Sans Serif"/>
                <a:cs typeface="Microsoft Sans Serif"/>
              </a:rPr>
              <a:t>качеством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2649444" y="2549674"/>
            <a:ext cx="1192530" cy="488950"/>
            <a:chOff x="2649444" y="2549674"/>
            <a:chExt cx="1192530" cy="488950"/>
          </a:xfrm>
        </p:grpSpPr>
        <p:sp>
          <p:nvSpPr>
            <p:cNvPr id="64" name="object 64"/>
            <p:cNvSpPr/>
            <p:nvPr/>
          </p:nvSpPr>
          <p:spPr>
            <a:xfrm>
              <a:off x="2687651" y="258781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086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192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652937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086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652937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821" y="0"/>
                  </a:lnTo>
                  <a:lnTo>
                    <a:pt x="1154355" y="226250"/>
                  </a:lnTo>
                  <a:lnTo>
                    <a:pt x="1075821" y="450223"/>
                  </a:lnTo>
                  <a:lnTo>
                    <a:pt x="0" y="450223"/>
                  </a:lnTo>
                  <a:lnTo>
                    <a:pt x="83086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760233" y="2570208"/>
            <a:ext cx="940435" cy="4178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ctr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</a:t>
            </a:r>
            <a:r>
              <a:rPr sz="950" dirty="0">
                <a:latin typeface="Microsoft Sans Serif"/>
                <a:cs typeface="Microsoft Sans Serif"/>
              </a:rPr>
              <a:t>И</a:t>
            </a:r>
            <a:r>
              <a:rPr sz="950" spc="10" dirty="0">
                <a:latin typeface="Microsoft Sans Serif"/>
                <a:cs typeface="Microsoft Sans Serif"/>
              </a:rPr>
              <a:t>Т</a:t>
            </a:r>
            <a:r>
              <a:rPr sz="950" dirty="0">
                <a:latin typeface="Microsoft Sans Serif"/>
                <a:cs typeface="Microsoft Sans Serif"/>
              </a:rPr>
              <a:t>-  </a:t>
            </a:r>
            <a:r>
              <a:rPr sz="950" spc="-15" dirty="0">
                <a:latin typeface="Microsoft Sans Serif"/>
                <a:cs typeface="Microsoft Sans Serif"/>
              </a:rPr>
              <a:t>активами</a:t>
            </a:r>
            <a:r>
              <a:rPr sz="950" spc="-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и </a:t>
            </a:r>
            <a:r>
              <a:rPr sz="950" spc="10" dirty="0">
                <a:latin typeface="Microsoft Sans Serif"/>
                <a:cs typeface="Microsoft Sans Serif"/>
              </a:rPr>
              <a:t> </a:t>
            </a:r>
            <a:r>
              <a:rPr sz="950" spc="-15" dirty="0">
                <a:latin typeface="Microsoft Sans Serif"/>
                <a:cs typeface="Microsoft Sans Serif"/>
              </a:rPr>
              <a:t>конфигурацией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09920" y="2549674"/>
            <a:ext cx="1193165" cy="488950"/>
            <a:chOff x="109920" y="2549674"/>
            <a:chExt cx="1193165" cy="488950"/>
          </a:xfrm>
        </p:grpSpPr>
        <p:sp>
          <p:nvSpPr>
            <p:cNvPr id="69" name="object 69"/>
            <p:cNvSpPr/>
            <p:nvPr/>
          </p:nvSpPr>
          <p:spPr>
            <a:xfrm>
              <a:off x="148126" y="258781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9" y="0"/>
                  </a:moveTo>
                  <a:lnTo>
                    <a:pt x="0" y="0"/>
                  </a:lnTo>
                  <a:lnTo>
                    <a:pt x="83038" y="226250"/>
                  </a:lnTo>
                  <a:lnTo>
                    <a:pt x="0" y="450223"/>
                  </a:lnTo>
                  <a:lnTo>
                    <a:pt x="1075829" y="450223"/>
                  </a:lnTo>
                  <a:lnTo>
                    <a:pt x="1154363" y="226250"/>
                  </a:lnTo>
                  <a:lnTo>
                    <a:pt x="107582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3412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8" y="0"/>
                  </a:moveTo>
                  <a:lnTo>
                    <a:pt x="0" y="0"/>
                  </a:lnTo>
                  <a:lnTo>
                    <a:pt x="83240" y="226250"/>
                  </a:lnTo>
                  <a:lnTo>
                    <a:pt x="0" y="450223"/>
                  </a:lnTo>
                  <a:lnTo>
                    <a:pt x="1075828" y="450223"/>
                  </a:lnTo>
                  <a:lnTo>
                    <a:pt x="1154362" y="226250"/>
                  </a:lnTo>
                  <a:lnTo>
                    <a:pt x="1075828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3412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0" y="0"/>
                  </a:moveTo>
                  <a:lnTo>
                    <a:pt x="1075828" y="0"/>
                  </a:lnTo>
                  <a:lnTo>
                    <a:pt x="1154362" y="226250"/>
                  </a:lnTo>
                  <a:lnTo>
                    <a:pt x="1075828" y="450223"/>
                  </a:lnTo>
                  <a:lnTo>
                    <a:pt x="0" y="450223"/>
                  </a:lnTo>
                  <a:lnTo>
                    <a:pt x="83240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260080" y="2570208"/>
            <a:ext cx="864869" cy="4178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-635" algn="ctr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-65" dirty="0">
                <a:latin typeface="Microsoft Sans Serif"/>
                <a:cs typeface="Microsoft Sans Serif"/>
              </a:rPr>
              <a:t>к</a:t>
            </a:r>
            <a:r>
              <a:rPr sz="950" spc="-5" dirty="0">
                <a:latin typeface="Microsoft Sans Serif"/>
                <a:cs typeface="Microsoft Sans Serif"/>
              </a:rPr>
              <a:t>ор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орат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5" dirty="0">
                <a:latin typeface="Microsoft Sans Serif"/>
                <a:cs typeface="Microsoft Sans Serif"/>
              </a:rPr>
              <a:t>в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5" dirty="0">
                <a:latin typeface="Microsoft Sans Serif"/>
                <a:cs typeface="Microsoft Sans Serif"/>
              </a:rPr>
              <a:t>о</a:t>
            </a:r>
            <a:r>
              <a:rPr sz="950" spc="5" dirty="0">
                <a:latin typeface="Microsoft Sans Serif"/>
                <a:cs typeface="Microsoft Sans Serif"/>
              </a:rPr>
              <a:t>й  </a:t>
            </a:r>
            <a:r>
              <a:rPr sz="950" spc="-10" dirty="0">
                <a:latin typeface="Microsoft Sans Serif"/>
                <a:cs typeface="Microsoft Sans Serif"/>
              </a:rPr>
              <a:t>архитектурой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12142" y="3452182"/>
            <a:ext cx="1190625" cy="486409"/>
            <a:chOff x="112142" y="3452182"/>
            <a:chExt cx="1190625" cy="486409"/>
          </a:xfrm>
        </p:grpSpPr>
        <p:sp>
          <p:nvSpPr>
            <p:cNvPr id="74" name="object 74"/>
            <p:cNvSpPr/>
            <p:nvPr/>
          </p:nvSpPr>
          <p:spPr>
            <a:xfrm>
              <a:off x="148126" y="348809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9" y="0"/>
                  </a:moveTo>
                  <a:lnTo>
                    <a:pt x="0" y="0"/>
                  </a:lnTo>
                  <a:lnTo>
                    <a:pt x="83038" y="226250"/>
                  </a:lnTo>
                  <a:lnTo>
                    <a:pt x="0" y="450223"/>
                  </a:lnTo>
                  <a:lnTo>
                    <a:pt x="1075829" y="450223"/>
                  </a:lnTo>
                  <a:lnTo>
                    <a:pt x="1154363" y="226250"/>
                  </a:lnTo>
                  <a:lnTo>
                    <a:pt x="107582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13412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8" y="0"/>
                  </a:moveTo>
                  <a:lnTo>
                    <a:pt x="0" y="0"/>
                  </a:lnTo>
                  <a:lnTo>
                    <a:pt x="83240" y="226250"/>
                  </a:lnTo>
                  <a:lnTo>
                    <a:pt x="0" y="450223"/>
                  </a:lnTo>
                  <a:lnTo>
                    <a:pt x="1075828" y="450223"/>
                  </a:lnTo>
                  <a:lnTo>
                    <a:pt x="1154362" y="226250"/>
                  </a:lnTo>
                  <a:lnTo>
                    <a:pt x="1075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13412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0" y="0"/>
                  </a:moveTo>
                  <a:lnTo>
                    <a:pt x="1075828" y="0"/>
                  </a:lnTo>
                  <a:lnTo>
                    <a:pt x="1154362" y="226250"/>
                  </a:lnTo>
                  <a:lnTo>
                    <a:pt x="1075828" y="450223"/>
                  </a:lnTo>
                  <a:lnTo>
                    <a:pt x="0" y="450223"/>
                  </a:lnTo>
                  <a:lnTo>
                    <a:pt x="83240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40883" y="3530512"/>
            <a:ext cx="702945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82500" y="3652990"/>
            <a:ext cx="617855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5" dirty="0">
                <a:latin typeface="Microsoft Sans Serif"/>
                <a:cs typeface="Microsoft Sans Serif"/>
              </a:rPr>
              <a:t>проектами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7659131" y="4419567"/>
            <a:ext cx="1192530" cy="488950"/>
            <a:chOff x="7659131" y="4419567"/>
            <a:chExt cx="1192530" cy="488950"/>
          </a:xfrm>
        </p:grpSpPr>
        <p:sp>
          <p:nvSpPr>
            <p:cNvPr id="80" name="object 80"/>
            <p:cNvSpPr/>
            <p:nvPr/>
          </p:nvSpPr>
          <p:spPr>
            <a:xfrm>
              <a:off x="7697094" y="4457721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42"/>
                  </a:lnTo>
                  <a:lnTo>
                    <a:pt x="0" y="450248"/>
                  </a:lnTo>
                  <a:lnTo>
                    <a:pt x="1075821" y="450248"/>
                  </a:lnTo>
                  <a:lnTo>
                    <a:pt x="1154355" y="226242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662624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34"/>
                  </a:lnTo>
                  <a:lnTo>
                    <a:pt x="0" y="450248"/>
                  </a:lnTo>
                  <a:lnTo>
                    <a:pt x="1075740" y="450248"/>
                  </a:lnTo>
                  <a:lnTo>
                    <a:pt x="1154111" y="226234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662624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34"/>
                  </a:lnTo>
                  <a:lnTo>
                    <a:pt x="1075740" y="450248"/>
                  </a:lnTo>
                  <a:lnTo>
                    <a:pt x="0" y="450248"/>
                  </a:lnTo>
                  <a:lnTo>
                    <a:pt x="83005" y="226234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7739839" y="4500144"/>
            <a:ext cx="1003300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29845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spc="5" dirty="0">
                <a:latin typeface="Microsoft Sans Serif"/>
                <a:cs typeface="Microsoft Sans Serif"/>
              </a:rPr>
              <a:t>ИТ- </a:t>
            </a:r>
            <a:r>
              <a:rPr sz="950" spc="-240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10" dirty="0">
                <a:latin typeface="Microsoft Sans Serif"/>
                <a:cs typeface="Microsoft Sans Serif"/>
              </a:rPr>
              <a:t>ф</a:t>
            </a:r>
            <a:r>
              <a:rPr sz="950" spc="-5" dirty="0">
                <a:latin typeface="Microsoft Sans Serif"/>
                <a:cs typeface="Microsoft Sans Serif"/>
              </a:rPr>
              <a:t>ра</a:t>
            </a:r>
            <a:r>
              <a:rPr sz="950" spc="10" dirty="0">
                <a:latin typeface="Microsoft Sans Serif"/>
                <a:cs typeface="Microsoft Sans Serif"/>
              </a:rPr>
              <a:t>с</a:t>
            </a:r>
            <a:r>
              <a:rPr sz="950" spc="-5" dirty="0">
                <a:latin typeface="Microsoft Sans Serif"/>
                <a:cs typeface="Microsoft Sans Serif"/>
              </a:rPr>
              <a:t>тр</a:t>
            </a:r>
            <a:r>
              <a:rPr sz="950" spc="-25" dirty="0">
                <a:latin typeface="Microsoft Sans Serif"/>
                <a:cs typeface="Microsoft Sans Serif"/>
              </a:rPr>
              <a:t>у</a:t>
            </a:r>
            <a:r>
              <a:rPr sz="950" spc="-65" dirty="0">
                <a:latin typeface="Microsoft Sans Serif"/>
                <a:cs typeface="Microsoft Sans Serif"/>
              </a:rPr>
              <a:t>к</a:t>
            </a:r>
            <a:r>
              <a:rPr sz="950" spc="-5" dirty="0">
                <a:latin typeface="Microsoft Sans Serif"/>
                <a:cs typeface="Microsoft Sans Serif"/>
              </a:rPr>
              <a:t>т</a:t>
            </a:r>
            <a:r>
              <a:rPr sz="950" spc="-25" dirty="0">
                <a:latin typeface="Microsoft Sans Serif"/>
                <a:cs typeface="Microsoft Sans Serif"/>
              </a:rPr>
              <a:t>у</a:t>
            </a:r>
            <a:r>
              <a:rPr sz="950" spc="-5" dirty="0">
                <a:latin typeface="Microsoft Sans Serif"/>
                <a:cs typeface="Microsoft Sans Serif"/>
              </a:rPr>
              <a:t>ро</a:t>
            </a:r>
            <a:r>
              <a:rPr sz="950" spc="5" dirty="0">
                <a:latin typeface="Microsoft Sans Serif"/>
                <a:cs typeface="Microsoft Sans Serif"/>
              </a:rPr>
              <a:t>й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5168095" y="3452182"/>
            <a:ext cx="1260475" cy="556895"/>
            <a:chOff x="5168095" y="3452182"/>
            <a:chExt cx="1260475" cy="556895"/>
          </a:xfrm>
        </p:grpSpPr>
        <p:sp>
          <p:nvSpPr>
            <p:cNvPr id="85" name="object 85"/>
            <p:cNvSpPr/>
            <p:nvPr/>
          </p:nvSpPr>
          <p:spPr>
            <a:xfrm>
              <a:off x="5203835" y="348809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169365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69365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3985" y="3914141"/>
              <a:ext cx="94547" cy="94423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5348123" y="3530512"/>
            <a:ext cx="798830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142875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Ведение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с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равоч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65" dirty="0">
                <a:latin typeface="Microsoft Sans Serif"/>
                <a:cs typeface="Microsoft Sans Serif"/>
              </a:rPr>
              <a:t>к</a:t>
            </a:r>
            <a:r>
              <a:rPr sz="950" spc="-5" dirty="0">
                <a:latin typeface="Microsoft Sans Serif"/>
                <a:cs typeface="Microsoft Sans Serif"/>
              </a:rPr>
              <a:t>о</a:t>
            </a:r>
            <a:r>
              <a:rPr sz="950" spc="5" dirty="0">
                <a:latin typeface="Microsoft Sans Serif"/>
                <a:cs typeface="Microsoft Sans Serif"/>
              </a:rPr>
              <a:t>в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412420" y="3449959"/>
            <a:ext cx="1193165" cy="488950"/>
            <a:chOff x="6412420" y="3449959"/>
            <a:chExt cx="1193165" cy="488950"/>
          </a:xfrm>
        </p:grpSpPr>
        <p:sp>
          <p:nvSpPr>
            <p:cNvPr id="91" name="object 91"/>
            <p:cNvSpPr/>
            <p:nvPr/>
          </p:nvSpPr>
          <p:spPr>
            <a:xfrm>
              <a:off x="6450627" y="348809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415913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168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415913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355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168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6608653" y="3530512"/>
            <a:ext cx="77025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31750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spc="-240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5" dirty="0">
                <a:latin typeface="Microsoft Sans Serif"/>
                <a:cs typeface="Microsoft Sans Serif"/>
              </a:rPr>
              <a:t>ц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dirty="0">
                <a:latin typeface="Microsoft Sans Serif"/>
                <a:cs typeface="Microsoft Sans Serif"/>
              </a:rPr>
              <a:t>д</a:t>
            </a:r>
            <a:r>
              <a:rPr sz="950" spc="-10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5" dirty="0">
                <a:latin typeface="Microsoft Sans Serif"/>
                <a:cs typeface="Microsoft Sans Serif"/>
              </a:rPr>
              <a:t>та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5" dirty="0">
                <a:latin typeface="Microsoft Sans Serif"/>
                <a:cs typeface="Microsoft Sans Serif"/>
              </a:rPr>
              <a:t>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6412420" y="4419567"/>
            <a:ext cx="1193165" cy="488950"/>
            <a:chOff x="6412420" y="4419567"/>
            <a:chExt cx="1193165" cy="488950"/>
          </a:xfrm>
        </p:grpSpPr>
        <p:sp>
          <p:nvSpPr>
            <p:cNvPr id="96" name="object 96"/>
            <p:cNvSpPr/>
            <p:nvPr/>
          </p:nvSpPr>
          <p:spPr>
            <a:xfrm>
              <a:off x="6450627" y="4457721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42"/>
                  </a:lnTo>
                  <a:lnTo>
                    <a:pt x="0" y="450248"/>
                  </a:lnTo>
                  <a:lnTo>
                    <a:pt x="1075740" y="450248"/>
                  </a:lnTo>
                  <a:lnTo>
                    <a:pt x="1154355" y="226242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415913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168" y="226234"/>
                  </a:lnTo>
                  <a:lnTo>
                    <a:pt x="0" y="450248"/>
                  </a:lnTo>
                  <a:lnTo>
                    <a:pt x="1075740" y="450248"/>
                  </a:lnTo>
                  <a:lnTo>
                    <a:pt x="1154355" y="226234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415913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355" y="226234"/>
                  </a:lnTo>
                  <a:lnTo>
                    <a:pt x="1075740" y="450248"/>
                  </a:lnTo>
                  <a:lnTo>
                    <a:pt x="0" y="450248"/>
                  </a:lnTo>
                  <a:lnTo>
                    <a:pt x="83168" y="226234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6571663" y="4500144"/>
            <a:ext cx="84391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69215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-5" dirty="0">
                <a:latin typeface="Microsoft Sans Serif"/>
                <a:cs typeface="Microsoft Sans Serif"/>
              </a:rPr>
              <a:t>об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5" dirty="0">
                <a:latin typeface="Microsoft Sans Serif"/>
                <a:cs typeface="Microsoft Sans Serif"/>
              </a:rPr>
              <a:t>ов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я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5" dirty="0">
                <a:latin typeface="Microsoft Sans Serif"/>
                <a:cs typeface="Microsoft Sans Serif"/>
              </a:rPr>
              <a:t>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3921385" y="4421790"/>
            <a:ext cx="1261110" cy="556895"/>
            <a:chOff x="3921385" y="4421790"/>
            <a:chExt cx="1261110" cy="556895"/>
          </a:xfrm>
        </p:grpSpPr>
        <p:sp>
          <p:nvSpPr>
            <p:cNvPr id="101" name="object 101"/>
            <p:cNvSpPr/>
            <p:nvPr/>
          </p:nvSpPr>
          <p:spPr>
            <a:xfrm>
              <a:off x="3957369" y="4457721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42"/>
                  </a:lnTo>
                  <a:lnTo>
                    <a:pt x="0" y="450248"/>
                  </a:lnTo>
                  <a:lnTo>
                    <a:pt x="1075740" y="450248"/>
                  </a:lnTo>
                  <a:lnTo>
                    <a:pt x="1154111" y="226242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922655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168" y="226234"/>
                  </a:lnTo>
                  <a:lnTo>
                    <a:pt x="0" y="450248"/>
                  </a:lnTo>
                  <a:lnTo>
                    <a:pt x="1075740" y="450248"/>
                  </a:lnTo>
                  <a:lnTo>
                    <a:pt x="1154355" y="226234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22655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355" y="226234"/>
                  </a:lnTo>
                  <a:lnTo>
                    <a:pt x="1075740" y="450248"/>
                  </a:lnTo>
                  <a:lnTo>
                    <a:pt x="0" y="450248"/>
                  </a:lnTo>
                  <a:lnTo>
                    <a:pt x="83168" y="22623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87438" y="4883741"/>
              <a:ext cx="94628" cy="94472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4136289" y="4500144"/>
            <a:ext cx="73088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13335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spc="-240" dirty="0">
                <a:latin typeface="Microsoft Sans Serif"/>
                <a:cs typeface="Microsoft Sans Serif"/>
              </a:rPr>
              <a:t> 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роб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-5" dirty="0">
                <a:latin typeface="Microsoft Sans Serif"/>
                <a:cs typeface="Microsoft Sans Serif"/>
              </a:rPr>
              <a:t>а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5" dirty="0">
                <a:latin typeface="Microsoft Sans Serif"/>
                <a:cs typeface="Microsoft Sans Serif"/>
              </a:rPr>
              <a:t>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3919162" y="3449959"/>
            <a:ext cx="1192530" cy="488950"/>
            <a:chOff x="3919162" y="3449959"/>
            <a:chExt cx="1192530" cy="488950"/>
          </a:xfrm>
        </p:grpSpPr>
        <p:sp>
          <p:nvSpPr>
            <p:cNvPr id="107" name="object 107"/>
            <p:cNvSpPr/>
            <p:nvPr/>
          </p:nvSpPr>
          <p:spPr>
            <a:xfrm>
              <a:off x="3957369" y="348809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22655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168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22655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355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168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4037024" y="3530512"/>
            <a:ext cx="92900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40005" marR="5080" indent="-27940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Со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рово</a:t>
            </a:r>
            <a:r>
              <a:rPr sz="950" spc="-40" dirty="0">
                <a:latin typeface="Microsoft Sans Serif"/>
                <a:cs typeface="Microsoft Sans Serif"/>
              </a:rPr>
              <a:t>ж</a:t>
            </a:r>
            <a:r>
              <a:rPr sz="950" dirty="0">
                <a:latin typeface="Microsoft Sans Serif"/>
                <a:cs typeface="Microsoft Sans Serif"/>
              </a:rPr>
              <a:t>д</a:t>
            </a:r>
            <a:r>
              <a:rPr sz="950" spc="-10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 </a:t>
            </a:r>
            <a:r>
              <a:rPr sz="950" spc="-5" dirty="0">
                <a:latin typeface="Microsoft Sans Serif"/>
                <a:cs typeface="Microsoft Sans Serif"/>
              </a:rPr>
              <a:t>пользователей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1382030" y="2551897"/>
            <a:ext cx="1190625" cy="486409"/>
            <a:chOff x="1382030" y="2551897"/>
            <a:chExt cx="1190625" cy="486409"/>
          </a:xfrm>
        </p:grpSpPr>
        <p:sp>
          <p:nvSpPr>
            <p:cNvPr id="112" name="object 112"/>
            <p:cNvSpPr/>
            <p:nvPr/>
          </p:nvSpPr>
          <p:spPr>
            <a:xfrm>
              <a:off x="1417770" y="258781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383300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383300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1522872" y="2630227"/>
            <a:ext cx="87312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85090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-25" dirty="0">
                <a:latin typeface="Microsoft Sans Serif"/>
                <a:cs typeface="Microsoft Sans Serif"/>
              </a:rPr>
              <a:t>э</a:t>
            </a:r>
            <a:r>
              <a:rPr sz="950" spc="-30" dirty="0">
                <a:latin typeface="Microsoft Sans Serif"/>
                <a:cs typeface="Microsoft Sans Serif"/>
              </a:rPr>
              <a:t>к</a:t>
            </a:r>
            <a:r>
              <a:rPr sz="950" spc="-5" dirty="0">
                <a:latin typeface="Microsoft Sans Serif"/>
                <a:cs typeface="Microsoft Sans Serif"/>
              </a:rPr>
              <a:t>о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5" dirty="0">
                <a:latin typeface="Microsoft Sans Serif"/>
                <a:cs typeface="Microsoft Sans Serif"/>
              </a:rPr>
              <a:t>о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65" dirty="0">
                <a:latin typeface="Microsoft Sans Serif"/>
                <a:cs typeface="Microsoft Sans Serif"/>
              </a:rPr>
              <a:t>к</a:t>
            </a:r>
            <a:r>
              <a:rPr sz="950" spc="-5" dirty="0">
                <a:latin typeface="Microsoft Sans Serif"/>
                <a:cs typeface="Microsoft Sans Serif"/>
              </a:rPr>
              <a:t>о</a:t>
            </a:r>
            <a:r>
              <a:rPr sz="950" spc="5" dirty="0">
                <a:latin typeface="Microsoft Sans Serif"/>
                <a:cs typeface="Microsoft Sans Serif"/>
              </a:rPr>
              <a:t>й </a:t>
            </a:r>
            <a:r>
              <a:rPr sz="95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Т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1379807" y="4419567"/>
            <a:ext cx="1192530" cy="488950"/>
            <a:chOff x="1379807" y="4419567"/>
            <a:chExt cx="1192530" cy="488950"/>
          </a:xfrm>
        </p:grpSpPr>
        <p:sp>
          <p:nvSpPr>
            <p:cNvPr id="117" name="object 117"/>
            <p:cNvSpPr/>
            <p:nvPr/>
          </p:nvSpPr>
          <p:spPr>
            <a:xfrm>
              <a:off x="1417770" y="4457721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42"/>
                  </a:lnTo>
                  <a:lnTo>
                    <a:pt x="0" y="450248"/>
                  </a:lnTo>
                  <a:lnTo>
                    <a:pt x="1075821" y="450248"/>
                  </a:lnTo>
                  <a:lnTo>
                    <a:pt x="1154355" y="226242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383300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34"/>
                  </a:lnTo>
                  <a:lnTo>
                    <a:pt x="0" y="450248"/>
                  </a:lnTo>
                  <a:lnTo>
                    <a:pt x="1075740" y="450248"/>
                  </a:lnTo>
                  <a:lnTo>
                    <a:pt x="1154111" y="226234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83300" y="4423060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34"/>
                  </a:lnTo>
                  <a:lnTo>
                    <a:pt x="1075740" y="450248"/>
                  </a:lnTo>
                  <a:lnTo>
                    <a:pt x="0" y="450248"/>
                  </a:lnTo>
                  <a:lnTo>
                    <a:pt x="83005" y="226234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1520595" y="4500144"/>
            <a:ext cx="880744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87630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-5" dirty="0">
                <a:latin typeface="Microsoft Sans Serif"/>
                <a:cs typeface="Microsoft Sans Serif"/>
              </a:rPr>
              <a:t>те</a:t>
            </a:r>
            <a:r>
              <a:rPr sz="950" spc="10" dirty="0">
                <a:latin typeface="Microsoft Sans Serif"/>
                <a:cs typeface="Microsoft Sans Serif"/>
              </a:rPr>
              <a:t>с</a:t>
            </a:r>
            <a:r>
              <a:rPr sz="950" spc="-5" dirty="0">
                <a:latin typeface="Microsoft Sans Serif"/>
                <a:cs typeface="Microsoft Sans Serif"/>
              </a:rPr>
              <a:t>т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5" dirty="0">
                <a:latin typeface="Microsoft Sans Serif"/>
                <a:cs typeface="Microsoft Sans Serif"/>
              </a:rPr>
              <a:t>рова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15" dirty="0">
                <a:latin typeface="Microsoft Sans Serif"/>
                <a:cs typeface="Microsoft Sans Serif"/>
              </a:rPr>
              <a:t>м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5165873" y="2549674"/>
            <a:ext cx="1192530" cy="488950"/>
            <a:chOff x="5165873" y="2549674"/>
            <a:chExt cx="1192530" cy="488950"/>
          </a:xfrm>
        </p:grpSpPr>
        <p:sp>
          <p:nvSpPr>
            <p:cNvPr id="122" name="object 122"/>
            <p:cNvSpPr/>
            <p:nvPr/>
          </p:nvSpPr>
          <p:spPr>
            <a:xfrm>
              <a:off x="5203836" y="258781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169365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169365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5274385" y="2590971"/>
            <a:ext cx="942975" cy="381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944"/>
              </a:lnSpc>
              <a:spcBef>
                <a:spcPts val="125"/>
              </a:spcBef>
            </a:pPr>
            <a:r>
              <a:rPr sz="850" spc="10" dirty="0">
                <a:latin typeface="Microsoft Sans Serif"/>
                <a:cs typeface="Microsoft Sans Serif"/>
              </a:rPr>
              <a:t>Управление</a:t>
            </a:r>
            <a:endParaRPr sz="850">
              <a:latin typeface="Microsoft Sans Serif"/>
              <a:cs typeface="Microsoft Sans Serif"/>
            </a:endParaRPr>
          </a:p>
          <a:p>
            <a:pPr marL="12065" marR="5080" algn="ctr">
              <a:lnSpc>
                <a:spcPts val="869"/>
              </a:lnSpc>
              <a:spcBef>
                <a:spcPts val="80"/>
              </a:spcBef>
            </a:pPr>
            <a:r>
              <a:rPr sz="850" spc="10" dirty="0">
                <a:latin typeface="Microsoft Sans Serif"/>
                <a:cs typeface="Microsoft Sans Serif"/>
              </a:rPr>
              <a:t>и</a:t>
            </a:r>
            <a:r>
              <a:rPr sz="850" spc="15" dirty="0">
                <a:latin typeface="Microsoft Sans Serif"/>
                <a:cs typeface="Microsoft Sans Serif"/>
              </a:rPr>
              <a:t>н</a:t>
            </a:r>
            <a:r>
              <a:rPr sz="850" spc="20" dirty="0">
                <a:latin typeface="Microsoft Sans Serif"/>
                <a:cs typeface="Microsoft Sans Serif"/>
              </a:rPr>
              <a:t>ф</a:t>
            </a:r>
            <a:r>
              <a:rPr sz="850" spc="10" dirty="0">
                <a:latin typeface="Microsoft Sans Serif"/>
                <a:cs typeface="Microsoft Sans Serif"/>
              </a:rPr>
              <a:t>ор</a:t>
            </a:r>
            <a:r>
              <a:rPr sz="850" spc="5" dirty="0">
                <a:latin typeface="Microsoft Sans Serif"/>
                <a:cs typeface="Microsoft Sans Serif"/>
              </a:rPr>
              <a:t>ма</a:t>
            </a:r>
            <a:r>
              <a:rPr sz="850" spc="10" dirty="0">
                <a:latin typeface="Microsoft Sans Serif"/>
                <a:cs typeface="Microsoft Sans Serif"/>
              </a:rPr>
              <a:t>ци</a:t>
            </a:r>
            <a:r>
              <a:rPr sz="850" spc="15" dirty="0">
                <a:latin typeface="Microsoft Sans Serif"/>
                <a:cs typeface="Microsoft Sans Serif"/>
              </a:rPr>
              <a:t>онн</a:t>
            </a:r>
            <a:r>
              <a:rPr sz="850" spc="10" dirty="0">
                <a:latin typeface="Microsoft Sans Serif"/>
                <a:cs typeface="Microsoft Sans Serif"/>
              </a:rPr>
              <a:t>о</a:t>
            </a:r>
            <a:r>
              <a:rPr sz="850" spc="5" dirty="0">
                <a:latin typeface="Microsoft Sans Serif"/>
                <a:cs typeface="Microsoft Sans Serif"/>
              </a:rPr>
              <a:t>й  безопасностью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2649444" y="1926469"/>
            <a:ext cx="1192530" cy="488315"/>
            <a:chOff x="2649444" y="1926469"/>
            <a:chExt cx="1192530" cy="488315"/>
          </a:xfrm>
        </p:grpSpPr>
        <p:sp>
          <p:nvSpPr>
            <p:cNvPr id="127" name="object 127"/>
            <p:cNvSpPr/>
            <p:nvPr/>
          </p:nvSpPr>
          <p:spPr>
            <a:xfrm>
              <a:off x="2687651" y="1964444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086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192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652937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1075821" y="0"/>
                  </a:moveTo>
                  <a:lnTo>
                    <a:pt x="0" y="0"/>
                  </a:lnTo>
                  <a:lnTo>
                    <a:pt x="83086" y="226250"/>
                  </a:lnTo>
                  <a:lnTo>
                    <a:pt x="0" y="450061"/>
                  </a:lnTo>
                  <a:lnTo>
                    <a:pt x="1075821" y="450061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652937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0" y="0"/>
                  </a:moveTo>
                  <a:lnTo>
                    <a:pt x="1075821" y="0"/>
                  </a:lnTo>
                  <a:lnTo>
                    <a:pt x="1154355" y="226250"/>
                  </a:lnTo>
                  <a:lnTo>
                    <a:pt x="1075821" y="450061"/>
                  </a:lnTo>
                  <a:lnTo>
                    <a:pt x="0" y="450061"/>
                  </a:lnTo>
                  <a:lnTo>
                    <a:pt x="83086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2815678" y="2006859"/>
            <a:ext cx="83248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64135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dirty="0">
                <a:latin typeface="Microsoft Sans Serif"/>
                <a:cs typeface="Microsoft Sans Serif"/>
              </a:rPr>
              <a:t> </a:t>
            </a:r>
            <a:r>
              <a:rPr sz="950" spc="-5" dirty="0">
                <a:latin typeface="Microsoft Sans Serif"/>
                <a:cs typeface="Microsoft Sans Serif"/>
              </a:rPr>
              <a:t>требова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я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5" dirty="0">
                <a:latin typeface="Microsoft Sans Serif"/>
                <a:cs typeface="Microsoft Sans Serif"/>
              </a:rPr>
              <a:t>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112142" y="1928692"/>
            <a:ext cx="1190625" cy="486409"/>
            <a:chOff x="112142" y="1928692"/>
            <a:chExt cx="1190625" cy="486409"/>
          </a:xfrm>
        </p:grpSpPr>
        <p:sp>
          <p:nvSpPr>
            <p:cNvPr id="132" name="object 132"/>
            <p:cNvSpPr/>
            <p:nvPr/>
          </p:nvSpPr>
          <p:spPr>
            <a:xfrm>
              <a:off x="148126" y="1964444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9" y="0"/>
                  </a:moveTo>
                  <a:lnTo>
                    <a:pt x="0" y="0"/>
                  </a:lnTo>
                  <a:lnTo>
                    <a:pt x="83038" y="226250"/>
                  </a:lnTo>
                  <a:lnTo>
                    <a:pt x="0" y="450223"/>
                  </a:lnTo>
                  <a:lnTo>
                    <a:pt x="1075829" y="450223"/>
                  </a:lnTo>
                  <a:lnTo>
                    <a:pt x="1154363" y="226250"/>
                  </a:lnTo>
                  <a:lnTo>
                    <a:pt x="107582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13412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30" h="450214">
                  <a:moveTo>
                    <a:pt x="1075828" y="0"/>
                  </a:moveTo>
                  <a:lnTo>
                    <a:pt x="0" y="0"/>
                  </a:lnTo>
                  <a:lnTo>
                    <a:pt x="83240" y="226250"/>
                  </a:lnTo>
                  <a:lnTo>
                    <a:pt x="0" y="450061"/>
                  </a:lnTo>
                  <a:lnTo>
                    <a:pt x="1075828" y="450061"/>
                  </a:lnTo>
                  <a:lnTo>
                    <a:pt x="1154362" y="226250"/>
                  </a:lnTo>
                  <a:lnTo>
                    <a:pt x="1075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13412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30" h="450214">
                  <a:moveTo>
                    <a:pt x="0" y="0"/>
                  </a:moveTo>
                  <a:lnTo>
                    <a:pt x="1075828" y="0"/>
                  </a:lnTo>
                  <a:lnTo>
                    <a:pt x="1154362" y="226250"/>
                  </a:lnTo>
                  <a:lnTo>
                    <a:pt x="1075828" y="450061"/>
                  </a:lnTo>
                  <a:lnTo>
                    <a:pt x="0" y="450061"/>
                  </a:lnTo>
                  <a:lnTo>
                    <a:pt x="83240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340883" y="2006859"/>
            <a:ext cx="70294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40005" marR="5080" indent="-27940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 </a:t>
            </a:r>
            <a:r>
              <a:rPr sz="950" spc="-5" dirty="0">
                <a:latin typeface="Microsoft Sans Serif"/>
                <a:cs typeface="Microsoft Sans Serif"/>
              </a:rPr>
              <a:t>стратегией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6412420" y="2549674"/>
            <a:ext cx="1193165" cy="488950"/>
            <a:chOff x="6412420" y="2549674"/>
            <a:chExt cx="1193165" cy="488950"/>
          </a:xfrm>
        </p:grpSpPr>
        <p:sp>
          <p:nvSpPr>
            <p:cNvPr id="137" name="object 137"/>
            <p:cNvSpPr/>
            <p:nvPr/>
          </p:nvSpPr>
          <p:spPr>
            <a:xfrm>
              <a:off x="6450627" y="258781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415913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168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415913" y="255316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740" y="0"/>
                  </a:lnTo>
                  <a:lnTo>
                    <a:pt x="1154355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168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6643368" y="2630227"/>
            <a:ext cx="70294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16205" marR="5080" indent="-104139">
              <a:lnSpc>
                <a:spcPts val="960"/>
              </a:lnSpc>
              <a:spcBef>
                <a:spcPts val="295"/>
              </a:spcBef>
            </a:pPr>
            <a:r>
              <a:rPr sz="950" spc="5" dirty="0">
                <a:latin typeface="Microsoft Sans Serif"/>
                <a:cs typeface="Microsoft Sans Serif"/>
              </a:rPr>
              <a:t>У</a:t>
            </a:r>
            <a:r>
              <a:rPr sz="950" spc="-25" dirty="0">
                <a:latin typeface="Microsoft Sans Serif"/>
                <a:cs typeface="Microsoft Sans Serif"/>
              </a:rPr>
              <a:t>п</a:t>
            </a:r>
            <a:r>
              <a:rPr sz="950" spc="-5" dirty="0">
                <a:latin typeface="Microsoft Sans Serif"/>
                <a:cs typeface="Microsoft Sans Serif"/>
              </a:rPr>
              <a:t>рав</a:t>
            </a:r>
            <a:r>
              <a:rPr sz="950" dirty="0">
                <a:latin typeface="Microsoft Sans Serif"/>
                <a:cs typeface="Microsoft Sans Serif"/>
              </a:rPr>
              <a:t>л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е  </a:t>
            </a:r>
            <a:r>
              <a:rPr sz="950" spc="-15" dirty="0">
                <a:latin typeface="Microsoft Sans Serif"/>
                <a:cs typeface="Microsoft Sans Serif"/>
              </a:rPr>
              <a:t>рисками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6414643" y="1928692"/>
            <a:ext cx="1190625" cy="486409"/>
            <a:chOff x="6414643" y="1928692"/>
            <a:chExt cx="1190625" cy="486409"/>
          </a:xfrm>
        </p:grpSpPr>
        <p:sp>
          <p:nvSpPr>
            <p:cNvPr id="142" name="object 142"/>
            <p:cNvSpPr/>
            <p:nvPr/>
          </p:nvSpPr>
          <p:spPr>
            <a:xfrm>
              <a:off x="6450627" y="1964444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415913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1075740" y="0"/>
                  </a:moveTo>
                  <a:lnTo>
                    <a:pt x="0" y="0"/>
                  </a:lnTo>
                  <a:lnTo>
                    <a:pt x="83168" y="226250"/>
                  </a:lnTo>
                  <a:lnTo>
                    <a:pt x="0" y="450061"/>
                  </a:lnTo>
                  <a:lnTo>
                    <a:pt x="1075740" y="450061"/>
                  </a:lnTo>
                  <a:lnTo>
                    <a:pt x="1154355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415913" y="1929962"/>
              <a:ext cx="1154430" cy="450215"/>
            </a:xfrm>
            <a:custGeom>
              <a:avLst/>
              <a:gdLst/>
              <a:ahLst/>
              <a:cxnLst/>
              <a:rect l="l" t="t" r="r" b="b"/>
              <a:pathLst>
                <a:path w="1154429" h="450214">
                  <a:moveTo>
                    <a:pt x="0" y="0"/>
                  </a:moveTo>
                  <a:lnTo>
                    <a:pt x="1075740" y="0"/>
                  </a:lnTo>
                  <a:lnTo>
                    <a:pt x="1154355" y="226250"/>
                  </a:lnTo>
                  <a:lnTo>
                    <a:pt x="1075740" y="450061"/>
                  </a:lnTo>
                  <a:lnTo>
                    <a:pt x="0" y="450061"/>
                  </a:lnTo>
                  <a:lnTo>
                    <a:pt x="83168" y="2262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7C7C7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6606378" y="2006859"/>
            <a:ext cx="774700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34290">
              <a:lnSpc>
                <a:spcPts val="960"/>
              </a:lnSpc>
              <a:spcBef>
                <a:spcPts val="295"/>
              </a:spcBef>
            </a:pPr>
            <a:r>
              <a:rPr sz="950" spc="-5" dirty="0">
                <a:latin typeface="Microsoft Sans Serif"/>
                <a:cs typeface="Microsoft Sans Serif"/>
              </a:rPr>
              <a:t>Управление </a:t>
            </a:r>
            <a:r>
              <a:rPr sz="950" spc="-240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30" dirty="0">
                <a:latin typeface="Microsoft Sans Serif"/>
                <a:cs typeface="Microsoft Sans Serif"/>
              </a:rPr>
              <a:t>нн</a:t>
            </a:r>
            <a:r>
              <a:rPr sz="950" spc="-5" dirty="0">
                <a:latin typeface="Microsoft Sans Serif"/>
                <a:cs typeface="Microsoft Sans Serif"/>
              </a:rPr>
              <a:t>овац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я</a:t>
            </a:r>
            <a:r>
              <a:rPr sz="950" spc="-30" dirty="0">
                <a:latin typeface="Microsoft Sans Serif"/>
                <a:cs typeface="Microsoft Sans Serif"/>
              </a:rPr>
              <a:t>м</a:t>
            </a:r>
            <a:r>
              <a:rPr sz="950" spc="5" dirty="0">
                <a:latin typeface="Microsoft Sans Serif"/>
                <a:cs typeface="Microsoft Sans Serif"/>
              </a:rPr>
              <a:t>и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2672614" y="3449959"/>
            <a:ext cx="1192530" cy="488950"/>
            <a:chOff x="2672614" y="3449959"/>
            <a:chExt cx="1192530" cy="488950"/>
          </a:xfrm>
        </p:grpSpPr>
        <p:sp>
          <p:nvSpPr>
            <p:cNvPr id="147" name="object 147"/>
            <p:cNvSpPr/>
            <p:nvPr/>
          </p:nvSpPr>
          <p:spPr>
            <a:xfrm>
              <a:off x="2710577" y="348809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676107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1075821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111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76107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29" h="450850">
                  <a:moveTo>
                    <a:pt x="0" y="0"/>
                  </a:moveTo>
                  <a:lnTo>
                    <a:pt x="1075821" y="0"/>
                  </a:lnTo>
                  <a:lnTo>
                    <a:pt x="1154111" y="226250"/>
                  </a:lnTo>
                  <a:lnTo>
                    <a:pt x="1075821" y="450223"/>
                  </a:lnTo>
                  <a:lnTo>
                    <a:pt x="0" y="450223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2843483" y="3530512"/>
            <a:ext cx="821055" cy="2952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58419" marR="5080" indent="-46355">
              <a:lnSpc>
                <a:spcPts val="960"/>
              </a:lnSpc>
              <a:spcBef>
                <a:spcPts val="295"/>
              </a:spcBef>
            </a:pPr>
            <a:r>
              <a:rPr sz="950" spc="-15" dirty="0">
                <a:latin typeface="Microsoft Sans Serif"/>
                <a:cs typeface="Microsoft Sans Serif"/>
              </a:rPr>
              <a:t>М</a:t>
            </a:r>
            <a:r>
              <a:rPr sz="950" spc="-5" dirty="0">
                <a:latin typeface="Microsoft Sans Serif"/>
                <a:cs typeface="Microsoft Sans Serif"/>
              </a:rPr>
              <a:t>о</a:t>
            </a:r>
            <a:r>
              <a:rPr sz="950" dirty="0">
                <a:latin typeface="Microsoft Sans Serif"/>
                <a:cs typeface="Microsoft Sans Serif"/>
              </a:rPr>
              <a:t>д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10" dirty="0">
                <a:latin typeface="Microsoft Sans Serif"/>
                <a:cs typeface="Microsoft Sans Serif"/>
              </a:rPr>
              <a:t>ф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-65" dirty="0">
                <a:latin typeface="Microsoft Sans Serif"/>
                <a:cs typeface="Microsoft Sans Serif"/>
              </a:rPr>
              <a:t>к</a:t>
            </a:r>
            <a:r>
              <a:rPr sz="950" spc="-5" dirty="0">
                <a:latin typeface="Microsoft Sans Serif"/>
                <a:cs typeface="Microsoft Sans Serif"/>
              </a:rPr>
              <a:t>ац</a:t>
            </a:r>
            <a:r>
              <a:rPr sz="950" spc="-10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я  </a:t>
            </a:r>
            <a:r>
              <a:rPr sz="950" dirty="0">
                <a:latin typeface="Microsoft Sans Serif"/>
                <a:cs typeface="Microsoft Sans Serif"/>
              </a:rPr>
              <a:t>ИТ-решений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1379807" y="3449959"/>
            <a:ext cx="1263015" cy="558800"/>
            <a:chOff x="1379807" y="3449959"/>
            <a:chExt cx="1263015" cy="558800"/>
          </a:xfrm>
        </p:grpSpPr>
        <p:sp>
          <p:nvSpPr>
            <p:cNvPr id="152" name="object 152"/>
            <p:cNvSpPr/>
            <p:nvPr/>
          </p:nvSpPr>
          <p:spPr>
            <a:xfrm>
              <a:off x="1417770" y="3488097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821" y="0"/>
                  </a:moveTo>
                  <a:lnTo>
                    <a:pt x="0" y="0"/>
                  </a:lnTo>
                  <a:lnTo>
                    <a:pt x="83249" y="226250"/>
                  </a:lnTo>
                  <a:lnTo>
                    <a:pt x="0" y="450223"/>
                  </a:lnTo>
                  <a:lnTo>
                    <a:pt x="1075821" y="450223"/>
                  </a:lnTo>
                  <a:lnTo>
                    <a:pt x="1154355" y="226250"/>
                  </a:lnTo>
                  <a:lnTo>
                    <a:pt x="10758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383300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1075740" y="0"/>
                  </a:moveTo>
                  <a:lnTo>
                    <a:pt x="0" y="0"/>
                  </a:lnTo>
                  <a:lnTo>
                    <a:pt x="83005" y="226250"/>
                  </a:lnTo>
                  <a:lnTo>
                    <a:pt x="0" y="450223"/>
                  </a:lnTo>
                  <a:lnTo>
                    <a:pt x="1075740" y="450223"/>
                  </a:lnTo>
                  <a:lnTo>
                    <a:pt x="1154111" y="226250"/>
                  </a:lnTo>
                  <a:lnTo>
                    <a:pt x="107574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383300" y="3453452"/>
              <a:ext cx="1154430" cy="450850"/>
            </a:xfrm>
            <a:custGeom>
              <a:avLst/>
              <a:gdLst/>
              <a:ahLst/>
              <a:cxnLst/>
              <a:rect l="l" t="t" r="r" b="b"/>
              <a:pathLst>
                <a:path w="1154430" h="450850">
                  <a:moveTo>
                    <a:pt x="0" y="0"/>
                  </a:moveTo>
                  <a:lnTo>
                    <a:pt x="1075740" y="0"/>
                  </a:lnTo>
                  <a:lnTo>
                    <a:pt x="1154111" y="226250"/>
                  </a:lnTo>
                  <a:lnTo>
                    <a:pt x="1075740" y="450223"/>
                  </a:lnTo>
                  <a:lnTo>
                    <a:pt x="0" y="450223"/>
                  </a:lnTo>
                  <a:lnTo>
                    <a:pt x="83005" y="226250"/>
                  </a:lnTo>
                  <a:lnTo>
                    <a:pt x="0" y="0"/>
                  </a:lnTo>
                  <a:close/>
                </a:path>
              </a:pathLst>
            </a:custGeom>
            <a:ln w="6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7920" y="3914141"/>
              <a:ext cx="94547" cy="94423"/>
            </a:xfrm>
            <a:prstGeom prst="rect">
              <a:avLst/>
            </a:prstGeom>
          </p:spPr>
        </p:pic>
      </p:grpSp>
      <p:sp>
        <p:nvSpPr>
          <p:cNvPr id="156" name="object 156"/>
          <p:cNvSpPr txBox="1"/>
          <p:nvPr/>
        </p:nvSpPr>
        <p:spPr>
          <a:xfrm>
            <a:off x="1622137" y="3470493"/>
            <a:ext cx="67564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Microsoft Sans Serif"/>
                <a:cs typeface="Microsoft Sans Serif"/>
              </a:rPr>
              <a:t>Создание</a:t>
            </a:r>
            <a:r>
              <a:rPr sz="950" spc="-5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и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527506" y="3592971"/>
            <a:ext cx="864235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Microsoft Sans Serif"/>
                <a:cs typeface="Microsoft Sans Serif"/>
              </a:rPr>
              <a:t>внедрение</a:t>
            </a:r>
            <a:r>
              <a:rPr sz="950" spc="-3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ИТ-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39056" y="1687071"/>
            <a:ext cx="9103360" cy="3467735"/>
            <a:chOff x="39056" y="1687071"/>
            <a:chExt cx="9103360" cy="3467735"/>
          </a:xfrm>
        </p:grpSpPr>
        <p:sp>
          <p:nvSpPr>
            <p:cNvPr id="159" name="object 159"/>
            <p:cNvSpPr/>
            <p:nvPr/>
          </p:nvSpPr>
          <p:spPr>
            <a:xfrm>
              <a:off x="40326" y="1688341"/>
              <a:ext cx="9100820" cy="3465195"/>
            </a:xfrm>
            <a:custGeom>
              <a:avLst/>
              <a:gdLst/>
              <a:ahLst/>
              <a:cxnLst/>
              <a:rect l="l" t="t" r="r" b="b"/>
              <a:pathLst>
                <a:path w="9100820" h="3465195">
                  <a:moveTo>
                    <a:pt x="0" y="0"/>
                  </a:moveTo>
                  <a:lnTo>
                    <a:pt x="2233" y="0"/>
                  </a:lnTo>
                </a:path>
                <a:path w="9100820" h="3465195">
                  <a:moveTo>
                    <a:pt x="9098188" y="3464922"/>
                  </a:moveTo>
                  <a:lnTo>
                    <a:pt x="9100464" y="34649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03025" y="3202166"/>
              <a:ext cx="2592070" cy="1007110"/>
            </a:xfrm>
            <a:custGeom>
              <a:avLst/>
              <a:gdLst/>
              <a:ahLst/>
              <a:cxnLst/>
              <a:rect l="l" t="t" r="r" b="b"/>
              <a:pathLst>
                <a:path w="2592070" h="1007110">
                  <a:moveTo>
                    <a:pt x="2415646" y="0"/>
                  </a:moveTo>
                  <a:lnTo>
                    <a:pt x="0" y="0"/>
                  </a:lnTo>
                  <a:lnTo>
                    <a:pt x="186863" y="505786"/>
                  </a:lnTo>
                  <a:lnTo>
                    <a:pt x="0" y="1007062"/>
                  </a:lnTo>
                  <a:lnTo>
                    <a:pt x="2415646" y="1007062"/>
                  </a:lnTo>
                  <a:lnTo>
                    <a:pt x="2591524" y="505786"/>
                  </a:lnTo>
                  <a:lnTo>
                    <a:pt x="241564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25278" y="3124499"/>
              <a:ext cx="2592070" cy="1007110"/>
            </a:xfrm>
            <a:custGeom>
              <a:avLst/>
              <a:gdLst/>
              <a:ahLst/>
              <a:cxnLst/>
              <a:rect l="l" t="t" r="r" b="b"/>
              <a:pathLst>
                <a:path w="2592070" h="1007110">
                  <a:moveTo>
                    <a:pt x="2415650" y="0"/>
                  </a:moveTo>
                  <a:lnTo>
                    <a:pt x="0" y="0"/>
                  </a:lnTo>
                  <a:lnTo>
                    <a:pt x="186867" y="506239"/>
                  </a:lnTo>
                  <a:lnTo>
                    <a:pt x="0" y="1007062"/>
                  </a:lnTo>
                  <a:lnTo>
                    <a:pt x="2415650" y="1007062"/>
                  </a:lnTo>
                  <a:lnTo>
                    <a:pt x="2591527" y="506239"/>
                  </a:lnTo>
                  <a:lnTo>
                    <a:pt x="2415650" y="0"/>
                  </a:lnTo>
                  <a:close/>
                </a:path>
              </a:pathLst>
            </a:custGeom>
            <a:solidFill>
              <a:srgbClr val="6F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525278" y="3124499"/>
              <a:ext cx="2592070" cy="1007110"/>
            </a:xfrm>
            <a:custGeom>
              <a:avLst/>
              <a:gdLst/>
              <a:ahLst/>
              <a:cxnLst/>
              <a:rect l="l" t="t" r="r" b="b"/>
              <a:pathLst>
                <a:path w="2592070" h="1007110">
                  <a:moveTo>
                    <a:pt x="0" y="0"/>
                  </a:moveTo>
                  <a:lnTo>
                    <a:pt x="2415650" y="0"/>
                  </a:lnTo>
                  <a:lnTo>
                    <a:pt x="2591527" y="506239"/>
                  </a:lnTo>
                  <a:lnTo>
                    <a:pt x="2415650" y="1007062"/>
                  </a:lnTo>
                  <a:lnTo>
                    <a:pt x="0" y="1007062"/>
                  </a:lnTo>
                  <a:lnTo>
                    <a:pt x="186867" y="506239"/>
                  </a:lnTo>
                  <a:lnTo>
                    <a:pt x="0" y="0"/>
                  </a:lnTo>
                  <a:close/>
                </a:path>
              </a:pathLst>
            </a:custGeom>
            <a:ln w="15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205109" y="4157291"/>
              <a:ext cx="83820" cy="57150"/>
            </a:xfrm>
            <a:custGeom>
              <a:avLst/>
              <a:gdLst/>
              <a:ahLst/>
              <a:cxnLst/>
              <a:rect l="l" t="t" r="r" b="b"/>
              <a:pathLst>
                <a:path w="83820" h="57150">
                  <a:moveTo>
                    <a:pt x="83203" y="0"/>
                  </a:moveTo>
                  <a:lnTo>
                    <a:pt x="0" y="0"/>
                  </a:lnTo>
                  <a:lnTo>
                    <a:pt x="0" y="56901"/>
                  </a:lnTo>
                  <a:lnTo>
                    <a:pt x="83203" y="56901"/>
                  </a:lnTo>
                  <a:lnTo>
                    <a:pt x="83203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205109" y="4157291"/>
              <a:ext cx="83820" cy="57150"/>
            </a:xfrm>
            <a:custGeom>
              <a:avLst/>
              <a:gdLst/>
              <a:ahLst/>
              <a:cxnLst/>
              <a:rect l="l" t="t" r="r" b="b"/>
              <a:pathLst>
                <a:path w="83820" h="57150">
                  <a:moveTo>
                    <a:pt x="0" y="56901"/>
                  </a:moveTo>
                  <a:lnTo>
                    <a:pt x="83203" y="56901"/>
                  </a:lnTo>
                  <a:lnTo>
                    <a:pt x="83203" y="0"/>
                  </a:lnTo>
                  <a:lnTo>
                    <a:pt x="0" y="0"/>
                  </a:lnTo>
                  <a:lnTo>
                    <a:pt x="0" y="56901"/>
                  </a:lnTo>
                  <a:close/>
                </a:path>
              </a:pathLst>
            </a:custGeom>
            <a:ln w="49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142660" y="4307227"/>
              <a:ext cx="83820" cy="57150"/>
            </a:xfrm>
            <a:custGeom>
              <a:avLst/>
              <a:gdLst/>
              <a:ahLst/>
              <a:cxnLst/>
              <a:rect l="l" t="t" r="r" b="b"/>
              <a:pathLst>
                <a:path w="83819" h="57150">
                  <a:moveTo>
                    <a:pt x="83203" y="0"/>
                  </a:moveTo>
                  <a:lnTo>
                    <a:pt x="0" y="0"/>
                  </a:lnTo>
                  <a:lnTo>
                    <a:pt x="0" y="56901"/>
                  </a:lnTo>
                  <a:lnTo>
                    <a:pt x="83203" y="56901"/>
                  </a:lnTo>
                  <a:lnTo>
                    <a:pt x="83203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142660" y="4307227"/>
              <a:ext cx="83820" cy="57150"/>
            </a:xfrm>
            <a:custGeom>
              <a:avLst/>
              <a:gdLst/>
              <a:ahLst/>
              <a:cxnLst/>
              <a:rect l="l" t="t" r="r" b="b"/>
              <a:pathLst>
                <a:path w="83819" h="57150">
                  <a:moveTo>
                    <a:pt x="0" y="56901"/>
                  </a:moveTo>
                  <a:lnTo>
                    <a:pt x="83203" y="56901"/>
                  </a:lnTo>
                  <a:lnTo>
                    <a:pt x="83203" y="0"/>
                  </a:lnTo>
                  <a:lnTo>
                    <a:pt x="0" y="0"/>
                  </a:lnTo>
                  <a:lnTo>
                    <a:pt x="0" y="56901"/>
                  </a:lnTo>
                  <a:close/>
                </a:path>
              </a:pathLst>
            </a:custGeom>
            <a:ln w="49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205109" y="4234976"/>
              <a:ext cx="83820" cy="57150"/>
            </a:xfrm>
            <a:custGeom>
              <a:avLst/>
              <a:gdLst/>
              <a:ahLst/>
              <a:cxnLst/>
              <a:rect l="l" t="t" r="r" b="b"/>
              <a:pathLst>
                <a:path w="83820" h="57150">
                  <a:moveTo>
                    <a:pt x="83203" y="0"/>
                  </a:moveTo>
                  <a:lnTo>
                    <a:pt x="0" y="0"/>
                  </a:lnTo>
                  <a:lnTo>
                    <a:pt x="0" y="56901"/>
                  </a:lnTo>
                  <a:lnTo>
                    <a:pt x="83203" y="56901"/>
                  </a:lnTo>
                  <a:lnTo>
                    <a:pt x="8320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205109" y="4214192"/>
              <a:ext cx="104139" cy="93345"/>
            </a:xfrm>
            <a:custGeom>
              <a:avLst/>
              <a:gdLst/>
              <a:ahLst/>
              <a:cxnLst/>
              <a:rect l="l" t="t" r="r" b="b"/>
              <a:pathLst>
                <a:path w="104139" h="93345">
                  <a:moveTo>
                    <a:pt x="0" y="77685"/>
                  </a:moveTo>
                  <a:lnTo>
                    <a:pt x="83203" y="77685"/>
                  </a:lnTo>
                  <a:lnTo>
                    <a:pt x="83203" y="20783"/>
                  </a:lnTo>
                  <a:lnTo>
                    <a:pt x="0" y="20783"/>
                  </a:lnTo>
                  <a:lnTo>
                    <a:pt x="0" y="77685"/>
                  </a:lnTo>
                  <a:close/>
                </a:path>
                <a:path w="104139" h="93345">
                  <a:moveTo>
                    <a:pt x="83204" y="46524"/>
                  </a:moveTo>
                  <a:lnTo>
                    <a:pt x="103596" y="46524"/>
                  </a:lnTo>
                  <a:lnTo>
                    <a:pt x="103596" y="93030"/>
                  </a:lnTo>
                </a:path>
                <a:path w="104139" h="93345">
                  <a:moveTo>
                    <a:pt x="41329" y="0"/>
                  </a:moveTo>
                  <a:lnTo>
                    <a:pt x="41329" y="20780"/>
                  </a:lnTo>
                </a:path>
              </a:pathLst>
            </a:custGeom>
            <a:ln w="49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267376" y="4307227"/>
              <a:ext cx="83185" cy="57150"/>
            </a:xfrm>
            <a:custGeom>
              <a:avLst/>
              <a:gdLst/>
              <a:ahLst/>
              <a:cxnLst/>
              <a:rect l="l" t="t" r="r" b="b"/>
              <a:pathLst>
                <a:path w="83185" h="57150">
                  <a:moveTo>
                    <a:pt x="82748" y="0"/>
                  </a:moveTo>
                  <a:lnTo>
                    <a:pt x="0" y="0"/>
                  </a:lnTo>
                  <a:lnTo>
                    <a:pt x="0" y="56901"/>
                  </a:lnTo>
                  <a:lnTo>
                    <a:pt x="82748" y="56901"/>
                  </a:lnTo>
                  <a:lnTo>
                    <a:pt x="8274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184535" y="4260716"/>
              <a:ext cx="165735" cy="103505"/>
            </a:xfrm>
            <a:custGeom>
              <a:avLst/>
              <a:gdLst/>
              <a:ahLst/>
              <a:cxnLst/>
              <a:rect l="l" t="t" r="r" b="b"/>
              <a:pathLst>
                <a:path w="165735" h="103504">
                  <a:moveTo>
                    <a:pt x="82840" y="103412"/>
                  </a:moveTo>
                  <a:lnTo>
                    <a:pt x="165588" y="103412"/>
                  </a:lnTo>
                  <a:lnTo>
                    <a:pt x="165588" y="46511"/>
                  </a:lnTo>
                  <a:lnTo>
                    <a:pt x="82840" y="46511"/>
                  </a:lnTo>
                  <a:lnTo>
                    <a:pt x="82840" y="103412"/>
                  </a:lnTo>
                  <a:close/>
                </a:path>
                <a:path w="165735" h="103504">
                  <a:moveTo>
                    <a:pt x="0" y="46505"/>
                  </a:moveTo>
                  <a:lnTo>
                    <a:pt x="0" y="0"/>
                  </a:lnTo>
                  <a:lnTo>
                    <a:pt x="20573" y="0"/>
                  </a:lnTo>
                </a:path>
              </a:pathLst>
            </a:custGeom>
            <a:ln w="49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170121" y="3120559"/>
            <a:ext cx="2418715" cy="354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latin typeface="Arial"/>
                <a:cs typeface="Arial"/>
              </a:rPr>
              <a:t>Ос</a:t>
            </a:r>
            <a:r>
              <a:rPr sz="950" b="1" spc="5" dirty="0">
                <a:latin typeface="Arial"/>
                <a:cs typeface="Arial"/>
              </a:rPr>
              <a:t>н</a:t>
            </a:r>
            <a:r>
              <a:rPr sz="950" b="1" spc="-5" dirty="0">
                <a:latin typeface="Arial"/>
                <a:cs typeface="Arial"/>
              </a:rPr>
              <a:t>о</a:t>
            </a:r>
            <a:r>
              <a:rPr sz="950" b="1" spc="10" dirty="0">
                <a:latin typeface="Arial"/>
                <a:cs typeface="Arial"/>
              </a:rPr>
              <a:t>в</a:t>
            </a:r>
            <a:r>
              <a:rPr sz="950" b="1" spc="5" dirty="0">
                <a:latin typeface="Arial"/>
                <a:cs typeface="Arial"/>
              </a:rPr>
              <a:t>н</a:t>
            </a:r>
            <a:r>
              <a:rPr sz="950" b="1" dirty="0">
                <a:latin typeface="Arial"/>
                <a:cs typeface="Arial"/>
              </a:rPr>
              <a:t>ы</a:t>
            </a:r>
            <a:r>
              <a:rPr sz="950" b="1" spc="5" dirty="0">
                <a:latin typeface="Arial"/>
                <a:cs typeface="Arial"/>
              </a:rPr>
              <a:t>е</a:t>
            </a:r>
            <a:r>
              <a:rPr sz="950" b="1" spc="-5" dirty="0">
                <a:latin typeface="Arial"/>
                <a:cs typeface="Arial"/>
              </a:rPr>
              <a:t> </a:t>
            </a:r>
            <a:r>
              <a:rPr sz="950" b="1" spc="5" dirty="0">
                <a:latin typeface="Arial"/>
                <a:cs typeface="Arial"/>
              </a:rPr>
              <a:t>п</a:t>
            </a:r>
            <a:r>
              <a:rPr sz="950" b="1" spc="-5" dirty="0">
                <a:latin typeface="Arial"/>
                <a:cs typeface="Arial"/>
              </a:rPr>
              <a:t>р</a:t>
            </a:r>
            <a:r>
              <a:rPr sz="950" b="1" spc="-35" dirty="0">
                <a:latin typeface="Arial"/>
                <a:cs typeface="Arial"/>
              </a:rPr>
              <a:t>о</a:t>
            </a:r>
            <a:r>
              <a:rPr sz="3225" spc="-2295" baseline="-11627" dirty="0">
                <a:latin typeface="Microsoft Sans Serif"/>
                <a:cs typeface="Microsoft Sans Serif"/>
              </a:rPr>
              <a:t>С</a:t>
            </a:r>
            <a:r>
              <a:rPr sz="950" b="1" spc="10" dirty="0">
                <a:latin typeface="Arial"/>
                <a:cs typeface="Arial"/>
              </a:rPr>
              <a:t>ц</a:t>
            </a:r>
            <a:r>
              <a:rPr sz="950" b="1" spc="-5" dirty="0">
                <a:latin typeface="Arial"/>
                <a:cs typeface="Arial"/>
              </a:rPr>
              <a:t>е</a:t>
            </a:r>
            <a:r>
              <a:rPr sz="950" b="1" spc="-140" dirty="0">
                <a:latin typeface="Arial"/>
                <a:cs typeface="Arial"/>
              </a:rPr>
              <a:t>с</a:t>
            </a:r>
            <a:r>
              <a:rPr sz="3225" spc="-1597" baseline="-11627" dirty="0">
                <a:latin typeface="Microsoft Sans Serif"/>
                <a:cs typeface="Microsoft Sans Serif"/>
              </a:rPr>
              <a:t>о</a:t>
            </a:r>
            <a:r>
              <a:rPr sz="950" b="1" spc="-5" dirty="0">
                <a:latin typeface="Arial"/>
                <a:cs typeface="Arial"/>
              </a:rPr>
              <a:t>с</a:t>
            </a:r>
            <a:r>
              <a:rPr sz="950" b="1" spc="-295" dirty="0">
                <a:latin typeface="Arial"/>
                <a:cs typeface="Arial"/>
              </a:rPr>
              <a:t>ы</a:t>
            </a:r>
            <a:r>
              <a:rPr sz="3225" spc="-150" baseline="-11627" dirty="0">
                <a:latin typeface="Microsoft Sans Serif"/>
                <a:cs typeface="Microsoft Sans Serif"/>
              </a:rPr>
              <a:t>з</a:t>
            </a:r>
            <a:r>
              <a:rPr sz="3225" spc="7" baseline="-11627" dirty="0">
                <a:latin typeface="Microsoft Sans Serif"/>
                <a:cs typeface="Microsoft Sans Serif"/>
              </a:rPr>
              <a:t>д</a:t>
            </a:r>
            <a:r>
              <a:rPr sz="3225" spc="-22" baseline="-11627" dirty="0">
                <a:latin typeface="Microsoft Sans Serif"/>
                <a:cs typeface="Microsoft Sans Serif"/>
              </a:rPr>
              <a:t>а</a:t>
            </a:r>
            <a:r>
              <a:rPr sz="3225" spc="-89" baseline="-11627" dirty="0">
                <a:latin typeface="Microsoft Sans Serif"/>
                <a:cs typeface="Microsoft Sans Serif"/>
              </a:rPr>
              <a:t>н</a:t>
            </a:r>
            <a:r>
              <a:rPr sz="3225" spc="-37" baseline="-11627" dirty="0">
                <a:latin typeface="Microsoft Sans Serif"/>
                <a:cs typeface="Microsoft Sans Serif"/>
              </a:rPr>
              <a:t>и</a:t>
            </a:r>
            <a:r>
              <a:rPr sz="3225" spc="15" baseline="-11627" dirty="0">
                <a:latin typeface="Microsoft Sans Serif"/>
                <a:cs typeface="Microsoft Sans Serif"/>
              </a:rPr>
              <a:t>е</a:t>
            </a:r>
            <a:r>
              <a:rPr sz="3225" spc="22" baseline="-11627" dirty="0">
                <a:latin typeface="Microsoft Sans Serif"/>
                <a:cs typeface="Microsoft Sans Serif"/>
              </a:rPr>
              <a:t> </a:t>
            </a:r>
            <a:r>
              <a:rPr sz="3225" spc="7" baseline="-11627" dirty="0">
                <a:latin typeface="Microsoft Sans Serif"/>
                <a:cs typeface="Microsoft Sans Serif"/>
              </a:rPr>
              <a:t>и</a:t>
            </a:r>
            <a:endParaRPr sz="3225" baseline="-11627">
              <a:latin typeface="Microsoft Sans Serif"/>
              <a:cs typeface="Microsoft Sans Serif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64945" y="3452251"/>
            <a:ext cx="1910080" cy="354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0" dirty="0">
                <a:latin typeface="Microsoft Sans Serif"/>
                <a:cs typeface="Microsoft Sans Serif"/>
              </a:rPr>
              <a:t>внедрение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10" dirty="0">
                <a:latin typeface="Microsoft Sans Serif"/>
                <a:cs typeface="Microsoft Sans Serif"/>
              </a:rPr>
              <a:t>ИТ-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223271" y="3563707"/>
            <a:ext cx="1199515" cy="354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spc="-22" baseline="-33591" dirty="0">
                <a:latin typeface="Microsoft Sans Serif"/>
                <a:cs typeface="Microsoft Sans Serif"/>
              </a:rPr>
              <a:t>ре</a:t>
            </a:r>
            <a:r>
              <a:rPr sz="3225" spc="-832" baseline="-33591" dirty="0">
                <a:latin typeface="Microsoft Sans Serif"/>
                <a:cs typeface="Microsoft Sans Serif"/>
              </a:rPr>
              <a:t>ш</a:t>
            </a:r>
            <a:r>
              <a:rPr sz="950" spc="-5" dirty="0">
                <a:latin typeface="Microsoft Sans Serif"/>
                <a:cs typeface="Microsoft Sans Serif"/>
              </a:rPr>
              <a:t>р</a:t>
            </a:r>
            <a:r>
              <a:rPr sz="950" spc="-480" dirty="0">
                <a:latin typeface="Microsoft Sans Serif"/>
                <a:cs typeface="Microsoft Sans Serif"/>
              </a:rPr>
              <a:t>е</a:t>
            </a:r>
            <a:r>
              <a:rPr sz="3225" spc="-1087" baseline="-33591" dirty="0">
                <a:latin typeface="Microsoft Sans Serif"/>
                <a:cs typeface="Microsoft Sans Serif"/>
              </a:rPr>
              <a:t>е</a:t>
            </a:r>
            <a:r>
              <a:rPr sz="950" spc="-55" dirty="0">
                <a:latin typeface="Microsoft Sans Serif"/>
                <a:cs typeface="Microsoft Sans Serif"/>
              </a:rPr>
              <a:t>ш</a:t>
            </a:r>
            <a:r>
              <a:rPr sz="3225" spc="-1695" baseline="-33591" dirty="0">
                <a:latin typeface="Microsoft Sans Serif"/>
                <a:cs typeface="Microsoft Sans Serif"/>
              </a:rPr>
              <a:t>н</a:t>
            </a:r>
            <a:r>
              <a:rPr sz="950" spc="-5" dirty="0">
                <a:latin typeface="Microsoft Sans Serif"/>
                <a:cs typeface="Microsoft Sans Serif"/>
              </a:rPr>
              <a:t>е</a:t>
            </a:r>
            <a:r>
              <a:rPr sz="950" spc="-30" dirty="0">
                <a:latin typeface="Microsoft Sans Serif"/>
                <a:cs typeface="Microsoft Sans Serif"/>
              </a:rPr>
              <a:t>н</a:t>
            </a:r>
            <a:r>
              <a:rPr sz="950" spc="-500" dirty="0">
                <a:latin typeface="Microsoft Sans Serif"/>
                <a:cs typeface="Microsoft Sans Serif"/>
              </a:rPr>
              <a:t>и</a:t>
            </a:r>
            <a:r>
              <a:rPr sz="3225" spc="-1080" baseline="-33591" dirty="0">
                <a:latin typeface="Microsoft Sans Serif"/>
                <a:cs typeface="Microsoft Sans Serif"/>
              </a:rPr>
              <a:t>и</a:t>
            </a:r>
            <a:r>
              <a:rPr sz="950" spc="5" dirty="0">
                <a:latin typeface="Microsoft Sans Serif"/>
                <a:cs typeface="Microsoft Sans Serif"/>
              </a:rPr>
              <a:t>й</a:t>
            </a:r>
            <a:r>
              <a:rPr sz="950" spc="-100" dirty="0">
                <a:latin typeface="Microsoft Sans Serif"/>
                <a:cs typeface="Microsoft Sans Serif"/>
              </a:rPr>
              <a:t> </a:t>
            </a:r>
            <a:r>
              <a:rPr sz="3225" spc="7" baseline="-33591" dirty="0">
                <a:latin typeface="Microsoft Sans Serif"/>
                <a:cs typeface="Microsoft Sans Serif"/>
              </a:rPr>
              <a:t>й</a:t>
            </a:r>
            <a:endParaRPr sz="3225" baseline="-33591">
              <a:latin typeface="Microsoft Sans Serif"/>
              <a:cs typeface="Microsoft Sans Serif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480268" y="3079786"/>
            <a:ext cx="3011805" cy="1420495"/>
          </a:xfrm>
          <a:custGeom>
            <a:avLst/>
            <a:gdLst/>
            <a:ahLst/>
            <a:cxnLst/>
            <a:rect l="l" t="t" r="r" b="b"/>
            <a:pathLst>
              <a:path w="3011804" h="1420495">
                <a:moveTo>
                  <a:pt x="0" y="0"/>
                </a:moveTo>
                <a:lnTo>
                  <a:pt x="5456" y="0"/>
                </a:lnTo>
              </a:path>
              <a:path w="3011804" h="1420495">
                <a:moveTo>
                  <a:pt x="3006136" y="1420272"/>
                </a:moveTo>
                <a:lnTo>
                  <a:pt x="3011598" y="1420272"/>
                </a:lnTo>
              </a:path>
            </a:pathLst>
          </a:custGeom>
          <a:ln w="49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0475" y="668273"/>
            <a:ext cx="6652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Модель</a:t>
            </a:r>
            <a:r>
              <a:rPr spc="-10" dirty="0"/>
              <a:t> </a:t>
            </a:r>
            <a:r>
              <a:rPr spc="-5" dirty="0"/>
              <a:t>оценки</a:t>
            </a:r>
            <a:r>
              <a:rPr dirty="0"/>
              <a:t> </a:t>
            </a:r>
            <a:r>
              <a:rPr spc="-5" dirty="0"/>
              <a:t>процессов</a:t>
            </a:r>
            <a:r>
              <a:rPr spc="15" dirty="0"/>
              <a:t> </a:t>
            </a:r>
            <a:r>
              <a:rPr spc="-5" dirty="0"/>
              <a:t>(факторов</a:t>
            </a:r>
            <a:r>
              <a:rPr spc="5" dirty="0"/>
              <a:t> </a:t>
            </a:r>
            <a:r>
              <a:rPr dirty="0"/>
              <a:t>влияния)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280922" y="1551686"/>
            <a:ext cx="6362700" cy="4613910"/>
            <a:chOff x="1280922" y="1551686"/>
            <a:chExt cx="6362700" cy="46139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922" y="1920989"/>
              <a:ext cx="6362700" cy="41681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93208" y="1551686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0"/>
                  </a:moveTo>
                  <a:lnTo>
                    <a:pt x="0" y="4613617"/>
                  </a:lnTo>
                </a:path>
              </a:pathLst>
            </a:custGeom>
            <a:ln w="66675">
              <a:solidFill>
                <a:srgbClr val="941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79777" y="1577466"/>
            <a:ext cx="23945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41750"/>
                </a:solidFill>
                <a:latin typeface="Trebuchet MS"/>
                <a:cs typeface="Trebuchet MS"/>
              </a:rPr>
              <a:t>Достижение</a:t>
            </a:r>
            <a:r>
              <a:rPr sz="2000" b="1" spc="-45" dirty="0">
                <a:solidFill>
                  <a:srgbClr val="94175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941750"/>
                </a:solidFill>
                <a:latin typeface="Trebuchet MS"/>
                <a:cs typeface="Trebuchet MS"/>
              </a:rPr>
              <a:t>целей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5443854" y="1576832"/>
            <a:ext cx="11537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941750"/>
                </a:solidFill>
                <a:latin typeface="Trebuchet MS"/>
                <a:cs typeface="Trebuchet MS"/>
              </a:rPr>
              <a:t>Зрелость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923" y="668273"/>
            <a:ext cx="5568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Отражение</a:t>
            </a:r>
            <a:r>
              <a:rPr spc="-20" dirty="0"/>
              <a:t> </a:t>
            </a:r>
            <a:r>
              <a:rPr spc="-5" dirty="0"/>
              <a:t>целей</a:t>
            </a:r>
            <a:r>
              <a:rPr spc="-20" dirty="0"/>
              <a:t> </a:t>
            </a:r>
            <a:r>
              <a:rPr dirty="0"/>
              <a:t>ИТ</a:t>
            </a:r>
            <a:r>
              <a:rPr spc="-10" dirty="0"/>
              <a:t> </a:t>
            </a:r>
            <a:r>
              <a:rPr dirty="0"/>
              <a:t>в</a:t>
            </a:r>
            <a:r>
              <a:rPr spc="-10" dirty="0"/>
              <a:t> </a:t>
            </a:r>
            <a:r>
              <a:rPr spc="-5" dirty="0"/>
              <a:t>целях процесса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590893" y="1799826"/>
            <a:ext cx="1762760" cy="1256030"/>
            <a:chOff x="1590893" y="1799826"/>
            <a:chExt cx="1762760" cy="1256030"/>
          </a:xfrm>
        </p:grpSpPr>
        <p:sp>
          <p:nvSpPr>
            <p:cNvPr id="6" name="object 6"/>
            <p:cNvSpPr/>
            <p:nvPr/>
          </p:nvSpPr>
          <p:spPr>
            <a:xfrm>
              <a:off x="1650522" y="1859303"/>
              <a:ext cx="1703070" cy="1196975"/>
            </a:xfrm>
            <a:custGeom>
              <a:avLst/>
              <a:gdLst/>
              <a:ahLst/>
              <a:cxnLst/>
              <a:rect l="l" t="t" r="r" b="b"/>
              <a:pathLst>
                <a:path w="1703070" h="1196975">
                  <a:moveTo>
                    <a:pt x="851250" y="0"/>
                  </a:moveTo>
                  <a:lnTo>
                    <a:pt x="0" y="345939"/>
                  </a:lnTo>
                  <a:lnTo>
                    <a:pt x="0" y="1131633"/>
                  </a:lnTo>
                  <a:lnTo>
                    <a:pt x="1259062" y="1131633"/>
                  </a:lnTo>
                  <a:lnTo>
                    <a:pt x="1266048" y="1145851"/>
                  </a:lnTo>
                  <a:lnTo>
                    <a:pt x="1276843" y="1145851"/>
                  </a:lnTo>
                  <a:lnTo>
                    <a:pt x="1276843" y="1156642"/>
                  </a:lnTo>
                  <a:lnTo>
                    <a:pt x="1291449" y="1156642"/>
                  </a:lnTo>
                  <a:lnTo>
                    <a:pt x="1305673" y="1171241"/>
                  </a:lnTo>
                  <a:lnTo>
                    <a:pt x="1334630" y="1171241"/>
                  </a:lnTo>
                  <a:lnTo>
                    <a:pt x="1345680" y="1185459"/>
                  </a:lnTo>
                  <a:lnTo>
                    <a:pt x="1359904" y="1185459"/>
                  </a:lnTo>
                  <a:lnTo>
                    <a:pt x="1374510" y="1196504"/>
                  </a:lnTo>
                  <a:lnTo>
                    <a:pt x="1496943" y="1196504"/>
                  </a:lnTo>
                  <a:lnTo>
                    <a:pt x="1511548" y="1185459"/>
                  </a:lnTo>
                  <a:lnTo>
                    <a:pt x="1525773" y="1185459"/>
                  </a:lnTo>
                  <a:lnTo>
                    <a:pt x="1525773" y="1171241"/>
                  </a:lnTo>
                  <a:lnTo>
                    <a:pt x="1565525" y="1171241"/>
                  </a:lnTo>
                  <a:lnTo>
                    <a:pt x="1580131" y="1156642"/>
                  </a:lnTo>
                  <a:lnTo>
                    <a:pt x="1594355" y="1156642"/>
                  </a:lnTo>
                  <a:lnTo>
                    <a:pt x="1594355" y="1145851"/>
                  </a:lnTo>
                  <a:lnTo>
                    <a:pt x="1608961" y="1145851"/>
                  </a:lnTo>
                  <a:lnTo>
                    <a:pt x="1616200" y="1131633"/>
                  </a:lnTo>
                  <a:lnTo>
                    <a:pt x="1702818" y="1131633"/>
                  </a:lnTo>
                  <a:lnTo>
                    <a:pt x="1702818" y="345939"/>
                  </a:lnTo>
                  <a:lnTo>
                    <a:pt x="8512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36807" y="2115641"/>
              <a:ext cx="1160780" cy="809625"/>
            </a:xfrm>
            <a:custGeom>
              <a:avLst/>
              <a:gdLst/>
              <a:ahLst/>
              <a:cxnLst/>
              <a:rect l="l" t="t" r="r" b="b"/>
              <a:pathLst>
                <a:path w="1160780" h="809625">
                  <a:moveTo>
                    <a:pt x="1160469" y="0"/>
                  </a:moveTo>
                  <a:lnTo>
                    <a:pt x="0" y="0"/>
                  </a:lnTo>
                  <a:lnTo>
                    <a:pt x="0" y="809154"/>
                  </a:lnTo>
                  <a:lnTo>
                    <a:pt x="1160469" y="809154"/>
                  </a:lnTo>
                  <a:lnTo>
                    <a:pt x="1160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91846" y="1800779"/>
              <a:ext cx="1711960" cy="1140460"/>
            </a:xfrm>
            <a:custGeom>
              <a:avLst/>
              <a:gdLst/>
              <a:ahLst/>
              <a:cxnLst/>
              <a:rect l="l" t="t" r="r" b="b"/>
              <a:pathLst>
                <a:path w="1711960" h="1140460">
                  <a:moveTo>
                    <a:pt x="856965" y="0"/>
                  </a:moveTo>
                  <a:lnTo>
                    <a:pt x="0" y="349366"/>
                  </a:lnTo>
                  <a:lnTo>
                    <a:pt x="0" y="1140138"/>
                  </a:lnTo>
                  <a:lnTo>
                    <a:pt x="1711962" y="1140138"/>
                  </a:lnTo>
                  <a:lnTo>
                    <a:pt x="1711962" y="349366"/>
                  </a:lnTo>
                  <a:lnTo>
                    <a:pt x="85696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1846" y="1800779"/>
              <a:ext cx="1711960" cy="1140460"/>
            </a:xfrm>
            <a:custGeom>
              <a:avLst/>
              <a:gdLst/>
              <a:ahLst/>
              <a:cxnLst/>
              <a:rect l="l" t="t" r="r" b="b"/>
              <a:pathLst>
                <a:path w="1711960" h="1140460">
                  <a:moveTo>
                    <a:pt x="0" y="349366"/>
                  </a:moveTo>
                  <a:lnTo>
                    <a:pt x="0" y="1140138"/>
                  </a:lnTo>
                  <a:lnTo>
                    <a:pt x="1711962" y="1140138"/>
                  </a:lnTo>
                  <a:lnTo>
                    <a:pt x="1711962" y="349366"/>
                  </a:lnTo>
                  <a:lnTo>
                    <a:pt x="856965" y="0"/>
                  </a:lnTo>
                  <a:lnTo>
                    <a:pt x="0" y="3493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65308" y="2591551"/>
              <a:ext cx="525145" cy="414655"/>
            </a:xfrm>
            <a:custGeom>
              <a:avLst/>
              <a:gdLst/>
              <a:ahLst/>
              <a:cxnLst/>
              <a:rect l="l" t="t" r="r" b="b"/>
              <a:pathLst>
                <a:path w="525145" h="414655">
                  <a:moveTo>
                    <a:pt x="331482" y="0"/>
                  </a:moveTo>
                  <a:lnTo>
                    <a:pt x="206763" y="0"/>
                  </a:lnTo>
                  <a:lnTo>
                    <a:pt x="193428" y="12695"/>
                  </a:lnTo>
                  <a:lnTo>
                    <a:pt x="153167" y="12695"/>
                  </a:lnTo>
                  <a:lnTo>
                    <a:pt x="137927" y="25390"/>
                  </a:lnTo>
                  <a:lnTo>
                    <a:pt x="124337" y="37958"/>
                  </a:lnTo>
                  <a:lnTo>
                    <a:pt x="111002" y="37958"/>
                  </a:lnTo>
                  <a:lnTo>
                    <a:pt x="97666" y="50399"/>
                  </a:lnTo>
                  <a:lnTo>
                    <a:pt x="84077" y="64871"/>
                  </a:lnTo>
                  <a:lnTo>
                    <a:pt x="68836" y="64871"/>
                  </a:lnTo>
                  <a:lnTo>
                    <a:pt x="41911" y="90261"/>
                  </a:lnTo>
                  <a:lnTo>
                    <a:pt x="41911" y="102829"/>
                  </a:lnTo>
                  <a:lnTo>
                    <a:pt x="28576" y="115270"/>
                  </a:lnTo>
                  <a:lnTo>
                    <a:pt x="28576" y="142438"/>
                  </a:lnTo>
                  <a:lnTo>
                    <a:pt x="15240" y="142438"/>
                  </a:lnTo>
                  <a:lnTo>
                    <a:pt x="15240" y="167447"/>
                  </a:lnTo>
                  <a:lnTo>
                    <a:pt x="0" y="180142"/>
                  </a:lnTo>
                  <a:lnTo>
                    <a:pt x="0" y="232318"/>
                  </a:lnTo>
                  <a:lnTo>
                    <a:pt x="15240" y="232318"/>
                  </a:lnTo>
                  <a:lnTo>
                    <a:pt x="15240" y="259485"/>
                  </a:lnTo>
                  <a:lnTo>
                    <a:pt x="28576" y="272180"/>
                  </a:lnTo>
                  <a:lnTo>
                    <a:pt x="28576" y="284876"/>
                  </a:lnTo>
                  <a:lnTo>
                    <a:pt x="41911" y="309885"/>
                  </a:lnTo>
                  <a:lnTo>
                    <a:pt x="55501" y="324103"/>
                  </a:lnTo>
                  <a:lnTo>
                    <a:pt x="55501" y="337052"/>
                  </a:lnTo>
                  <a:lnTo>
                    <a:pt x="84077" y="337052"/>
                  </a:lnTo>
                  <a:lnTo>
                    <a:pt x="97666" y="362061"/>
                  </a:lnTo>
                  <a:lnTo>
                    <a:pt x="111002" y="362061"/>
                  </a:lnTo>
                  <a:lnTo>
                    <a:pt x="111002" y="374756"/>
                  </a:lnTo>
                  <a:lnTo>
                    <a:pt x="124337" y="374756"/>
                  </a:lnTo>
                  <a:lnTo>
                    <a:pt x="137927" y="388975"/>
                  </a:lnTo>
                  <a:lnTo>
                    <a:pt x="166503" y="388975"/>
                  </a:lnTo>
                  <a:lnTo>
                    <a:pt x="180219" y="401923"/>
                  </a:lnTo>
                  <a:lnTo>
                    <a:pt x="193428" y="401923"/>
                  </a:lnTo>
                  <a:lnTo>
                    <a:pt x="206763" y="414238"/>
                  </a:lnTo>
                  <a:lnTo>
                    <a:pt x="262265" y="414238"/>
                  </a:lnTo>
                  <a:lnTo>
                    <a:pt x="331482" y="414238"/>
                  </a:lnTo>
                  <a:lnTo>
                    <a:pt x="344818" y="401923"/>
                  </a:lnTo>
                  <a:lnTo>
                    <a:pt x="359931" y="401923"/>
                  </a:lnTo>
                  <a:lnTo>
                    <a:pt x="359931" y="388975"/>
                  </a:lnTo>
                  <a:lnTo>
                    <a:pt x="400573" y="388975"/>
                  </a:lnTo>
                  <a:lnTo>
                    <a:pt x="413527" y="374756"/>
                  </a:lnTo>
                  <a:lnTo>
                    <a:pt x="429149" y="374756"/>
                  </a:lnTo>
                  <a:lnTo>
                    <a:pt x="429149" y="362061"/>
                  </a:lnTo>
                  <a:lnTo>
                    <a:pt x="442485" y="362061"/>
                  </a:lnTo>
                  <a:lnTo>
                    <a:pt x="456074" y="337052"/>
                  </a:lnTo>
                  <a:lnTo>
                    <a:pt x="469410" y="337052"/>
                  </a:lnTo>
                  <a:lnTo>
                    <a:pt x="482745" y="324103"/>
                  </a:lnTo>
                  <a:lnTo>
                    <a:pt x="482745" y="309885"/>
                  </a:lnTo>
                  <a:lnTo>
                    <a:pt x="498240" y="309885"/>
                  </a:lnTo>
                  <a:lnTo>
                    <a:pt x="498240" y="284876"/>
                  </a:lnTo>
                  <a:lnTo>
                    <a:pt x="511575" y="272180"/>
                  </a:lnTo>
                  <a:lnTo>
                    <a:pt x="511575" y="259485"/>
                  </a:lnTo>
                  <a:lnTo>
                    <a:pt x="524911" y="245013"/>
                  </a:lnTo>
                  <a:lnTo>
                    <a:pt x="524911" y="155133"/>
                  </a:lnTo>
                  <a:lnTo>
                    <a:pt x="511575" y="155133"/>
                  </a:lnTo>
                  <a:lnTo>
                    <a:pt x="511575" y="142438"/>
                  </a:lnTo>
                  <a:lnTo>
                    <a:pt x="498240" y="129742"/>
                  </a:lnTo>
                  <a:lnTo>
                    <a:pt x="498240" y="102829"/>
                  </a:lnTo>
                  <a:lnTo>
                    <a:pt x="482745" y="90261"/>
                  </a:lnTo>
                  <a:lnTo>
                    <a:pt x="482745" y="77566"/>
                  </a:lnTo>
                  <a:lnTo>
                    <a:pt x="469410" y="77566"/>
                  </a:lnTo>
                  <a:lnTo>
                    <a:pt x="469410" y="64871"/>
                  </a:lnTo>
                  <a:lnTo>
                    <a:pt x="456074" y="64871"/>
                  </a:lnTo>
                  <a:lnTo>
                    <a:pt x="442485" y="50399"/>
                  </a:lnTo>
                  <a:lnTo>
                    <a:pt x="429149" y="37958"/>
                  </a:lnTo>
                  <a:lnTo>
                    <a:pt x="413527" y="37958"/>
                  </a:lnTo>
                  <a:lnTo>
                    <a:pt x="400573" y="25390"/>
                  </a:lnTo>
                  <a:lnTo>
                    <a:pt x="386983" y="25390"/>
                  </a:lnTo>
                  <a:lnTo>
                    <a:pt x="373648" y="12695"/>
                  </a:lnTo>
                  <a:lnTo>
                    <a:pt x="344818" y="12695"/>
                  </a:lnTo>
                  <a:lnTo>
                    <a:pt x="3314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65308" y="2591551"/>
              <a:ext cx="525145" cy="414655"/>
            </a:xfrm>
            <a:custGeom>
              <a:avLst/>
              <a:gdLst/>
              <a:ahLst/>
              <a:cxnLst/>
              <a:rect l="l" t="t" r="r" b="b"/>
              <a:pathLst>
                <a:path w="525145" h="414655">
                  <a:moveTo>
                    <a:pt x="262265" y="414238"/>
                  </a:moveTo>
                  <a:lnTo>
                    <a:pt x="235721" y="414238"/>
                  </a:lnTo>
                  <a:lnTo>
                    <a:pt x="222004" y="414238"/>
                  </a:lnTo>
                  <a:lnTo>
                    <a:pt x="206763" y="414238"/>
                  </a:lnTo>
                  <a:lnTo>
                    <a:pt x="193428" y="401923"/>
                  </a:lnTo>
                  <a:lnTo>
                    <a:pt x="180219" y="401923"/>
                  </a:lnTo>
                  <a:lnTo>
                    <a:pt x="166503" y="388975"/>
                  </a:lnTo>
                  <a:lnTo>
                    <a:pt x="153167" y="388975"/>
                  </a:lnTo>
                  <a:lnTo>
                    <a:pt x="137927" y="388975"/>
                  </a:lnTo>
                  <a:lnTo>
                    <a:pt x="124337" y="374756"/>
                  </a:lnTo>
                  <a:lnTo>
                    <a:pt x="111002" y="374756"/>
                  </a:lnTo>
                  <a:lnTo>
                    <a:pt x="111002" y="362061"/>
                  </a:lnTo>
                  <a:lnTo>
                    <a:pt x="97666" y="362061"/>
                  </a:lnTo>
                  <a:lnTo>
                    <a:pt x="84077" y="337052"/>
                  </a:lnTo>
                  <a:lnTo>
                    <a:pt x="68836" y="337052"/>
                  </a:lnTo>
                  <a:lnTo>
                    <a:pt x="55501" y="337052"/>
                  </a:lnTo>
                  <a:lnTo>
                    <a:pt x="55501" y="324103"/>
                  </a:lnTo>
                  <a:lnTo>
                    <a:pt x="41911" y="309885"/>
                  </a:lnTo>
                  <a:lnTo>
                    <a:pt x="28576" y="284876"/>
                  </a:lnTo>
                  <a:lnTo>
                    <a:pt x="28576" y="272180"/>
                  </a:lnTo>
                  <a:lnTo>
                    <a:pt x="15240" y="259485"/>
                  </a:lnTo>
                  <a:lnTo>
                    <a:pt x="15240" y="245013"/>
                  </a:lnTo>
                  <a:lnTo>
                    <a:pt x="15240" y="232318"/>
                  </a:lnTo>
                  <a:lnTo>
                    <a:pt x="0" y="232318"/>
                  </a:lnTo>
                  <a:lnTo>
                    <a:pt x="0" y="180142"/>
                  </a:lnTo>
                  <a:lnTo>
                    <a:pt x="15240" y="167447"/>
                  </a:lnTo>
                  <a:lnTo>
                    <a:pt x="15240" y="155133"/>
                  </a:lnTo>
                  <a:lnTo>
                    <a:pt x="15240" y="142438"/>
                  </a:lnTo>
                  <a:lnTo>
                    <a:pt x="28576" y="142438"/>
                  </a:lnTo>
                  <a:lnTo>
                    <a:pt x="28576" y="129742"/>
                  </a:lnTo>
                  <a:lnTo>
                    <a:pt x="28576" y="115270"/>
                  </a:lnTo>
                  <a:lnTo>
                    <a:pt x="41911" y="102829"/>
                  </a:lnTo>
                  <a:lnTo>
                    <a:pt x="41911" y="90261"/>
                  </a:lnTo>
                  <a:lnTo>
                    <a:pt x="55501" y="77566"/>
                  </a:lnTo>
                  <a:lnTo>
                    <a:pt x="68836" y="64871"/>
                  </a:lnTo>
                  <a:lnTo>
                    <a:pt x="84077" y="64871"/>
                  </a:lnTo>
                  <a:lnTo>
                    <a:pt x="97666" y="50399"/>
                  </a:lnTo>
                  <a:lnTo>
                    <a:pt x="111002" y="37958"/>
                  </a:lnTo>
                  <a:lnTo>
                    <a:pt x="124337" y="37958"/>
                  </a:lnTo>
                  <a:lnTo>
                    <a:pt x="137927" y="25390"/>
                  </a:lnTo>
                  <a:lnTo>
                    <a:pt x="153167" y="12695"/>
                  </a:lnTo>
                  <a:lnTo>
                    <a:pt x="166503" y="12695"/>
                  </a:lnTo>
                  <a:lnTo>
                    <a:pt x="180219" y="12695"/>
                  </a:lnTo>
                  <a:lnTo>
                    <a:pt x="193428" y="12695"/>
                  </a:lnTo>
                  <a:lnTo>
                    <a:pt x="206763" y="0"/>
                  </a:lnTo>
                  <a:lnTo>
                    <a:pt x="222004" y="0"/>
                  </a:lnTo>
                  <a:lnTo>
                    <a:pt x="331482" y="0"/>
                  </a:lnTo>
                  <a:lnTo>
                    <a:pt x="344818" y="12695"/>
                  </a:lnTo>
                  <a:lnTo>
                    <a:pt x="359931" y="12695"/>
                  </a:lnTo>
                  <a:lnTo>
                    <a:pt x="373648" y="12695"/>
                  </a:lnTo>
                  <a:lnTo>
                    <a:pt x="386983" y="25390"/>
                  </a:lnTo>
                  <a:lnTo>
                    <a:pt x="400573" y="25390"/>
                  </a:lnTo>
                  <a:lnTo>
                    <a:pt x="413527" y="37958"/>
                  </a:lnTo>
                  <a:lnTo>
                    <a:pt x="429149" y="37958"/>
                  </a:lnTo>
                  <a:lnTo>
                    <a:pt x="442485" y="50399"/>
                  </a:lnTo>
                  <a:lnTo>
                    <a:pt x="456074" y="64871"/>
                  </a:lnTo>
                  <a:lnTo>
                    <a:pt x="469410" y="64871"/>
                  </a:lnTo>
                  <a:lnTo>
                    <a:pt x="469410" y="77566"/>
                  </a:lnTo>
                  <a:lnTo>
                    <a:pt x="482745" y="77566"/>
                  </a:lnTo>
                  <a:lnTo>
                    <a:pt x="482745" y="90261"/>
                  </a:lnTo>
                  <a:lnTo>
                    <a:pt x="498240" y="102829"/>
                  </a:lnTo>
                  <a:lnTo>
                    <a:pt x="498240" y="115270"/>
                  </a:lnTo>
                  <a:lnTo>
                    <a:pt x="498240" y="129742"/>
                  </a:lnTo>
                  <a:lnTo>
                    <a:pt x="511575" y="142438"/>
                  </a:lnTo>
                  <a:lnTo>
                    <a:pt x="511575" y="155133"/>
                  </a:lnTo>
                  <a:lnTo>
                    <a:pt x="524911" y="155133"/>
                  </a:lnTo>
                  <a:lnTo>
                    <a:pt x="524911" y="167447"/>
                  </a:lnTo>
                  <a:lnTo>
                    <a:pt x="524911" y="180142"/>
                  </a:lnTo>
                  <a:lnTo>
                    <a:pt x="524911" y="232318"/>
                  </a:lnTo>
                  <a:lnTo>
                    <a:pt x="524911" y="245013"/>
                  </a:lnTo>
                  <a:lnTo>
                    <a:pt x="511575" y="259485"/>
                  </a:lnTo>
                  <a:lnTo>
                    <a:pt x="511575" y="272180"/>
                  </a:lnTo>
                  <a:lnTo>
                    <a:pt x="498240" y="284876"/>
                  </a:lnTo>
                  <a:lnTo>
                    <a:pt x="498240" y="309885"/>
                  </a:lnTo>
                  <a:lnTo>
                    <a:pt x="482745" y="309885"/>
                  </a:lnTo>
                  <a:lnTo>
                    <a:pt x="482745" y="324103"/>
                  </a:lnTo>
                  <a:lnTo>
                    <a:pt x="469410" y="337052"/>
                  </a:lnTo>
                  <a:lnTo>
                    <a:pt x="456074" y="337052"/>
                  </a:lnTo>
                  <a:lnTo>
                    <a:pt x="442485" y="362061"/>
                  </a:lnTo>
                  <a:lnTo>
                    <a:pt x="429149" y="362061"/>
                  </a:lnTo>
                  <a:lnTo>
                    <a:pt x="429149" y="374756"/>
                  </a:lnTo>
                  <a:lnTo>
                    <a:pt x="413527" y="374756"/>
                  </a:lnTo>
                  <a:lnTo>
                    <a:pt x="400573" y="388975"/>
                  </a:lnTo>
                  <a:lnTo>
                    <a:pt x="386983" y="388975"/>
                  </a:lnTo>
                  <a:lnTo>
                    <a:pt x="373648" y="388975"/>
                  </a:lnTo>
                  <a:lnTo>
                    <a:pt x="359931" y="388975"/>
                  </a:lnTo>
                  <a:lnTo>
                    <a:pt x="359931" y="401923"/>
                  </a:lnTo>
                  <a:lnTo>
                    <a:pt x="344818" y="401923"/>
                  </a:lnTo>
                  <a:lnTo>
                    <a:pt x="331482" y="414238"/>
                  </a:lnTo>
                  <a:lnTo>
                    <a:pt x="318147" y="414238"/>
                  </a:lnTo>
                  <a:lnTo>
                    <a:pt x="304430" y="414238"/>
                  </a:lnTo>
                  <a:lnTo>
                    <a:pt x="291222" y="414238"/>
                  </a:lnTo>
                  <a:lnTo>
                    <a:pt x="262265" y="41423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07219" y="2616941"/>
              <a:ext cx="456565" cy="363855"/>
            </a:xfrm>
            <a:custGeom>
              <a:avLst/>
              <a:gdLst/>
              <a:ahLst/>
              <a:cxnLst/>
              <a:rect l="l" t="t" r="r" b="b"/>
              <a:pathLst>
                <a:path w="456564" h="363855">
                  <a:moveTo>
                    <a:pt x="289571" y="0"/>
                  </a:moveTo>
                  <a:lnTo>
                    <a:pt x="164852" y="0"/>
                  </a:lnTo>
                  <a:lnTo>
                    <a:pt x="164852" y="12314"/>
                  </a:lnTo>
                  <a:lnTo>
                    <a:pt x="124591" y="12314"/>
                  </a:lnTo>
                  <a:lnTo>
                    <a:pt x="96015" y="39481"/>
                  </a:lnTo>
                  <a:lnTo>
                    <a:pt x="82426" y="39481"/>
                  </a:lnTo>
                  <a:lnTo>
                    <a:pt x="69090" y="52176"/>
                  </a:lnTo>
                  <a:lnTo>
                    <a:pt x="55755" y="52176"/>
                  </a:lnTo>
                  <a:lnTo>
                    <a:pt x="55755" y="64490"/>
                  </a:lnTo>
                  <a:lnTo>
                    <a:pt x="42165" y="77185"/>
                  </a:lnTo>
                  <a:lnTo>
                    <a:pt x="42165" y="89880"/>
                  </a:lnTo>
                  <a:lnTo>
                    <a:pt x="26925" y="89880"/>
                  </a:lnTo>
                  <a:lnTo>
                    <a:pt x="26925" y="117047"/>
                  </a:lnTo>
                  <a:lnTo>
                    <a:pt x="13589" y="117047"/>
                  </a:lnTo>
                  <a:lnTo>
                    <a:pt x="13589" y="154752"/>
                  </a:lnTo>
                  <a:lnTo>
                    <a:pt x="0" y="154752"/>
                  </a:lnTo>
                  <a:lnTo>
                    <a:pt x="0" y="194233"/>
                  </a:lnTo>
                  <a:lnTo>
                    <a:pt x="13589" y="206928"/>
                  </a:lnTo>
                  <a:lnTo>
                    <a:pt x="13589" y="234095"/>
                  </a:lnTo>
                  <a:lnTo>
                    <a:pt x="26925" y="246410"/>
                  </a:lnTo>
                  <a:lnTo>
                    <a:pt x="26925" y="259105"/>
                  </a:lnTo>
                  <a:lnTo>
                    <a:pt x="42165" y="271800"/>
                  </a:lnTo>
                  <a:lnTo>
                    <a:pt x="42165" y="284495"/>
                  </a:lnTo>
                  <a:lnTo>
                    <a:pt x="55755" y="284495"/>
                  </a:lnTo>
                  <a:lnTo>
                    <a:pt x="55755" y="298713"/>
                  </a:lnTo>
                  <a:lnTo>
                    <a:pt x="69090" y="311281"/>
                  </a:lnTo>
                  <a:lnTo>
                    <a:pt x="82426" y="311281"/>
                  </a:lnTo>
                  <a:lnTo>
                    <a:pt x="96015" y="323976"/>
                  </a:lnTo>
                  <a:lnTo>
                    <a:pt x="111256" y="336671"/>
                  </a:lnTo>
                  <a:lnTo>
                    <a:pt x="138308" y="336671"/>
                  </a:lnTo>
                  <a:lnTo>
                    <a:pt x="138308" y="349366"/>
                  </a:lnTo>
                  <a:lnTo>
                    <a:pt x="164852" y="349366"/>
                  </a:lnTo>
                  <a:lnTo>
                    <a:pt x="164852" y="363585"/>
                  </a:lnTo>
                  <a:lnTo>
                    <a:pt x="234070" y="363585"/>
                  </a:lnTo>
                  <a:lnTo>
                    <a:pt x="289571" y="363585"/>
                  </a:lnTo>
                  <a:lnTo>
                    <a:pt x="289571" y="349366"/>
                  </a:lnTo>
                  <a:lnTo>
                    <a:pt x="318020" y="349366"/>
                  </a:lnTo>
                  <a:lnTo>
                    <a:pt x="331736" y="336671"/>
                  </a:lnTo>
                  <a:lnTo>
                    <a:pt x="358661" y="336671"/>
                  </a:lnTo>
                  <a:lnTo>
                    <a:pt x="371616" y="323976"/>
                  </a:lnTo>
                  <a:lnTo>
                    <a:pt x="371616" y="311281"/>
                  </a:lnTo>
                  <a:lnTo>
                    <a:pt x="387237" y="311281"/>
                  </a:lnTo>
                  <a:lnTo>
                    <a:pt x="400573" y="298713"/>
                  </a:lnTo>
                  <a:lnTo>
                    <a:pt x="414162" y="284495"/>
                  </a:lnTo>
                  <a:lnTo>
                    <a:pt x="414162" y="271800"/>
                  </a:lnTo>
                  <a:lnTo>
                    <a:pt x="440833" y="246410"/>
                  </a:lnTo>
                  <a:lnTo>
                    <a:pt x="440833" y="234095"/>
                  </a:lnTo>
                  <a:lnTo>
                    <a:pt x="456328" y="219623"/>
                  </a:lnTo>
                  <a:lnTo>
                    <a:pt x="456328" y="129362"/>
                  </a:lnTo>
                  <a:lnTo>
                    <a:pt x="440833" y="129362"/>
                  </a:lnTo>
                  <a:lnTo>
                    <a:pt x="440833" y="117047"/>
                  </a:lnTo>
                  <a:lnTo>
                    <a:pt x="427498" y="104352"/>
                  </a:lnTo>
                  <a:lnTo>
                    <a:pt x="427498" y="89880"/>
                  </a:lnTo>
                  <a:lnTo>
                    <a:pt x="414162" y="89880"/>
                  </a:lnTo>
                  <a:lnTo>
                    <a:pt x="414162" y="64490"/>
                  </a:lnTo>
                  <a:lnTo>
                    <a:pt x="400573" y="52176"/>
                  </a:lnTo>
                  <a:lnTo>
                    <a:pt x="387237" y="52176"/>
                  </a:lnTo>
                  <a:lnTo>
                    <a:pt x="371616" y="39481"/>
                  </a:lnTo>
                  <a:lnTo>
                    <a:pt x="358661" y="25009"/>
                  </a:lnTo>
                  <a:lnTo>
                    <a:pt x="345072" y="25009"/>
                  </a:lnTo>
                  <a:lnTo>
                    <a:pt x="345072" y="12314"/>
                  </a:lnTo>
                  <a:lnTo>
                    <a:pt x="289571" y="12314"/>
                  </a:lnTo>
                  <a:lnTo>
                    <a:pt x="289571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07219" y="2616941"/>
              <a:ext cx="456565" cy="363855"/>
            </a:xfrm>
            <a:custGeom>
              <a:avLst/>
              <a:gdLst/>
              <a:ahLst/>
              <a:cxnLst/>
              <a:rect l="l" t="t" r="r" b="b"/>
              <a:pathLst>
                <a:path w="456564" h="363855">
                  <a:moveTo>
                    <a:pt x="234070" y="363585"/>
                  </a:moveTo>
                  <a:lnTo>
                    <a:pt x="207017" y="363585"/>
                  </a:lnTo>
                  <a:lnTo>
                    <a:pt x="193809" y="363585"/>
                  </a:lnTo>
                  <a:lnTo>
                    <a:pt x="180092" y="363585"/>
                  </a:lnTo>
                  <a:lnTo>
                    <a:pt x="164852" y="363585"/>
                  </a:lnTo>
                  <a:lnTo>
                    <a:pt x="164852" y="349366"/>
                  </a:lnTo>
                  <a:lnTo>
                    <a:pt x="151262" y="349366"/>
                  </a:lnTo>
                  <a:lnTo>
                    <a:pt x="138308" y="349366"/>
                  </a:lnTo>
                  <a:lnTo>
                    <a:pt x="138308" y="336671"/>
                  </a:lnTo>
                  <a:lnTo>
                    <a:pt x="124591" y="336671"/>
                  </a:lnTo>
                  <a:lnTo>
                    <a:pt x="111256" y="336671"/>
                  </a:lnTo>
                  <a:lnTo>
                    <a:pt x="96015" y="323976"/>
                  </a:lnTo>
                  <a:lnTo>
                    <a:pt x="82426" y="311281"/>
                  </a:lnTo>
                  <a:lnTo>
                    <a:pt x="69090" y="311281"/>
                  </a:lnTo>
                  <a:lnTo>
                    <a:pt x="55755" y="298713"/>
                  </a:lnTo>
                  <a:lnTo>
                    <a:pt x="55755" y="284495"/>
                  </a:lnTo>
                  <a:lnTo>
                    <a:pt x="42165" y="284495"/>
                  </a:lnTo>
                  <a:lnTo>
                    <a:pt x="42165" y="271800"/>
                  </a:lnTo>
                  <a:lnTo>
                    <a:pt x="26925" y="259105"/>
                  </a:lnTo>
                  <a:lnTo>
                    <a:pt x="26925" y="246410"/>
                  </a:lnTo>
                  <a:lnTo>
                    <a:pt x="13589" y="234095"/>
                  </a:lnTo>
                  <a:lnTo>
                    <a:pt x="13589" y="219623"/>
                  </a:lnTo>
                  <a:lnTo>
                    <a:pt x="13589" y="206928"/>
                  </a:lnTo>
                  <a:lnTo>
                    <a:pt x="0" y="194233"/>
                  </a:lnTo>
                  <a:lnTo>
                    <a:pt x="0" y="154752"/>
                  </a:lnTo>
                  <a:lnTo>
                    <a:pt x="13589" y="154752"/>
                  </a:lnTo>
                  <a:lnTo>
                    <a:pt x="13589" y="142057"/>
                  </a:lnTo>
                  <a:lnTo>
                    <a:pt x="13589" y="129362"/>
                  </a:lnTo>
                  <a:lnTo>
                    <a:pt x="13589" y="117047"/>
                  </a:lnTo>
                  <a:lnTo>
                    <a:pt x="26925" y="117047"/>
                  </a:lnTo>
                  <a:lnTo>
                    <a:pt x="26925" y="104352"/>
                  </a:lnTo>
                  <a:lnTo>
                    <a:pt x="26925" y="89880"/>
                  </a:lnTo>
                  <a:lnTo>
                    <a:pt x="42165" y="89880"/>
                  </a:lnTo>
                  <a:lnTo>
                    <a:pt x="42165" y="77185"/>
                  </a:lnTo>
                  <a:lnTo>
                    <a:pt x="55755" y="64490"/>
                  </a:lnTo>
                  <a:lnTo>
                    <a:pt x="55755" y="52176"/>
                  </a:lnTo>
                  <a:lnTo>
                    <a:pt x="69090" y="52176"/>
                  </a:lnTo>
                  <a:lnTo>
                    <a:pt x="82426" y="39481"/>
                  </a:lnTo>
                  <a:lnTo>
                    <a:pt x="96015" y="39481"/>
                  </a:lnTo>
                  <a:lnTo>
                    <a:pt x="111256" y="25009"/>
                  </a:lnTo>
                  <a:lnTo>
                    <a:pt x="124591" y="12314"/>
                  </a:lnTo>
                  <a:lnTo>
                    <a:pt x="138308" y="12314"/>
                  </a:lnTo>
                  <a:lnTo>
                    <a:pt x="151262" y="12314"/>
                  </a:lnTo>
                  <a:lnTo>
                    <a:pt x="164852" y="12314"/>
                  </a:lnTo>
                  <a:lnTo>
                    <a:pt x="164852" y="0"/>
                  </a:lnTo>
                  <a:lnTo>
                    <a:pt x="289571" y="0"/>
                  </a:lnTo>
                  <a:lnTo>
                    <a:pt x="289571" y="12314"/>
                  </a:lnTo>
                  <a:lnTo>
                    <a:pt x="302906" y="12314"/>
                  </a:lnTo>
                  <a:lnTo>
                    <a:pt x="318020" y="12314"/>
                  </a:lnTo>
                  <a:lnTo>
                    <a:pt x="331736" y="12314"/>
                  </a:lnTo>
                  <a:lnTo>
                    <a:pt x="345072" y="12314"/>
                  </a:lnTo>
                  <a:lnTo>
                    <a:pt x="345072" y="25009"/>
                  </a:lnTo>
                  <a:lnTo>
                    <a:pt x="358661" y="25009"/>
                  </a:lnTo>
                  <a:lnTo>
                    <a:pt x="371616" y="39481"/>
                  </a:lnTo>
                  <a:lnTo>
                    <a:pt x="387237" y="52176"/>
                  </a:lnTo>
                  <a:lnTo>
                    <a:pt x="400573" y="52176"/>
                  </a:lnTo>
                  <a:lnTo>
                    <a:pt x="414162" y="64490"/>
                  </a:lnTo>
                  <a:lnTo>
                    <a:pt x="414162" y="77185"/>
                  </a:lnTo>
                  <a:lnTo>
                    <a:pt x="414162" y="89880"/>
                  </a:lnTo>
                  <a:lnTo>
                    <a:pt x="427498" y="89880"/>
                  </a:lnTo>
                  <a:lnTo>
                    <a:pt x="427498" y="104352"/>
                  </a:lnTo>
                  <a:lnTo>
                    <a:pt x="440833" y="117047"/>
                  </a:lnTo>
                  <a:lnTo>
                    <a:pt x="440833" y="129362"/>
                  </a:lnTo>
                  <a:lnTo>
                    <a:pt x="456328" y="129362"/>
                  </a:lnTo>
                  <a:lnTo>
                    <a:pt x="456328" y="142057"/>
                  </a:lnTo>
                  <a:lnTo>
                    <a:pt x="456328" y="154752"/>
                  </a:lnTo>
                  <a:lnTo>
                    <a:pt x="456328" y="194233"/>
                  </a:lnTo>
                  <a:lnTo>
                    <a:pt x="456328" y="206928"/>
                  </a:lnTo>
                  <a:lnTo>
                    <a:pt x="456328" y="219623"/>
                  </a:lnTo>
                  <a:lnTo>
                    <a:pt x="440833" y="234095"/>
                  </a:lnTo>
                  <a:lnTo>
                    <a:pt x="440833" y="246410"/>
                  </a:lnTo>
                  <a:lnTo>
                    <a:pt x="427498" y="259105"/>
                  </a:lnTo>
                  <a:lnTo>
                    <a:pt x="414162" y="271800"/>
                  </a:lnTo>
                  <a:lnTo>
                    <a:pt x="414162" y="284495"/>
                  </a:lnTo>
                  <a:lnTo>
                    <a:pt x="400573" y="298713"/>
                  </a:lnTo>
                  <a:lnTo>
                    <a:pt x="387237" y="311281"/>
                  </a:lnTo>
                  <a:lnTo>
                    <a:pt x="371616" y="311281"/>
                  </a:lnTo>
                  <a:lnTo>
                    <a:pt x="371616" y="323976"/>
                  </a:lnTo>
                  <a:lnTo>
                    <a:pt x="358661" y="336671"/>
                  </a:lnTo>
                  <a:lnTo>
                    <a:pt x="345072" y="336671"/>
                  </a:lnTo>
                  <a:lnTo>
                    <a:pt x="331736" y="336671"/>
                  </a:lnTo>
                  <a:lnTo>
                    <a:pt x="318020" y="349366"/>
                  </a:lnTo>
                  <a:lnTo>
                    <a:pt x="302906" y="349366"/>
                  </a:lnTo>
                  <a:lnTo>
                    <a:pt x="289571" y="349366"/>
                  </a:lnTo>
                  <a:lnTo>
                    <a:pt x="289571" y="363585"/>
                  </a:lnTo>
                  <a:lnTo>
                    <a:pt x="276235" y="363585"/>
                  </a:lnTo>
                  <a:lnTo>
                    <a:pt x="262519" y="363585"/>
                  </a:lnTo>
                  <a:lnTo>
                    <a:pt x="249310" y="363585"/>
                  </a:lnTo>
                  <a:lnTo>
                    <a:pt x="234070" y="3635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76310" y="2669118"/>
              <a:ext cx="318770" cy="259715"/>
            </a:xfrm>
            <a:custGeom>
              <a:avLst/>
              <a:gdLst/>
              <a:ahLst/>
              <a:cxnLst/>
              <a:rect l="l" t="t" r="r" b="b"/>
              <a:pathLst>
                <a:path w="318769" h="259714">
                  <a:moveTo>
                    <a:pt x="233816" y="0"/>
                  </a:moveTo>
                  <a:lnTo>
                    <a:pt x="82172" y="0"/>
                  </a:lnTo>
                  <a:lnTo>
                    <a:pt x="82172" y="12314"/>
                  </a:lnTo>
                  <a:lnTo>
                    <a:pt x="69217" y="12314"/>
                  </a:lnTo>
                  <a:lnTo>
                    <a:pt x="69217" y="25263"/>
                  </a:lnTo>
                  <a:lnTo>
                    <a:pt x="55501" y="25263"/>
                  </a:lnTo>
                  <a:lnTo>
                    <a:pt x="55501" y="37704"/>
                  </a:lnTo>
                  <a:lnTo>
                    <a:pt x="41911" y="37704"/>
                  </a:lnTo>
                  <a:lnTo>
                    <a:pt x="26671" y="52176"/>
                  </a:lnTo>
                  <a:lnTo>
                    <a:pt x="26671" y="64871"/>
                  </a:lnTo>
                  <a:lnTo>
                    <a:pt x="13335" y="64871"/>
                  </a:lnTo>
                  <a:lnTo>
                    <a:pt x="13335" y="77566"/>
                  </a:lnTo>
                  <a:lnTo>
                    <a:pt x="0" y="77566"/>
                  </a:lnTo>
                  <a:lnTo>
                    <a:pt x="0" y="167447"/>
                  </a:lnTo>
                  <a:lnTo>
                    <a:pt x="13335" y="181919"/>
                  </a:lnTo>
                  <a:lnTo>
                    <a:pt x="26671" y="194614"/>
                  </a:lnTo>
                  <a:lnTo>
                    <a:pt x="26671" y="207309"/>
                  </a:lnTo>
                  <a:lnTo>
                    <a:pt x="41911" y="207309"/>
                  </a:lnTo>
                  <a:lnTo>
                    <a:pt x="41911" y="219623"/>
                  </a:lnTo>
                  <a:lnTo>
                    <a:pt x="55501" y="219623"/>
                  </a:lnTo>
                  <a:lnTo>
                    <a:pt x="55501" y="232318"/>
                  </a:lnTo>
                  <a:lnTo>
                    <a:pt x="82172" y="232318"/>
                  </a:lnTo>
                  <a:lnTo>
                    <a:pt x="82172" y="246790"/>
                  </a:lnTo>
                  <a:lnTo>
                    <a:pt x="95761" y="246790"/>
                  </a:lnTo>
                  <a:lnTo>
                    <a:pt x="95761" y="259485"/>
                  </a:lnTo>
                  <a:lnTo>
                    <a:pt x="164979" y="259485"/>
                  </a:lnTo>
                  <a:lnTo>
                    <a:pt x="220480" y="259485"/>
                  </a:lnTo>
                  <a:lnTo>
                    <a:pt x="220480" y="246790"/>
                  </a:lnTo>
                  <a:lnTo>
                    <a:pt x="233816" y="246790"/>
                  </a:lnTo>
                  <a:lnTo>
                    <a:pt x="248929" y="232318"/>
                  </a:lnTo>
                  <a:lnTo>
                    <a:pt x="262646" y="232318"/>
                  </a:lnTo>
                  <a:lnTo>
                    <a:pt x="276235" y="219623"/>
                  </a:lnTo>
                  <a:lnTo>
                    <a:pt x="276235" y="207309"/>
                  </a:lnTo>
                  <a:lnTo>
                    <a:pt x="302906" y="207309"/>
                  </a:lnTo>
                  <a:lnTo>
                    <a:pt x="302906" y="181919"/>
                  </a:lnTo>
                  <a:lnTo>
                    <a:pt x="318147" y="167447"/>
                  </a:lnTo>
                  <a:lnTo>
                    <a:pt x="318147" y="77566"/>
                  </a:lnTo>
                  <a:lnTo>
                    <a:pt x="302906" y="77566"/>
                  </a:lnTo>
                  <a:lnTo>
                    <a:pt x="302906" y="52176"/>
                  </a:lnTo>
                  <a:lnTo>
                    <a:pt x="289571" y="52176"/>
                  </a:lnTo>
                  <a:lnTo>
                    <a:pt x="289571" y="37704"/>
                  </a:lnTo>
                  <a:lnTo>
                    <a:pt x="276235" y="37704"/>
                  </a:lnTo>
                  <a:lnTo>
                    <a:pt x="262646" y="25263"/>
                  </a:lnTo>
                  <a:lnTo>
                    <a:pt x="248929" y="12314"/>
                  </a:lnTo>
                  <a:lnTo>
                    <a:pt x="2338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76310" y="2669118"/>
              <a:ext cx="318770" cy="259715"/>
            </a:xfrm>
            <a:custGeom>
              <a:avLst/>
              <a:gdLst/>
              <a:ahLst/>
              <a:cxnLst/>
              <a:rect l="l" t="t" r="r" b="b"/>
              <a:pathLst>
                <a:path w="318769" h="259714">
                  <a:moveTo>
                    <a:pt x="164979" y="259485"/>
                  </a:moveTo>
                  <a:lnTo>
                    <a:pt x="164979" y="259485"/>
                  </a:lnTo>
                  <a:lnTo>
                    <a:pt x="95761" y="259485"/>
                  </a:lnTo>
                  <a:lnTo>
                    <a:pt x="95761" y="246790"/>
                  </a:lnTo>
                  <a:lnTo>
                    <a:pt x="82172" y="246790"/>
                  </a:lnTo>
                  <a:lnTo>
                    <a:pt x="82172" y="232318"/>
                  </a:lnTo>
                  <a:lnTo>
                    <a:pt x="69217" y="232318"/>
                  </a:lnTo>
                  <a:lnTo>
                    <a:pt x="55501" y="232318"/>
                  </a:lnTo>
                  <a:lnTo>
                    <a:pt x="55501" y="219623"/>
                  </a:lnTo>
                  <a:lnTo>
                    <a:pt x="41911" y="219623"/>
                  </a:lnTo>
                  <a:lnTo>
                    <a:pt x="41911" y="207309"/>
                  </a:lnTo>
                  <a:lnTo>
                    <a:pt x="26671" y="207309"/>
                  </a:lnTo>
                  <a:lnTo>
                    <a:pt x="26671" y="194614"/>
                  </a:lnTo>
                  <a:lnTo>
                    <a:pt x="13335" y="181919"/>
                  </a:lnTo>
                  <a:lnTo>
                    <a:pt x="0" y="167447"/>
                  </a:lnTo>
                  <a:lnTo>
                    <a:pt x="0" y="154752"/>
                  </a:lnTo>
                  <a:lnTo>
                    <a:pt x="0" y="142438"/>
                  </a:lnTo>
                  <a:lnTo>
                    <a:pt x="0" y="77566"/>
                  </a:lnTo>
                  <a:lnTo>
                    <a:pt x="13335" y="77566"/>
                  </a:lnTo>
                  <a:lnTo>
                    <a:pt x="13335" y="64871"/>
                  </a:lnTo>
                  <a:lnTo>
                    <a:pt x="26671" y="64871"/>
                  </a:lnTo>
                  <a:lnTo>
                    <a:pt x="26671" y="52176"/>
                  </a:lnTo>
                  <a:lnTo>
                    <a:pt x="41911" y="37704"/>
                  </a:lnTo>
                  <a:lnTo>
                    <a:pt x="55501" y="37704"/>
                  </a:lnTo>
                  <a:lnTo>
                    <a:pt x="55501" y="25263"/>
                  </a:lnTo>
                  <a:lnTo>
                    <a:pt x="69217" y="25263"/>
                  </a:lnTo>
                  <a:lnTo>
                    <a:pt x="69217" y="12314"/>
                  </a:lnTo>
                  <a:lnTo>
                    <a:pt x="82172" y="12314"/>
                  </a:lnTo>
                  <a:lnTo>
                    <a:pt x="82172" y="0"/>
                  </a:lnTo>
                  <a:lnTo>
                    <a:pt x="95761" y="0"/>
                  </a:lnTo>
                  <a:lnTo>
                    <a:pt x="111002" y="0"/>
                  </a:lnTo>
                  <a:lnTo>
                    <a:pt x="233816" y="0"/>
                  </a:lnTo>
                  <a:lnTo>
                    <a:pt x="248929" y="12314"/>
                  </a:lnTo>
                  <a:lnTo>
                    <a:pt x="262646" y="25263"/>
                  </a:lnTo>
                  <a:lnTo>
                    <a:pt x="276235" y="37704"/>
                  </a:lnTo>
                  <a:lnTo>
                    <a:pt x="289571" y="37704"/>
                  </a:lnTo>
                  <a:lnTo>
                    <a:pt x="289571" y="52176"/>
                  </a:lnTo>
                  <a:lnTo>
                    <a:pt x="302906" y="52176"/>
                  </a:lnTo>
                  <a:lnTo>
                    <a:pt x="302906" y="64871"/>
                  </a:lnTo>
                  <a:lnTo>
                    <a:pt x="302906" y="77566"/>
                  </a:lnTo>
                  <a:lnTo>
                    <a:pt x="318147" y="77566"/>
                  </a:lnTo>
                  <a:lnTo>
                    <a:pt x="318147" y="89880"/>
                  </a:lnTo>
                  <a:lnTo>
                    <a:pt x="318147" y="102575"/>
                  </a:lnTo>
                  <a:lnTo>
                    <a:pt x="318147" y="167447"/>
                  </a:lnTo>
                  <a:lnTo>
                    <a:pt x="302906" y="181919"/>
                  </a:lnTo>
                  <a:lnTo>
                    <a:pt x="302906" y="194614"/>
                  </a:lnTo>
                  <a:lnTo>
                    <a:pt x="302906" y="207309"/>
                  </a:lnTo>
                  <a:lnTo>
                    <a:pt x="289571" y="207309"/>
                  </a:lnTo>
                  <a:lnTo>
                    <a:pt x="276235" y="207309"/>
                  </a:lnTo>
                  <a:lnTo>
                    <a:pt x="276235" y="219623"/>
                  </a:lnTo>
                  <a:lnTo>
                    <a:pt x="262646" y="232318"/>
                  </a:lnTo>
                  <a:lnTo>
                    <a:pt x="248929" y="232318"/>
                  </a:lnTo>
                  <a:lnTo>
                    <a:pt x="233816" y="246790"/>
                  </a:lnTo>
                  <a:lnTo>
                    <a:pt x="220480" y="246790"/>
                  </a:lnTo>
                  <a:lnTo>
                    <a:pt x="220480" y="259485"/>
                  </a:lnTo>
                  <a:lnTo>
                    <a:pt x="207144" y="259485"/>
                  </a:lnTo>
                  <a:lnTo>
                    <a:pt x="193428" y="259485"/>
                  </a:lnTo>
                  <a:lnTo>
                    <a:pt x="180219" y="259485"/>
                  </a:lnTo>
                  <a:lnTo>
                    <a:pt x="164979" y="2594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2995" y="2603357"/>
              <a:ext cx="429275" cy="39100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97867" y="2163382"/>
            <a:ext cx="170307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0" dirty="0">
                <a:latin typeface="Calibri"/>
                <a:cs typeface="Calibri"/>
              </a:rPr>
              <a:t>Предоставление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ИТ-услуг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в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35184" y="2307470"/>
            <a:ext cx="142875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0" dirty="0">
                <a:latin typeface="Calibri"/>
                <a:cs typeface="Calibri"/>
              </a:rPr>
              <a:t>соответствии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с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бизнес-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7657" y="2451685"/>
            <a:ext cx="915669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0" dirty="0">
                <a:latin typeface="Calibri"/>
                <a:cs typeface="Calibri"/>
              </a:rPr>
              <a:t>требованиями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63466" y="4488031"/>
            <a:ext cx="1582420" cy="924560"/>
            <a:chOff x="2763466" y="4488031"/>
            <a:chExt cx="1582420" cy="924560"/>
          </a:xfrm>
        </p:grpSpPr>
        <p:sp>
          <p:nvSpPr>
            <p:cNvPr id="21" name="object 21"/>
            <p:cNvSpPr/>
            <p:nvPr/>
          </p:nvSpPr>
          <p:spPr>
            <a:xfrm>
              <a:off x="2822714" y="4547217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521" y="0"/>
                  </a:moveTo>
                  <a:lnTo>
                    <a:pt x="0" y="216449"/>
                  </a:lnTo>
                  <a:lnTo>
                    <a:pt x="0" y="864855"/>
                  </a:lnTo>
                  <a:lnTo>
                    <a:pt x="1522661" y="864855"/>
                  </a:lnTo>
                  <a:lnTo>
                    <a:pt x="1522661" y="216449"/>
                  </a:lnTo>
                  <a:lnTo>
                    <a:pt x="7615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68864" y="4493428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140" y="0"/>
                  </a:moveTo>
                  <a:lnTo>
                    <a:pt x="0" y="216132"/>
                  </a:lnTo>
                  <a:lnTo>
                    <a:pt x="0" y="864532"/>
                  </a:lnTo>
                  <a:lnTo>
                    <a:pt x="1522280" y="864532"/>
                  </a:lnTo>
                  <a:lnTo>
                    <a:pt x="1522280" y="216132"/>
                  </a:lnTo>
                  <a:lnTo>
                    <a:pt x="761140" y="0"/>
                  </a:lnTo>
                  <a:close/>
                </a:path>
              </a:pathLst>
            </a:custGeom>
            <a:solidFill>
              <a:srgbClr val="95F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68864" y="4493428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0" y="216132"/>
                  </a:moveTo>
                  <a:lnTo>
                    <a:pt x="0" y="864532"/>
                  </a:lnTo>
                  <a:lnTo>
                    <a:pt x="1522280" y="864532"/>
                  </a:lnTo>
                  <a:lnTo>
                    <a:pt x="1522280" y="216132"/>
                  </a:lnTo>
                  <a:lnTo>
                    <a:pt x="761140" y="0"/>
                  </a:lnTo>
                  <a:lnTo>
                    <a:pt x="0" y="216132"/>
                  </a:lnTo>
                  <a:close/>
                </a:path>
              </a:pathLst>
            </a:custGeom>
            <a:ln w="10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52354" y="4714329"/>
            <a:ext cx="1553845" cy="4876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065" marR="5080" algn="ctr">
              <a:lnSpc>
                <a:spcPts val="1140"/>
              </a:lnSpc>
              <a:spcBef>
                <a:spcPts val="325"/>
              </a:spcBef>
            </a:pPr>
            <a:r>
              <a:rPr sz="1100" spc="15" dirty="0">
                <a:latin typeface="Calibri"/>
                <a:cs typeface="Calibri"/>
              </a:rPr>
              <a:t>Утверждение </a:t>
            </a:r>
            <a:r>
              <a:rPr sz="1100" spc="10" dirty="0">
                <a:latin typeface="Calibri"/>
                <a:cs typeface="Calibri"/>
              </a:rPr>
              <a:t>(принятие)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результатов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проекта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ts val="1120"/>
              </a:lnSpc>
            </a:pPr>
            <a:r>
              <a:rPr sz="1100" spc="15" dirty="0">
                <a:latin typeface="Calibri"/>
                <a:cs typeface="Calibri"/>
              </a:rPr>
              <a:t>заказчиком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8832" y="3226997"/>
            <a:ext cx="1692275" cy="1034415"/>
            <a:chOff x="598832" y="3226997"/>
            <a:chExt cx="1692275" cy="1034415"/>
          </a:xfrm>
        </p:grpSpPr>
        <p:sp>
          <p:nvSpPr>
            <p:cNvPr id="26" name="object 26"/>
            <p:cNvSpPr/>
            <p:nvPr/>
          </p:nvSpPr>
          <p:spPr>
            <a:xfrm>
              <a:off x="658144" y="3286222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30" h="864870">
                  <a:moveTo>
                    <a:pt x="761495" y="0"/>
                  </a:moveTo>
                  <a:lnTo>
                    <a:pt x="0" y="216069"/>
                  </a:lnTo>
                  <a:lnTo>
                    <a:pt x="0" y="864784"/>
                  </a:lnTo>
                  <a:lnTo>
                    <a:pt x="1522687" y="864784"/>
                  </a:lnTo>
                  <a:lnTo>
                    <a:pt x="1522687" y="216069"/>
                  </a:lnTo>
                  <a:lnTo>
                    <a:pt x="76149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4229" y="3232395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30" h="864870">
                  <a:moveTo>
                    <a:pt x="761166" y="0"/>
                  </a:moveTo>
                  <a:lnTo>
                    <a:pt x="0" y="216069"/>
                  </a:lnTo>
                  <a:lnTo>
                    <a:pt x="0" y="864530"/>
                  </a:lnTo>
                  <a:lnTo>
                    <a:pt x="1522370" y="864530"/>
                  </a:lnTo>
                  <a:lnTo>
                    <a:pt x="1522370" y="216069"/>
                  </a:lnTo>
                  <a:lnTo>
                    <a:pt x="761166" y="0"/>
                  </a:lnTo>
                  <a:close/>
                </a:path>
              </a:pathLst>
            </a:custGeom>
            <a:solidFill>
              <a:srgbClr val="95F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4229" y="3232395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30" h="864870">
                  <a:moveTo>
                    <a:pt x="0" y="216069"/>
                  </a:moveTo>
                  <a:lnTo>
                    <a:pt x="0" y="864530"/>
                  </a:lnTo>
                  <a:lnTo>
                    <a:pt x="1522370" y="864530"/>
                  </a:lnTo>
                  <a:lnTo>
                    <a:pt x="1522370" y="216069"/>
                  </a:lnTo>
                  <a:lnTo>
                    <a:pt x="761166" y="0"/>
                  </a:lnTo>
                  <a:lnTo>
                    <a:pt x="0" y="216069"/>
                  </a:lnTo>
                  <a:close/>
                </a:path>
              </a:pathLst>
            </a:custGeom>
            <a:ln w="10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2732" y="4113102"/>
              <a:ext cx="148144" cy="14805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66156" y="3352396"/>
            <a:ext cx="159512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0" dirty="0">
                <a:latin typeface="Calibri"/>
                <a:cs typeface="Calibri"/>
              </a:rPr>
              <a:t>Соответствие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требований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5373" y="3496611"/>
            <a:ext cx="162052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20" dirty="0">
                <a:latin typeface="Calibri"/>
                <a:cs typeface="Calibri"/>
              </a:rPr>
              <a:t>и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предлагаемых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решений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5051" y="3640573"/>
            <a:ext cx="1279525" cy="34353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140335">
              <a:lnSpc>
                <a:spcPts val="1140"/>
              </a:lnSpc>
              <a:spcBef>
                <a:spcPts val="325"/>
              </a:spcBef>
            </a:pPr>
            <a:r>
              <a:rPr sz="1100" spc="10" dirty="0">
                <a:latin typeface="Calibri"/>
                <a:cs typeface="Calibri"/>
              </a:rPr>
              <a:t>потребностям </a:t>
            </a:r>
            <a:r>
              <a:rPr sz="1100" spc="20" dirty="0">
                <a:latin typeface="Calibri"/>
                <a:cs typeface="Calibri"/>
              </a:rPr>
              <a:t>и 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ожиданиям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бизнеса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763466" y="3226997"/>
            <a:ext cx="1582420" cy="924560"/>
            <a:chOff x="2763466" y="3226997"/>
            <a:chExt cx="1582420" cy="924560"/>
          </a:xfrm>
        </p:grpSpPr>
        <p:sp>
          <p:nvSpPr>
            <p:cNvPr id="34" name="object 34"/>
            <p:cNvSpPr/>
            <p:nvPr/>
          </p:nvSpPr>
          <p:spPr>
            <a:xfrm>
              <a:off x="2822714" y="3286222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521" y="0"/>
                  </a:moveTo>
                  <a:lnTo>
                    <a:pt x="0" y="216069"/>
                  </a:lnTo>
                  <a:lnTo>
                    <a:pt x="0" y="864784"/>
                  </a:lnTo>
                  <a:lnTo>
                    <a:pt x="1522661" y="864784"/>
                  </a:lnTo>
                  <a:lnTo>
                    <a:pt x="1522661" y="216069"/>
                  </a:lnTo>
                  <a:lnTo>
                    <a:pt x="7615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68864" y="3232395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140" y="0"/>
                  </a:moveTo>
                  <a:lnTo>
                    <a:pt x="0" y="216069"/>
                  </a:lnTo>
                  <a:lnTo>
                    <a:pt x="0" y="864530"/>
                  </a:lnTo>
                  <a:lnTo>
                    <a:pt x="1522280" y="864530"/>
                  </a:lnTo>
                  <a:lnTo>
                    <a:pt x="1522280" y="216069"/>
                  </a:lnTo>
                  <a:lnTo>
                    <a:pt x="761140" y="0"/>
                  </a:lnTo>
                  <a:close/>
                </a:path>
              </a:pathLst>
            </a:custGeom>
            <a:solidFill>
              <a:srgbClr val="95F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68864" y="3232395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0" y="216069"/>
                  </a:moveTo>
                  <a:lnTo>
                    <a:pt x="0" y="864530"/>
                  </a:lnTo>
                  <a:lnTo>
                    <a:pt x="1522280" y="864530"/>
                  </a:lnTo>
                  <a:lnTo>
                    <a:pt x="1522280" y="216069"/>
                  </a:lnTo>
                  <a:lnTo>
                    <a:pt x="761140" y="0"/>
                  </a:lnTo>
                  <a:lnTo>
                    <a:pt x="0" y="216069"/>
                  </a:lnTo>
                  <a:close/>
                </a:path>
              </a:pathLst>
            </a:custGeom>
            <a:ln w="10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741558" y="3280542"/>
            <a:ext cx="1499870" cy="77533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54635" marR="167640" indent="71755">
              <a:lnSpc>
                <a:spcPts val="1130"/>
              </a:lnSpc>
              <a:spcBef>
                <a:spcPts val="334"/>
              </a:spcBef>
            </a:pPr>
            <a:r>
              <a:rPr sz="1100" spc="15" dirty="0">
                <a:latin typeface="Calibri"/>
                <a:cs typeface="Calibri"/>
              </a:rPr>
              <a:t>Реализуемость 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требований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к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ИТ-</a:t>
            </a:r>
            <a:endParaRPr sz="1100">
              <a:latin typeface="Calibri"/>
              <a:cs typeface="Calibri"/>
            </a:endParaRPr>
          </a:p>
          <a:p>
            <a:pPr marL="113664" indent="-101600">
              <a:lnSpc>
                <a:spcPts val="1040"/>
              </a:lnSpc>
            </a:pPr>
            <a:r>
              <a:rPr sz="1100" strike="sngStrike" spc="5" dirty="0">
                <a:latin typeface="Times New Roman"/>
                <a:cs typeface="Times New Roman"/>
              </a:rPr>
              <a:t> </a:t>
            </a:r>
            <a:r>
              <a:rPr sz="1100" strike="sngStrike" spc="35" dirty="0">
                <a:latin typeface="Times New Roman"/>
                <a:cs typeface="Times New Roman"/>
              </a:rPr>
              <a:t> </a:t>
            </a:r>
            <a:r>
              <a:rPr sz="1100" strike="sngStrike" spc="15" dirty="0">
                <a:latin typeface="Calibri"/>
                <a:cs typeface="Calibri"/>
              </a:rPr>
              <a:t>реш</a:t>
            </a:r>
            <a:r>
              <a:rPr sz="1100" strike="noStrike" spc="15" dirty="0">
                <a:latin typeface="Calibri"/>
                <a:cs typeface="Calibri"/>
              </a:rPr>
              <a:t>ению</a:t>
            </a:r>
            <a:r>
              <a:rPr sz="1100" strike="noStrike" spc="-40" dirty="0">
                <a:latin typeface="Calibri"/>
                <a:cs typeface="Calibri"/>
              </a:rPr>
              <a:t> </a:t>
            </a:r>
            <a:r>
              <a:rPr sz="1100" strike="noStrike" spc="10" dirty="0">
                <a:latin typeface="Calibri"/>
                <a:cs typeface="Calibri"/>
              </a:rPr>
              <a:t>(результатов</a:t>
            </a:r>
            <a:endParaRPr sz="1100">
              <a:latin typeface="Calibri"/>
              <a:cs typeface="Calibri"/>
            </a:endParaRPr>
          </a:p>
          <a:p>
            <a:pPr marL="265430" marR="31115" indent="-151765">
              <a:lnSpc>
                <a:spcPts val="1130"/>
              </a:lnSpc>
              <a:spcBef>
                <a:spcPts val="100"/>
              </a:spcBef>
            </a:pPr>
            <a:r>
              <a:rPr sz="1100" spc="10" dirty="0">
                <a:latin typeface="Calibri"/>
                <a:cs typeface="Calibri"/>
              </a:rPr>
              <a:t>проекта), соотвествие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целям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компании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49525" y="4488031"/>
            <a:ext cx="1582420" cy="924560"/>
            <a:chOff x="5649525" y="4488031"/>
            <a:chExt cx="1582420" cy="924560"/>
          </a:xfrm>
        </p:grpSpPr>
        <p:sp>
          <p:nvSpPr>
            <p:cNvPr id="39" name="object 39"/>
            <p:cNvSpPr/>
            <p:nvPr/>
          </p:nvSpPr>
          <p:spPr>
            <a:xfrm>
              <a:off x="5709154" y="4547217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140" y="0"/>
                  </a:moveTo>
                  <a:lnTo>
                    <a:pt x="0" y="216449"/>
                  </a:lnTo>
                  <a:lnTo>
                    <a:pt x="0" y="864855"/>
                  </a:lnTo>
                  <a:lnTo>
                    <a:pt x="1522407" y="864855"/>
                  </a:lnTo>
                  <a:lnTo>
                    <a:pt x="1522407" y="216449"/>
                  </a:lnTo>
                  <a:lnTo>
                    <a:pt x="7611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54923" y="4493428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140" y="0"/>
                  </a:moveTo>
                  <a:lnTo>
                    <a:pt x="0" y="216132"/>
                  </a:lnTo>
                  <a:lnTo>
                    <a:pt x="0" y="864532"/>
                  </a:lnTo>
                  <a:lnTo>
                    <a:pt x="1522407" y="864532"/>
                  </a:lnTo>
                  <a:lnTo>
                    <a:pt x="1522407" y="216132"/>
                  </a:lnTo>
                  <a:lnTo>
                    <a:pt x="761140" y="0"/>
                  </a:lnTo>
                  <a:close/>
                </a:path>
              </a:pathLst>
            </a:custGeom>
            <a:solidFill>
              <a:srgbClr val="95F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54923" y="4493428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0" y="216132"/>
                  </a:moveTo>
                  <a:lnTo>
                    <a:pt x="0" y="864532"/>
                  </a:lnTo>
                  <a:lnTo>
                    <a:pt x="1522407" y="864532"/>
                  </a:lnTo>
                  <a:lnTo>
                    <a:pt x="1522407" y="216132"/>
                  </a:lnTo>
                  <a:lnTo>
                    <a:pt x="761140" y="0"/>
                  </a:lnTo>
                  <a:lnTo>
                    <a:pt x="0" y="216132"/>
                  </a:lnTo>
                  <a:close/>
                </a:path>
              </a:pathLst>
            </a:custGeom>
            <a:ln w="10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930778" y="4541537"/>
            <a:ext cx="972185" cy="34290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 indent="136525">
              <a:lnSpc>
                <a:spcPts val="1130"/>
              </a:lnSpc>
              <a:spcBef>
                <a:spcPts val="334"/>
              </a:spcBef>
            </a:pPr>
            <a:r>
              <a:rPr sz="1100" spc="5" dirty="0">
                <a:latin typeface="Calibri"/>
                <a:cs typeface="Calibri"/>
              </a:rPr>
              <a:t>Готовность 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изменений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для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59735" y="4829828"/>
            <a:ext cx="913130" cy="4876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97155">
              <a:lnSpc>
                <a:spcPct val="86000"/>
              </a:lnSpc>
              <a:spcBef>
                <a:spcPts val="320"/>
              </a:spcBef>
            </a:pPr>
            <a:r>
              <a:rPr sz="1100" spc="15" dirty="0">
                <a:latin typeface="Calibri"/>
                <a:cs typeface="Calibri"/>
              </a:rPr>
              <a:t>передачи в </a:t>
            </a:r>
            <a:r>
              <a:rPr sz="1100" spc="20" dirty="0">
                <a:latin typeface="Calibri"/>
                <a:cs typeface="Calibri"/>
              </a:rPr>
              <a:t> п</a:t>
            </a:r>
            <a:r>
              <a:rPr sz="1100" spc="15" dirty="0">
                <a:latin typeface="Calibri"/>
                <a:cs typeface="Calibri"/>
              </a:rPr>
              <a:t>ро</a:t>
            </a:r>
            <a:r>
              <a:rPr sz="1100" spc="10" dirty="0">
                <a:latin typeface="Calibri"/>
                <a:cs typeface="Calibri"/>
              </a:rPr>
              <a:t>ду</a:t>
            </a:r>
            <a:r>
              <a:rPr sz="1100" spc="25" dirty="0">
                <a:latin typeface="Calibri"/>
                <a:cs typeface="Calibri"/>
              </a:rPr>
              <a:t>к</a:t>
            </a:r>
            <a:r>
              <a:rPr sz="1100" dirty="0">
                <a:latin typeface="Calibri"/>
                <a:cs typeface="Calibri"/>
              </a:rPr>
              <a:t>т</a:t>
            </a:r>
            <a:r>
              <a:rPr sz="1100" spc="25" dirty="0">
                <a:latin typeface="Calibri"/>
                <a:cs typeface="Calibri"/>
              </a:rPr>
              <a:t>и</a:t>
            </a:r>
            <a:r>
              <a:rPr sz="1100" spc="5" dirty="0">
                <a:latin typeface="Calibri"/>
                <a:cs typeface="Calibri"/>
              </a:rPr>
              <a:t>вн</a:t>
            </a:r>
            <a:r>
              <a:rPr sz="1100" spc="10" dirty="0">
                <a:latin typeface="Calibri"/>
                <a:cs typeface="Calibri"/>
              </a:rPr>
              <a:t>у</a:t>
            </a:r>
            <a:r>
              <a:rPr sz="1100" spc="15" dirty="0">
                <a:latin typeface="Calibri"/>
                <a:cs typeface="Calibri"/>
              </a:rPr>
              <a:t>ю  эксплуатацию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82096" y="1804523"/>
            <a:ext cx="1713864" cy="1201420"/>
            <a:chOff x="4482096" y="1804523"/>
            <a:chExt cx="1713864" cy="1201420"/>
          </a:xfrm>
        </p:grpSpPr>
        <p:sp>
          <p:nvSpPr>
            <p:cNvPr id="45" name="object 45"/>
            <p:cNvSpPr/>
            <p:nvPr/>
          </p:nvSpPr>
          <p:spPr>
            <a:xfrm>
              <a:off x="4922867" y="2115640"/>
              <a:ext cx="1160780" cy="809625"/>
            </a:xfrm>
            <a:custGeom>
              <a:avLst/>
              <a:gdLst/>
              <a:ahLst/>
              <a:cxnLst/>
              <a:rect l="l" t="t" r="r" b="b"/>
              <a:pathLst>
                <a:path w="1160779" h="809625">
                  <a:moveTo>
                    <a:pt x="1160469" y="0"/>
                  </a:moveTo>
                  <a:lnTo>
                    <a:pt x="0" y="0"/>
                  </a:lnTo>
                  <a:lnTo>
                    <a:pt x="0" y="809154"/>
                  </a:lnTo>
                  <a:lnTo>
                    <a:pt x="1160469" y="809154"/>
                  </a:lnTo>
                  <a:lnTo>
                    <a:pt x="1160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83049" y="1805476"/>
              <a:ext cx="1711960" cy="1140460"/>
            </a:xfrm>
            <a:custGeom>
              <a:avLst/>
              <a:gdLst/>
              <a:ahLst/>
              <a:cxnLst/>
              <a:rect l="l" t="t" r="r" b="b"/>
              <a:pathLst>
                <a:path w="1711960" h="1140460">
                  <a:moveTo>
                    <a:pt x="856647" y="0"/>
                  </a:moveTo>
                  <a:lnTo>
                    <a:pt x="0" y="349366"/>
                  </a:lnTo>
                  <a:lnTo>
                    <a:pt x="0" y="1140265"/>
                  </a:lnTo>
                  <a:lnTo>
                    <a:pt x="1711644" y="1140265"/>
                  </a:lnTo>
                  <a:lnTo>
                    <a:pt x="1711644" y="349366"/>
                  </a:lnTo>
                  <a:lnTo>
                    <a:pt x="8566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83049" y="1805476"/>
              <a:ext cx="1711960" cy="1140460"/>
            </a:xfrm>
            <a:custGeom>
              <a:avLst/>
              <a:gdLst/>
              <a:ahLst/>
              <a:cxnLst/>
              <a:rect l="l" t="t" r="r" b="b"/>
              <a:pathLst>
                <a:path w="1711960" h="1140460">
                  <a:moveTo>
                    <a:pt x="0" y="349366"/>
                  </a:moveTo>
                  <a:lnTo>
                    <a:pt x="0" y="1140265"/>
                  </a:lnTo>
                  <a:lnTo>
                    <a:pt x="1711644" y="1140265"/>
                  </a:lnTo>
                  <a:lnTo>
                    <a:pt x="1711644" y="349366"/>
                  </a:lnTo>
                  <a:lnTo>
                    <a:pt x="856647" y="0"/>
                  </a:lnTo>
                  <a:lnTo>
                    <a:pt x="0" y="3493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51494" y="2591551"/>
              <a:ext cx="525145" cy="414655"/>
            </a:xfrm>
            <a:custGeom>
              <a:avLst/>
              <a:gdLst/>
              <a:ahLst/>
              <a:cxnLst/>
              <a:rect l="l" t="t" r="r" b="b"/>
              <a:pathLst>
                <a:path w="525145" h="414655">
                  <a:moveTo>
                    <a:pt x="331355" y="0"/>
                  </a:moveTo>
                  <a:lnTo>
                    <a:pt x="206763" y="0"/>
                  </a:lnTo>
                  <a:lnTo>
                    <a:pt x="193428" y="12695"/>
                  </a:lnTo>
                  <a:lnTo>
                    <a:pt x="153167" y="12695"/>
                  </a:lnTo>
                  <a:lnTo>
                    <a:pt x="137927" y="25390"/>
                  </a:lnTo>
                  <a:lnTo>
                    <a:pt x="124210" y="37958"/>
                  </a:lnTo>
                  <a:lnTo>
                    <a:pt x="111002" y="37958"/>
                  </a:lnTo>
                  <a:lnTo>
                    <a:pt x="97666" y="50399"/>
                  </a:lnTo>
                  <a:lnTo>
                    <a:pt x="83950" y="64871"/>
                  </a:lnTo>
                  <a:lnTo>
                    <a:pt x="68709" y="64871"/>
                  </a:lnTo>
                  <a:lnTo>
                    <a:pt x="42165" y="90261"/>
                  </a:lnTo>
                  <a:lnTo>
                    <a:pt x="42165" y="102829"/>
                  </a:lnTo>
                  <a:lnTo>
                    <a:pt x="28830" y="115270"/>
                  </a:lnTo>
                  <a:lnTo>
                    <a:pt x="28830" y="142438"/>
                  </a:lnTo>
                  <a:lnTo>
                    <a:pt x="15113" y="142438"/>
                  </a:lnTo>
                  <a:lnTo>
                    <a:pt x="15113" y="167447"/>
                  </a:lnTo>
                  <a:lnTo>
                    <a:pt x="0" y="180142"/>
                  </a:lnTo>
                  <a:lnTo>
                    <a:pt x="0" y="232318"/>
                  </a:lnTo>
                  <a:lnTo>
                    <a:pt x="15113" y="232318"/>
                  </a:lnTo>
                  <a:lnTo>
                    <a:pt x="15113" y="259485"/>
                  </a:lnTo>
                  <a:lnTo>
                    <a:pt x="28830" y="272180"/>
                  </a:lnTo>
                  <a:lnTo>
                    <a:pt x="28830" y="284876"/>
                  </a:lnTo>
                  <a:lnTo>
                    <a:pt x="42165" y="309885"/>
                  </a:lnTo>
                  <a:lnTo>
                    <a:pt x="55501" y="324103"/>
                  </a:lnTo>
                  <a:lnTo>
                    <a:pt x="55501" y="337052"/>
                  </a:lnTo>
                  <a:lnTo>
                    <a:pt x="83950" y="337052"/>
                  </a:lnTo>
                  <a:lnTo>
                    <a:pt x="97666" y="362061"/>
                  </a:lnTo>
                  <a:lnTo>
                    <a:pt x="111002" y="362061"/>
                  </a:lnTo>
                  <a:lnTo>
                    <a:pt x="111002" y="374756"/>
                  </a:lnTo>
                  <a:lnTo>
                    <a:pt x="124210" y="374756"/>
                  </a:lnTo>
                  <a:lnTo>
                    <a:pt x="137927" y="388975"/>
                  </a:lnTo>
                  <a:lnTo>
                    <a:pt x="166503" y="388975"/>
                  </a:lnTo>
                  <a:lnTo>
                    <a:pt x="180092" y="401923"/>
                  </a:lnTo>
                  <a:lnTo>
                    <a:pt x="193428" y="401923"/>
                  </a:lnTo>
                  <a:lnTo>
                    <a:pt x="206763" y="414238"/>
                  </a:lnTo>
                  <a:lnTo>
                    <a:pt x="262519" y="414238"/>
                  </a:lnTo>
                  <a:lnTo>
                    <a:pt x="331355" y="414238"/>
                  </a:lnTo>
                  <a:lnTo>
                    <a:pt x="344691" y="401923"/>
                  </a:lnTo>
                  <a:lnTo>
                    <a:pt x="360185" y="401923"/>
                  </a:lnTo>
                  <a:lnTo>
                    <a:pt x="360185" y="388975"/>
                  </a:lnTo>
                  <a:lnTo>
                    <a:pt x="400446" y="388975"/>
                  </a:lnTo>
                  <a:lnTo>
                    <a:pt x="413781" y="374756"/>
                  </a:lnTo>
                  <a:lnTo>
                    <a:pt x="429022" y="374756"/>
                  </a:lnTo>
                  <a:lnTo>
                    <a:pt x="429022" y="362061"/>
                  </a:lnTo>
                  <a:lnTo>
                    <a:pt x="442358" y="362061"/>
                  </a:lnTo>
                  <a:lnTo>
                    <a:pt x="455947" y="337052"/>
                  </a:lnTo>
                  <a:lnTo>
                    <a:pt x="469283" y="337052"/>
                  </a:lnTo>
                  <a:lnTo>
                    <a:pt x="482999" y="324103"/>
                  </a:lnTo>
                  <a:lnTo>
                    <a:pt x="482999" y="309885"/>
                  </a:lnTo>
                  <a:lnTo>
                    <a:pt x="498240" y="309885"/>
                  </a:lnTo>
                  <a:lnTo>
                    <a:pt x="498240" y="284876"/>
                  </a:lnTo>
                  <a:lnTo>
                    <a:pt x="511575" y="272180"/>
                  </a:lnTo>
                  <a:lnTo>
                    <a:pt x="511575" y="259485"/>
                  </a:lnTo>
                  <a:lnTo>
                    <a:pt x="524784" y="245013"/>
                  </a:lnTo>
                  <a:lnTo>
                    <a:pt x="524784" y="155133"/>
                  </a:lnTo>
                  <a:lnTo>
                    <a:pt x="511575" y="155133"/>
                  </a:lnTo>
                  <a:lnTo>
                    <a:pt x="511575" y="142438"/>
                  </a:lnTo>
                  <a:lnTo>
                    <a:pt x="498240" y="129742"/>
                  </a:lnTo>
                  <a:lnTo>
                    <a:pt x="498240" y="102829"/>
                  </a:lnTo>
                  <a:lnTo>
                    <a:pt x="482999" y="90261"/>
                  </a:lnTo>
                  <a:lnTo>
                    <a:pt x="482999" y="77566"/>
                  </a:lnTo>
                  <a:lnTo>
                    <a:pt x="469283" y="77566"/>
                  </a:lnTo>
                  <a:lnTo>
                    <a:pt x="469283" y="64871"/>
                  </a:lnTo>
                  <a:lnTo>
                    <a:pt x="455947" y="64871"/>
                  </a:lnTo>
                  <a:lnTo>
                    <a:pt x="442358" y="50399"/>
                  </a:lnTo>
                  <a:lnTo>
                    <a:pt x="429022" y="37958"/>
                  </a:lnTo>
                  <a:lnTo>
                    <a:pt x="413781" y="37958"/>
                  </a:lnTo>
                  <a:lnTo>
                    <a:pt x="400446" y="25390"/>
                  </a:lnTo>
                  <a:lnTo>
                    <a:pt x="386856" y="25390"/>
                  </a:lnTo>
                  <a:lnTo>
                    <a:pt x="373521" y="12695"/>
                  </a:lnTo>
                  <a:lnTo>
                    <a:pt x="344691" y="12695"/>
                  </a:lnTo>
                  <a:lnTo>
                    <a:pt x="331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693659" y="2616941"/>
              <a:ext cx="456565" cy="363855"/>
            </a:xfrm>
            <a:custGeom>
              <a:avLst/>
              <a:gdLst/>
              <a:ahLst/>
              <a:cxnLst/>
              <a:rect l="l" t="t" r="r" b="b"/>
              <a:pathLst>
                <a:path w="456564" h="363855">
                  <a:moveTo>
                    <a:pt x="289190" y="0"/>
                  </a:moveTo>
                  <a:lnTo>
                    <a:pt x="164598" y="0"/>
                  </a:lnTo>
                  <a:lnTo>
                    <a:pt x="164598" y="12314"/>
                  </a:lnTo>
                  <a:lnTo>
                    <a:pt x="124337" y="12314"/>
                  </a:lnTo>
                  <a:lnTo>
                    <a:pt x="95761" y="39481"/>
                  </a:lnTo>
                  <a:lnTo>
                    <a:pt x="82045" y="39481"/>
                  </a:lnTo>
                  <a:lnTo>
                    <a:pt x="68836" y="52176"/>
                  </a:lnTo>
                  <a:lnTo>
                    <a:pt x="55501" y="52176"/>
                  </a:lnTo>
                  <a:lnTo>
                    <a:pt x="55501" y="64490"/>
                  </a:lnTo>
                  <a:lnTo>
                    <a:pt x="41784" y="77185"/>
                  </a:lnTo>
                  <a:lnTo>
                    <a:pt x="41784" y="89880"/>
                  </a:lnTo>
                  <a:lnTo>
                    <a:pt x="26544" y="89880"/>
                  </a:lnTo>
                  <a:lnTo>
                    <a:pt x="26544" y="117047"/>
                  </a:lnTo>
                  <a:lnTo>
                    <a:pt x="13335" y="117047"/>
                  </a:lnTo>
                  <a:lnTo>
                    <a:pt x="13335" y="154752"/>
                  </a:lnTo>
                  <a:lnTo>
                    <a:pt x="0" y="154752"/>
                  </a:lnTo>
                  <a:lnTo>
                    <a:pt x="0" y="194233"/>
                  </a:lnTo>
                  <a:lnTo>
                    <a:pt x="13335" y="206928"/>
                  </a:lnTo>
                  <a:lnTo>
                    <a:pt x="13335" y="234095"/>
                  </a:lnTo>
                  <a:lnTo>
                    <a:pt x="26544" y="246410"/>
                  </a:lnTo>
                  <a:lnTo>
                    <a:pt x="26544" y="259105"/>
                  </a:lnTo>
                  <a:lnTo>
                    <a:pt x="41784" y="271800"/>
                  </a:lnTo>
                  <a:lnTo>
                    <a:pt x="41784" y="284495"/>
                  </a:lnTo>
                  <a:lnTo>
                    <a:pt x="55501" y="284495"/>
                  </a:lnTo>
                  <a:lnTo>
                    <a:pt x="55501" y="298713"/>
                  </a:lnTo>
                  <a:lnTo>
                    <a:pt x="68836" y="311281"/>
                  </a:lnTo>
                  <a:lnTo>
                    <a:pt x="82045" y="311281"/>
                  </a:lnTo>
                  <a:lnTo>
                    <a:pt x="95761" y="323976"/>
                  </a:lnTo>
                  <a:lnTo>
                    <a:pt x="111002" y="336671"/>
                  </a:lnTo>
                  <a:lnTo>
                    <a:pt x="137927" y="336671"/>
                  </a:lnTo>
                  <a:lnTo>
                    <a:pt x="137927" y="349366"/>
                  </a:lnTo>
                  <a:lnTo>
                    <a:pt x="164598" y="349366"/>
                  </a:lnTo>
                  <a:lnTo>
                    <a:pt x="164598" y="363585"/>
                  </a:lnTo>
                  <a:lnTo>
                    <a:pt x="233688" y="363585"/>
                  </a:lnTo>
                  <a:lnTo>
                    <a:pt x="289190" y="363585"/>
                  </a:lnTo>
                  <a:lnTo>
                    <a:pt x="289190" y="349366"/>
                  </a:lnTo>
                  <a:lnTo>
                    <a:pt x="318020" y="349366"/>
                  </a:lnTo>
                  <a:lnTo>
                    <a:pt x="331355" y="336671"/>
                  </a:lnTo>
                  <a:lnTo>
                    <a:pt x="358280" y="336671"/>
                  </a:lnTo>
                  <a:lnTo>
                    <a:pt x="371616" y="323976"/>
                  </a:lnTo>
                  <a:lnTo>
                    <a:pt x="371616" y="311281"/>
                  </a:lnTo>
                  <a:lnTo>
                    <a:pt x="387237" y="311281"/>
                  </a:lnTo>
                  <a:lnTo>
                    <a:pt x="400192" y="298713"/>
                  </a:lnTo>
                  <a:lnTo>
                    <a:pt x="413781" y="284495"/>
                  </a:lnTo>
                  <a:lnTo>
                    <a:pt x="413781" y="271800"/>
                  </a:lnTo>
                  <a:lnTo>
                    <a:pt x="427117" y="259105"/>
                  </a:lnTo>
                  <a:lnTo>
                    <a:pt x="440833" y="246410"/>
                  </a:lnTo>
                  <a:lnTo>
                    <a:pt x="440833" y="234095"/>
                  </a:lnTo>
                  <a:lnTo>
                    <a:pt x="456074" y="219623"/>
                  </a:lnTo>
                  <a:lnTo>
                    <a:pt x="456074" y="129362"/>
                  </a:lnTo>
                  <a:lnTo>
                    <a:pt x="440833" y="129362"/>
                  </a:lnTo>
                  <a:lnTo>
                    <a:pt x="440833" y="117047"/>
                  </a:lnTo>
                  <a:lnTo>
                    <a:pt x="427117" y="104352"/>
                  </a:lnTo>
                  <a:lnTo>
                    <a:pt x="427117" y="89880"/>
                  </a:lnTo>
                  <a:lnTo>
                    <a:pt x="413781" y="89880"/>
                  </a:lnTo>
                  <a:lnTo>
                    <a:pt x="413781" y="64490"/>
                  </a:lnTo>
                  <a:lnTo>
                    <a:pt x="400192" y="52176"/>
                  </a:lnTo>
                  <a:lnTo>
                    <a:pt x="387237" y="52176"/>
                  </a:lnTo>
                  <a:lnTo>
                    <a:pt x="371616" y="39481"/>
                  </a:lnTo>
                  <a:lnTo>
                    <a:pt x="358280" y="25009"/>
                  </a:lnTo>
                  <a:lnTo>
                    <a:pt x="344691" y="25009"/>
                  </a:lnTo>
                  <a:lnTo>
                    <a:pt x="344691" y="12314"/>
                  </a:lnTo>
                  <a:lnTo>
                    <a:pt x="289190" y="12314"/>
                  </a:lnTo>
                  <a:lnTo>
                    <a:pt x="28919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762496" y="2669117"/>
              <a:ext cx="318770" cy="259715"/>
            </a:xfrm>
            <a:custGeom>
              <a:avLst/>
              <a:gdLst/>
              <a:ahLst/>
              <a:cxnLst/>
              <a:rect l="l" t="t" r="r" b="b"/>
              <a:pathLst>
                <a:path w="318770" h="259714">
                  <a:moveTo>
                    <a:pt x="233688" y="0"/>
                  </a:moveTo>
                  <a:lnTo>
                    <a:pt x="82426" y="0"/>
                  </a:lnTo>
                  <a:lnTo>
                    <a:pt x="82426" y="12314"/>
                  </a:lnTo>
                  <a:lnTo>
                    <a:pt x="69090" y="12314"/>
                  </a:lnTo>
                  <a:lnTo>
                    <a:pt x="69090" y="25263"/>
                  </a:lnTo>
                  <a:lnTo>
                    <a:pt x="55501" y="25263"/>
                  </a:lnTo>
                  <a:lnTo>
                    <a:pt x="55501" y="37704"/>
                  </a:lnTo>
                  <a:lnTo>
                    <a:pt x="42165" y="37704"/>
                  </a:lnTo>
                  <a:lnTo>
                    <a:pt x="26544" y="52176"/>
                  </a:lnTo>
                  <a:lnTo>
                    <a:pt x="26544" y="64871"/>
                  </a:lnTo>
                  <a:lnTo>
                    <a:pt x="13208" y="64871"/>
                  </a:lnTo>
                  <a:lnTo>
                    <a:pt x="13208" y="77566"/>
                  </a:lnTo>
                  <a:lnTo>
                    <a:pt x="0" y="77566"/>
                  </a:lnTo>
                  <a:lnTo>
                    <a:pt x="0" y="167447"/>
                  </a:lnTo>
                  <a:lnTo>
                    <a:pt x="13208" y="181919"/>
                  </a:lnTo>
                  <a:lnTo>
                    <a:pt x="26544" y="194614"/>
                  </a:lnTo>
                  <a:lnTo>
                    <a:pt x="26544" y="207309"/>
                  </a:lnTo>
                  <a:lnTo>
                    <a:pt x="42165" y="207309"/>
                  </a:lnTo>
                  <a:lnTo>
                    <a:pt x="42165" y="219623"/>
                  </a:lnTo>
                  <a:lnTo>
                    <a:pt x="55501" y="219623"/>
                  </a:lnTo>
                  <a:lnTo>
                    <a:pt x="55501" y="232318"/>
                  </a:lnTo>
                  <a:lnTo>
                    <a:pt x="82426" y="232318"/>
                  </a:lnTo>
                  <a:lnTo>
                    <a:pt x="82426" y="246790"/>
                  </a:lnTo>
                  <a:lnTo>
                    <a:pt x="95761" y="246790"/>
                  </a:lnTo>
                  <a:lnTo>
                    <a:pt x="95761" y="259485"/>
                  </a:lnTo>
                  <a:lnTo>
                    <a:pt x="164852" y="259485"/>
                  </a:lnTo>
                  <a:lnTo>
                    <a:pt x="220353" y="259485"/>
                  </a:lnTo>
                  <a:lnTo>
                    <a:pt x="220353" y="246790"/>
                  </a:lnTo>
                  <a:lnTo>
                    <a:pt x="233688" y="246790"/>
                  </a:lnTo>
                  <a:lnTo>
                    <a:pt x="249183" y="232318"/>
                  </a:lnTo>
                  <a:lnTo>
                    <a:pt x="262519" y="232318"/>
                  </a:lnTo>
                  <a:lnTo>
                    <a:pt x="276235" y="219623"/>
                  </a:lnTo>
                  <a:lnTo>
                    <a:pt x="276235" y="207309"/>
                  </a:lnTo>
                  <a:lnTo>
                    <a:pt x="302779" y="207309"/>
                  </a:lnTo>
                  <a:lnTo>
                    <a:pt x="302779" y="181919"/>
                  </a:lnTo>
                  <a:lnTo>
                    <a:pt x="318401" y="167447"/>
                  </a:lnTo>
                  <a:lnTo>
                    <a:pt x="318401" y="77566"/>
                  </a:lnTo>
                  <a:lnTo>
                    <a:pt x="302779" y="77566"/>
                  </a:lnTo>
                  <a:lnTo>
                    <a:pt x="302779" y="52176"/>
                  </a:lnTo>
                  <a:lnTo>
                    <a:pt x="289444" y="52176"/>
                  </a:lnTo>
                  <a:lnTo>
                    <a:pt x="289444" y="37704"/>
                  </a:lnTo>
                  <a:lnTo>
                    <a:pt x="276235" y="37704"/>
                  </a:lnTo>
                  <a:lnTo>
                    <a:pt x="262519" y="25263"/>
                  </a:lnTo>
                  <a:lnTo>
                    <a:pt x="249183" y="12314"/>
                  </a:lnTo>
                  <a:lnTo>
                    <a:pt x="233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9054" y="2603357"/>
              <a:ext cx="428387" cy="391007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598832" y="2925682"/>
            <a:ext cx="2480945" cy="2486660"/>
            <a:chOff x="598832" y="2925682"/>
            <a:chExt cx="2480945" cy="2486660"/>
          </a:xfrm>
        </p:grpSpPr>
        <p:sp>
          <p:nvSpPr>
            <p:cNvPr id="53" name="object 53"/>
            <p:cNvSpPr/>
            <p:nvPr/>
          </p:nvSpPr>
          <p:spPr>
            <a:xfrm>
              <a:off x="2126600" y="2929492"/>
              <a:ext cx="949325" cy="2061210"/>
            </a:xfrm>
            <a:custGeom>
              <a:avLst/>
              <a:gdLst/>
              <a:ahLst/>
              <a:cxnLst/>
              <a:rect l="l" t="t" r="r" b="b"/>
              <a:pathLst>
                <a:path w="949325" h="2061210">
                  <a:moveTo>
                    <a:pt x="320941" y="0"/>
                  </a:moveTo>
                  <a:lnTo>
                    <a:pt x="320941" y="735167"/>
                  </a:lnTo>
                </a:path>
                <a:path w="949325" h="2061210">
                  <a:moveTo>
                    <a:pt x="320941" y="735167"/>
                  </a:moveTo>
                  <a:lnTo>
                    <a:pt x="0" y="735167"/>
                  </a:lnTo>
                </a:path>
                <a:path w="949325" h="2061210">
                  <a:moveTo>
                    <a:pt x="61216" y="670296"/>
                  </a:moveTo>
                  <a:lnTo>
                    <a:pt x="7239" y="735167"/>
                  </a:lnTo>
                  <a:lnTo>
                    <a:pt x="61216" y="800039"/>
                  </a:lnTo>
                </a:path>
                <a:path w="949325" h="2061210">
                  <a:moveTo>
                    <a:pt x="320941" y="0"/>
                  </a:moveTo>
                  <a:lnTo>
                    <a:pt x="320941" y="735167"/>
                  </a:lnTo>
                </a:path>
                <a:path w="949325" h="2061210">
                  <a:moveTo>
                    <a:pt x="580666" y="800039"/>
                  </a:moveTo>
                  <a:lnTo>
                    <a:pt x="634897" y="735167"/>
                  </a:lnTo>
                  <a:lnTo>
                    <a:pt x="580666" y="670296"/>
                  </a:lnTo>
                </a:path>
                <a:path w="949325" h="2061210">
                  <a:moveTo>
                    <a:pt x="320941" y="0"/>
                  </a:moveTo>
                  <a:lnTo>
                    <a:pt x="320941" y="1996201"/>
                  </a:lnTo>
                </a:path>
                <a:path w="949325" h="2061210">
                  <a:moveTo>
                    <a:pt x="948853" y="1996201"/>
                  </a:moveTo>
                  <a:lnTo>
                    <a:pt x="627658" y="1996201"/>
                  </a:lnTo>
                </a:path>
                <a:path w="949325" h="2061210">
                  <a:moveTo>
                    <a:pt x="580666" y="2061072"/>
                  </a:moveTo>
                  <a:lnTo>
                    <a:pt x="634897" y="1996201"/>
                  </a:lnTo>
                  <a:lnTo>
                    <a:pt x="580666" y="1931329"/>
                  </a:lnTo>
                </a:path>
              </a:pathLst>
            </a:custGeom>
            <a:ln w="7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8144" y="4547217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30" h="864870">
                  <a:moveTo>
                    <a:pt x="761495" y="0"/>
                  </a:moveTo>
                  <a:lnTo>
                    <a:pt x="0" y="216449"/>
                  </a:lnTo>
                  <a:lnTo>
                    <a:pt x="0" y="864855"/>
                  </a:lnTo>
                  <a:lnTo>
                    <a:pt x="1522687" y="864855"/>
                  </a:lnTo>
                  <a:lnTo>
                    <a:pt x="1522687" y="216449"/>
                  </a:lnTo>
                  <a:lnTo>
                    <a:pt x="76149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4229" y="4493428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30" h="864870">
                  <a:moveTo>
                    <a:pt x="761166" y="0"/>
                  </a:moveTo>
                  <a:lnTo>
                    <a:pt x="0" y="216132"/>
                  </a:lnTo>
                  <a:lnTo>
                    <a:pt x="0" y="864532"/>
                  </a:lnTo>
                  <a:lnTo>
                    <a:pt x="1522370" y="864532"/>
                  </a:lnTo>
                  <a:lnTo>
                    <a:pt x="1522370" y="216132"/>
                  </a:lnTo>
                  <a:lnTo>
                    <a:pt x="761166" y="0"/>
                  </a:lnTo>
                  <a:close/>
                </a:path>
              </a:pathLst>
            </a:custGeom>
            <a:solidFill>
              <a:srgbClr val="95F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04229" y="4493428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30" h="864870">
                  <a:moveTo>
                    <a:pt x="0" y="216132"/>
                  </a:moveTo>
                  <a:lnTo>
                    <a:pt x="0" y="864532"/>
                  </a:lnTo>
                  <a:lnTo>
                    <a:pt x="1522370" y="864532"/>
                  </a:lnTo>
                  <a:lnTo>
                    <a:pt x="1522370" y="216132"/>
                  </a:lnTo>
                  <a:lnTo>
                    <a:pt x="761166" y="0"/>
                  </a:lnTo>
                  <a:lnTo>
                    <a:pt x="0" y="216132"/>
                  </a:lnTo>
                  <a:close/>
                </a:path>
              </a:pathLst>
            </a:custGeom>
            <a:ln w="10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476953" y="2163382"/>
            <a:ext cx="1711325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0" dirty="0">
                <a:latin typeface="Calibri"/>
                <a:cs typeface="Calibri"/>
              </a:rPr>
              <a:t>Адекватное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использование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437327" y="2307470"/>
            <a:ext cx="1793875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5" dirty="0">
                <a:latin typeface="Calibri"/>
                <a:cs typeface="Calibri"/>
              </a:rPr>
              <a:t>приложений,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информации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и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46631" y="2451685"/>
            <a:ext cx="1370965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5" dirty="0">
                <a:latin typeface="Calibri"/>
                <a:cs typeface="Calibri"/>
              </a:rPr>
              <a:t>технических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решений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649525" y="3226997"/>
            <a:ext cx="1582420" cy="924560"/>
            <a:chOff x="5649525" y="3226997"/>
            <a:chExt cx="1582420" cy="924560"/>
          </a:xfrm>
        </p:grpSpPr>
        <p:sp>
          <p:nvSpPr>
            <p:cNvPr id="61" name="object 61"/>
            <p:cNvSpPr/>
            <p:nvPr/>
          </p:nvSpPr>
          <p:spPr>
            <a:xfrm>
              <a:off x="5709154" y="3286222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140" y="0"/>
                  </a:moveTo>
                  <a:lnTo>
                    <a:pt x="0" y="216069"/>
                  </a:lnTo>
                  <a:lnTo>
                    <a:pt x="0" y="864784"/>
                  </a:lnTo>
                  <a:lnTo>
                    <a:pt x="1522407" y="864784"/>
                  </a:lnTo>
                  <a:lnTo>
                    <a:pt x="1522407" y="216069"/>
                  </a:lnTo>
                  <a:lnTo>
                    <a:pt x="7611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654923" y="3232395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761140" y="0"/>
                  </a:moveTo>
                  <a:lnTo>
                    <a:pt x="0" y="216069"/>
                  </a:lnTo>
                  <a:lnTo>
                    <a:pt x="0" y="864530"/>
                  </a:lnTo>
                  <a:lnTo>
                    <a:pt x="1522407" y="864530"/>
                  </a:lnTo>
                  <a:lnTo>
                    <a:pt x="1522407" y="216069"/>
                  </a:lnTo>
                  <a:lnTo>
                    <a:pt x="761140" y="0"/>
                  </a:lnTo>
                  <a:close/>
                </a:path>
              </a:pathLst>
            </a:custGeom>
            <a:solidFill>
              <a:srgbClr val="95F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54923" y="3232395"/>
              <a:ext cx="1522730" cy="864869"/>
            </a:xfrm>
            <a:custGeom>
              <a:avLst/>
              <a:gdLst/>
              <a:ahLst/>
              <a:cxnLst/>
              <a:rect l="l" t="t" r="r" b="b"/>
              <a:pathLst>
                <a:path w="1522729" h="864870">
                  <a:moveTo>
                    <a:pt x="0" y="216069"/>
                  </a:moveTo>
                  <a:lnTo>
                    <a:pt x="0" y="864530"/>
                  </a:lnTo>
                  <a:lnTo>
                    <a:pt x="1522407" y="864530"/>
                  </a:lnTo>
                  <a:lnTo>
                    <a:pt x="1522407" y="216069"/>
                  </a:lnTo>
                  <a:lnTo>
                    <a:pt x="761140" y="0"/>
                  </a:lnTo>
                  <a:lnTo>
                    <a:pt x="0" y="216069"/>
                  </a:lnTo>
                  <a:close/>
                </a:path>
              </a:pathLst>
            </a:custGeom>
            <a:ln w="10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606027" y="3269370"/>
            <a:ext cx="1621790" cy="9201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58775" marR="5080" indent="-346710">
              <a:lnSpc>
                <a:spcPts val="1140"/>
              </a:lnSpc>
              <a:spcBef>
                <a:spcPts val="325"/>
              </a:spcBef>
            </a:pPr>
            <a:r>
              <a:rPr sz="1100" spc="15" dirty="0">
                <a:latin typeface="Calibri"/>
                <a:cs typeface="Calibri"/>
              </a:rPr>
              <a:t>Разработка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ИТ-решений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в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соответствии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с</a:t>
            </a:r>
            <a:endParaRPr sz="1100">
              <a:latin typeface="Calibri"/>
              <a:cs typeface="Calibri"/>
            </a:endParaRPr>
          </a:p>
          <a:p>
            <a:pPr marL="34290">
              <a:lnSpc>
                <a:spcPts val="1030"/>
              </a:lnSpc>
              <a:tabLst>
                <a:tab pos="297180" algn="l"/>
              </a:tabLst>
            </a:pPr>
            <a:r>
              <a:rPr sz="1100" strike="sngStrike" spc="5" dirty="0">
                <a:latin typeface="Times New Roman"/>
                <a:cs typeface="Times New Roman"/>
              </a:rPr>
              <a:t> 	</a:t>
            </a:r>
            <a:r>
              <a:rPr sz="1100" strike="sngStrike" spc="10" dirty="0">
                <a:latin typeface="Calibri"/>
                <a:cs typeface="Calibri"/>
              </a:rPr>
              <a:t>а</a:t>
            </a:r>
            <a:r>
              <a:rPr sz="1100" strike="noStrike" spc="10" dirty="0">
                <a:latin typeface="Calibri"/>
                <a:cs typeface="Calibri"/>
              </a:rPr>
              <a:t>рхитектурными</a:t>
            </a:r>
            <a:endParaRPr sz="1100">
              <a:latin typeface="Calibri"/>
              <a:cs typeface="Calibri"/>
            </a:endParaRPr>
          </a:p>
          <a:p>
            <a:pPr marL="362585" marR="357505" indent="-3810" algn="just">
              <a:lnSpc>
                <a:spcPct val="86000"/>
              </a:lnSpc>
              <a:spcBef>
                <a:spcPts val="95"/>
              </a:spcBef>
            </a:pPr>
            <a:r>
              <a:rPr sz="1100" spc="15" dirty="0">
                <a:latin typeface="Calibri"/>
                <a:cs typeface="Calibri"/>
              </a:rPr>
              <a:t>принципами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и </a:t>
            </a:r>
            <a:r>
              <a:rPr sz="1100" spc="-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т</a:t>
            </a:r>
            <a:r>
              <a:rPr sz="1100" spc="10" dirty="0">
                <a:latin typeface="Calibri"/>
                <a:cs typeface="Calibri"/>
              </a:rPr>
              <a:t>реб</a:t>
            </a:r>
            <a:r>
              <a:rPr sz="1100" spc="15" dirty="0">
                <a:latin typeface="Calibri"/>
                <a:cs typeface="Calibri"/>
              </a:rPr>
              <a:t>о</a:t>
            </a:r>
            <a:r>
              <a:rPr sz="1100" spc="5" dirty="0">
                <a:latin typeface="Calibri"/>
                <a:cs typeface="Calibri"/>
              </a:rPr>
              <a:t>ван</a:t>
            </a:r>
            <a:r>
              <a:rPr sz="1100" spc="25" dirty="0">
                <a:latin typeface="Calibri"/>
                <a:cs typeface="Calibri"/>
              </a:rPr>
              <a:t>и</a:t>
            </a:r>
            <a:r>
              <a:rPr sz="1100" spc="15" dirty="0">
                <a:latin typeface="Calibri"/>
                <a:cs typeface="Calibri"/>
              </a:rPr>
              <a:t>ям</a:t>
            </a:r>
            <a:r>
              <a:rPr sz="1100" spc="10" dirty="0">
                <a:latin typeface="Calibri"/>
                <a:cs typeface="Calibri"/>
              </a:rPr>
              <a:t>и  безопасности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330171" y="1804523"/>
            <a:ext cx="3210560" cy="3189605"/>
            <a:chOff x="5330171" y="1804523"/>
            <a:chExt cx="3210560" cy="3189605"/>
          </a:xfrm>
        </p:grpSpPr>
        <p:sp>
          <p:nvSpPr>
            <p:cNvPr id="66" name="object 66"/>
            <p:cNvSpPr/>
            <p:nvPr/>
          </p:nvSpPr>
          <p:spPr>
            <a:xfrm>
              <a:off x="5333981" y="2929492"/>
              <a:ext cx="0" cy="735330"/>
            </a:xfrm>
            <a:custGeom>
              <a:avLst/>
              <a:gdLst/>
              <a:ahLst/>
              <a:cxnLst/>
              <a:rect l="l" t="t" r="r" b="b"/>
              <a:pathLst>
                <a:path h="735329">
                  <a:moveTo>
                    <a:pt x="0" y="0"/>
                  </a:moveTo>
                  <a:lnTo>
                    <a:pt x="0" y="735167"/>
                  </a:lnTo>
                </a:path>
              </a:pathLst>
            </a:custGeom>
            <a:ln w="7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593706" y="3599788"/>
              <a:ext cx="53975" cy="130175"/>
            </a:xfrm>
            <a:custGeom>
              <a:avLst/>
              <a:gdLst/>
              <a:ahLst/>
              <a:cxnLst/>
              <a:rect l="l" t="t" r="r" b="b"/>
              <a:pathLst>
                <a:path w="53975" h="130175">
                  <a:moveTo>
                    <a:pt x="0" y="129742"/>
                  </a:moveTo>
                  <a:lnTo>
                    <a:pt x="53977" y="64871"/>
                  </a:lnTo>
                  <a:lnTo>
                    <a:pt x="0" y="0"/>
                  </a:lnTo>
                </a:path>
              </a:pathLst>
            </a:custGeom>
            <a:ln w="6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33981" y="2929492"/>
              <a:ext cx="628015" cy="1996439"/>
            </a:xfrm>
            <a:custGeom>
              <a:avLst/>
              <a:gdLst/>
              <a:ahLst/>
              <a:cxnLst/>
              <a:rect l="l" t="t" r="r" b="b"/>
              <a:pathLst>
                <a:path w="628014" h="1996439">
                  <a:moveTo>
                    <a:pt x="0" y="0"/>
                  </a:moveTo>
                  <a:lnTo>
                    <a:pt x="0" y="1996201"/>
                  </a:lnTo>
                </a:path>
                <a:path w="628014" h="1996439">
                  <a:moveTo>
                    <a:pt x="627658" y="1996201"/>
                  </a:moveTo>
                  <a:lnTo>
                    <a:pt x="306716" y="1996201"/>
                  </a:lnTo>
                </a:path>
              </a:pathLst>
            </a:custGeom>
            <a:ln w="7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93706" y="4860822"/>
              <a:ext cx="53975" cy="130175"/>
            </a:xfrm>
            <a:custGeom>
              <a:avLst/>
              <a:gdLst/>
              <a:ahLst/>
              <a:cxnLst/>
              <a:rect l="l" t="t" r="r" b="b"/>
              <a:pathLst>
                <a:path w="53975" h="130175">
                  <a:moveTo>
                    <a:pt x="0" y="129742"/>
                  </a:moveTo>
                  <a:lnTo>
                    <a:pt x="53977" y="64871"/>
                  </a:lnTo>
                  <a:lnTo>
                    <a:pt x="0" y="0"/>
                  </a:lnTo>
                </a:path>
              </a:pathLst>
            </a:custGeom>
            <a:ln w="6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268012" y="2115640"/>
              <a:ext cx="1160780" cy="809625"/>
            </a:xfrm>
            <a:custGeom>
              <a:avLst/>
              <a:gdLst/>
              <a:ahLst/>
              <a:cxnLst/>
              <a:rect l="l" t="t" r="r" b="b"/>
              <a:pathLst>
                <a:path w="1160779" h="809625">
                  <a:moveTo>
                    <a:pt x="1160469" y="0"/>
                  </a:moveTo>
                  <a:lnTo>
                    <a:pt x="0" y="0"/>
                  </a:lnTo>
                  <a:lnTo>
                    <a:pt x="0" y="809154"/>
                  </a:lnTo>
                  <a:lnTo>
                    <a:pt x="1160469" y="809154"/>
                  </a:lnTo>
                  <a:lnTo>
                    <a:pt x="1160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28067" y="1805476"/>
              <a:ext cx="1711960" cy="1140460"/>
            </a:xfrm>
            <a:custGeom>
              <a:avLst/>
              <a:gdLst/>
              <a:ahLst/>
              <a:cxnLst/>
              <a:rect l="l" t="t" r="r" b="b"/>
              <a:pathLst>
                <a:path w="1711959" h="1140460">
                  <a:moveTo>
                    <a:pt x="856647" y="0"/>
                  </a:moveTo>
                  <a:lnTo>
                    <a:pt x="0" y="349366"/>
                  </a:lnTo>
                  <a:lnTo>
                    <a:pt x="0" y="1140265"/>
                  </a:lnTo>
                  <a:lnTo>
                    <a:pt x="1711644" y="1140265"/>
                  </a:lnTo>
                  <a:lnTo>
                    <a:pt x="1711644" y="349366"/>
                  </a:lnTo>
                  <a:lnTo>
                    <a:pt x="8566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28067" y="1805476"/>
              <a:ext cx="1711960" cy="1140460"/>
            </a:xfrm>
            <a:custGeom>
              <a:avLst/>
              <a:gdLst/>
              <a:ahLst/>
              <a:cxnLst/>
              <a:rect l="l" t="t" r="r" b="b"/>
              <a:pathLst>
                <a:path w="1711959" h="1140460">
                  <a:moveTo>
                    <a:pt x="0" y="349366"/>
                  </a:moveTo>
                  <a:lnTo>
                    <a:pt x="0" y="1140265"/>
                  </a:lnTo>
                  <a:lnTo>
                    <a:pt x="1711644" y="1140265"/>
                  </a:lnTo>
                  <a:lnTo>
                    <a:pt x="1711644" y="349366"/>
                  </a:lnTo>
                  <a:lnTo>
                    <a:pt x="856647" y="0"/>
                  </a:lnTo>
                  <a:lnTo>
                    <a:pt x="0" y="3493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996512" y="2591551"/>
              <a:ext cx="525145" cy="414655"/>
            </a:xfrm>
            <a:custGeom>
              <a:avLst/>
              <a:gdLst/>
              <a:ahLst/>
              <a:cxnLst/>
              <a:rect l="l" t="t" r="r" b="b"/>
              <a:pathLst>
                <a:path w="525145" h="414655">
                  <a:moveTo>
                    <a:pt x="331355" y="0"/>
                  </a:moveTo>
                  <a:lnTo>
                    <a:pt x="206763" y="0"/>
                  </a:lnTo>
                  <a:lnTo>
                    <a:pt x="193428" y="12695"/>
                  </a:lnTo>
                  <a:lnTo>
                    <a:pt x="153167" y="12695"/>
                  </a:lnTo>
                  <a:lnTo>
                    <a:pt x="137927" y="25390"/>
                  </a:lnTo>
                  <a:lnTo>
                    <a:pt x="124337" y="37958"/>
                  </a:lnTo>
                  <a:lnTo>
                    <a:pt x="111002" y="37958"/>
                  </a:lnTo>
                  <a:lnTo>
                    <a:pt x="97666" y="50399"/>
                  </a:lnTo>
                  <a:lnTo>
                    <a:pt x="84077" y="64871"/>
                  </a:lnTo>
                  <a:lnTo>
                    <a:pt x="68836" y="64871"/>
                  </a:lnTo>
                  <a:lnTo>
                    <a:pt x="55501" y="77566"/>
                  </a:lnTo>
                  <a:lnTo>
                    <a:pt x="41784" y="90261"/>
                  </a:lnTo>
                  <a:lnTo>
                    <a:pt x="41784" y="102829"/>
                  </a:lnTo>
                  <a:lnTo>
                    <a:pt x="28830" y="115270"/>
                  </a:lnTo>
                  <a:lnTo>
                    <a:pt x="28830" y="142438"/>
                  </a:lnTo>
                  <a:lnTo>
                    <a:pt x="15240" y="142438"/>
                  </a:lnTo>
                  <a:lnTo>
                    <a:pt x="15240" y="167447"/>
                  </a:lnTo>
                  <a:lnTo>
                    <a:pt x="0" y="180142"/>
                  </a:lnTo>
                  <a:lnTo>
                    <a:pt x="0" y="232318"/>
                  </a:lnTo>
                  <a:lnTo>
                    <a:pt x="15240" y="232318"/>
                  </a:lnTo>
                  <a:lnTo>
                    <a:pt x="15240" y="259485"/>
                  </a:lnTo>
                  <a:lnTo>
                    <a:pt x="28830" y="272180"/>
                  </a:lnTo>
                  <a:lnTo>
                    <a:pt x="28830" y="284876"/>
                  </a:lnTo>
                  <a:lnTo>
                    <a:pt x="41784" y="309885"/>
                  </a:lnTo>
                  <a:lnTo>
                    <a:pt x="55501" y="324103"/>
                  </a:lnTo>
                  <a:lnTo>
                    <a:pt x="55501" y="337052"/>
                  </a:lnTo>
                  <a:lnTo>
                    <a:pt x="84077" y="337052"/>
                  </a:lnTo>
                  <a:lnTo>
                    <a:pt x="97666" y="362061"/>
                  </a:lnTo>
                  <a:lnTo>
                    <a:pt x="111002" y="362061"/>
                  </a:lnTo>
                  <a:lnTo>
                    <a:pt x="111002" y="374756"/>
                  </a:lnTo>
                  <a:lnTo>
                    <a:pt x="124337" y="374756"/>
                  </a:lnTo>
                  <a:lnTo>
                    <a:pt x="137927" y="388975"/>
                  </a:lnTo>
                  <a:lnTo>
                    <a:pt x="166503" y="388975"/>
                  </a:lnTo>
                  <a:lnTo>
                    <a:pt x="180092" y="401923"/>
                  </a:lnTo>
                  <a:lnTo>
                    <a:pt x="193428" y="401923"/>
                  </a:lnTo>
                  <a:lnTo>
                    <a:pt x="206763" y="414238"/>
                  </a:lnTo>
                  <a:lnTo>
                    <a:pt x="262265" y="414238"/>
                  </a:lnTo>
                  <a:lnTo>
                    <a:pt x="331355" y="414238"/>
                  </a:lnTo>
                  <a:lnTo>
                    <a:pt x="344691" y="401923"/>
                  </a:lnTo>
                  <a:lnTo>
                    <a:pt x="360312" y="401923"/>
                  </a:lnTo>
                  <a:lnTo>
                    <a:pt x="360312" y="388975"/>
                  </a:lnTo>
                  <a:lnTo>
                    <a:pt x="400573" y="388975"/>
                  </a:lnTo>
                  <a:lnTo>
                    <a:pt x="413908" y="374756"/>
                  </a:lnTo>
                  <a:lnTo>
                    <a:pt x="429022" y="374756"/>
                  </a:lnTo>
                  <a:lnTo>
                    <a:pt x="429022" y="362061"/>
                  </a:lnTo>
                  <a:lnTo>
                    <a:pt x="442358" y="362061"/>
                  </a:lnTo>
                  <a:lnTo>
                    <a:pt x="456074" y="337052"/>
                  </a:lnTo>
                  <a:lnTo>
                    <a:pt x="469410" y="337052"/>
                  </a:lnTo>
                  <a:lnTo>
                    <a:pt x="482618" y="324103"/>
                  </a:lnTo>
                  <a:lnTo>
                    <a:pt x="482618" y="309885"/>
                  </a:lnTo>
                  <a:lnTo>
                    <a:pt x="498240" y="309885"/>
                  </a:lnTo>
                  <a:lnTo>
                    <a:pt x="498240" y="284876"/>
                  </a:lnTo>
                  <a:lnTo>
                    <a:pt x="511575" y="272180"/>
                  </a:lnTo>
                  <a:lnTo>
                    <a:pt x="511575" y="259485"/>
                  </a:lnTo>
                  <a:lnTo>
                    <a:pt x="524911" y="245013"/>
                  </a:lnTo>
                  <a:lnTo>
                    <a:pt x="524911" y="155133"/>
                  </a:lnTo>
                  <a:lnTo>
                    <a:pt x="511575" y="155133"/>
                  </a:lnTo>
                  <a:lnTo>
                    <a:pt x="511575" y="142438"/>
                  </a:lnTo>
                  <a:lnTo>
                    <a:pt x="498240" y="129742"/>
                  </a:lnTo>
                  <a:lnTo>
                    <a:pt x="498240" y="102829"/>
                  </a:lnTo>
                  <a:lnTo>
                    <a:pt x="482618" y="90261"/>
                  </a:lnTo>
                  <a:lnTo>
                    <a:pt x="482618" y="77566"/>
                  </a:lnTo>
                  <a:lnTo>
                    <a:pt x="469410" y="77566"/>
                  </a:lnTo>
                  <a:lnTo>
                    <a:pt x="469410" y="64871"/>
                  </a:lnTo>
                  <a:lnTo>
                    <a:pt x="456074" y="64871"/>
                  </a:lnTo>
                  <a:lnTo>
                    <a:pt x="442358" y="50399"/>
                  </a:lnTo>
                  <a:lnTo>
                    <a:pt x="429022" y="37958"/>
                  </a:lnTo>
                  <a:lnTo>
                    <a:pt x="413908" y="37958"/>
                  </a:lnTo>
                  <a:lnTo>
                    <a:pt x="400573" y="25390"/>
                  </a:lnTo>
                  <a:lnTo>
                    <a:pt x="386856" y="25390"/>
                  </a:lnTo>
                  <a:lnTo>
                    <a:pt x="373521" y="12695"/>
                  </a:lnTo>
                  <a:lnTo>
                    <a:pt x="344691" y="12695"/>
                  </a:lnTo>
                  <a:lnTo>
                    <a:pt x="331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038297" y="2616941"/>
              <a:ext cx="456565" cy="363855"/>
            </a:xfrm>
            <a:custGeom>
              <a:avLst/>
              <a:gdLst/>
              <a:ahLst/>
              <a:cxnLst/>
              <a:rect l="l" t="t" r="r" b="b"/>
              <a:pathLst>
                <a:path w="456565" h="363855">
                  <a:moveTo>
                    <a:pt x="289571" y="0"/>
                  </a:moveTo>
                  <a:lnTo>
                    <a:pt x="164979" y="0"/>
                  </a:lnTo>
                  <a:lnTo>
                    <a:pt x="164979" y="12314"/>
                  </a:lnTo>
                  <a:lnTo>
                    <a:pt x="124718" y="12314"/>
                  </a:lnTo>
                  <a:lnTo>
                    <a:pt x="96142" y="39481"/>
                  </a:lnTo>
                  <a:lnTo>
                    <a:pt x="82553" y="39481"/>
                  </a:lnTo>
                  <a:lnTo>
                    <a:pt x="69217" y="52176"/>
                  </a:lnTo>
                  <a:lnTo>
                    <a:pt x="55882" y="52176"/>
                  </a:lnTo>
                  <a:lnTo>
                    <a:pt x="55882" y="64490"/>
                  </a:lnTo>
                  <a:lnTo>
                    <a:pt x="42292" y="77185"/>
                  </a:lnTo>
                  <a:lnTo>
                    <a:pt x="42292" y="89880"/>
                  </a:lnTo>
                  <a:lnTo>
                    <a:pt x="27052" y="89880"/>
                  </a:lnTo>
                  <a:lnTo>
                    <a:pt x="27052" y="117047"/>
                  </a:lnTo>
                  <a:lnTo>
                    <a:pt x="13716" y="117047"/>
                  </a:lnTo>
                  <a:lnTo>
                    <a:pt x="13716" y="154752"/>
                  </a:lnTo>
                  <a:lnTo>
                    <a:pt x="0" y="154752"/>
                  </a:lnTo>
                  <a:lnTo>
                    <a:pt x="0" y="194233"/>
                  </a:lnTo>
                  <a:lnTo>
                    <a:pt x="13716" y="206928"/>
                  </a:lnTo>
                  <a:lnTo>
                    <a:pt x="13716" y="234095"/>
                  </a:lnTo>
                  <a:lnTo>
                    <a:pt x="27052" y="246410"/>
                  </a:lnTo>
                  <a:lnTo>
                    <a:pt x="27052" y="259105"/>
                  </a:lnTo>
                  <a:lnTo>
                    <a:pt x="42292" y="271800"/>
                  </a:lnTo>
                  <a:lnTo>
                    <a:pt x="42292" y="284495"/>
                  </a:lnTo>
                  <a:lnTo>
                    <a:pt x="55882" y="284495"/>
                  </a:lnTo>
                  <a:lnTo>
                    <a:pt x="55882" y="298713"/>
                  </a:lnTo>
                  <a:lnTo>
                    <a:pt x="69217" y="311281"/>
                  </a:lnTo>
                  <a:lnTo>
                    <a:pt x="82553" y="311281"/>
                  </a:lnTo>
                  <a:lnTo>
                    <a:pt x="96142" y="323976"/>
                  </a:lnTo>
                  <a:lnTo>
                    <a:pt x="111383" y="336671"/>
                  </a:lnTo>
                  <a:lnTo>
                    <a:pt x="138308" y="336671"/>
                  </a:lnTo>
                  <a:lnTo>
                    <a:pt x="138308" y="349366"/>
                  </a:lnTo>
                  <a:lnTo>
                    <a:pt x="164979" y="349366"/>
                  </a:lnTo>
                  <a:lnTo>
                    <a:pt x="164979" y="363585"/>
                  </a:lnTo>
                  <a:lnTo>
                    <a:pt x="234070" y="363585"/>
                  </a:lnTo>
                  <a:lnTo>
                    <a:pt x="289571" y="363585"/>
                  </a:lnTo>
                  <a:lnTo>
                    <a:pt x="289571" y="349366"/>
                  </a:lnTo>
                  <a:lnTo>
                    <a:pt x="318528" y="349366"/>
                  </a:lnTo>
                  <a:lnTo>
                    <a:pt x="331736" y="336671"/>
                  </a:lnTo>
                  <a:lnTo>
                    <a:pt x="358788" y="336671"/>
                  </a:lnTo>
                  <a:lnTo>
                    <a:pt x="372124" y="323976"/>
                  </a:lnTo>
                  <a:lnTo>
                    <a:pt x="372124" y="311281"/>
                  </a:lnTo>
                  <a:lnTo>
                    <a:pt x="387237" y="311281"/>
                  </a:lnTo>
                  <a:lnTo>
                    <a:pt x="400573" y="298713"/>
                  </a:lnTo>
                  <a:lnTo>
                    <a:pt x="414289" y="284495"/>
                  </a:lnTo>
                  <a:lnTo>
                    <a:pt x="414289" y="271800"/>
                  </a:lnTo>
                  <a:lnTo>
                    <a:pt x="440833" y="246410"/>
                  </a:lnTo>
                  <a:lnTo>
                    <a:pt x="440833" y="234095"/>
                  </a:lnTo>
                  <a:lnTo>
                    <a:pt x="456455" y="219623"/>
                  </a:lnTo>
                  <a:lnTo>
                    <a:pt x="456455" y="129362"/>
                  </a:lnTo>
                  <a:lnTo>
                    <a:pt x="440833" y="129362"/>
                  </a:lnTo>
                  <a:lnTo>
                    <a:pt x="440833" y="117047"/>
                  </a:lnTo>
                  <a:lnTo>
                    <a:pt x="427625" y="104352"/>
                  </a:lnTo>
                  <a:lnTo>
                    <a:pt x="427625" y="89880"/>
                  </a:lnTo>
                  <a:lnTo>
                    <a:pt x="414289" y="89880"/>
                  </a:lnTo>
                  <a:lnTo>
                    <a:pt x="414289" y="64490"/>
                  </a:lnTo>
                  <a:lnTo>
                    <a:pt x="400573" y="52176"/>
                  </a:lnTo>
                  <a:lnTo>
                    <a:pt x="387237" y="52176"/>
                  </a:lnTo>
                  <a:lnTo>
                    <a:pt x="372124" y="39481"/>
                  </a:lnTo>
                  <a:lnTo>
                    <a:pt x="358788" y="25009"/>
                  </a:lnTo>
                  <a:lnTo>
                    <a:pt x="345072" y="25009"/>
                  </a:lnTo>
                  <a:lnTo>
                    <a:pt x="345072" y="12314"/>
                  </a:lnTo>
                  <a:lnTo>
                    <a:pt x="289571" y="12314"/>
                  </a:lnTo>
                  <a:lnTo>
                    <a:pt x="289571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107514" y="2669117"/>
              <a:ext cx="318135" cy="259715"/>
            </a:xfrm>
            <a:custGeom>
              <a:avLst/>
              <a:gdLst/>
              <a:ahLst/>
              <a:cxnLst/>
              <a:rect l="l" t="t" r="r" b="b"/>
              <a:pathLst>
                <a:path w="318134" h="259714">
                  <a:moveTo>
                    <a:pt x="233688" y="0"/>
                  </a:moveTo>
                  <a:lnTo>
                    <a:pt x="82426" y="0"/>
                  </a:lnTo>
                  <a:lnTo>
                    <a:pt x="82426" y="12314"/>
                  </a:lnTo>
                  <a:lnTo>
                    <a:pt x="69090" y="12314"/>
                  </a:lnTo>
                  <a:lnTo>
                    <a:pt x="69090" y="25263"/>
                  </a:lnTo>
                  <a:lnTo>
                    <a:pt x="55501" y="25263"/>
                  </a:lnTo>
                  <a:lnTo>
                    <a:pt x="55501" y="37704"/>
                  </a:lnTo>
                  <a:lnTo>
                    <a:pt x="42165" y="37704"/>
                  </a:lnTo>
                  <a:lnTo>
                    <a:pt x="26671" y="52176"/>
                  </a:lnTo>
                  <a:lnTo>
                    <a:pt x="26671" y="64871"/>
                  </a:lnTo>
                  <a:lnTo>
                    <a:pt x="13335" y="64871"/>
                  </a:lnTo>
                  <a:lnTo>
                    <a:pt x="13335" y="77566"/>
                  </a:lnTo>
                  <a:lnTo>
                    <a:pt x="0" y="77566"/>
                  </a:lnTo>
                  <a:lnTo>
                    <a:pt x="0" y="167447"/>
                  </a:lnTo>
                  <a:lnTo>
                    <a:pt x="13335" y="181919"/>
                  </a:lnTo>
                  <a:lnTo>
                    <a:pt x="26671" y="194614"/>
                  </a:lnTo>
                  <a:lnTo>
                    <a:pt x="26671" y="207309"/>
                  </a:lnTo>
                  <a:lnTo>
                    <a:pt x="42165" y="207309"/>
                  </a:lnTo>
                  <a:lnTo>
                    <a:pt x="42165" y="219623"/>
                  </a:lnTo>
                  <a:lnTo>
                    <a:pt x="55501" y="219623"/>
                  </a:lnTo>
                  <a:lnTo>
                    <a:pt x="55501" y="232318"/>
                  </a:lnTo>
                  <a:lnTo>
                    <a:pt x="82426" y="232318"/>
                  </a:lnTo>
                  <a:lnTo>
                    <a:pt x="82426" y="246790"/>
                  </a:lnTo>
                  <a:lnTo>
                    <a:pt x="95761" y="246790"/>
                  </a:lnTo>
                  <a:lnTo>
                    <a:pt x="95761" y="259485"/>
                  </a:lnTo>
                  <a:lnTo>
                    <a:pt x="164852" y="259485"/>
                  </a:lnTo>
                  <a:lnTo>
                    <a:pt x="220353" y="259485"/>
                  </a:lnTo>
                  <a:lnTo>
                    <a:pt x="220353" y="246790"/>
                  </a:lnTo>
                  <a:lnTo>
                    <a:pt x="233688" y="246790"/>
                  </a:lnTo>
                  <a:lnTo>
                    <a:pt x="249310" y="232318"/>
                  </a:lnTo>
                  <a:lnTo>
                    <a:pt x="262519" y="232318"/>
                  </a:lnTo>
                  <a:lnTo>
                    <a:pt x="276235" y="219623"/>
                  </a:lnTo>
                  <a:lnTo>
                    <a:pt x="276235" y="207309"/>
                  </a:lnTo>
                  <a:lnTo>
                    <a:pt x="302906" y="207309"/>
                  </a:lnTo>
                  <a:lnTo>
                    <a:pt x="302906" y="181919"/>
                  </a:lnTo>
                  <a:lnTo>
                    <a:pt x="318020" y="167447"/>
                  </a:lnTo>
                  <a:lnTo>
                    <a:pt x="318020" y="77566"/>
                  </a:lnTo>
                  <a:lnTo>
                    <a:pt x="302906" y="77566"/>
                  </a:lnTo>
                  <a:lnTo>
                    <a:pt x="302906" y="52176"/>
                  </a:lnTo>
                  <a:lnTo>
                    <a:pt x="289571" y="52176"/>
                  </a:lnTo>
                  <a:lnTo>
                    <a:pt x="289571" y="37704"/>
                  </a:lnTo>
                  <a:lnTo>
                    <a:pt x="276235" y="37704"/>
                  </a:lnTo>
                  <a:lnTo>
                    <a:pt x="262519" y="25263"/>
                  </a:lnTo>
                  <a:lnTo>
                    <a:pt x="249310" y="12314"/>
                  </a:lnTo>
                  <a:lnTo>
                    <a:pt x="233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24072" y="2603357"/>
              <a:ext cx="428514" cy="391007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6814732" y="2091274"/>
            <a:ext cx="45974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5" dirty="0">
                <a:latin typeface="Calibri"/>
                <a:cs typeface="Calibri"/>
              </a:rPr>
              <a:t>Безопа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399662" y="2091274"/>
            <a:ext cx="14097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25" dirty="0">
                <a:latin typeface="Calibri"/>
                <a:cs typeface="Calibri"/>
              </a:rPr>
              <a:t>и</a:t>
            </a:r>
            <a:r>
              <a:rPr sz="1100" spc="5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17893" y="2235616"/>
            <a:ext cx="17907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5" dirty="0">
                <a:latin typeface="Calibri"/>
                <a:cs typeface="Calibri"/>
              </a:rPr>
              <a:t>об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106843" y="2379577"/>
            <a:ext cx="182245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25" dirty="0">
                <a:latin typeface="Calibri"/>
                <a:cs typeface="Calibri"/>
              </a:rPr>
              <a:t>и</a:t>
            </a:r>
            <a:r>
              <a:rPr sz="1100" spc="20" dirty="0">
                <a:latin typeface="Calibri"/>
                <a:cs typeface="Calibri"/>
              </a:rPr>
              <a:t>н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68012" y="2115641"/>
            <a:ext cx="1160780" cy="809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" marR="9525" indent="-14604">
              <a:lnSpc>
                <a:spcPct val="86000"/>
              </a:lnSpc>
              <a:spcBef>
                <a:spcPts val="130"/>
              </a:spcBef>
            </a:pPr>
            <a:r>
              <a:rPr sz="1100" spc="10" dirty="0">
                <a:latin typeface="Calibri"/>
                <a:cs typeface="Calibri"/>
              </a:rPr>
              <a:t>сность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информаци </a:t>
            </a:r>
            <a:r>
              <a:rPr sz="1100" spc="-229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рабатывающей 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фраструктуры </a:t>
            </a:r>
            <a:r>
              <a:rPr sz="1100" spc="20" dirty="0">
                <a:latin typeface="Calibri"/>
                <a:cs typeface="Calibri"/>
              </a:rPr>
              <a:t>и 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приложений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177330" y="2929492"/>
            <a:ext cx="502284" cy="2061210"/>
          </a:xfrm>
          <a:custGeom>
            <a:avLst/>
            <a:gdLst/>
            <a:ahLst/>
            <a:cxnLst/>
            <a:rect l="l" t="t" r="r" b="b"/>
            <a:pathLst>
              <a:path w="502284" h="2061210">
                <a:moveTo>
                  <a:pt x="501669" y="0"/>
                </a:moveTo>
                <a:lnTo>
                  <a:pt x="501669" y="1996201"/>
                </a:lnTo>
              </a:path>
              <a:path w="502284" h="2061210">
                <a:moveTo>
                  <a:pt x="501669" y="1996201"/>
                </a:moveTo>
                <a:lnTo>
                  <a:pt x="0" y="1996201"/>
                </a:lnTo>
              </a:path>
              <a:path w="502284" h="2061210">
                <a:moveTo>
                  <a:pt x="61470" y="1931329"/>
                </a:moveTo>
                <a:lnTo>
                  <a:pt x="7239" y="1996201"/>
                </a:lnTo>
                <a:lnTo>
                  <a:pt x="61470" y="2061072"/>
                </a:lnTo>
              </a:path>
              <a:path w="502284" h="2061210">
                <a:moveTo>
                  <a:pt x="501669" y="0"/>
                </a:moveTo>
                <a:lnTo>
                  <a:pt x="501669" y="735167"/>
                </a:lnTo>
              </a:path>
              <a:path w="502284" h="2061210">
                <a:moveTo>
                  <a:pt x="501669" y="735167"/>
                </a:moveTo>
                <a:lnTo>
                  <a:pt x="0" y="735167"/>
                </a:lnTo>
              </a:path>
              <a:path w="502284" h="2061210">
                <a:moveTo>
                  <a:pt x="61470" y="670296"/>
                </a:moveTo>
                <a:lnTo>
                  <a:pt x="7239" y="735167"/>
                </a:lnTo>
                <a:lnTo>
                  <a:pt x="61470" y="800039"/>
                </a:lnTo>
              </a:path>
            </a:pathLst>
          </a:custGeom>
          <a:ln w="7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641951" y="4754191"/>
            <a:ext cx="1459865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5" dirty="0">
                <a:latin typeface="Calibri"/>
                <a:cs typeface="Calibri"/>
              </a:rPr>
              <a:t>Выполнение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проекта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в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60037" y="4898178"/>
            <a:ext cx="142494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0" dirty="0">
                <a:latin typeface="Calibri"/>
                <a:cs typeface="Calibri"/>
              </a:rPr>
              <a:t>соответствии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с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планом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2126600" y="2929492"/>
            <a:ext cx="321310" cy="2061210"/>
          </a:xfrm>
          <a:custGeom>
            <a:avLst/>
            <a:gdLst/>
            <a:ahLst/>
            <a:cxnLst/>
            <a:rect l="l" t="t" r="r" b="b"/>
            <a:pathLst>
              <a:path w="321310" h="2061210">
                <a:moveTo>
                  <a:pt x="320941" y="0"/>
                </a:moveTo>
                <a:lnTo>
                  <a:pt x="320941" y="1996201"/>
                </a:lnTo>
              </a:path>
              <a:path w="321310" h="2061210">
                <a:moveTo>
                  <a:pt x="320941" y="1996201"/>
                </a:moveTo>
                <a:lnTo>
                  <a:pt x="0" y="1996201"/>
                </a:lnTo>
              </a:path>
              <a:path w="321310" h="2061210">
                <a:moveTo>
                  <a:pt x="61216" y="1931329"/>
                </a:moveTo>
                <a:lnTo>
                  <a:pt x="7239" y="1996201"/>
                </a:lnTo>
                <a:lnTo>
                  <a:pt x="61216" y="2061072"/>
                </a:lnTo>
              </a:path>
            </a:pathLst>
          </a:custGeom>
          <a:ln w="7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923" y="668273"/>
            <a:ext cx="5568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Отражение</a:t>
            </a:r>
            <a:r>
              <a:rPr spc="-20" dirty="0"/>
              <a:t> </a:t>
            </a:r>
            <a:r>
              <a:rPr spc="-5" dirty="0"/>
              <a:t>целей</a:t>
            </a:r>
            <a:r>
              <a:rPr spc="-20" dirty="0"/>
              <a:t> </a:t>
            </a:r>
            <a:r>
              <a:rPr dirty="0"/>
              <a:t>ИТ</a:t>
            </a:r>
            <a:r>
              <a:rPr spc="-10" dirty="0"/>
              <a:t> </a:t>
            </a:r>
            <a:r>
              <a:rPr dirty="0"/>
              <a:t>в</a:t>
            </a:r>
            <a:r>
              <a:rPr spc="-10" dirty="0"/>
              <a:t> </a:t>
            </a:r>
            <a:r>
              <a:rPr spc="-5" dirty="0"/>
              <a:t>целях процесса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853" y="1556740"/>
            <a:ext cx="7215251" cy="479742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84" rIns="0" bIns="0" rtlCol="0">
            <a:spAutoFit/>
          </a:bodyPr>
          <a:lstStyle/>
          <a:p>
            <a:pPr marL="1444625" marR="5080" indent="-8216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Закрепление достижения </a:t>
            </a:r>
            <a:r>
              <a:rPr dirty="0"/>
              <a:t>целевых </a:t>
            </a:r>
            <a:r>
              <a:rPr spc="-5" dirty="0"/>
              <a:t>значений </a:t>
            </a:r>
            <a:r>
              <a:rPr spc="-710" dirty="0"/>
              <a:t> </a:t>
            </a:r>
            <a:r>
              <a:rPr dirty="0"/>
              <a:t>показателей</a:t>
            </a:r>
            <a:r>
              <a:rPr spc="-10" dirty="0"/>
              <a:t> </a:t>
            </a:r>
            <a:r>
              <a:rPr spc="-5" dirty="0"/>
              <a:t>за</a:t>
            </a:r>
            <a:r>
              <a:rPr dirty="0"/>
              <a:t> </a:t>
            </a:r>
            <a:r>
              <a:rPr spc="-5" dirty="0"/>
              <a:t>ролями</a:t>
            </a:r>
            <a:r>
              <a:rPr spc="5" dirty="0"/>
              <a:t> </a:t>
            </a:r>
            <a:r>
              <a:rPr spc="-5" dirty="0"/>
              <a:t>процесса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7169" y="1722247"/>
          <a:ext cx="8422635" cy="40542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9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33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9072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31445" marR="125095" indent="15240">
                        <a:lnSpc>
                          <a:spcPct val="114599"/>
                        </a:lnSpc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№  пп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486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Этапы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процесса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402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Создание</a:t>
                      </a:r>
                      <a:r>
                        <a:rPr sz="16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ИТ-решений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Внешние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роли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(заинтересованные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лица)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Внутренние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роли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(исполнители)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81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Заказчик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74930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Руководитель</a:t>
                      </a:r>
                      <a:r>
                        <a:rPr sz="13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ИТ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37160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Администратор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портфеля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проектов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2865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Ответственный</a:t>
                      </a:r>
                      <a:r>
                        <a:rPr sz="13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за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R="792480">
                        <a:lnSpc>
                          <a:spcPct val="114599"/>
                        </a:lnSpc>
                        <a:spcBef>
                          <a:spcPts val="15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корпор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а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ти</a:t>
                      </a:r>
                      <a:r>
                        <a:rPr sz="1300" spc="5" dirty="0">
                          <a:latin typeface="Trebuchet MS"/>
                          <a:cs typeface="Trebuchet MS"/>
                        </a:rPr>
                        <a:t>в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ную 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архитектуру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Ответственный</a:t>
                      </a:r>
                      <a:r>
                        <a:rPr sz="13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за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R="610235">
                        <a:lnSpc>
                          <a:spcPct val="114599"/>
                        </a:lnSpc>
                        <a:spcBef>
                          <a:spcPts val="1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информа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ц</a:t>
                      </a:r>
                      <a:r>
                        <a:rPr sz="1300" dirty="0">
                          <a:latin typeface="Trebuchet MS"/>
                          <a:cs typeface="Trebuchet MS"/>
                        </a:rPr>
                        <a:t>ион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н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ую  безопасность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6510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95"/>
                        </a:lnSpc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Ответственный</a:t>
                      </a:r>
                      <a:r>
                        <a:rPr sz="13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за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ts val="1420"/>
                        </a:lnSpc>
                        <a:spcBef>
                          <a:spcPts val="240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сопровождение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0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Руководитель</a:t>
                      </a:r>
                      <a:r>
                        <a:rPr sz="13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проекта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Ответственный</a:t>
                      </a:r>
                      <a:r>
                        <a:rPr sz="13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за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проектирование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255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0"/>
                        </a:lnSpc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Ответственный</a:t>
                      </a:r>
                      <a:r>
                        <a:rPr sz="13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за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ts val="1480"/>
                        </a:lnSpc>
                        <a:spcBef>
                          <a:spcPts val="24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разработку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0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Ответственный</a:t>
                      </a:r>
                      <a:r>
                        <a:rPr sz="13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за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ts val="1470"/>
                        </a:lnSpc>
                        <a:spcBef>
                          <a:spcPts val="24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тестирование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0" marB="0" vert="vert27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Планирование</a:t>
                      </a:r>
                      <a:r>
                        <a:rPr sz="13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ИТ-решений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С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С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C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R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2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Проектирование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ИТ-решений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C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C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C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R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C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3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Реализация</a:t>
                      </a:r>
                      <a:r>
                        <a:rPr sz="13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ИТ-решений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C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R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R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63"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4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300" spc="-5" dirty="0">
                          <a:latin typeface="Trebuchet MS"/>
                          <a:cs typeface="Trebuchet MS"/>
                        </a:rPr>
                        <a:t>Заключительная</a:t>
                      </a:r>
                      <a:r>
                        <a:rPr sz="13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latin typeface="Trebuchet MS"/>
                          <a:cs typeface="Trebuchet MS"/>
                        </a:rPr>
                        <a:t>подготовка</a:t>
                      </a:r>
                      <a:r>
                        <a:rPr sz="13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и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внедрение</a:t>
                      </a:r>
                      <a:r>
                        <a:rPr sz="13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latin typeface="Trebuchet MS"/>
                          <a:cs typeface="Trebuchet MS"/>
                        </a:rPr>
                        <a:t>ИТ-решений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R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С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С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8633" y="668273"/>
            <a:ext cx="67475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Модель</a:t>
            </a:r>
            <a:r>
              <a:rPr spc="-15" dirty="0"/>
              <a:t> </a:t>
            </a:r>
            <a:r>
              <a:rPr spc="-5" dirty="0"/>
              <a:t>оценки </a:t>
            </a:r>
            <a:r>
              <a:rPr spc="-10" dirty="0"/>
              <a:t>зрелости</a:t>
            </a:r>
            <a:r>
              <a:rPr spc="-5" dirty="0"/>
              <a:t> процессов</a:t>
            </a:r>
            <a:r>
              <a:rPr spc="5" dirty="0"/>
              <a:t> </a:t>
            </a:r>
            <a:r>
              <a:rPr dirty="0"/>
              <a:t>(COBIT</a:t>
            </a:r>
            <a:r>
              <a:rPr spc="-55" dirty="0"/>
              <a:t> </a:t>
            </a:r>
            <a:r>
              <a:rPr spc="-5" dirty="0"/>
              <a:t>4.1)</a:t>
            </a:r>
          </a:p>
        </p:txBody>
      </p:sp>
      <p:sp>
        <p:nvSpPr>
          <p:cNvPr id="3" name="object 3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473" y="1824989"/>
            <a:ext cx="8425053" cy="379590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597" y="1499057"/>
            <a:ext cx="5799455" cy="159893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 marR="5080">
              <a:lnSpc>
                <a:spcPct val="72900"/>
              </a:lnSpc>
              <a:spcBef>
                <a:spcPts val="1465"/>
              </a:spcBef>
            </a:pPr>
            <a:r>
              <a:rPr sz="4200" spc="15" dirty="0">
                <a:solidFill>
                  <a:srgbClr val="C0504D"/>
                </a:solidFill>
                <a:latin typeface="Courier New"/>
                <a:cs typeface="Courier New"/>
              </a:rPr>
              <a:t>o</a:t>
            </a:r>
            <a:r>
              <a:rPr sz="2800" spc="15" dirty="0">
                <a:latin typeface="Trebuchet MS"/>
                <a:cs typeface="Trebuchet MS"/>
              </a:rPr>
              <a:t>Важность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для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достижения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целей </a:t>
            </a:r>
            <a:r>
              <a:rPr sz="2800" spc="-825" dirty="0">
                <a:latin typeface="Trebuchet MS"/>
                <a:cs typeface="Trebuchet MS"/>
              </a:rPr>
              <a:t> </a:t>
            </a:r>
            <a:r>
              <a:rPr sz="4200" spc="15" dirty="0">
                <a:solidFill>
                  <a:srgbClr val="FFCC00"/>
                </a:solidFill>
                <a:latin typeface="Courier New"/>
                <a:cs typeface="Courier New"/>
              </a:rPr>
              <a:t>o</a:t>
            </a:r>
            <a:r>
              <a:rPr sz="2800" spc="15" dirty="0">
                <a:latin typeface="Trebuchet MS"/>
                <a:cs typeface="Trebuchet MS"/>
              </a:rPr>
              <a:t>Уровень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достижения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целей 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4200" spc="15" dirty="0">
                <a:solidFill>
                  <a:srgbClr val="00AF50"/>
                </a:solidFill>
                <a:latin typeface="Courier New"/>
                <a:cs typeface="Courier New"/>
              </a:rPr>
              <a:t>o</a:t>
            </a:r>
            <a:r>
              <a:rPr sz="2800" spc="15" dirty="0">
                <a:latin typeface="Trebuchet MS"/>
                <a:cs typeface="Trebuchet MS"/>
              </a:rPr>
              <a:t>Уровень </a:t>
            </a:r>
            <a:r>
              <a:rPr sz="2800" spc="-10" dirty="0">
                <a:latin typeface="Trebuchet MS"/>
                <a:cs typeface="Trebuchet MS"/>
              </a:rPr>
              <a:t>зрелости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Сопоставление</a:t>
            </a:r>
            <a:r>
              <a:rPr spc="25" dirty="0"/>
              <a:t> </a:t>
            </a:r>
            <a:r>
              <a:rPr spc="-10" dirty="0"/>
              <a:t>процессных</a:t>
            </a:r>
            <a:r>
              <a:rPr dirty="0"/>
              <a:t> </a:t>
            </a:r>
            <a:r>
              <a:rPr spc="-10" dirty="0"/>
              <a:t>рейтингов</a:t>
            </a:r>
          </a:p>
        </p:txBody>
      </p:sp>
      <p:sp>
        <p:nvSpPr>
          <p:cNvPr id="4" name="object 4"/>
          <p:cNvSpPr/>
          <p:nvPr/>
        </p:nvSpPr>
        <p:spPr>
          <a:xfrm>
            <a:off x="1691639" y="260605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89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91639" y="1412749"/>
            <a:ext cx="5760720" cy="72390"/>
          </a:xfrm>
          <a:custGeom>
            <a:avLst/>
            <a:gdLst/>
            <a:ahLst/>
            <a:cxnLst/>
            <a:rect l="l" t="t" r="r" b="b"/>
            <a:pathLst>
              <a:path w="5760720" h="72390">
                <a:moveTo>
                  <a:pt x="5760593" y="0"/>
                </a:moveTo>
                <a:lnTo>
                  <a:pt x="0" y="0"/>
                </a:lnTo>
                <a:lnTo>
                  <a:pt x="0" y="72007"/>
                </a:lnTo>
                <a:lnTo>
                  <a:pt x="5760593" y="72007"/>
                </a:lnTo>
                <a:lnTo>
                  <a:pt x="576059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348" y="3140964"/>
            <a:ext cx="8147304" cy="272262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ITIL или COBIT: сравнение </a:t>
            </a:r>
            <a:r>
              <a:rPr lang="ru-RU" b="1" dirty="0" err="1"/>
              <a:t>фреймворков</a:t>
            </a:r>
            <a:r>
              <a:rPr lang="ru-RU" b="1" dirty="0"/>
              <a:t> управления ИТ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7169" y="1722247"/>
            <a:ext cx="8444230" cy="3600986"/>
          </a:xfrm>
        </p:spPr>
        <p:txBody>
          <a:bodyPr/>
          <a:lstStyle/>
          <a:p>
            <a:r>
              <a:rPr lang="ru-RU" dirty="0"/>
              <a:t>COBIT — это </a:t>
            </a:r>
            <a:r>
              <a:rPr lang="ru-RU" dirty="0" err="1"/>
              <a:t>фреймворк</a:t>
            </a:r>
            <a:r>
              <a:rPr lang="ru-RU" dirty="0"/>
              <a:t>, набор методов, позволяющих высшему руководству организации понять метод, с помощью которого следует обращаться к ИТ-предприятию. Он помогает организации решать повседневные бизнес-задачи в области управления рисками и соблюдения нормативных требований, а также согласовывать цели организации со стратегией ИТ. COBIT 5, выпущенный в 2012 году, является последней версией </a:t>
            </a:r>
            <a:r>
              <a:rPr lang="ru-RU" dirty="0" err="1"/>
              <a:t>фреймворка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ITIL — это дорожная карта, установленная для организации, которая помогает понять, как работать с обычными процессами ИТ-отдела. Это библиотека томов, которая помогает организации управлять своими рисками, внедрять экономически эффективные методы и укреплять отношения с клиентами. ITIL 4 — это последняя версия, в которой организации предоставляется цифровая операционная модель для получения реальной ценности от ИТ-продуктов и услуг.</a:t>
            </a:r>
          </a:p>
        </p:txBody>
      </p:sp>
    </p:spTree>
    <p:extLst>
      <p:ext uri="{BB962C8B-B14F-4D97-AF65-F5344CB8AC3E}">
        <p14:creationId xmlns:p14="http://schemas.microsoft.com/office/powerpoint/2010/main" val="2432679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3427" y="302209"/>
            <a:ext cx="7537145" cy="738664"/>
          </a:xfrm>
        </p:spPr>
        <p:txBody>
          <a:bodyPr/>
          <a:lstStyle/>
          <a:p>
            <a:r>
              <a:rPr lang="ru-RU" b="1" dirty="0"/>
              <a:t>Сравнительная таблица COBIT и ITIL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696776"/>
              </p:ext>
            </p:extLst>
          </p:nvPr>
        </p:nvGraphicFramePr>
        <p:xfrm>
          <a:off x="533400" y="762000"/>
          <a:ext cx="7696200" cy="4604491"/>
        </p:xfrm>
        <a:graphic>
          <a:graphicData uri="http://schemas.openxmlformats.org/drawingml/2006/table">
            <a:tbl>
              <a:tblPr/>
              <a:tblGrid>
                <a:gridCol w="1474122">
                  <a:extLst>
                    <a:ext uri="{9D8B030D-6E8A-4147-A177-3AD203B41FA5}">
                      <a16:colId xmlns:a16="http://schemas.microsoft.com/office/drawing/2014/main" val="720573897"/>
                    </a:ext>
                  </a:extLst>
                </a:gridCol>
                <a:gridCol w="3656678">
                  <a:extLst>
                    <a:ext uri="{9D8B030D-6E8A-4147-A177-3AD203B41FA5}">
                      <a16:colId xmlns:a16="http://schemas.microsoft.com/office/drawing/2014/main" val="1414633398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72351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равнение</a:t>
                      </a:r>
                      <a:endParaRPr lang="ru-RU" sz="1200" dirty="0">
                        <a:effectLst/>
                      </a:endParaRP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COBIT</a:t>
                      </a:r>
                      <a:endParaRPr lang="en-US" sz="1200">
                        <a:effectLst/>
                      </a:endParaRP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ITIL</a:t>
                      </a:r>
                      <a:endParaRPr lang="en-US" sz="1200">
                        <a:effectLst/>
                      </a:endParaRP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08591"/>
                  </a:ext>
                </a:extLst>
              </a:tr>
              <a:tr h="1154877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Определение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COBIT — это структура, которая используется для разработки, мониторинга, улучшения и реализации руководства и управления ИТ, опубликованного ISACA. Это набор руководящих принципов, которые необходимы для каждой организации.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ITIL — это структура, в которой излагаются лучшие практики, планы и реализации, направленные на улучшение ИТ-услуг в соответствии с бизнес-требованиями. Он также определяет весь процесс улучшения жизненного цикла ИТ-услуг.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895075"/>
                  </a:ext>
                </a:extLst>
              </a:tr>
              <a:tr h="47701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Объем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Он фокусируется на ITSM, но имеет более широкий охват, чем ITIL. COBIT фокусируется на всей организации.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ITIL фокусируется на ITSM, но его структура ограничена областью ИТ.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54603"/>
                  </a:ext>
                </a:extLst>
              </a:tr>
              <a:tr h="627650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Подход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В нем используется подход «сверху вниз», чтобы обеспечить точную разницу между управлением и управлением в ИТ-секторе.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Он использует восходящий подход, который фокусируется на тактике и контроле управления ИТ-услугами ITSM.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61181"/>
                  </a:ext>
                </a:extLst>
              </a:tr>
              <a:tr h="1004241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Цель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Основная цель состоит в том, чтобы передать управление ИТ-услугами организации с помощью набора правил. Он также согласовывает ИТ-цели с бизнес-целями и управляет рисками, эффективностью ИТ и ресурсами.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Основной задачей является контроль ИТ-отделов и служб ITSM. Он обеспечивает поддержку для безупречной работы.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22922"/>
                  </a:ext>
                </a:extLst>
              </a:tr>
              <a:tr h="702968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Общие проблемы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Общие проблемы решаются эффективно. COBIT устанавливает ориентиры для ИТ-отдела и часто оценивает их для достижения целей.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Общие проблемы эффективно решаются ИТ-отделом. Это помогает отделу сократить время простоя и проблему постоянной перегрузки.</a:t>
                      </a:r>
                    </a:p>
                  </a:txBody>
                  <a:tcPr marL="25106" marR="25106" marT="12553" marB="12553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2070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723899" y="5456950"/>
            <a:ext cx="7696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Montserrat"/>
              </a:rPr>
              <a:t>Каждая структура работает по-своему и приносит пользу предприятию по-своему. В то время как COBIT уделяет внимание улучшению ИТ-структуры на благо компании, ITIL ищет методы, с помощью которых ИТ-отдел может работать лучше.</a:t>
            </a:r>
            <a:endParaRPr lang="ru-RU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267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3427" y="302209"/>
            <a:ext cx="7537145" cy="738664"/>
          </a:xfrm>
        </p:spPr>
        <p:txBody>
          <a:bodyPr/>
          <a:lstStyle/>
          <a:p>
            <a:r>
              <a:rPr lang="ru-RU" b="1" dirty="0"/>
              <a:t>Могут ли COBIT и ITIL работать вместе?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84632" y="659349"/>
            <a:ext cx="8506968" cy="3447098"/>
          </a:xfrm>
        </p:spPr>
        <p:txBody>
          <a:bodyPr/>
          <a:lstStyle/>
          <a:p>
            <a:pPr algn="just"/>
            <a:r>
              <a:rPr lang="ru-RU" sz="1600" dirty="0"/>
              <a:t>Отношения между COBIT и ITIL соответствуют отношениям между «что и как». Во многих отношениях они не являются противниками, а скорее дополняют друг друга в бизнесе.</a:t>
            </a:r>
          </a:p>
          <a:p>
            <a:pPr algn="just"/>
            <a:r>
              <a:rPr lang="ru-RU" sz="1600" dirty="0"/>
              <a:t>И COBIT, и ITIL сосредоточены на преобразовании требований заинтересованных сторон в ценность. </a:t>
            </a:r>
            <a:endParaRPr lang="ru-RU" sz="1600" dirty="0" smtClean="0"/>
          </a:p>
          <a:p>
            <a:pPr algn="just"/>
            <a:r>
              <a:rPr lang="ru-RU" sz="1600" dirty="0" smtClean="0"/>
              <a:t>Обе </a:t>
            </a:r>
            <a:r>
              <a:rPr lang="ru-RU" sz="1600" dirty="0"/>
              <a:t>платформы, адаптированные к требованиям организации, позволяют бизнесу использовать ИТ-структуру наиболее эффективным образом.</a:t>
            </a:r>
          </a:p>
          <a:p>
            <a:pPr algn="just"/>
            <a:r>
              <a:rPr lang="ru-RU" sz="1600" dirty="0"/>
              <a:t>ITIL 4 (последняя версия) жестко фокусируется на управлении ITSM и включает систему ценности услуг. Это помогает организациям понять, где и как COBIT может стать частью стратегии. ITIL 4 предоставляет хорошо структурированные рекомендации о том, как организация может выполнять несколько процессов COBIT.</a:t>
            </a:r>
          </a:p>
          <a:p>
            <a:pPr algn="just"/>
            <a:r>
              <a:rPr lang="ru-RU" sz="1600" dirty="0"/>
              <a:t>COBIT использует каскадирование целей, которое помогает организации преодолеть разрыв между требованиями заинтересованных сторон и целями компании. Эта структура повышает эффективность ITIL и определяет ключевые действия ITSM.</a:t>
            </a:r>
          </a:p>
          <a:p>
            <a:pPr algn="just"/>
            <a:endParaRPr lang="ru-RU" sz="1600" dirty="0"/>
          </a:p>
        </p:txBody>
      </p:sp>
      <p:pic>
        <p:nvPicPr>
          <p:cNvPr id="2050" name="Picture 2" descr="COBIT и ITIL при совместном использовании дают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299" y="3810000"/>
            <a:ext cx="4343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434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303" y="2660649"/>
            <a:ext cx="784479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rebuchet MS"/>
                <a:cs typeface="Trebuchet MS"/>
              </a:rPr>
              <a:t>«Честь</a:t>
            </a:r>
            <a:r>
              <a:rPr sz="2800" b="1" spc="1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наша</a:t>
            </a:r>
            <a:r>
              <a:rPr sz="2800" b="1" spc="2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состоит</a:t>
            </a:r>
            <a:r>
              <a:rPr sz="2800" b="1" spc="35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в</a:t>
            </a:r>
            <a:r>
              <a:rPr sz="2800" b="1" spc="-2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том, чтобы</a:t>
            </a:r>
            <a:r>
              <a:rPr sz="2800" b="1" spc="2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следовать </a:t>
            </a:r>
            <a:r>
              <a:rPr sz="2800" b="1" spc="-82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лучшему</a:t>
            </a:r>
            <a:r>
              <a:rPr sz="2800" b="1" spc="-5" dirty="0">
                <a:latin typeface="Trebuchet MS"/>
                <a:cs typeface="Trebuchet MS"/>
              </a:rPr>
              <a:t> и улучшать </a:t>
            </a:r>
            <a:r>
              <a:rPr sz="2800" b="1" spc="-10" dirty="0">
                <a:latin typeface="Trebuchet MS"/>
                <a:cs typeface="Trebuchet MS"/>
              </a:rPr>
              <a:t>худшее,</a:t>
            </a:r>
            <a:r>
              <a:rPr sz="2800" b="1" spc="5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если</a:t>
            </a:r>
            <a:r>
              <a:rPr sz="2800" b="1" spc="5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оно </a:t>
            </a:r>
            <a:r>
              <a:rPr sz="2800" b="1" dirty="0">
                <a:latin typeface="Trebuchet MS"/>
                <a:cs typeface="Trebuchet MS"/>
              </a:rPr>
              <a:t>еще </a:t>
            </a:r>
            <a:r>
              <a:rPr sz="2800" b="1" spc="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может стать</a:t>
            </a:r>
            <a:r>
              <a:rPr sz="2800" b="1" spc="4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совершеннее»</a:t>
            </a:r>
            <a:endParaRPr sz="2800">
              <a:latin typeface="Trebuchet MS"/>
              <a:cs typeface="Trebuchet MS"/>
            </a:endParaRPr>
          </a:p>
          <a:p>
            <a:pPr marL="6414135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latin typeface="Trebuchet MS"/>
                <a:cs typeface="Trebuchet MS"/>
              </a:rPr>
              <a:t>Платон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4009" y="1700785"/>
            <a:ext cx="4032885" cy="72390"/>
          </a:xfrm>
          <a:custGeom>
            <a:avLst/>
            <a:gdLst/>
            <a:ahLst/>
            <a:cxnLst/>
            <a:rect l="l" t="t" r="r" b="b"/>
            <a:pathLst>
              <a:path w="4032884" h="72389">
                <a:moveTo>
                  <a:pt x="4032504" y="0"/>
                </a:moveTo>
                <a:lnTo>
                  <a:pt x="0" y="0"/>
                </a:lnTo>
                <a:lnTo>
                  <a:pt x="0" y="72007"/>
                </a:lnTo>
                <a:lnTo>
                  <a:pt x="4032504" y="72007"/>
                </a:lnTo>
                <a:lnTo>
                  <a:pt x="4032504" y="0"/>
                </a:lnTo>
                <a:close/>
              </a:path>
            </a:pathLst>
          </a:custGeom>
          <a:solidFill>
            <a:srgbClr val="5DB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9546" y="4797172"/>
            <a:ext cx="4032885" cy="72390"/>
          </a:xfrm>
          <a:custGeom>
            <a:avLst/>
            <a:gdLst/>
            <a:ahLst/>
            <a:cxnLst/>
            <a:rect l="l" t="t" r="r" b="b"/>
            <a:pathLst>
              <a:path w="4032885" h="72389">
                <a:moveTo>
                  <a:pt x="4032504" y="0"/>
                </a:moveTo>
                <a:lnTo>
                  <a:pt x="0" y="0"/>
                </a:lnTo>
                <a:lnTo>
                  <a:pt x="0" y="72007"/>
                </a:lnTo>
                <a:lnTo>
                  <a:pt x="4032504" y="72007"/>
                </a:lnTo>
                <a:lnTo>
                  <a:pt x="403250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2405</Words>
  <Application>Microsoft Office PowerPoint</Application>
  <PresentationFormat>Экран (4:3)</PresentationFormat>
  <Paragraphs>350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4" baseType="lpstr">
      <vt:lpstr>Arial</vt:lpstr>
      <vt:lpstr>Arial MT</vt:lpstr>
      <vt:lpstr>Calibri</vt:lpstr>
      <vt:lpstr>Cambria</vt:lpstr>
      <vt:lpstr>Courier New</vt:lpstr>
      <vt:lpstr>Microsoft Sans Serif</vt:lpstr>
      <vt:lpstr>Montserrat</vt:lpstr>
      <vt:lpstr>Times New Roman</vt:lpstr>
      <vt:lpstr>Trebuchet MS</vt:lpstr>
      <vt:lpstr>var(--typeHeaderPrimary)</vt:lpstr>
      <vt:lpstr>Office Theme</vt:lpstr>
      <vt:lpstr>Применение методологии COBIT5 в решении  задач управления ИТ на предприятии</vt:lpstr>
      <vt:lpstr>COBIT5 – «лучшая практика» интеграции «лучших практик»</vt:lpstr>
      <vt:lpstr>COBIT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ОСНОВА COBIT. РАЗДЕЛЕНИЕ COBIT  НА  УПРАВЛЕНИЕ И АУДИТ</vt:lpstr>
      <vt:lpstr>Презентация PowerPoint</vt:lpstr>
      <vt:lpstr>Презентация PowerPoint</vt:lpstr>
      <vt:lpstr>Презентация PowerPoint</vt:lpstr>
      <vt:lpstr>Презентация PowerPoint</vt:lpstr>
      <vt:lpstr>УПРАВЛЕНИЕ ИТ ПО COBIT</vt:lpstr>
      <vt:lpstr>ПРИНЦИПЫ АУДИТА ИТ, СТАНДАРТ COBIT</vt:lpstr>
      <vt:lpstr>Каскад целей COBIT5</vt:lpstr>
      <vt:lpstr>«Большинство целей, сформулированных для  конкретного предприятия, можно легко перевести в  термины универсальных»</vt:lpstr>
      <vt:lpstr>Важность ИТ-целей COBIT5 в достижении целей компании</vt:lpstr>
      <vt:lpstr>Приоритетные ИТ-цели</vt:lpstr>
      <vt:lpstr>Операционная модель ИТ</vt:lpstr>
      <vt:lpstr>Важность процессов в достижении целей</vt:lpstr>
      <vt:lpstr>Важность процессов в достижении целей</vt:lpstr>
      <vt:lpstr>Модель оценки процессов (факторов влияния)</vt:lpstr>
      <vt:lpstr>Отражение целей ИТ в целях процесса</vt:lpstr>
      <vt:lpstr>Отражение целей ИТ в целях процесса</vt:lpstr>
      <vt:lpstr>Закрепление достижения целевых значений  показателей за ролями процесса</vt:lpstr>
      <vt:lpstr>Модель оценки зрелости процессов (COBIT 4.1)</vt:lpstr>
      <vt:lpstr>Сопоставление процессных рейтингов</vt:lpstr>
      <vt:lpstr>ITIL или COBIT: сравнение фреймворков управления ИТ </vt:lpstr>
      <vt:lpstr>Сравнительная таблица COBIT и ITIL </vt:lpstr>
      <vt:lpstr>Могут ли COBIT и ITIL работать вместе? </vt:lpstr>
      <vt:lpstr>«Честь наша состоит в том, чтобы следовать  лучшему и улучшать худшее, если оно еще  может стать совершеннее» Платон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</dc:title>
  <dc:creator>1239</dc:creator>
  <cp:lastModifiedBy>Елена Р. Хорошева</cp:lastModifiedBy>
  <cp:revision>10</cp:revision>
  <dcterms:created xsi:type="dcterms:W3CDTF">2023-12-11T11:38:56Z</dcterms:created>
  <dcterms:modified xsi:type="dcterms:W3CDTF">2023-12-11T14:06:56Z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2014-05-14T00:00:00Z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2023-12-11T00:00:00Z</vt:filetime>
  </property>
</Properties>
</file>