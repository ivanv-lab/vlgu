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1: выбрать и описать модель жизненного цикла ИС на примере распределённых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Выбор спиральной модели основан на рисках распределённых систем и описании спиральной модели в материалах задания.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Схема объединяет жизненный цикл проекта и жизненный цикл ИС, как требует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Содержание витков разработано для предметной области распределённых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Содержание витков разработано для предметной области распределённых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Спиральная модель использует повторяющиеся циклы уточнения и проверки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Итоговое содержание отчёта по заданию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FAC2785-A3B7-4DE2-8155-F6DB0EBC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B3E4D7B-7587-4AB0-829B-607BA1207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DFBCD2-9E82-4195-A6EF-C1A63B71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9D1B64-5814-4076-853F-2AF9AAF6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00DA755-98AA-4E35-B032-9C9130FA1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E82CD59-93FD-41A1-B5C4-EDED27DF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64FD75-8E5E-4E61-9E1E-E63EC842E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65D8251-0936-424E-9DB7-A97504DC74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AD023A-6D8B-4DDD-8172-FB2837CD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D873885-0D7D-44FD-8125-59E08DA69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4B0495E-F085-4B99-9389-A19197795DB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3143250" cy="266700"/>
          </a:xfrm>
          <a:prstGeom prst="roundRect">
            <a:avLst>
              <a:gd name="adj" fmla="val 50000"/>
            </a:avLst>
          </a:prstGeom>
          <a:solidFill>
            <a:srgbClr val="2A5274"/>
          </a:solidFill>
          <a:ln w="9525">
            <a:solidFill>
              <a:srgbClr val="2A5274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ПРАКТИЧЕСКАЯ РАБОТА №2 · ЗАДАНИЕ 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17B1CE-1F53-4705-8D8C-66C6C956902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9429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Жизненный цикл ИС на примере распределённых БД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90B2FBA-11CD-4D0F-AADD-0B4D71DC2C17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D7E7F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7E7F5"/>
                </a:solidFill>
                <a:latin typeface="Arial"/>
                <a:ea typeface="Arial"/>
                <a:cs typeface="Arial"/>
              </a:rPr>
              <a:t>Спиральная модель и связь с жизненным циклом проекта</a:t>
            </a: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CF856D3-A9FA-402E-8AD9-CDCD2F300DD4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3238500" cy="0"/>
          </a:xfrm>
          <a:prstGeom prst="line">
            <a:avLst/>
          </a:prstGeom>
          <a:noFill/>
          <a:ln w="28575">
            <a:solidFill>
              <a:srgbClr val="78A8C9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612D59-EB35-4CB8-A8D1-6DF5CF3BEBAB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B9D2E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B9D2E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9D2E6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966714-680A-4019-975A-3F87EDE983B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301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C1BEC8C-D06A-47FB-B4DA-37B9557AF9B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1B73EE5-64B4-484D-9A1B-DDC7242143D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71327C-ADE8-4AB2-A815-A3229F409A1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Почему выбрана спиральная модель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08F461-2B5D-4BD7-8708-E43AAEF3CA18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Распределённая база данных требует ранней проверки рисков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03B407-FC90-44E4-A810-7A5C381AFAA4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53CE0C-C716-4FA6-BB22-88E2D441943D}"/>
              </a:ext>
            </a:extLst>
          </p:cNvPr>
          <p:cNvSpPr>
            <a:spLocks noGrp="1"/>
          </p:cNvSpPr>
          <p:nvPr/>
        </p:nvSpPr>
        <p:spPr>
          <a:xfrm>
            <a:off x="1085850" y="2286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Согласованность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59A72C-3AAA-49BD-8414-7687679CCB82}"/>
              </a:ext>
            </a:extLst>
          </p:cNvPr>
          <p:cNvSpPr>
            <a:spLocks noGrp="1"/>
          </p:cNvSpPr>
          <p:nvPr/>
        </p:nvSpPr>
        <p:spPr>
          <a:xfrm>
            <a:off x="1085850" y="26860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узлы могут видеть разные версии данных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E1E8B0-8162-4201-BD9C-1C8739A71674}"/>
              </a:ext>
            </a:extLst>
          </p:cNvPr>
          <p:cNvSpPr>
            <a:spLocks noGrp="1"/>
          </p:cNvSpPr>
          <p:nvPr/>
        </p:nvSpPr>
        <p:spPr>
          <a:xfrm>
            <a:off x="6191250" y="2076450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F3C365C-0E72-4B35-8BBD-ECBAB05B2F1A}"/>
              </a:ext>
            </a:extLst>
          </p:cNvPr>
          <p:cNvSpPr>
            <a:spLocks noGrp="1"/>
          </p:cNvSpPr>
          <p:nvPr/>
        </p:nvSpPr>
        <p:spPr>
          <a:xfrm>
            <a:off x="6419850" y="2286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Отказоустойчивость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554DCC-F6AF-444B-8DB3-9A8820543FEC}"/>
              </a:ext>
            </a:extLst>
          </p:cNvPr>
          <p:cNvSpPr>
            <a:spLocks noGrp="1"/>
          </p:cNvSpPr>
          <p:nvPr/>
        </p:nvSpPr>
        <p:spPr>
          <a:xfrm>
            <a:off x="6419850" y="26860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сбой узла не должен останавливать сервис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E8AAA21-E7D4-4224-B83B-9BCD1B29FA45}"/>
              </a:ext>
            </a:extLst>
          </p:cNvPr>
          <p:cNvSpPr>
            <a:spLocks noGrp="1"/>
          </p:cNvSpPr>
          <p:nvPr/>
        </p:nvSpPr>
        <p:spPr>
          <a:xfrm>
            <a:off x="857250" y="3648075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7A9B91-7FAA-441C-822B-1A09D592BD1C}"/>
              </a:ext>
            </a:extLst>
          </p:cNvPr>
          <p:cNvSpPr>
            <a:spLocks noGrp="1"/>
          </p:cNvSpPr>
          <p:nvPr/>
        </p:nvSpPr>
        <p:spPr>
          <a:xfrm>
            <a:off x="1085850" y="38576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Сеть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4B987B-B43B-4C95-BB4F-7DCAD8437430}"/>
              </a:ext>
            </a:extLst>
          </p:cNvPr>
          <p:cNvSpPr>
            <a:spLocks noGrp="1"/>
          </p:cNvSpPr>
          <p:nvPr/>
        </p:nvSpPr>
        <p:spPr>
          <a:xfrm>
            <a:off x="1085850" y="42576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задержки влияют на транзакции и репликацию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8633ACD-B397-44D2-B166-1BB26443BAA0}"/>
              </a:ext>
            </a:extLst>
          </p:cNvPr>
          <p:cNvSpPr>
            <a:spLocks noGrp="1"/>
          </p:cNvSpPr>
          <p:nvPr/>
        </p:nvSpPr>
        <p:spPr>
          <a:xfrm>
            <a:off x="6191250" y="3648075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8A1FF32-5435-4AFA-B630-1E0BECF3A791}"/>
              </a:ext>
            </a:extLst>
          </p:cNvPr>
          <p:cNvSpPr>
            <a:spLocks noGrp="1"/>
          </p:cNvSpPr>
          <p:nvPr/>
        </p:nvSpPr>
        <p:spPr>
          <a:xfrm>
            <a:off x="6419850" y="38576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Масштабирование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B3363F-6989-4148-AC8A-204866600190}"/>
              </a:ext>
            </a:extLst>
          </p:cNvPr>
          <p:cNvSpPr>
            <a:spLocks noGrp="1"/>
          </p:cNvSpPr>
          <p:nvPr/>
        </p:nvSpPr>
        <p:spPr>
          <a:xfrm>
            <a:off x="6419850" y="42576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архитектуру нужно проверять поэтапно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49B2402-358F-4264-997E-C53AEB32C2E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950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30FAC65-2C91-4285-B3C2-0E899E79C85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381875" y="3000375"/>
            <a:ext cx="1190625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1E001F2-D624-447D-AA1F-819ED082D2B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619500" y="3000375"/>
            <a:ext cx="1190625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C3475CC-F590-4C88-B762-9BDFB191F25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A73AA95-3365-4C09-98B1-BDAD0BE864F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71942B-8B40-42F8-B807-04EA52E9B51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Два жизненных цикла в одном проекте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581F34-ABF5-46A5-8075-0912D158B857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Проект задаёт управленческую рамку, ИС — техническое содержание работ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FBC12A1-E61D-4754-B442-DF5ABA325E4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Жизненный цикл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8B1724E-E0C2-4F0F-AA82-F5C54059439A}"/>
              </a:ext>
            </a:extLst>
          </p:cNvPr>
          <p:cNvSpPr>
            <a:spLocks noGrp="1"/>
          </p:cNvSpPr>
          <p:nvPr/>
        </p:nvSpPr>
        <p:spPr>
          <a:xfrm>
            <a:off x="4810125" y="247650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Жизненный цикл</a:t>
            </a:r>
          </a:p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ИС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ED3A74E-C172-4BF6-99A8-047A2E61A901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Контрольный</a:t>
            </a:r>
          </a:p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40B9436-BD62-4139-A605-A1EEEEB4EBF1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инициация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планирование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исполнение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контроль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закрытие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686B18-9F8F-40D2-A93E-3590FA9C7AC2}"/>
              </a:ext>
            </a:extLst>
          </p:cNvPr>
          <p:cNvSpPr>
            <a:spLocks noGrp="1"/>
          </p:cNvSpPr>
          <p:nvPr/>
        </p:nvSpPr>
        <p:spPr>
          <a:xfrm>
            <a:off x="4810125" y="40005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требования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архитектура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реализация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испытания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4B93BC-6487-4BDF-A110-2E75F88556CD}"/>
              </a:ext>
            </a:extLst>
          </p:cNvPr>
          <p:cNvSpPr>
            <a:spLocks noGrp="1"/>
          </p:cNvSpPr>
          <p:nvPr/>
        </p:nvSpPr>
        <p:spPr>
          <a:xfrm>
            <a:off x="8572500" y="4000500"/>
            <a:ext cx="257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F"/>
                </a:solidFill>
                <a:latin typeface="Arial"/>
                <a:ea typeface="Arial"/>
                <a:cs typeface="Arial"/>
              </a:rPr>
              <a:t>решение о</a:t>
            </a:r>
          </a:p>
          <a:p>
            <a:pPr algn="ctr">
              <a:defRPr sz="15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F"/>
                </a:solidFill>
                <a:latin typeface="Arial"/>
                <a:ea typeface="Arial"/>
                <a:cs typeface="Arial"/>
              </a:rPr>
              <a:t>следующем витке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29034FE-CAE3-49C9-A9A7-20318E28634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62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EA478E-3A1C-49F2-9536-A8FD646543B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7F85FBFF-F9C9-4B3B-8EBA-1137CA48402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864CC1-B525-4E5C-8547-1168F007F0E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Спиральные витки 1 и 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C2DCB6-1865-4077-B78C-A1BACE111D9F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Сначала фиксируются границы и проверяется базовая архитектура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DA05713-18F2-4619-81E5-271423D8B601}"/>
              </a:ext>
            </a:extLst>
          </p:cNvPr>
          <p:cNvGraphicFramePr/>
          <p:nvPr/>
        </p:nvGraphicFramePr>
        <p:xfrm>
          <a:off x="666750" y="2095500"/>
          <a:ext cx="10858500" cy="2476500"/>
        </p:xfrm>
        <a:graphic>
          <a:graphicData uri="http://schemas.openxmlformats.org/drawingml/2006/table">
            <a:tbl>
              <a:tblPr firstRow="1" bandRow="1"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Виток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Работы проекта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ИС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Точка контроля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1. Требования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Границы, узлы, SLA и роли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Модель данных и схема размещения узлов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Утверждены ограничения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2. Прототип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Ресурсы, прототип, проверка рисков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Два узла, репликация, тест отказа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Выбран способ согласованности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ADD5115-947C-401E-AB62-9A42B781577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240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357337-2F6E-4C73-A9B6-A40133AE7DC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D17A92-574B-4046-B6CE-E5940638323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6B0984-E853-446C-B3AD-9B0CD05172C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Спиральные витки 3 и 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9764D7-B13E-4F28-8D34-9A6218112F61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После проверки рисков система расширяется до пилота и эксплуатации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4DD7080-B037-487F-8086-C3C07893BDE4}"/>
              </a:ext>
            </a:extLst>
          </p:cNvPr>
          <p:cNvGraphicFramePr/>
          <p:nvPr/>
        </p:nvGraphicFramePr>
        <p:xfrm>
          <a:off x="666750" y="2095500"/>
          <a:ext cx="10858500" cy="2476500"/>
        </p:xfrm>
        <a:graphic>
          <a:graphicData uri="http://schemas.openxmlformats.org/drawingml/2006/table">
            <a:tbl>
              <a:tblPr firstRow="1" bandRow="1"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Виток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Работы проекта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ИС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Точка контроля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3. Интеграция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Настройка сервисов и резервирования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Транзакции, права, журналирование и восстановление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к пилоту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4. Пилот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Подключение площадок и обучение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Мониторинг, регламент эксплуатации и масштабирование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Ввод и план развития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B6EDC6-E35B-4C3C-8184-FCA363E26524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12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F0C823-F764-45AD-8910-9A76301D203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8CC2359-8495-4194-AE02-CD4BB1757A0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E5BA71-77F3-48B2-BAD3-6EA47D07E92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 работает спираль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DE20C4-3CB2-4C6A-923B-34005F736437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Каждый виток заканчивается проверяемым решением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04A7492-219F-4A3E-AD64-87732E68212F}"/>
              </a:ext>
            </a:extLst>
          </p:cNvPr>
          <p:cNvSpPr>
            <a:spLocks noGrp="1"/>
          </p:cNvSpPr>
          <p:nvPr/>
        </p:nvSpPr>
        <p:spPr>
          <a:xfrm>
            <a:off x="1238250" y="23812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Планирование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6039EC-32FD-4AB7-BC4B-22FCD3FA9792}"/>
              </a:ext>
            </a:extLst>
          </p:cNvPr>
          <p:cNvSpPr>
            <a:spLocks noGrp="1"/>
          </p:cNvSpPr>
          <p:nvPr/>
        </p:nvSpPr>
        <p:spPr>
          <a:xfrm>
            <a:off x="3381375" y="2524125"/>
            <a:ext cx="381000" cy="666750"/>
          </a:xfrm>
          <a:prstGeom prst="roundRect">
            <a:avLst>
              <a:gd name="adj" fmla="val 37500"/>
            </a:avLst>
          </a:prstGeom>
          <a:noFill/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lang="ru-RU" sz="2700" b="1" dirty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›</a:t>
            </a:r>
            <a:endParaRPr sz="2700" b="1" dirty="0">
              <a:solidFill>
                <a:srgbClr val="2F6B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269B17-D682-4495-A0E2-3C45201EAA1E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Анализ рисков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752607A-B825-4676-8E56-C7F4F814E40C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01E5EE8-F4E1-47DC-9434-52C31AC5ECC4}"/>
              </a:ext>
            </a:extLst>
          </p:cNvPr>
          <p:cNvSpPr>
            <a:spLocks noGrp="1"/>
          </p:cNvSpPr>
          <p:nvPr/>
        </p:nvSpPr>
        <p:spPr>
          <a:xfrm>
            <a:off x="8953500" y="238125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4</a:t>
            </a:r>
          </a:p>
          <a:p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925AA6-399B-4A0E-B33A-304F273FE1F0}"/>
              </a:ext>
            </a:extLst>
          </p:cNvPr>
          <p:cNvSpPr>
            <a:spLocks noGrp="1"/>
          </p:cNvSpPr>
          <p:nvPr/>
        </p:nvSpPr>
        <p:spPr>
          <a:xfrm>
            <a:off x="1809750" y="41910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3"/>
                </a:solidFill>
                <a:latin typeface="Arial"/>
                <a:ea typeface="Arial"/>
                <a:cs typeface="Arial"/>
              </a:rPr>
              <a:t>После проверки система либо переходит к следующему витку, либо возвращается к уточнению требований и архитектуры.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7402E06-C4C2-4C0F-8039-95BECCFD9618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1854ECF-36AE-6228-764F-F2B4785A5693}"/>
              </a:ext>
            </a:extLst>
          </p:cNvPr>
          <p:cNvSpPr>
            <a:spLocks noGrp="1"/>
          </p:cNvSpPr>
          <p:nvPr/>
        </p:nvSpPr>
        <p:spPr>
          <a:xfrm>
            <a:off x="5953125" y="2524125"/>
            <a:ext cx="381000" cy="666750"/>
          </a:xfrm>
          <a:prstGeom prst="roundRect">
            <a:avLst>
              <a:gd name="adj" fmla="val 37500"/>
            </a:avLst>
          </a:prstGeom>
          <a:noFill/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lang="ru-RU" sz="2700" b="1" dirty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›</a:t>
            </a:r>
            <a:endParaRPr sz="2700" b="1" dirty="0">
              <a:solidFill>
                <a:srgbClr val="2F6B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EC47406-689A-0025-3236-5AE01ACF333F}"/>
              </a:ext>
            </a:extLst>
          </p:cNvPr>
          <p:cNvSpPr>
            <a:spLocks noGrp="1"/>
          </p:cNvSpPr>
          <p:nvPr/>
        </p:nvSpPr>
        <p:spPr>
          <a:xfrm>
            <a:off x="8524875" y="2524125"/>
            <a:ext cx="381000" cy="666750"/>
          </a:xfrm>
          <a:prstGeom prst="roundRect">
            <a:avLst>
              <a:gd name="adj" fmla="val 37500"/>
            </a:avLst>
          </a:prstGeom>
          <a:noFill/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lang="ru-RU" sz="2700" b="1" dirty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›</a:t>
            </a:r>
            <a:endParaRPr sz="2700" b="1" dirty="0">
              <a:solidFill>
                <a:srgbClr val="2F6B9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323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7E6027-1993-4F01-B9DB-706ED22FEAF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375C363-24EB-4084-A3A5-8D6055ED949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78C4A8-AF0C-4379-B8B2-ECFD3EF06B6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Итоговая модель для распределённых БД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F8B442-7757-44F6-A72F-A340AF781EAB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Спиральная модель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8E6809-0973-4B23-B4FE-4B8826890CB6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3143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подходит для системы, где архитектурные риски нельзя надёжно снять одним проектированием</a:t>
            </a:r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BFDB324-97CA-4CCB-BA35-DE9454C79F1C}"/>
              </a:ext>
            </a:extLst>
          </p:cNvPr>
          <p:cNvSpPr>
            <a:spLocks noGrp="1"/>
          </p:cNvSpPr>
          <p:nvPr/>
        </p:nvSpPr>
        <p:spPr>
          <a:xfrm>
            <a:off x="4538144" y="2991793"/>
            <a:ext cx="19050" cy="0"/>
          </a:xfrm>
          <a:prstGeom prst="line">
            <a:avLst/>
          </a:prstGeom>
          <a:noFill/>
          <a:ln w="1619250">
            <a:solidFill>
              <a:srgbClr val="CBD5E1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9502B7-00E7-42BC-8F12-0EB939C6220C}"/>
              </a:ext>
            </a:extLst>
          </p:cNvPr>
          <p:cNvSpPr>
            <a:spLocks noGrp="1"/>
          </p:cNvSpPr>
          <p:nvPr/>
        </p:nvSpPr>
        <p:spPr>
          <a:xfrm>
            <a:off x="5334000" y="209550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Распределённые БД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6DCC4B-BF7C-4724-8345-6D599C9015AD}"/>
              </a:ext>
            </a:extLst>
          </p:cNvPr>
          <p:cNvSpPr>
            <a:spLocks noGrp="1"/>
          </p:cNvSpPr>
          <p:nvPr/>
        </p:nvSpPr>
        <p:spPr>
          <a:xfrm>
            <a:off x="5334000" y="2857500"/>
            <a:ext cx="3143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развиваются от модели данных и прототипа к репликации, отказоустойчивости и эксплуатации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3564B6C-B5A2-47C9-B195-35D2C054C10C}"/>
              </a:ext>
            </a:extLst>
          </p:cNvPr>
          <p:cNvSpPr>
            <a:spLocks noGrp="1"/>
          </p:cNvSpPr>
          <p:nvPr/>
        </p:nvSpPr>
        <p:spPr>
          <a:xfrm>
            <a:off x="8792896" y="2991793"/>
            <a:ext cx="19050" cy="0"/>
          </a:xfrm>
          <a:prstGeom prst="line">
            <a:avLst/>
          </a:prstGeom>
          <a:noFill/>
          <a:ln w="1619250">
            <a:solidFill>
              <a:srgbClr val="CBD5E1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52C24D-9DF8-4A21-9410-DD712873B149}"/>
              </a:ext>
            </a:extLst>
          </p:cNvPr>
          <p:cNvSpPr>
            <a:spLocks noGrp="1"/>
          </p:cNvSpPr>
          <p:nvPr/>
        </p:nvSpPr>
        <p:spPr>
          <a:xfrm>
            <a:off x="9525000" y="2095500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E7D6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23774D-27EE-40B0-99F9-2824C40A7CF1}"/>
              </a:ext>
            </a:extLst>
          </p:cNvPr>
          <p:cNvSpPr>
            <a:spLocks noGrp="1"/>
          </p:cNvSpPr>
          <p:nvPr/>
        </p:nvSpPr>
        <p:spPr>
          <a:xfrm>
            <a:off x="9144000" y="2857500"/>
            <a:ext cx="2190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каждый виток даёт проверяемый результат и снижает риск масштабирования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121BF8-8594-41A1-9C09-D1BE9B351C31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40502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DocSecurity>0</DocSecurity>
  <PresentationFormat>Широкоэкранный</PresentationFormat>
  <Paragraphs>103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Иван Возисов</cp:lastModifiedBy>
  <cp:revision>2</cp:revision>
  <dcterms:created xsi:type="dcterms:W3CDTF">2026-10-13T21:48:05Z</dcterms:created>
  <dcterms:modified xsi:type="dcterms:W3CDTF">2026-10-21T19:28:34Z</dcterms:modified>
</cp:coreProperties>
</file>