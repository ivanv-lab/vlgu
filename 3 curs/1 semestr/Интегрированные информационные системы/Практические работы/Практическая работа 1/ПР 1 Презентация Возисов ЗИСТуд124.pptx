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Материалы задания и учебная литература по MRP, MRP II, ERP и ERP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Материалы задания, раздел о развитии MRP, MRP II и ERP.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MPS — Master Production Schedule, BOM — Bill of Materials. Материалы задания, раздел о MRP.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Материалы задания: состав и функции MRP-систем.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Материалы задания: ERP — интегрированный набор приложений и единая база данных предприятия.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Материалы задания: типовые подсистемы ERP — производство, снабжение и сбыт, хранение, финансы и логистика.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Сводное сравнение составлено по материалам задания и учебной литературе по ERP/MRPII.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Иллюстративный сценарий на основе описания единой базы данных ERP и расчёта MRP.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Материалы задания: эффекты MRP и требования к внедрению ERP выведены из охвата функций систем.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Выводы основаны на сравнении функционального охвата MRP и ERP.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Материалы задания: MRP — 1960-е, MRP II — 1980-е, ERP — начало 1990-х, ERP II — конец 1990-х.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Итоговая формулировка отчёта.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AF901D5-889A-47D0-974C-92A90BFB9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A532A6-065F-4109-9D94-FA0412F7B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1A8927A-CE19-4D85-AFA8-184B748E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5D706D9-F795-485B-9E72-7F2CFFB57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E791B14-7C3B-4B96-9573-E61F3ABF0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03F3405-7ED0-4F09-9A2F-B89512FD0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8D584A2-A381-4F9F-8D79-4F1A191D9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B8BAB62-4844-417A-8B81-CA7CFD23098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7B5166E-D7D7-456A-B8B6-DE0ABED24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FAC9C88-718A-4F46-8978-9268B4027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016A93D-A7C0-4146-8EB4-E7AD32148C5C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2286000" cy="266700"/>
          </a:xfrm>
          <a:prstGeom prst="roundRect">
            <a:avLst>
              <a:gd name="adj" fmla="val 50000"/>
            </a:avLst>
          </a:prstGeom>
          <a:solidFill>
            <a:srgbClr val="2A5274"/>
          </a:solidFill>
          <a:ln w="9525">
            <a:solidFill>
              <a:srgbClr val="2A5274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ПРАКТИЧЕСКАЯ РАБОТА №1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9D01500-42CF-4953-A770-46B931B565B0}"/>
              </a:ext>
            </a:extLst>
          </p:cNvPr>
          <p:cNvSpPr>
            <a:spLocks noGrp="1"/>
          </p:cNvSpPr>
          <p:nvPr/>
        </p:nvSpPr>
        <p:spPr>
          <a:xfrm>
            <a:off x="685800" y="1600200"/>
            <a:ext cx="9429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Сравнительный анализ систем класса MRP и систем класса ERP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9BFC4A9-6A9C-4EBF-A2B7-176856394AC7}"/>
              </a:ext>
            </a:extLst>
          </p:cNvPr>
          <p:cNvSpPr>
            <a:spLocks noGrp="1"/>
          </p:cNvSpPr>
          <p:nvPr/>
        </p:nvSpPr>
        <p:spPr>
          <a:xfrm>
            <a:off x="723900" y="352425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>
                <a:solidFill>
                  <a:srgbClr val="D7E7F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>
                <a:solidFill>
                  <a:srgbClr val="D7E7F5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D7E7F5"/>
                </a:solidFill>
                <a:latin typeface="Arial"/>
                <a:ea typeface="Arial"/>
                <a:cs typeface="Arial"/>
              </a:rPr>
              <a:t>От планирования материалов к единому управлению предприятием</a:t>
            </a:r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F271C81-1ABE-48F4-92AE-C64FD7EE3F51}"/>
              </a:ext>
            </a:extLst>
          </p:cNvPr>
          <p:cNvSpPr>
            <a:spLocks noGrp="1"/>
          </p:cNvSpPr>
          <p:nvPr/>
        </p:nvSpPr>
        <p:spPr>
          <a:xfrm>
            <a:off x="723900" y="4286250"/>
            <a:ext cx="3238500" cy="0"/>
          </a:xfrm>
          <a:prstGeom prst="line">
            <a:avLst/>
          </a:prstGeom>
          <a:noFill/>
          <a:ln w="28575">
            <a:solidFill>
              <a:srgbClr val="78A8C9"/>
            </a:solidFill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867A03-8732-4007-B9BB-3B2948DD1AEE}"/>
              </a:ext>
            </a:extLst>
          </p:cNvPr>
          <p:cNvSpPr>
            <a:spLocks noGrp="1"/>
          </p:cNvSpPr>
          <p:nvPr/>
        </p:nvSpPr>
        <p:spPr>
          <a:xfrm>
            <a:off x="723900" y="4591050"/>
            <a:ext cx="609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B9D2E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B9D2E6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B9D2E6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A56A53C-B890-459F-AB9B-134CAF8437E6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7329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3609271-B0AA-461F-A6D9-16E4E5D724C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328DE0B-6D55-4927-859B-8CCE5D50C96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8E226AE-8A2B-48B1-B3BA-A2ED9DBD926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Задача сравнения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3B218FA-4618-4229-B14C-3D178C6CF4B5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MRP и ERP решают разные по масштабу задачи управления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B2D984C-5DDC-4AB8-AF88-7899665CA308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D9EAF7"/>
          </a:solidFill>
          <a:ln w="9525">
            <a:solidFill>
              <a:srgbClr val="D9EAF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MRP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024C2EE-46D7-4310-B6AF-5D50B70B09DF}"/>
              </a:ext>
            </a:extLst>
          </p:cNvPr>
          <p:cNvSpPr>
            <a:spLocks noGrp="1"/>
          </p:cNvSpPr>
          <p:nvPr/>
        </p:nvSpPr>
        <p:spPr>
          <a:xfrm>
            <a:off x="9810750" y="2095500"/>
            <a:ext cx="1524000" cy="266700"/>
          </a:xfrm>
          <a:prstGeom prst="roundRect">
            <a:avLst>
              <a:gd name="adj" fmla="val 50000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908DFB3-A966-4E6F-AC86-CC0DA78E2433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247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9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Материалы</a:t>
            </a:r>
          </a:p>
          <a:p>
            <a:pPr algn="ctr">
              <a:defRPr sz="19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 сроки поставки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781D80D-0CA7-4517-853D-BCCFD0F350A7}"/>
              </a:ext>
            </a:extLst>
          </p:cNvPr>
          <p:cNvSpPr>
            <a:spLocks noGrp="1"/>
          </p:cNvSpPr>
          <p:nvPr/>
        </p:nvSpPr>
        <p:spPr>
          <a:xfrm>
            <a:off x="8858250" y="2724150"/>
            <a:ext cx="24765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Все ключевые</a:t>
            </a:r>
          </a:p>
          <a:p>
            <a: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ресурсы предприятия</a:t>
            </a: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A0E2AD83-FE01-4381-87F8-4F51D74B3C14}"/>
              </a:ext>
            </a:extLst>
          </p:cNvPr>
          <p:cNvSpPr>
            <a:spLocks noGrp="1"/>
          </p:cNvSpPr>
          <p:nvPr/>
        </p:nvSpPr>
        <p:spPr>
          <a:xfrm>
            <a:off x="3524250" y="3095625"/>
            <a:ext cx="5048250" cy="0"/>
          </a:xfrm>
          <a:prstGeom prst="line">
            <a:avLst/>
          </a:prstGeom>
          <a:noFill/>
          <a:ln w="28575">
            <a:solidFill>
              <a:srgbClr val="2F6B9A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66E6D69-B458-4D84-AD2C-C28BE71A8692}"/>
              </a:ext>
            </a:extLst>
          </p:cNvPr>
          <p:cNvSpPr>
            <a:spLocks noGrp="1"/>
          </p:cNvSpPr>
          <p:nvPr/>
        </p:nvSpPr>
        <p:spPr>
          <a:xfrm>
            <a:off x="2857500" y="3810000"/>
            <a:ext cx="647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Сравним назначение, данные, контур процессов, результаты и ограничения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FA1B70A-F34D-4AE8-A4D5-7FEF3291B3E3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928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Соединитель: уступ 12">
            <a:extLst>
              <a:ext uri="{FF2B5EF4-FFF2-40B4-BE49-F238E27FC236}">
                <a16:creationId xmlns:a16="http://schemas.microsoft.com/office/drawing/2014/main" id="{E9B6663E-BEBF-40F8-82CB-25E5E75AA198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H="1">
            <a:off x="6890536" y="3643312"/>
            <a:ext cx="3110714" cy="1909575"/>
          </a:xfrm>
          <a:prstGeom prst="bentConnector5">
            <a:avLst>
              <a:gd name="adj1" fmla="val -7349"/>
              <a:gd name="adj2" fmla="val 50000"/>
              <a:gd name="adj3" fmla="val 107349"/>
            </a:avLst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0ABA6706-F3CA-4053-BF7B-A9020FB90330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7581900" y="3643312"/>
            <a:ext cx="609600" cy="0"/>
          </a:xfrm>
          <a:prstGeom prst="straightConnector1">
            <a:avLst/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cxnSp>
        <p:nvCxnSpPr>
          <p:cNvPr id="11" name="Соединитель: уступ 10">
            <a:extLst>
              <a:ext uri="{FF2B5EF4-FFF2-40B4-BE49-F238E27FC236}">
                <a16:creationId xmlns:a16="http://schemas.microsoft.com/office/drawing/2014/main" id="{05891294-2752-4296-8789-E470081BE74A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 flipH="1">
            <a:off x="8191500" y="2181225"/>
            <a:ext cx="1809750" cy="1462087"/>
          </a:xfrm>
          <a:prstGeom prst="bentConnector5">
            <a:avLst>
              <a:gd name="adj1" fmla="val -12632"/>
              <a:gd name="adj2" fmla="val 50000"/>
              <a:gd name="adj3" fmla="val 112632"/>
            </a:avLst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B5F54E5D-0866-4F81-BA91-1D95BA35ECCB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7581900" y="2200275"/>
            <a:ext cx="609600" cy="1443037"/>
          </a:xfrm>
          <a:prstGeom prst="bentConnector3">
            <a:avLst>
              <a:gd name="adj1" fmla="val 50000"/>
            </a:avLst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A2A1012-5805-4EAD-845A-62AD0127D3C7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C91DA8F-930C-4971-A574-8444EC3446E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8001794-B1CF-45CF-98F4-8D58FAAE3D1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MRP как планирование потребности в материалах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20330ED-C057-47A6-8040-3D6721471880}"/>
              </a:ext>
            </a:extLst>
          </p:cNvPr>
          <p:cNvSpPr>
            <a:spLocks noGrp="1"/>
          </p:cNvSpPr>
          <p:nvPr/>
        </p:nvSpPr>
        <p:spPr>
          <a:xfrm>
            <a:off x="685800" y="1866900"/>
            <a:ext cx="447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MRP рассчитывает, что нужно производству и к какому сроку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CEA4A29-D4B3-4662-8E3B-1A8C2C376888}"/>
              </a:ext>
            </a:extLst>
          </p:cNvPr>
          <p:cNvSpPr>
            <a:spLocks noGrp="1"/>
          </p:cNvSpPr>
          <p:nvPr/>
        </p:nvSpPr>
        <p:spPr>
          <a:xfrm>
            <a:off x="5772150" y="179070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План выпуска</a:t>
            </a:r>
          </a:p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MPS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B04D203-F450-48DE-84D8-97DB0A54FF34}"/>
              </a:ext>
            </a:extLst>
          </p:cNvPr>
          <p:cNvSpPr>
            <a:spLocks noGrp="1"/>
          </p:cNvSpPr>
          <p:nvPr/>
        </p:nvSpPr>
        <p:spPr>
          <a:xfrm>
            <a:off x="8191500" y="1771650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Спецификация</a:t>
            </a:r>
          </a:p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BOM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6F96F4C-9FD0-4BF0-B65D-8D761A8C4CC8}"/>
              </a:ext>
            </a:extLst>
          </p:cNvPr>
          <p:cNvSpPr>
            <a:spLocks noGrp="1"/>
          </p:cNvSpPr>
          <p:nvPr/>
        </p:nvSpPr>
        <p:spPr>
          <a:xfrm>
            <a:off x="5772150" y="3233737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Остатки</a:t>
            </a:r>
          </a:p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и заказы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3AEE49A-2BA8-4395-9FED-3D72914DDB7A}"/>
              </a:ext>
            </a:extLst>
          </p:cNvPr>
          <p:cNvSpPr>
            <a:spLocks noGrp="1"/>
          </p:cNvSpPr>
          <p:nvPr/>
        </p:nvSpPr>
        <p:spPr>
          <a:xfrm>
            <a:off x="8191500" y="3233737"/>
            <a:ext cx="1809750" cy="819150"/>
          </a:xfrm>
          <a:prstGeom prst="roundRect">
            <a:avLst>
              <a:gd name="adj" fmla="val 13953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Чистая</a:t>
            </a:r>
          </a:p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потребность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72A62EF-DAE8-426F-9182-3DB4027BB9D4}"/>
              </a:ext>
            </a:extLst>
          </p:cNvPr>
          <p:cNvSpPr>
            <a:spLocks noGrp="1"/>
          </p:cNvSpPr>
          <p:nvPr/>
        </p:nvSpPr>
        <p:spPr>
          <a:xfrm>
            <a:off x="6890536" y="5143312"/>
            <a:ext cx="2000250" cy="819150"/>
          </a:xfrm>
          <a:prstGeom prst="roundRect">
            <a:avLst>
              <a:gd name="adj" fmla="val 13953"/>
            </a:avLst>
          </a:prstGeom>
          <a:solidFill>
            <a:srgbClr val="17324D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План</a:t>
            </a:r>
            <a:r>
              <a:rPr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закупки</a:t>
            </a:r>
            <a:endParaRPr sz="13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и </a:t>
            </a:r>
            <a:r>
              <a:rPr sz="135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пополнения</a:t>
            </a:r>
            <a:endParaRPr sz="135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EDD16C3-6C69-4BC6-8A7F-FB0BE54CDBB3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5210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18F8C153-0477-430C-9211-86828915BAE5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238500" y="4286250"/>
            <a:ext cx="1723553" cy="0"/>
          </a:xfrm>
          <a:prstGeom prst="straightConnector1">
            <a:avLst/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cxnSp>
        <p:nvCxnSpPr>
          <p:cNvPr id="10" name="Соединитель: уступ 9">
            <a:extLst>
              <a:ext uri="{FF2B5EF4-FFF2-40B4-BE49-F238E27FC236}">
                <a16:creationId xmlns:a16="http://schemas.microsoft.com/office/drawing/2014/main" id="{0BFF9B79-6328-47F8-B3E0-307908999B4B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rot="16200000" flipH="1">
            <a:off x="5852876" y="3453048"/>
            <a:ext cx="590550" cy="9053"/>
          </a:xfrm>
          <a:prstGeom prst="bentConnector3">
            <a:avLst>
              <a:gd name="adj1" fmla="val 50000"/>
            </a:avLst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cxnSp>
        <p:nvCxnSpPr>
          <p:cNvPr id="9" name="Соединитель: уступ 8">
            <a:extLst>
              <a:ext uri="{FF2B5EF4-FFF2-40B4-BE49-F238E27FC236}">
                <a16:creationId xmlns:a16="http://schemas.microsoft.com/office/drawing/2014/main" id="{3849E87D-21A2-4455-B334-37809D4B69E5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3238500" y="2667000"/>
            <a:ext cx="1723553" cy="1619250"/>
          </a:xfrm>
          <a:prstGeom prst="bentConnector3">
            <a:avLst>
              <a:gd name="adj1" fmla="val 50000"/>
            </a:avLst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D51C83D-6970-49AC-B24B-921D0EEBD53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2CBEB352-4F0E-42FF-B3E6-23D874546C97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131BB13-7D09-42B3-8B90-EAFDAA0DFC85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Граница ответственности MRP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33EA5E-62B3-4DE5-B5A0-1574CF05DD8C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Результат полезен производству, но не покрывает весь бизнес-контур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D0A3C71-EF86-476B-9682-06D31EE30EC3}"/>
              </a:ext>
            </a:extLst>
          </p:cNvPr>
          <p:cNvSpPr>
            <a:spLocks noGrp="1"/>
          </p:cNvSpPr>
          <p:nvPr/>
        </p:nvSpPr>
        <p:spPr>
          <a:xfrm>
            <a:off x="857250" y="213360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5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Производственная</a:t>
            </a:r>
          </a:p>
          <a:p>
            <a:pPr algn="ctr">
              <a:defRPr sz="15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программа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6BE3721-7A24-4041-BA02-251863E6DDCD}"/>
              </a:ext>
            </a:extLst>
          </p:cNvPr>
          <p:cNvSpPr>
            <a:spLocks noGrp="1"/>
          </p:cNvSpPr>
          <p:nvPr/>
        </p:nvSpPr>
        <p:spPr>
          <a:xfrm>
            <a:off x="4953000" y="209550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5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Спецификации</a:t>
            </a:r>
          </a:p>
          <a:p>
            <a:pPr algn="ctr">
              <a:defRPr sz="15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изделий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8BFE2ED-C4C1-4EFA-8582-F4E3CA391EE2}"/>
              </a:ext>
            </a:extLst>
          </p:cNvPr>
          <p:cNvSpPr>
            <a:spLocks noGrp="1"/>
          </p:cNvSpPr>
          <p:nvPr/>
        </p:nvSpPr>
        <p:spPr>
          <a:xfrm>
            <a:off x="857250" y="375285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5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Запасы и сроки</a:t>
            </a:r>
          </a:p>
          <a:p>
            <a:pPr algn="ctr">
              <a:defRPr sz="15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поставки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712CFE41-1E8E-4DC9-816E-BE65EB3F6BE4}"/>
              </a:ext>
            </a:extLst>
          </p:cNvPr>
          <p:cNvSpPr>
            <a:spLocks noGrp="1"/>
          </p:cNvSpPr>
          <p:nvPr/>
        </p:nvSpPr>
        <p:spPr>
          <a:xfrm>
            <a:off x="4962053" y="375285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17324D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План</a:t>
            </a:r>
            <a:endParaRPr sz="15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материалов</a:t>
            </a:r>
            <a:endParaRPr sz="15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7BAB701-09F5-435D-991B-91B78F0FCA79}"/>
              </a:ext>
            </a:extLst>
          </p:cNvPr>
          <p:cNvSpPr>
            <a:spLocks noGrp="1"/>
          </p:cNvSpPr>
          <p:nvPr/>
        </p:nvSpPr>
        <p:spPr>
          <a:xfrm>
            <a:off x="7581900" y="2390775"/>
            <a:ext cx="4000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72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MRP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отвечает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за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материальное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обеспечение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и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обычно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требует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соседних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систем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для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финансов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продаж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и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управления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</a:t>
            </a:r>
            <a:r>
              <a:rPr sz="172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отношениями</a:t>
            </a:r>
            <a:r>
              <a:rPr sz="172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0E6F8D1-E7CC-41E9-9591-2819FA22E4A7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679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Соединитель: изогнутый 16">
            <a:extLst>
              <a:ext uri="{FF2B5EF4-FFF2-40B4-BE49-F238E27FC236}">
                <a16:creationId xmlns:a16="http://schemas.microsoft.com/office/drawing/2014/main" id="{DCFFA5D4-0FEF-4E52-888D-A1B7C3B8D36E}"/>
              </a:ext>
            </a:extLst>
          </p:cNvPr>
          <p:cNvCxnSpPr>
            <a:stCxn id="16" idx="3"/>
            <a:endCxn id="5" idx="1"/>
          </p:cNvCxnSpPr>
          <p:nvPr/>
        </p:nvCxnSpPr>
        <p:spPr>
          <a:xfrm rot="16200000" flipH="1">
            <a:off x="4328503" y="2747353"/>
            <a:ext cx="657225" cy="591770"/>
          </a:xfrm>
          <a:prstGeom prst="curvedConnector3">
            <a:avLst>
              <a:gd name="adj1" fmla="val 50000"/>
            </a:avLst>
          </a:prstGeom>
          <a:ln w="14288">
            <a:solidFill>
              <a:srgbClr val="CBD5E1"/>
            </a:solidFill>
            <a:prstDash val="solid"/>
          </a:ln>
        </p:spPr>
      </p:cxnSp>
      <p:cxnSp>
        <p:nvCxnSpPr>
          <p:cNvPr id="15" name="Соединитель: изогнутый 14">
            <a:extLst>
              <a:ext uri="{FF2B5EF4-FFF2-40B4-BE49-F238E27FC236}">
                <a16:creationId xmlns:a16="http://schemas.microsoft.com/office/drawing/2014/main" id="{5DD16159-C2F4-4061-9323-C4C82CC4D297}"/>
              </a:ext>
            </a:extLst>
          </p:cNvPr>
          <p:cNvCxnSpPr>
            <a:stCxn id="14" idx="3"/>
            <a:endCxn id="5" idx="1"/>
          </p:cNvCxnSpPr>
          <p:nvPr/>
        </p:nvCxnSpPr>
        <p:spPr>
          <a:xfrm rot="5400000">
            <a:off x="4271353" y="3461728"/>
            <a:ext cx="771525" cy="591770"/>
          </a:xfrm>
          <a:prstGeom prst="curvedConnector3">
            <a:avLst>
              <a:gd name="adj1" fmla="val 50000"/>
            </a:avLst>
          </a:prstGeom>
          <a:ln w="14288">
            <a:solidFill>
              <a:srgbClr val="CBD5E1"/>
            </a:solidFill>
            <a:prstDash val="solid"/>
          </a:ln>
        </p:spPr>
      </p:cxnSp>
      <p:cxnSp>
        <p:nvCxnSpPr>
          <p:cNvPr id="13" name="Соединитель: изогнутый 12">
            <a:extLst>
              <a:ext uri="{FF2B5EF4-FFF2-40B4-BE49-F238E27FC236}">
                <a16:creationId xmlns:a16="http://schemas.microsoft.com/office/drawing/2014/main" id="{5BB75515-327C-47C1-88E3-8289D02A7BC6}"/>
              </a:ext>
            </a:extLst>
          </p:cNvPr>
          <p:cNvCxnSpPr>
            <a:stCxn id="12" idx="0"/>
            <a:endCxn id="5" idx="2"/>
          </p:cNvCxnSpPr>
          <p:nvPr/>
        </p:nvCxnSpPr>
        <p:spPr>
          <a:xfrm flipV="1">
            <a:off x="6096000" y="3886200"/>
            <a:ext cx="0" cy="685800"/>
          </a:xfrm>
          <a:prstGeom prst="curvedConnector2">
            <a:avLst/>
          </a:prstGeom>
          <a:ln w="14288">
            <a:solidFill>
              <a:srgbClr val="CBD5E1"/>
            </a:solidFill>
            <a:prstDash val="solid"/>
          </a:ln>
        </p:spPr>
      </p:cxnSp>
      <p:cxnSp>
        <p:nvCxnSpPr>
          <p:cNvPr id="11" name="Соединитель: изогнутый 10">
            <a:extLst>
              <a:ext uri="{FF2B5EF4-FFF2-40B4-BE49-F238E27FC236}">
                <a16:creationId xmlns:a16="http://schemas.microsoft.com/office/drawing/2014/main" id="{FF99C619-0C0F-4B27-B84E-BD464E3DE254}"/>
              </a:ext>
            </a:extLst>
          </p:cNvPr>
          <p:cNvCxnSpPr>
            <a:stCxn id="10" idx="1"/>
            <a:endCxn id="5" idx="3"/>
          </p:cNvCxnSpPr>
          <p:nvPr/>
        </p:nvCxnSpPr>
        <p:spPr>
          <a:xfrm rot="16200000" flipH="1">
            <a:off x="7149122" y="3461728"/>
            <a:ext cx="771525" cy="591770"/>
          </a:xfrm>
          <a:prstGeom prst="curvedConnector3">
            <a:avLst>
              <a:gd name="adj1" fmla="val 50000"/>
            </a:avLst>
          </a:prstGeom>
          <a:ln w="14288">
            <a:solidFill>
              <a:srgbClr val="CBD5E1"/>
            </a:solidFill>
            <a:prstDash val="solid"/>
          </a:ln>
        </p:spPr>
      </p:cxnSp>
      <p:cxnSp>
        <p:nvCxnSpPr>
          <p:cNvPr id="9" name="Соединитель: изогнутый 8">
            <a:extLst>
              <a:ext uri="{FF2B5EF4-FFF2-40B4-BE49-F238E27FC236}">
                <a16:creationId xmlns:a16="http://schemas.microsoft.com/office/drawing/2014/main" id="{36728B71-544C-4FDB-8BA8-EFA9093C620B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5400000">
            <a:off x="7206272" y="2747353"/>
            <a:ext cx="657225" cy="591770"/>
          </a:xfrm>
          <a:prstGeom prst="curvedConnector3">
            <a:avLst>
              <a:gd name="adj1" fmla="val 50000"/>
            </a:avLst>
          </a:prstGeom>
          <a:ln w="14288">
            <a:solidFill>
              <a:srgbClr val="CBD5E1"/>
            </a:solidFill>
            <a:prstDash val="solid"/>
          </a:ln>
        </p:spPr>
      </p:cxnSp>
      <p:cxnSp>
        <p:nvCxnSpPr>
          <p:cNvPr id="7" name="Соединитель: изогнутый 6">
            <a:extLst>
              <a:ext uri="{FF2B5EF4-FFF2-40B4-BE49-F238E27FC236}">
                <a16:creationId xmlns:a16="http://schemas.microsoft.com/office/drawing/2014/main" id="{0991D544-4F54-4CC4-8ED0-DF1E06B41831}"/>
              </a:ext>
            </a:extLst>
          </p:cNvPr>
          <p:cNvCxnSpPr>
            <a:stCxn id="6" idx="2"/>
            <a:endCxn id="5" idx="0"/>
          </p:cNvCxnSpPr>
          <p:nvPr/>
        </p:nvCxnSpPr>
        <p:spPr>
          <a:xfrm>
            <a:off x="6096000" y="2286000"/>
            <a:ext cx="0" cy="571500"/>
          </a:xfrm>
          <a:prstGeom prst="curvedConnector2">
            <a:avLst/>
          </a:prstGeom>
          <a:ln w="14288">
            <a:solidFill>
              <a:srgbClr val="CBD5E1"/>
            </a:solidFill>
            <a:prstDash val="solid"/>
          </a:ln>
        </p:spPr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BC0CABD-1D0F-4683-A87A-986D493DF18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B92E42D6-9E54-4B86-8A6D-69EC423BB758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39059BB-8ACE-4041-84AC-359CA8179AE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ERP как единое информационное пространство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F095BD0-5B2D-4857-903D-C026505B7CDD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ERP связывает операции подразделений через общую базу данных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93AA25B-70B4-4A64-83FE-1AA1B50E6A2D}"/>
              </a:ext>
            </a:extLst>
          </p:cNvPr>
          <p:cNvSpPr>
            <a:spLocks noGrp="1"/>
          </p:cNvSpPr>
          <p:nvPr/>
        </p:nvSpPr>
        <p:spPr>
          <a:xfrm>
            <a:off x="4953000" y="2857500"/>
            <a:ext cx="2286000" cy="1028700"/>
          </a:xfrm>
          <a:prstGeom prst="roundRect">
            <a:avLst>
              <a:gd name="adj" fmla="val 11111"/>
            </a:avLst>
          </a:prstGeom>
          <a:solidFill>
            <a:srgbClr val="17324D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Единая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база</a:t>
            </a:r>
            <a:r>
              <a:rPr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данных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624156C-33ED-48C7-9D0B-AFDC65CA0CE7}"/>
              </a:ext>
            </a:extLst>
          </p:cNvPr>
          <p:cNvSpPr>
            <a:spLocks noGrp="1"/>
          </p:cNvSpPr>
          <p:nvPr/>
        </p:nvSpPr>
        <p:spPr>
          <a:xfrm>
            <a:off x="5191125" y="1714500"/>
            <a:ext cx="1809750" cy="571500"/>
          </a:xfrm>
          <a:prstGeom prst="roundRect">
            <a:avLst>
              <a:gd name="adj" fmla="val 20000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Продажи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4C80B90-7520-4786-B968-044C10045F16}"/>
              </a:ext>
            </a:extLst>
          </p:cNvPr>
          <p:cNvSpPr>
            <a:spLocks noGrp="1"/>
          </p:cNvSpPr>
          <p:nvPr/>
        </p:nvSpPr>
        <p:spPr>
          <a:xfrm>
            <a:off x="7830770" y="2428875"/>
            <a:ext cx="1809750" cy="571500"/>
          </a:xfrm>
          <a:prstGeom prst="roundRect">
            <a:avLst>
              <a:gd name="adj" fmla="val 20000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Закупки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2EF9E40-1AC6-48DA-BA9D-D90B86E43AED}"/>
              </a:ext>
            </a:extLst>
          </p:cNvPr>
          <p:cNvSpPr>
            <a:spLocks noGrp="1"/>
          </p:cNvSpPr>
          <p:nvPr/>
        </p:nvSpPr>
        <p:spPr>
          <a:xfrm>
            <a:off x="7830770" y="3857625"/>
            <a:ext cx="1809750" cy="571500"/>
          </a:xfrm>
          <a:prstGeom prst="roundRect">
            <a:avLst>
              <a:gd name="adj" fmla="val 20000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Производство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F1A04F9-2A05-4860-9F57-1F432EEB8513}"/>
              </a:ext>
            </a:extLst>
          </p:cNvPr>
          <p:cNvSpPr>
            <a:spLocks noGrp="1"/>
          </p:cNvSpPr>
          <p:nvPr/>
        </p:nvSpPr>
        <p:spPr>
          <a:xfrm>
            <a:off x="5191125" y="4572000"/>
            <a:ext cx="1809750" cy="571500"/>
          </a:xfrm>
          <a:prstGeom prst="roundRect">
            <a:avLst>
              <a:gd name="adj" fmla="val 20000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Склад и логистика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607803BC-4195-41DE-A197-AFE42A52D0B7}"/>
              </a:ext>
            </a:extLst>
          </p:cNvPr>
          <p:cNvSpPr>
            <a:spLocks noGrp="1"/>
          </p:cNvSpPr>
          <p:nvPr/>
        </p:nvSpPr>
        <p:spPr>
          <a:xfrm>
            <a:off x="2551480" y="3857625"/>
            <a:ext cx="1809750" cy="571500"/>
          </a:xfrm>
          <a:prstGeom prst="roundRect">
            <a:avLst>
              <a:gd name="adj" fmla="val 20000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Финансы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F1C169B-F2F3-444B-8A14-B10811233CE1}"/>
              </a:ext>
            </a:extLst>
          </p:cNvPr>
          <p:cNvSpPr>
            <a:spLocks noGrp="1"/>
          </p:cNvSpPr>
          <p:nvPr/>
        </p:nvSpPr>
        <p:spPr>
          <a:xfrm>
            <a:off x="2551480" y="2428875"/>
            <a:ext cx="1809750" cy="571500"/>
          </a:xfrm>
          <a:prstGeom prst="roundRect">
            <a:avLst>
              <a:gd name="adj" fmla="val 20000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Проекты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1F74770-3C40-4E5E-81C9-459DA86C5D69}"/>
              </a:ext>
            </a:extLst>
          </p:cNvPr>
          <p:cNvSpPr>
            <a:spLocks noGrp="1"/>
          </p:cNvSpPr>
          <p:nvPr/>
        </p:nvSpPr>
        <p:spPr>
          <a:xfrm>
            <a:off x="9858375" y="2571750"/>
            <a:ext cx="1809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Введённые данные доступны тем процессам, которым они нужны для планирования, учёта и контроля.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83185CE-C21D-4512-8DA2-2B2C0CACCDBB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0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122B0C3-80E0-4EDD-9C7C-B74FE053CDF9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61C8FBE7-A8ED-4BAF-8BE2-B68C6D8388F2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A563BE1-C584-47E5-BA29-39C46A8A412C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ERP расширяет контур планирования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22F496-C124-42B8-AFAC-0DBB4B0B41DF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В систему входят производственные, коммерческие и финансовые процессы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1B549FA-8408-4788-9E03-117D02E42DEF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2857500" cy="1295400"/>
          </a:xfrm>
          <a:prstGeom prst="roundRect">
            <a:avLst>
              <a:gd name="adj" fmla="val 8824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C566C3D-02C3-4703-B420-E2F125845B30}"/>
              </a:ext>
            </a:extLst>
          </p:cNvPr>
          <p:cNvSpPr>
            <a:spLocks noGrp="1"/>
          </p:cNvSpPr>
          <p:nvPr/>
        </p:nvSpPr>
        <p:spPr>
          <a:xfrm>
            <a:off x="1047750" y="22860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Производство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D806510-5D9F-4947-B6AA-BDF098C2A165}"/>
              </a:ext>
            </a:extLst>
          </p:cNvPr>
          <p:cNvSpPr>
            <a:spLocks noGrp="1"/>
          </p:cNvSpPr>
          <p:nvPr/>
        </p:nvSpPr>
        <p:spPr>
          <a:xfrm>
            <a:off x="1047750" y="270510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планы выпуска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и мощности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EC8C416-E243-4B35-BA9C-242CC2A13C09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2857500" cy="1295400"/>
          </a:xfrm>
          <a:prstGeom prst="roundRect">
            <a:avLst>
              <a:gd name="adj" fmla="val 8824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C1F9B1B-CE0C-4602-ABAE-09895B96C757}"/>
              </a:ext>
            </a:extLst>
          </p:cNvPr>
          <p:cNvSpPr>
            <a:spLocks noGrp="1"/>
          </p:cNvSpPr>
          <p:nvPr/>
        </p:nvSpPr>
        <p:spPr>
          <a:xfrm>
            <a:off x="4572000" y="22860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Снабжение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B965539-F970-41E4-A1CC-C19CC0AF7931}"/>
              </a:ext>
            </a:extLst>
          </p:cNvPr>
          <p:cNvSpPr>
            <a:spLocks noGrp="1"/>
          </p:cNvSpPr>
          <p:nvPr/>
        </p:nvSpPr>
        <p:spPr>
          <a:xfrm>
            <a:off x="4572000" y="270510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закупки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и поставщики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7EFB647-2154-43E6-872A-2D2A2BEC5E6C}"/>
              </a:ext>
            </a:extLst>
          </p:cNvPr>
          <p:cNvSpPr>
            <a:spLocks noGrp="1"/>
          </p:cNvSpPr>
          <p:nvPr/>
        </p:nvSpPr>
        <p:spPr>
          <a:xfrm>
            <a:off x="7905750" y="2095500"/>
            <a:ext cx="2857500" cy="1295400"/>
          </a:xfrm>
          <a:prstGeom prst="roundRect">
            <a:avLst>
              <a:gd name="adj" fmla="val 8824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CEAA760-1313-4BB1-B883-1ED6E535A807}"/>
              </a:ext>
            </a:extLst>
          </p:cNvPr>
          <p:cNvSpPr>
            <a:spLocks noGrp="1"/>
          </p:cNvSpPr>
          <p:nvPr/>
        </p:nvSpPr>
        <p:spPr>
          <a:xfrm>
            <a:off x="8096250" y="22860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Продажи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AB56017-9F91-4C39-9894-EA767748C3D6}"/>
              </a:ext>
            </a:extLst>
          </p:cNvPr>
          <p:cNvSpPr>
            <a:spLocks noGrp="1"/>
          </p:cNvSpPr>
          <p:nvPr/>
        </p:nvSpPr>
        <p:spPr>
          <a:xfrm>
            <a:off x="8096250" y="270510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заказы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и отгрузки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376BE68-3BA8-4D7A-BCE3-08C62DB6620D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2857500" cy="1295400"/>
          </a:xfrm>
          <a:prstGeom prst="roundRect">
            <a:avLst>
              <a:gd name="adj" fmla="val 8824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8CE50D9-4670-40F2-8EC3-D74908DDE329}"/>
              </a:ext>
            </a:extLst>
          </p:cNvPr>
          <p:cNvSpPr>
            <a:spLocks noGrp="1"/>
          </p:cNvSpPr>
          <p:nvPr/>
        </p:nvSpPr>
        <p:spPr>
          <a:xfrm>
            <a:off x="1047750" y="4095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Финансы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26214EB-F8FB-4A15-A3AC-97AB2BB113BD}"/>
              </a:ext>
            </a:extLst>
          </p:cNvPr>
          <p:cNvSpPr>
            <a:spLocks noGrp="1"/>
          </p:cNvSpPr>
          <p:nvPr/>
        </p:nvSpPr>
        <p:spPr>
          <a:xfrm>
            <a:off x="1047750" y="451485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учёт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и контроль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DA2F293D-F457-4650-A557-60E89AE66B3E}"/>
              </a:ext>
            </a:extLst>
          </p:cNvPr>
          <p:cNvSpPr>
            <a:spLocks noGrp="1"/>
          </p:cNvSpPr>
          <p:nvPr/>
        </p:nvSpPr>
        <p:spPr>
          <a:xfrm>
            <a:off x="4381500" y="3905250"/>
            <a:ext cx="2857500" cy="1295400"/>
          </a:xfrm>
          <a:prstGeom prst="roundRect">
            <a:avLst>
              <a:gd name="adj" fmla="val 8824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5577AC0-41B1-4D1E-BC15-888CDB7D3FB4}"/>
              </a:ext>
            </a:extLst>
          </p:cNvPr>
          <p:cNvSpPr>
            <a:spLocks noGrp="1"/>
          </p:cNvSpPr>
          <p:nvPr/>
        </p:nvSpPr>
        <p:spPr>
          <a:xfrm>
            <a:off x="4572000" y="4095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Склад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0A582C1-C7C8-464A-B4E8-883D70701723}"/>
              </a:ext>
            </a:extLst>
          </p:cNvPr>
          <p:cNvSpPr>
            <a:spLocks noGrp="1"/>
          </p:cNvSpPr>
          <p:nvPr/>
        </p:nvSpPr>
        <p:spPr>
          <a:xfrm>
            <a:off x="4572000" y="451485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остатки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и движения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AFE7A079-D8B0-47EF-A2AA-874600F9A15D}"/>
              </a:ext>
            </a:extLst>
          </p:cNvPr>
          <p:cNvSpPr>
            <a:spLocks noGrp="1"/>
          </p:cNvSpPr>
          <p:nvPr/>
        </p:nvSpPr>
        <p:spPr>
          <a:xfrm>
            <a:off x="7905750" y="3905250"/>
            <a:ext cx="2857500" cy="1295400"/>
          </a:xfrm>
          <a:prstGeom prst="roundRect">
            <a:avLst>
              <a:gd name="adj" fmla="val 8824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A54CCD1-90AC-4F99-AF6A-87FF8592159D}"/>
              </a:ext>
            </a:extLst>
          </p:cNvPr>
          <p:cNvSpPr>
            <a:spLocks noGrp="1"/>
          </p:cNvSpPr>
          <p:nvPr/>
        </p:nvSpPr>
        <p:spPr>
          <a:xfrm>
            <a:off x="8096250" y="4095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Проекты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6656A69-ED86-4F1E-8664-AF91C45ED77D}"/>
              </a:ext>
            </a:extLst>
          </p:cNvPr>
          <p:cNvSpPr>
            <a:spLocks noGrp="1"/>
          </p:cNvSpPr>
          <p:nvPr/>
        </p:nvSpPr>
        <p:spPr>
          <a:xfrm>
            <a:off x="8096250" y="4514850"/>
            <a:ext cx="2476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этапы</a:t>
            </a:r>
          </a:p>
          <a:p>
            <a:pPr algn="ctr">
              <a:defRPr sz="13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F2933"/>
                </a:solidFill>
                <a:latin typeface="Arial"/>
                <a:ea typeface="Arial"/>
                <a:cs typeface="Arial"/>
              </a:rPr>
              <a:t>и ресурсы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221B7E3-9E32-463A-B630-B23F7A6252CB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02171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78DDD36-442F-43DD-893F-CB3E5C6E0C7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3F7C2CB-CD4F-4B83-91E9-542B27CB6562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FBADD60-F4D8-42DD-8DDF-346EEFD2FB5E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MRP и ERP: сравнение по ключевым критериям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CEB2DE2F-145F-48C2-B046-A38878EE6FE9}"/>
              </a:ext>
            </a:extLst>
          </p:cNvPr>
          <p:cNvGraphicFramePr/>
          <p:nvPr/>
        </p:nvGraphicFramePr>
        <p:xfrm>
          <a:off x="857250" y="1952625"/>
          <a:ext cx="10477500" cy="3429000"/>
        </p:xfrm>
        <a:graphic>
          <a:graphicData uri="http://schemas.openxmlformats.org/drawingml/2006/table">
            <a:tbl>
              <a:tblPr firstRow="1" bandRow="1"/>
              <a:tblGrid>
                <a:gridCol w="349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MRP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ERP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Фокус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Материалы и сроки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Все ресурсы предприятия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Охват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Производство, снабжение, склад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Производство, продажи, закупки, финансы и др.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Данные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MPS, BOM, остатки, заказы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Общая база данных предприятия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План закупки и пополнения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Согласованный план и оперативный контроль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Ограничение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Узкий функциональный контур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Сложнее и дороже внедрение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C4B89E3-3ED3-484F-857D-F062AD765BFF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35165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F9C57DE0-637D-44D6-BC88-98D8E9FD6C93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9144000" y="3114675"/>
            <a:ext cx="476250" cy="0"/>
          </a:xfrm>
          <a:prstGeom prst="straightConnector1">
            <a:avLst/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653909C-D224-4D1B-A3C9-AAB1BF81154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6810375" y="3114675"/>
            <a:ext cx="523875" cy="0"/>
          </a:xfrm>
          <a:prstGeom prst="straightConnector1">
            <a:avLst/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04CCF08A-030B-475D-A37C-865BF71E48F6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476750" y="3114675"/>
            <a:ext cx="523875" cy="0"/>
          </a:xfrm>
          <a:prstGeom prst="straightConnector1">
            <a:avLst/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1DC5C666-D014-43F8-8DC2-EA6B22E61D7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333625" y="3114675"/>
            <a:ext cx="523875" cy="0"/>
          </a:xfrm>
          <a:prstGeom prst="straightConnector1">
            <a:avLst/>
          </a:prstGeom>
          <a:ln w="19050">
            <a:solidFill>
              <a:srgbClr val="2F6B9A"/>
            </a:solidFill>
            <a:prstDash val="solid"/>
            <a:tailEnd type="triangle" w="sm" len="sm"/>
          </a:ln>
        </p:spPr>
      </p:cxn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9A808D36-63F1-471D-855B-BD0E9033519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87B98F09-4846-49A0-872F-EFE579CA6203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39760F1-F804-4D04-9FD2-6B9308EAB9C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Один заказ: как меняется цепочка данных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5AB3352-5677-436B-A8AE-C7D626F320B9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MRP видит потребность в материалах, ERP связывает её с процессом клиента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25A7E77-3228-43DC-9E72-60E39661F875}"/>
              </a:ext>
            </a:extLst>
          </p:cNvPr>
          <p:cNvSpPr>
            <a:spLocks noGrp="1"/>
          </p:cNvSpPr>
          <p:nvPr/>
        </p:nvSpPr>
        <p:spPr>
          <a:xfrm>
            <a:off x="714375" y="2724150"/>
            <a:ext cx="1619250" cy="781050"/>
          </a:xfrm>
          <a:prstGeom prst="roundRect">
            <a:avLst>
              <a:gd name="adj" fmla="val 14634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Заказ</a:t>
            </a:r>
          </a:p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клиента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54E33FE-D0A4-4C4E-B24E-1F6CB7A7517D}"/>
              </a:ext>
            </a:extLst>
          </p:cNvPr>
          <p:cNvSpPr>
            <a:spLocks noGrp="1"/>
          </p:cNvSpPr>
          <p:nvPr/>
        </p:nvSpPr>
        <p:spPr>
          <a:xfrm>
            <a:off x="2857500" y="2724150"/>
            <a:ext cx="1619250" cy="781050"/>
          </a:xfrm>
          <a:prstGeom prst="roundRect">
            <a:avLst>
              <a:gd name="adj" fmla="val 14634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План</a:t>
            </a:r>
          </a:p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выпуска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8803E3A-4514-498C-B11B-EBA7860388F2}"/>
              </a:ext>
            </a:extLst>
          </p:cNvPr>
          <p:cNvSpPr>
            <a:spLocks noGrp="1"/>
          </p:cNvSpPr>
          <p:nvPr/>
        </p:nvSpPr>
        <p:spPr>
          <a:xfrm>
            <a:off x="5000625" y="27241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Потребность</a:t>
            </a:r>
          </a:p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в материалах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1372211-4C89-4028-B1A1-0090257579A9}"/>
              </a:ext>
            </a:extLst>
          </p:cNvPr>
          <p:cNvSpPr>
            <a:spLocks noGrp="1"/>
          </p:cNvSpPr>
          <p:nvPr/>
        </p:nvSpPr>
        <p:spPr>
          <a:xfrm>
            <a:off x="7334250" y="27241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Закупка</a:t>
            </a:r>
          </a:p>
          <a:p>
            <a:pPr algn="ctr">
              <a:defRPr sz="1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и производство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D19CA520-88EC-4C9F-9940-9CAA0CB1A758}"/>
              </a:ext>
            </a:extLst>
          </p:cNvPr>
          <p:cNvSpPr>
            <a:spLocks noGrp="1"/>
          </p:cNvSpPr>
          <p:nvPr/>
        </p:nvSpPr>
        <p:spPr>
          <a:xfrm>
            <a:off x="9620250" y="2724150"/>
            <a:ext cx="1714500" cy="781050"/>
          </a:xfrm>
          <a:prstGeom prst="roundRect">
            <a:avLst>
              <a:gd name="adj" fmla="val 14634"/>
            </a:avLst>
          </a:prstGeom>
          <a:solidFill>
            <a:srgbClr val="17324D"/>
          </a:solidFill>
          <a:ln w="9525">
            <a:solidFill>
              <a:srgbClr val="CBD5E1"/>
            </a:solidFill>
            <a:prstDash val="solid"/>
          </a:ln>
        </p:spPr>
        <p:txBody>
          <a:bodyPr lIns="133350" tIns="76200" rIns="133350" bIns="76200"/>
          <a:lstStyle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Отгрузка</a:t>
            </a:r>
          </a:p>
          <a:p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финансы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C32BAEF9-DF94-465A-8B44-0741E2C28606}"/>
              </a:ext>
            </a:extLst>
          </p:cNvPr>
          <p:cNvSpPr>
            <a:spLocks noGrp="1"/>
          </p:cNvSpPr>
          <p:nvPr/>
        </p:nvSpPr>
        <p:spPr>
          <a:xfrm>
            <a:off x="4953000" y="4000500"/>
            <a:ext cx="1809750" cy="266700"/>
          </a:xfrm>
          <a:prstGeom prst="roundRect">
            <a:avLst>
              <a:gd name="adj" fmla="val 50000"/>
            </a:avLst>
          </a:prstGeom>
          <a:solidFill>
            <a:srgbClr val="D9EAF7"/>
          </a:solidFill>
          <a:ln w="9525">
            <a:solidFill>
              <a:srgbClr val="D9EAF7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MRP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7043DF7-5FC0-4D41-B167-8DF84ACF8072}"/>
              </a:ext>
            </a:extLst>
          </p:cNvPr>
          <p:cNvSpPr>
            <a:spLocks noGrp="1"/>
          </p:cNvSpPr>
          <p:nvPr/>
        </p:nvSpPr>
        <p:spPr>
          <a:xfrm>
            <a:off x="7000875" y="40195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0"/>
                </a:solidFill>
                <a:latin typeface="Arial"/>
                <a:ea typeface="Arial"/>
                <a:cs typeface="Arial"/>
              </a:rPr>
              <a:t>участок материалов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447DFE53-90B4-4B70-877C-92F7A071B33B}"/>
              </a:ext>
            </a:extLst>
          </p:cNvPr>
          <p:cNvSpPr>
            <a:spLocks noGrp="1"/>
          </p:cNvSpPr>
          <p:nvPr/>
        </p:nvSpPr>
        <p:spPr>
          <a:xfrm>
            <a:off x="4953000" y="4572000"/>
            <a:ext cx="1809750" cy="266700"/>
          </a:xfrm>
          <a:prstGeom prst="roundRect">
            <a:avLst>
              <a:gd name="adj" fmla="val 50000"/>
            </a:avLst>
          </a:prstGeom>
          <a:solidFill>
            <a:srgbClr val="17324D"/>
          </a:solidFill>
          <a:ln w="9525">
            <a:solidFill>
              <a:srgbClr val="17324D"/>
            </a:solidFill>
            <a:prstDash val="solid"/>
          </a:ln>
        </p:spPr>
        <p:txBody>
          <a:bodyPr lIns="0" tIns="0" rIns="0" bIns="0"/>
          <a:lstStyle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4017735-FABC-4064-93E4-29748C3C2F41}"/>
              </a:ext>
            </a:extLst>
          </p:cNvPr>
          <p:cNvSpPr>
            <a:spLocks noGrp="1"/>
          </p:cNvSpPr>
          <p:nvPr/>
        </p:nvSpPr>
        <p:spPr>
          <a:xfrm>
            <a:off x="7000875" y="45910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B6470"/>
                </a:solidFill>
                <a:latin typeface="Arial"/>
                <a:ea typeface="Arial"/>
                <a:cs typeface="Arial"/>
              </a:rPr>
              <a:t>единый сквозной процесс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9773BAF-B0EF-4B36-8D33-733E5326FC85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23833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2C885B4-E9E3-4C1A-9A4A-1B46FB253CA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273778F-BB25-4A21-9268-3C2C6AD0A2EF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A80CE1-430F-4C8E-95AF-D353D9E5EF4C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Сильные стороны и ограничения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64CE2E6-E7DD-4277-A228-B5B3603FAA0D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Технология должна соответствовать масштабу управленческой задачи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11EBA5E-CEC6-4D06-A58B-1525BA55D017}"/>
              </a:ext>
            </a:extLst>
          </p:cNvPr>
          <p:cNvSpPr>
            <a:spLocks noGrp="1"/>
          </p:cNvSpPr>
          <p:nvPr/>
        </p:nvSpPr>
        <p:spPr>
          <a:xfrm>
            <a:off x="857250" y="2000250"/>
            <a:ext cx="4667250" cy="3333750"/>
          </a:xfrm>
          <a:prstGeom prst="roundRect">
            <a:avLst>
              <a:gd name="adj" fmla="val 3429"/>
            </a:avLst>
          </a:prstGeom>
          <a:solidFill>
            <a:srgbClr val="EFF6FB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119A666-5B4A-4BC6-AF9A-2CA089378353}"/>
              </a:ext>
            </a:extLst>
          </p:cNvPr>
          <p:cNvSpPr>
            <a:spLocks noGrp="1"/>
          </p:cNvSpPr>
          <p:nvPr/>
        </p:nvSpPr>
        <p:spPr>
          <a:xfrm>
            <a:off x="6667500" y="2000250"/>
            <a:ext cx="4667250" cy="3333750"/>
          </a:xfrm>
          <a:prstGeom prst="roundRect">
            <a:avLst>
              <a:gd name="adj" fmla="val 3429"/>
            </a:avLst>
          </a:prstGeom>
          <a:solidFill>
            <a:srgbClr val="FDF6E8"/>
          </a:solidFill>
          <a:ln w="9525">
            <a:solidFill>
              <a:srgbClr val="E7C98C"/>
            </a:solidFill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A31B764-6ACD-4014-AA7D-97727BF1F1F0}"/>
              </a:ext>
            </a:extLst>
          </p:cNvPr>
          <p:cNvSpPr>
            <a:spLocks noGrp="1"/>
          </p:cNvSpPr>
          <p:nvPr/>
        </p:nvSpPr>
        <p:spPr>
          <a:xfrm>
            <a:off x="1143000" y="2266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MRP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E225D9A-FBF8-4E86-AA95-8C3B03764742}"/>
              </a:ext>
            </a:extLst>
          </p:cNvPr>
          <p:cNvSpPr>
            <a:spLocks noGrp="1"/>
          </p:cNvSpPr>
          <p:nvPr/>
        </p:nvSpPr>
        <p:spPr>
          <a:xfrm>
            <a:off x="1143000" y="2857500"/>
            <a:ext cx="3905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точнее рассчитывает потребность</a:t>
            </a:r>
          </a:p>
          <a:p>
            <a: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снижает риск дефицита</a:t>
            </a:r>
          </a:p>
          <a:p>
            <a: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поддерживает производственный график</a:t>
            </a:r>
          </a:p>
          <a:p>
            <a: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проще по охвату и внедрению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9CAB42D-4E00-44A2-8A7A-0FD20A6D6759}"/>
              </a:ext>
            </a:extLst>
          </p:cNvPr>
          <p:cNvSpPr>
            <a:spLocks noGrp="1"/>
          </p:cNvSpPr>
          <p:nvPr/>
        </p:nvSpPr>
        <p:spPr>
          <a:xfrm>
            <a:off x="6953250" y="2266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B8791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B8791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791C"/>
                </a:solidFill>
                <a:latin typeface="Arial"/>
                <a:ea typeface="Arial"/>
                <a:cs typeface="Arial"/>
              </a:rPr>
              <a:t>ERP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ADB11A0-0903-47A2-8395-CEFDC40C4597}"/>
              </a:ext>
            </a:extLst>
          </p:cNvPr>
          <p:cNvSpPr>
            <a:spLocks noGrp="1"/>
          </p:cNvSpPr>
          <p:nvPr/>
        </p:nvSpPr>
        <p:spPr>
          <a:xfrm>
            <a:off x="6953250" y="2857500"/>
            <a:ext cx="3905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связывает подразделения</a:t>
            </a:r>
          </a:p>
          <a:p>
            <a: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устраняет разрыв между учётом и планированием</a:t>
            </a:r>
          </a:p>
          <a:p>
            <a: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даёт сквозную аналитику</a:t>
            </a:r>
          </a:p>
          <a:p>
            <a:pPr>
              <a:defRPr sz="165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F2933"/>
                </a:solidFill>
                <a:latin typeface="Arial"/>
                <a:ea typeface="Arial"/>
                <a:cs typeface="Arial"/>
              </a:rPr>
              <a:t>требует зрелых регламентов и инвестиций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BA20C37-A48E-497F-8DB4-5176A65CDE48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58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E206F3E-D26D-437D-AC0B-C0178970B52A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D617215-37F3-405E-B3C8-7B5B82E5144B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90E9049-4BDD-4C56-90CD-253447F9B2B9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Когда</a:t>
            </a:r>
            <a:r>
              <a:rPr sz="255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достаточно</a:t>
            </a:r>
            <a:r>
              <a:rPr sz="255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MRP, а </a:t>
            </a:r>
            <a:r>
              <a:rPr sz="255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когда</a:t>
            </a:r>
            <a:r>
              <a:rPr sz="255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 err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нужна</a:t>
            </a:r>
            <a:r>
              <a:rPr sz="255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ERP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E6A20A49-581F-42A7-AA28-9469EE84709F}"/>
              </a:ext>
            </a:extLst>
          </p:cNvPr>
          <p:cNvGraphicFramePr/>
          <p:nvPr/>
        </p:nvGraphicFramePr>
        <p:xfrm>
          <a:off x="762000" y="2000250"/>
          <a:ext cx="10668000" cy="3143250"/>
        </p:xfrm>
        <a:graphic>
          <a:graphicData uri="http://schemas.openxmlformats.org/drawingml/2006/table">
            <a:tbl>
              <a:tblPr firstRow="1" bandRow="1"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Ситуация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Обоснованный выбор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Почему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>
                      <a:solidFill>
                        <a:srgbClr val="CBD5E1"/>
                      </a:solidFill>
                      <a:prstDash val="soli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Производство с узким контуром планирования материалов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MRP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Главная проблема — сроки и объёмы компонентов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Предприятие с разрозненными подразделениями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ERP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Нужна единая база и согласованные процессы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Несколько площадок и сложная логистика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ERP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Нужен сквозной контроль ресурсов и операций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EF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Переходный этап автоматизации</a:t>
                      </a:r>
                    </a:p>
                  </a:txBody>
                  <a:tcPr>
                    <a:lnL w="9525">
                      <a:solidFill>
                        <a:srgbClr val="CBD5E1"/>
                      </a:solidFill>
                      <a:prstDash val="soli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MRP как контур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MRP может стать производственной частью будущей ERP</a:t>
                      </a:r>
                    </a:p>
                  </a:txBody>
                  <a:tcPr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BD5E1"/>
                      </a:solidFill>
                      <a:prstDash val="soli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BD5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8F81A10-8340-48F2-8503-EF3F65C4879D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04653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022A558-B7AD-4541-86E0-3B07797312BD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CAAA92E-7281-4613-B1D4-2AC4D9D4AD95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88E144C-4A99-49B1-9AC5-981025B9E8F8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Историческая линия развития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4E52F1C-6F24-45D5-BC2A-E69354E5CC97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B6470"/>
                </a:solidFill>
                <a:latin typeface="Arial"/>
                <a:ea typeface="Arial"/>
                <a:cs typeface="Arial"/>
              </a:rPr>
              <a:t>Каждый следующий класс расширяет набор планируемых ресурсов и связей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DBA1975-4B4E-4296-A0A1-B974D7A30D8A}"/>
              </a:ext>
            </a:extLst>
          </p:cNvPr>
          <p:cNvSpPr>
            <a:spLocks noGrp="1"/>
          </p:cNvSpPr>
          <p:nvPr/>
        </p:nvSpPr>
        <p:spPr>
          <a:xfrm>
            <a:off x="1047750" y="2714625"/>
            <a:ext cx="2000250" cy="1333500"/>
          </a:xfrm>
          <a:prstGeom prst="roundRect">
            <a:avLst>
              <a:gd name="adj" fmla="val 8571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C0F1191-086C-4544-B533-B570A9E95BB8}"/>
              </a:ext>
            </a:extLst>
          </p:cNvPr>
          <p:cNvSpPr>
            <a:spLocks noGrp="1"/>
          </p:cNvSpPr>
          <p:nvPr/>
        </p:nvSpPr>
        <p:spPr>
          <a:xfrm>
            <a:off x="1200150" y="297180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MRP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C225DC4-3EE4-422C-BDDE-C61000C7BDF2}"/>
              </a:ext>
            </a:extLst>
          </p:cNvPr>
          <p:cNvSpPr>
            <a:spLocks noGrp="1"/>
          </p:cNvSpPr>
          <p:nvPr/>
        </p:nvSpPr>
        <p:spPr>
          <a:xfrm>
            <a:off x="1200150" y="344805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1960-е</a:t>
            </a:r>
          </a:p>
          <a:p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материалы</a:t>
            </a:r>
          </a:p>
        </p:txBody>
      </p:sp>
      <p:sp>
        <p:nv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0EF59E13-8CB7-4C8F-9C13-00434B053847}"/>
              </a:ext>
            </a:extLst>
          </p:cNvPr>
          <p:cNvSpPr>
            <a:spLocks noGrp="1"/>
          </p:cNvSpPr>
          <p:nvPr/>
        </p:nvSpPr>
        <p:spPr>
          <a:xfrm>
            <a:off x="3048000" y="3381375"/>
            <a:ext cx="619125" cy="0"/>
          </a:xfrm>
          <a:prstGeom prst="line">
            <a:avLst/>
          </a:prstGeom>
          <a:noFill/>
          <a:ln w="28575">
            <a:solidFill>
              <a:srgbClr val="2F6B9A"/>
            </a:solidFill>
            <a:prstDash val="solid"/>
          </a:ln>
        </p:spPr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CFA3653-DB24-4728-86A7-A518BD128F05}"/>
              </a:ext>
            </a:extLst>
          </p:cNvPr>
          <p:cNvSpPr>
            <a:spLocks noGrp="1"/>
          </p:cNvSpPr>
          <p:nvPr/>
        </p:nvSpPr>
        <p:spPr>
          <a:xfrm>
            <a:off x="3667125" y="2714625"/>
            <a:ext cx="2000250" cy="1333500"/>
          </a:xfrm>
          <a:prstGeom prst="roundRect">
            <a:avLst>
              <a:gd name="adj" fmla="val 8571"/>
            </a:avLst>
          </a:prstGeom>
          <a:solidFill>
            <a:srgbClr val="D9EAF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AF62DD2-41C7-4819-AFF3-7E965867CB80}"/>
              </a:ext>
            </a:extLst>
          </p:cNvPr>
          <p:cNvSpPr>
            <a:spLocks noGrp="1"/>
          </p:cNvSpPr>
          <p:nvPr/>
        </p:nvSpPr>
        <p:spPr>
          <a:xfrm>
            <a:off x="3819525" y="297180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MRP II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884AF9E-2950-41DA-8446-3ADBED1F7606}"/>
              </a:ext>
            </a:extLst>
          </p:cNvPr>
          <p:cNvSpPr>
            <a:spLocks noGrp="1"/>
          </p:cNvSpPr>
          <p:nvPr/>
        </p:nvSpPr>
        <p:spPr>
          <a:xfrm>
            <a:off x="3819525" y="344805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1980-е</a:t>
            </a:r>
          </a:p>
          <a:p>
            <a:pPr algn="ctr"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ресурсы производства</a:t>
            </a:r>
          </a:p>
        </p:txBody>
      </p:sp>
      <p:sp>
        <p:nv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E8F7B9C-F91D-400D-A51A-0C45C7E60295}"/>
              </a:ext>
            </a:extLst>
          </p:cNvPr>
          <p:cNvSpPr>
            <a:spLocks noGrp="1"/>
          </p:cNvSpPr>
          <p:nvPr/>
        </p:nvSpPr>
        <p:spPr>
          <a:xfrm>
            <a:off x="5667375" y="3381375"/>
            <a:ext cx="619125" cy="0"/>
          </a:xfrm>
          <a:prstGeom prst="line">
            <a:avLst/>
          </a:prstGeom>
          <a:noFill/>
          <a:ln w="28575">
            <a:solidFill>
              <a:srgbClr val="2F6B9A"/>
            </a:solidFill>
            <a:prstDash val="solid"/>
          </a:ln>
        </p:spPr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B542B87-2A76-4B57-BE4C-1B8A36EF04C6}"/>
              </a:ext>
            </a:extLst>
          </p:cNvPr>
          <p:cNvSpPr>
            <a:spLocks noGrp="1"/>
          </p:cNvSpPr>
          <p:nvPr/>
        </p:nvSpPr>
        <p:spPr>
          <a:xfrm>
            <a:off x="6286500" y="2714625"/>
            <a:ext cx="2000250" cy="1333500"/>
          </a:xfrm>
          <a:prstGeom prst="roundRect">
            <a:avLst>
              <a:gd name="adj" fmla="val 8571"/>
            </a:avLst>
          </a:prstGeom>
          <a:solidFill>
            <a:srgbClr val="17324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C259194-FF6B-4598-AB9D-F04E682C4E0B}"/>
              </a:ext>
            </a:extLst>
          </p:cNvPr>
          <p:cNvSpPr>
            <a:spLocks noGrp="1"/>
          </p:cNvSpPr>
          <p:nvPr/>
        </p:nvSpPr>
        <p:spPr>
          <a:xfrm>
            <a:off x="6438900" y="297180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1D54EDB-ED22-4AD2-BF64-D82D86FF7A06}"/>
              </a:ext>
            </a:extLst>
          </p:cNvPr>
          <p:cNvSpPr>
            <a:spLocks noGrp="1"/>
          </p:cNvSpPr>
          <p:nvPr/>
        </p:nvSpPr>
        <p:spPr>
          <a:xfrm>
            <a:off x="6438900" y="344805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>
                <a:solidFill>
                  <a:srgbClr val="D7E7F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>
                <a:solidFill>
                  <a:srgbClr val="D7E7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7E7F5"/>
                </a:solidFill>
                <a:latin typeface="Arial"/>
                <a:ea typeface="Arial"/>
                <a:cs typeface="Arial"/>
              </a:rPr>
              <a:t>1990-е</a:t>
            </a:r>
          </a:p>
          <a:p>
            <a:pPr algn="ctr">
              <a:defRPr sz="1200">
                <a:solidFill>
                  <a:srgbClr val="D7E7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7E7F5"/>
                </a:solidFill>
                <a:latin typeface="Arial"/>
                <a:ea typeface="Arial"/>
                <a:cs typeface="Arial"/>
              </a:rPr>
              <a:t>ресурсы предприятия</a:t>
            </a:r>
          </a:p>
        </p:txBody>
      </p:sp>
      <p:sp>
        <p:nv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C72C9C8-CAD0-4029-9AF7-01814F12A728}"/>
              </a:ext>
            </a:extLst>
          </p:cNvPr>
          <p:cNvSpPr>
            <a:spLocks noGrp="1"/>
          </p:cNvSpPr>
          <p:nvPr/>
        </p:nvSpPr>
        <p:spPr>
          <a:xfrm>
            <a:off x="8286750" y="3381375"/>
            <a:ext cx="619125" cy="0"/>
          </a:xfrm>
          <a:prstGeom prst="line">
            <a:avLst/>
          </a:prstGeom>
          <a:noFill/>
          <a:ln w="28575">
            <a:solidFill>
              <a:srgbClr val="2F6B9A"/>
            </a:solidFill>
            <a:prstDash val="solid"/>
          </a:ln>
        </p:spPr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D0BB92DC-EFEA-492B-8F50-1DB3BD7FE861}"/>
              </a:ext>
            </a:extLst>
          </p:cNvPr>
          <p:cNvSpPr>
            <a:spLocks noGrp="1"/>
          </p:cNvSpPr>
          <p:nvPr/>
        </p:nvSpPr>
        <p:spPr>
          <a:xfrm>
            <a:off x="8905875" y="2714625"/>
            <a:ext cx="2000250" cy="1333500"/>
          </a:xfrm>
          <a:prstGeom prst="roundRect">
            <a:avLst>
              <a:gd name="adj" fmla="val 8571"/>
            </a:avLst>
          </a:prstGeom>
          <a:solidFill>
            <a:srgbClr val="17324D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A6AC78F-6838-4638-BA6C-C4444D3994EB}"/>
              </a:ext>
            </a:extLst>
          </p:cNvPr>
          <p:cNvSpPr>
            <a:spLocks noGrp="1"/>
          </p:cNvSpPr>
          <p:nvPr/>
        </p:nvSpPr>
        <p:spPr>
          <a:xfrm>
            <a:off x="9058275" y="2971800"/>
            <a:ext cx="16954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ERP II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C7429F5-D19E-4FFC-BBC2-96DE6E51BC75}"/>
              </a:ext>
            </a:extLst>
          </p:cNvPr>
          <p:cNvSpPr>
            <a:spLocks noGrp="1"/>
          </p:cNvSpPr>
          <p:nvPr/>
        </p:nvSpPr>
        <p:spPr>
          <a:xfrm>
            <a:off x="9058275" y="3448050"/>
            <a:ext cx="16954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200">
                <a:solidFill>
                  <a:srgbClr val="D7E7F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>
                <a:solidFill>
                  <a:srgbClr val="D7E7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7E7F5"/>
                </a:solidFill>
                <a:latin typeface="Arial"/>
                <a:ea typeface="Arial"/>
                <a:cs typeface="Arial"/>
              </a:rPr>
              <a:t>конец 1990-х</a:t>
            </a:r>
          </a:p>
          <a:p>
            <a:pPr algn="ctr">
              <a:defRPr sz="1200">
                <a:solidFill>
                  <a:srgbClr val="D7E7F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D7E7F5"/>
                </a:solidFill>
                <a:latin typeface="Arial"/>
                <a:ea typeface="Arial"/>
                <a:cs typeface="Arial"/>
              </a:rPr>
              <a:t>внешние отношения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A933C444-C76B-4FB4-8A6A-972508BA3599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25333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2B089C2-7BBC-457E-886F-EC56B2E283E0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334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90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ИНТЕГРИРОВАННЫЕ ИНФОРМАЦИОННЫЕ СИСТЕМЫ</a:t>
            </a:r>
          </a:p>
        </p:txBody>
      </p:sp>
      <p:sp>
        <p:nv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117F5100-F1FD-4136-8DBA-C797BB69C94A}"/>
              </a:ext>
            </a:extLst>
          </p:cNvPr>
          <p:cNvSpPr>
            <a:spLocks noGrp="1"/>
          </p:cNvSpPr>
          <p:nvPr/>
        </p:nvSpPr>
        <p:spPr>
          <a:xfrm>
            <a:off x="609600" y="590550"/>
            <a:ext cx="1097280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25B544A-0C14-4FD6-994D-2C78BAE063BC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06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Итог сравнения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5DA1CA0-4BB0-4304-BF3C-AA2190CA9A21}"/>
              </a:ext>
            </a:extLst>
          </p:cNvPr>
          <p:cNvSpPr>
            <a:spLocks noGrp="1"/>
          </p:cNvSpPr>
          <p:nvPr/>
        </p:nvSpPr>
        <p:spPr>
          <a:xfrm>
            <a:off x="1047750" y="20955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25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B9A"/>
                </a:solidFill>
                <a:latin typeface="Arial"/>
                <a:ea typeface="Arial"/>
                <a:cs typeface="Arial"/>
              </a:rPr>
              <a:t>MRP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7A2DB02-998E-42C7-849A-D237E6617FBB}"/>
              </a:ext>
            </a:extLst>
          </p:cNvPr>
          <p:cNvSpPr>
            <a:spLocks noGrp="1"/>
          </p:cNvSpPr>
          <p:nvPr/>
        </p:nvSpPr>
        <p:spPr>
          <a:xfrm>
            <a:off x="857250" y="2857500"/>
            <a:ext cx="209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точное планирование</a:t>
            </a:r>
          </a:p>
          <a:p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потребности в материалах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D62B654-F8D1-4F6F-87C8-4F4D3D88F767}"/>
              </a:ext>
            </a:extLst>
          </p:cNvPr>
          <p:cNvSpPr>
            <a:spLocks noGrp="1"/>
          </p:cNvSpPr>
          <p:nvPr/>
        </p:nvSpPr>
        <p:spPr>
          <a:xfrm>
            <a:off x="3524250" y="257175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33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18886F6-3735-4AA9-9B4D-76E6EB11E07B}"/>
              </a:ext>
            </a:extLst>
          </p:cNvPr>
          <p:cNvSpPr>
            <a:spLocks noGrp="1"/>
          </p:cNvSpPr>
          <p:nvPr/>
        </p:nvSpPr>
        <p:spPr>
          <a:xfrm>
            <a:off x="5143500" y="2095500"/>
            <a:ext cx="1714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ERP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EDDC558-DF8D-4876-B90F-E2E8AE349D43}"/>
              </a:ext>
            </a:extLst>
          </p:cNvPr>
          <p:cNvSpPr>
            <a:spLocks noGrp="1"/>
          </p:cNvSpPr>
          <p:nvPr/>
        </p:nvSpPr>
        <p:spPr>
          <a:xfrm>
            <a:off x="4953000" y="2857500"/>
            <a:ext cx="209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единое</a:t>
            </a:r>
            <a:r>
              <a:rPr sz="157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>
                <a:solidFill>
                  <a:srgbClr val="1F2933"/>
                </a:solidFill>
                <a:latin typeface="Arial"/>
                <a:ea typeface="Arial"/>
                <a:cs typeface="Arial"/>
              </a:rPr>
              <a:t>управление</a:t>
            </a:r>
            <a:endParaRPr sz="1575" dirty="0">
              <a:solidFill>
                <a:srgbClr val="1F2933"/>
              </a:solidFill>
              <a:latin typeface="Arial"/>
              <a:ea typeface="Arial"/>
              <a:cs typeface="Arial"/>
            </a:endParaRPr>
          </a:p>
          <a:p>
            <a:pPr algn="ctr">
              <a:defRPr sz="1575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ресурсами</a:t>
            </a:r>
            <a:r>
              <a:rPr sz="1575" dirty="0">
                <a:solidFill>
                  <a:srgbClr val="1F2933"/>
                </a:solidFill>
                <a:latin typeface="Arial"/>
                <a:ea typeface="Arial"/>
                <a:cs typeface="Arial"/>
              </a:rPr>
              <a:t> </a:t>
            </a:r>
            <a:r>
              <a:rPr sz="1575" dirty="0" err="1">
                <a:solidFill>
                  <a:srgbClr val="1F2933"/>
                </a:solidFill>
                <a:latin typeface="Arial"/>
                <a:ea typeface="Arial"/>
                <a:cs typeface="Arial"/>
              </a:rPr>
              <a:t>предприятия</a:t>
            </a:r>
            <a:endParaRPr sz="1575" dirty="0">
              <a:solidFill>
                <a:srgbClr val="1F29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0CA3AC6-4428-455B-8FD3-6B421B70BD9E}"/>
              </a:ext>
            </a:extLst>
          </p:cNvPr>
          <p:cNvSpPr>
            <a:spLocks noGrp="1"/>
          </p:cNvSpPr>
          <p:nvPr/>
        </p:nvSpPr>
        <p:spPr>
          <a:xfrm>
            <a:off x="7620000" y="2571750"/>
            <a:ext cx="76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33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33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5043A0F-5D64-4C3A-B7CB-A5BA1D47C0F7}"/>
              </a:ext>
            </a:extLst>
          </p:cNvPr>
          <p:cNvSpPr>
            <a:spLocks noGrp="1"/>
          </p:cNvSpPr>
          <p:nvPr/>
        </p:nvSpPr>
        <p:spPr>
          <a:xfrm>
            <a:off x="8858250" y="2400300"/>
            <a:ext cx="2381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2E7D6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E7D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F"/>
                </a:solidFill>
                <a:latin typeface="Arial"/>
                <a:ea typeface="Arial"/>
                <a:cs typeface="Arial"/>
              </a:rPr>
              <a:t>Выбор зависит от</a:t>
            </a:r>
          </a:p>
          <a:p>
            <a:pPr algn="ctr">
              <a:defRPr sz="1800" b="1">
                <a:solidFill>
                  <a:srgbClr val="2E7D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D6F"/>
                </a:solidFill>
                <a:latin typeface="Arial"/>
                <a:ea typeface="Arial"/>
                <a:cs typeface="Arial"/>
              </a:rPr>
              <a:t>необходимого контура интеграции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07E84AF-D049-458C-A4EE-3B14B0A15E05}"/>
              </a:ext>
            </a:extLst>
          </p:cNvPr>
          <p:cNvSpPr>
            <a:spLocks noGrp="1"/>
          </p:cNvSpPr>
          <p:nvPr/>
        </p:nvSpPr>
        <p:spPr>
          <a:xfrm>
            <a:off x="2190750" y="4552950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725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5B6470"/>
                </a:solidFill>
                <a:latin typeface="Arial"/>
                <a:ea typeface="Arial"/>
                <a:cs typeface="Arial"/>
              </a:rPr>
              <a:t>Функции MRP обычно входят в производственный контур ERP.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ECA4A2BB-1644-454F-A16C-9E602671EE67}"/>
              </a:ext>
            </a:extLst>
          </p:cNvPr>
          <p:cNvSpPr>
            <a:spLocks noGrp="1"/>
          </p:cNvSpPr>
          <p:nvPr/>
        </p:nvSpPr>
        <p:spPr>
          <a:xfrm>
            <a:off x="11087100" y="641985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900" b="1">
                <a:solidFill>
                  <a:srgbClr val="5B647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B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633158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</Words>
  <Application>Microsoft Office PowerPoint</Application>
  <DocSecurity>0</DocSecurity>
  <PresentationFormat>Широкоэкранный</PresentationFormat>
  <Paragraphs>191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5" baseType="lpstr">
      <vt:lpstr>Aptos</vt:lpstr>
      <vt:lpstr>Arial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Иван Возисов</cp:lastModifiedBy>
  <cp:revision>1</cp:revision>
  <dcterms:created xsi:type="dcterms:W3CDTF">2026-10-13T21:47:35Z</dcterms:created>
  <dcterms:modified xsi:type="dcterms:W3CDTF">2026-10-21T19:05:21Z</dcterms:modified>
</cp:coreProperties>
</file>