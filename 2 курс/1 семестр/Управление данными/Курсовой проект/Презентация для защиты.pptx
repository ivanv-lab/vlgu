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24"/>
  </p:notesMasterIdLst>
  <p:sldIdLst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79" r:id="rId12"/>
    <p:sldId id="268" r:id="rId13"/>
    <p:sldId id="269" r:id="rId14"/>
    <p:sldId id="270" r:id="rId15"/>
    <p:sldId id="271" r:id="rId16"/>
    <p:sldId id="273" r:id="rId17"/>
    <p:sldId id="274" r:id="rId18"/>
    <p:sldId id="278" r:id="rId19"/>
    <p:sldId id="275" r:id="rId20"/>
    <p:sldId id="277" r:id="rId21"/>
    <p:sldId id="280" r:id="rId22"/>
    <p:sldId id="276" r:id="rId23"/>
  </p:sldIdLst>
  <p:sldSz cx="9144000" cy="5143500" type="screen16x9"/>
  <p:notesSz cx="6858000" cy="9144000"/>
  <p:embeddedFontLst>
    <p:embeddedFont>
      <p:font typeface="Manrope" panose="020B0604020202020204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90" y="109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2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60a8deabce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60a8deabce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60a8deabce_2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60a8deabce_2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60a8deabce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g260a8deabce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60a8deabce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60a8deabce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60a8deabce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260a8deabce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60a8deabce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60a8deabce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60a8deabce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60a8deabce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60a8deabce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g260a8deabce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>
          <a:extLst>
            <a:ext uri="{FF2B5EF4-FFF2-40B4-BE49-F238E27FC236}">
              <a16:creationId xmlns:a16="http://schemas.microsoft.com/office/drawing/2014/main" id="{10EB4F50-E794-1902-632A-2976BB329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60a8deabce_0_85:notes">
            <a:extLst>
              <a:ext uri="{FF2B5EF4-FFF2-40B4-BE49-F238E27FC236}">
                <a16:creationId xmlns:a16="http://schemas.microsoft.com/office/drawing/2014/main" id="{046B9FA2-F99E-E7B5-7C15-855B2E29D0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g260a8deabce_0_85:notes">
            <a:extLst>
              <a:ext uri="{FF2B5EF4-FFF2-40B4-BE49-F238E27FC236}">
                <a16:creationId xmlns:a16="http://schemas.microsoft.com/office/drawing/2014/main" id="{0ED836BA-0354-E6EF-658F-1A229BD5A4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58630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260a8deabce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g260a8deabce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60a8deabce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g260a8deabce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60a8deabce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9" name="Google Shape;449;g260a8deabce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260a8deabce_0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g260a8deabce_0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33427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455150" y="1643225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4000" b="1">
                <a:solidFill>
                  <a:srgbClr val="333333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"/>
          </p:nvPr>
        </p:nvSpPr>
        <p:spPr>
          <a:xfrm>
            <a:off x="472875" y="3777000"/>
            <a:ext cx="3309900" cy="2253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lvl="0">
              <a:spcBef>
                <a:spcPts val="30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2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-21625" y="4918325"/>
            <a:ext cx="9165616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/>
          <p:nvPr/>
        </p:nvSpPr>
        <p:spPr>
          <a:xfrm>
            <a:off x="1862" y="0"/>
            <a:ext cx="9140275" cy="225171"/>
          </a:xfrm>
          <a:custGeom>
            <a:avLst/>
            <a:gdLst/>
            <a:ahLst/>
            <a:cxnLst/>
            <a:rect l="l" t="t" r="r" b="b"/>
            <a:pathLst>
              <a:path w="6186311" h="152400" extrusionOk="0">
                <a:moveTo>
                  <a:pt x="0" y="0"/>
                </a:moveTo>
                <a:lnTo>
                  <a:pt x="6186311" y="0"/>
                </a:lnTo>
                <a:lnTo>
                  <a:pt x="6186311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7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00000" y="344200"/>
            <a:ext cx="76563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nrope"/>
              <a:buNone/>
              <a:defRPr sz="2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00000" y="1148850"/>
            <a:ext cx="5380800" cy="22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nrope"/>
              <a:buChar char="•"/>
              <a:defRPr sz="16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–"/>
              <a:defRPr sz="14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Char char="•"/>
              <a:defRPr sz="1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–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»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72875" y="926049"/>
            <a:ext cx="7917886" cy="21426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 fontScale="90000"/>
          </a:bodyPr>
          <a:lstStyle/>
          <a:p>
            <a:r>
              <a:rPr lang="ru-RU" sz="3600" b="0" dirty="0"/>
              <a:t>Курсовой проект Разработка структуры базы данных для информационной системы «Деканат»</a:t>
            </a:r>
            <a:endParaRPr b="0" dirty="0"/>
          </a:p>
        </p:txBody>
      </p:sp>
      <p:sp>
        <p:nvSpPr>
          <p:cNvPr id="257" name="Google Shape;257;p57"/>
          <p:cNvSpPr txBox="1">
            <a:spLocks noGrp="1"/>
          </p:cNvSpPr>
          <p:nvPr>
            <p:ph type="subTitle" idx="1"/>
          </p:nvPr>
        </p:nvSpPr>
        <p:spPr>
          <a:xfrm>
            <a:off x="472874" y="3472199"/>
            <a:ext cx="4305313" cy="938435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/>
          <a:p>
            <a:pPr lvl="0"/>
            <a:r>
              <a:rPr lang="ru-RU" dirty="0"/>
              <a:t>Автор: Возисов Иван,</a:t>
            </a:r>
          </a:p>
          <a:p>
            <a:pPr lvl="0"/>
            <a:r>
              <a:rPr lang="ru-RU" dirty="0"/>
              <a:t>студент группы ЗИСТуд-124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9"/>
          <p:cNvSpPr txBox="1"/>
          <p:nvPr/>
        </p:nvSpPr>
        <p:spPr>
          <a:xfrm>
            <a:off x="247783" y="1316021"/>
            <a:ext cx="8171755" cy="1575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90500" lvl="1">
              <a:lnSpc>
                <a:spcPct val="160000"/>
              </a:lnSpc>
              <a:buClr>
                <a:srgbClr val="333333"/>
              </a:buClr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В задачи курсового проекта входят:</a:t>
            </a:r>
          </a:p>
          <a:p>
            <a:pPr marL="190500" lvl="1">
              <a:lnSpc>
                <a:spcPct val="160000"/>
              </a:lnSpc>
              <a:buClr>
                <a:srgbClr val="333333"/>
              </a:buClr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1. Анализ предметной области.</a:t>
            </a:r>
          </a:p>
          <a:p>
            <a:pPr marL="190500" lvl="1">
              <a:lnSpc>
                <a:spcPct val="160000"/>
              </a:lnSpc>
              <a:buClr>
                <a:srgbClr val="333333"/>
              </a:buClr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2. Проектирование и разработка реляционной базы данных.</a:t>
            </a:r>
          </a:p>
          <a:p>
            <a:pPr marL="190500" lvl="1">
              <a:lnSpc>
                <a:spcPct val="160000"/>
              </a:lnSpc>
              <a:buClr>
                <a:srgbClr val="333333"/>
              </a:buClr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3. Реализация программных компонентов</a:t>
            </a:r>
          </a:p>
        </p:txBody>
      </p:sp>
      <p:sp>
        <p:nvSpPr>
          <p:cNvPr id="285" name="Google Shape;285;p59"/>
          <p:cNvSpPr txBox="1">
            <a:spLocks noGrp="1"/>
          </p:cNvSpPr>
          <p:nvPr>
            <p:ph type="title"/>
          </p:nvPr>
        </p:nvSpPr>
        <p:spPr>
          <a:xfrm>
            <a:off x="452624" y="519953"/>
            <a:ext cx="6450199" cy="409672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/>
              <a:t>Задачи курсового проектирования</a:t>
            </a:r>
            <a:endParaRPr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60"/>
          <p:cNvSpPr txBox="1"/>
          <p:nvPr/>
        </p:nvSpPr>
        <p:spPr>
          <a:xfrm>
            <a:off x="452625" y="1256521"/>
            <a:ext cx="8362964" cy="2363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На начальном этапе были выделены следующие сущности БД:</a:t>
            </a:r>
          </a:p>
          <a:p>
            <a:pPr>
              <a:lnSpc>
                <a:spcPct val="160000"/>
              </a:lnSpc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1. Студенты</a:t>
            </a:r>
          </a:p>
          <a:p>
            <a:pPr>
              <a:lnSpc>
                <a:spcPct val="160000"/>
              </a:lnSpc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2. Группы</a:t>
            </a:r>
          </a:p>
          <a:p>
            <a:pPr>
              <a:lnSpc>
                <a:spcPct val="160000"/>
              </a:lnSpc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3. Направления обучения (специальности)</a:t>
            </a:r>
          </a:p>
          <a:p>
            <a:pPr>
              <a:lnSpc>
                <a:spcPct val="160000"/>
              </a:lnSpc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4. Дисциплины (предметы)</a:t>
            </a:r>
          </a:p>
          <a:p>
            <a:pPr>
              <a:lnSpc>
                <a:spcPct val="160000"/>
              </a:lnSpc>
              <a:buSzPts val="1000"/>
            </a:pPr>
            <a:r>
              <a:rPr lang="ru-RU" sz="1600" dirty="0">
                <a:latin typeface="Manrope"/>
                <a:ea typeface="Manrope"/>
                <a:cs typeface="Manrope"/>
              </a:rPr>
              <a:t>5. Сессионная успеваемость</a:t>
            </a:r>
          </a:p>
        </p:txBody>
      </p:sp>
      <p:sp>
        <p:nvSpPr>
          <p:cNvPr id="298" name="Google Shape;298;p6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/>
              <a:t>Начальный этап</a:t>
            </a:r>
            <a:endParaRPr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Логическая схема базы данных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77EA79A-F05E-1935-79F6-CA18EE6EA4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106" y="929625"/>
            <a:ext cx="4843306" cy="421387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/>
              <a:t>Физическая схема базы данных</a:t>
            </a:r>
            <a:endParaRPr sz="20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23C2EB6-6973-EBF2-FB0C-DA9F158EA8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297" y="929625"/>
            <a:ext cx="7143406" cy="421387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lvl="0"/>
            <a:r>
              <a:rPr lang="ru-RU" dirty="0"/>
              <a:t>Таблица </a:t>
            </a:r>
            <a:r>
              <a:rPr lang="en-US" dirty="0" err="1"/>
              <a:t>spetialties</a:t>
            </a:r>
            <a:endParaRPr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736A0F0-F182-8D5D-8157-1B6E1EF99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942" y="1092182"/>
            <a:ext cx="6916115" cy="1314633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3338B24-5F6A-9807-8E23-293582B87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942" y="2569372"/>
            <a:ext cx="6916115" cy="247140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000" dirty="0"/>
              <a:t>Таблица </a:t>
            </a:r>
            <a:r>
              <a:rPr lang="en-US" sz="2000" dirty="0"/>
              <a:t>groups</a:t>
            </a:r>
            <a:endParaRPr sz="20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D7281AD-A73E-0734-74C0-1819E5C97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995" y="952274"/>
            <a:ext cx="6878010" cy="1619476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E61970A-5DA9-706E-532D-8F2D555491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5559"/>
          <a:stretch>
            <a:fillRect/>
          </a:stretch>
        </p:blipFill>
        <p:spPr>
          <a:xfrm>
            <a:off x="1418267" y="2852105"/>
            <a:ext cx="6307465" cy="229139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000" dirty="0"/>
              <a:t>Таблица </a:t>
            </a:r>
            <a:r>
              <a:rPr lang="en-US" sz="2000" dirty="0"/>
              <a:t>subjects</a:t>
            </a:r>
            <a:endParaRPr sz="2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B0B6082-B3D4-137D-9A7A-083200A49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158" y="1108898"/>
            <a:ext cx="5931684" cy="1741713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7475FD5-8C51-C3A0-A554-457AC1F9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269"/>
          <a:stretch>
            <a:fillRect/>
          </a:stretch>
        </p:blipFill>
        <p:spPr>
          <a:xfrm>
            <a:off x="1668788" y="3029884"/>
            <a:ext cx="5806424" cy="1862304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6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000" dirty="0"/>
              <a:t>Таблица </a:t>
            </a:r>
            <a:r>
              <a:rPr lang="en-US" sz="2000" dirty="0"/>
              <a:t>students</a:t>
            </a:r>
            <a:endParaRPr sz="20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A4895-9146-4151-F1E7-CA3A80B68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397" y="929625"/>
            <a:ext cx="4206763" cy="1869029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480F7B5-9299-7019-B96D-4C75F4F88E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2993"/>
          <a:stretch>
            <a:fillRect/>
          </a:stretch>
        </p:blipFill>
        <p:spPr>
          <a:xfrm>
            <a:off x="0" y="3042619"/>
            <a:ext cx="9144000" cy="1291133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2">
          <a:extLst>
            <a:ext uri="{FF2B5EF4-FFF2-40B4-BE49-F238E27FC236}">
              <a16:creationId xmlns:a16="http://schemas.microsoft.com/office/drawing/2014/main" id="{917CA269-22CA-483B-5EA6-351380454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66">
            <a:extLst>
              <a:ext uri="{FF2B5EF4-FFF2-40B4-BE49-F238E27FC236}">
                <a16:creationId xmlns:a16="http://schemas.microsoft.com/office/drawing/2014/main" id="{AB0CBA64-82A2-1A5F-3D50-00731C53FB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000" dirty="0"/>
              <a:t>Таблица </a:t>
            </a:r>
            <a:r>
              <a:rPr lang="en-US" sz="2000" dirty="0" err="1"/>
              <a:t>session_grades</a:t>
            </a:r>
            <a:endParaRPr sz="2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B85B67D-0026-475B-EDE1-81C39BE73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549" y="929625"/>
            <a:ext cx="5280901" cy="2083224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DE8ADF5-832C-16EB-5262-E50BFCAFA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5033" y="3081750"/>
            <a:ext cx="4253934" cy="176347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59397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400" dirty="0"/>
              <a:t>Функция</a:t>
            </a:r>
            <a:r>
              <a:rPr lang="ru-RU" dirty="0"/>
              <a:t> </a:t>
            </a:r>
            <a:r>
              <a:rPr lang="en-US" sz="2400" dirty="0" err="1"/>
              <a:t>avg_student_rate</a:t>
            </a:r>
            <a:endParaRPr sz="24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3BFBFE7-1663-019C-EB15-B620B0794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5" y="1706880"/>
            <a:ext cx="3598645" cy="2312871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5" name="Рисунок 1">
            <a:extLst>
              <a:ext uri="{FF2B5EF4-FFF2-40B4-BE49-F238E27FC236}">
                <a16:creationId xmlns:a16="http://schemas.microsoft.com/office/drawing/2014/main" id="{258220E2-7F24-EC61-92B6-176A445F6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440" y="2082690"/>
            <a:ext cx="4861560" cy="13395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8"/>
          <p:cNvSpPr txBox="1">
            <a:spLocks noGrp="1"/>
          </p:cNvSpPr>
          <p:nvPr>
            <p:ph type="title"/>
          </p:nvPr>
        </p:nvSpPr>
        <p:spPr>
          <a:xfrm>
            <a:off x="452624" y="536448"/>
            <a:ext cx="5765295" cy="393177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400" dirty="0"/>
              <a:t>Функция </a:t>
            </a:r>
            <a:r>
              <a:rPr lang="en-US" sz="2400" dirty="0" err="1"/>
              <a:t>check_session_close</a:t>
            </a:r>
            <a:endParaRPr sz="24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1A8E0A6-A9A9-5E2B-4FA4-F70F8391D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4" y="1036320"/>
            <a:ext cx="3719239" cy="3696328"/>
          </a:xfrm>
          <a:prstGeom prst="rect">
            <a:avLst/>
          </a:prstGeom>
        </p:spPr>
      </p:pic>
      <p:pic>
        <p:nvPicPr>
          <p:cNvPr id="3" name="Рисунок 1">
            <a:extLst>
              <a:ext uri="{FF2B5EF4-FFF2-40B4-BE49-F238E27FC236}">
                <a16:creationId xmlns:a16="http://schemas.microsoft.com/office/drawing/2014/main" id="{1AF8BF90-FA32-1222-AE39-5D9E9FFDC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1" y="1489822"/>
            <a:ext cx="4404360" cy="147054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69"/>
          <p:cNvSpPr txBox="1">
            <a:spLocks noGrp="1"/>
          </p:cNvSpPr>
          <p:nvPr>
            <p:ph type="title"/>
          </p:nvPr>
        </p:nvSpPr>
        <p:spPr>
          <a:xfrm>
            <a:off x="452624" y="575025"/>
            <a:ext cx="5764025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400" dirty="0"/>
              <a:t>Функция </a:t>
            </a:r>
            <a:r>
              <a:rPr lang="en-US" sz="2400" dirty="0" err="1"/>
              <a:t>student_count_in_group</a:t>
            </a:r>
            <a:endParaRPr sz="24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3107CAC-CC4F-AA9C-4545-CDB6E2DC3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934" y="1256554"/>
            <a:ext cx="3696216" cy="2848373"/>
          </a:xfrm>
          <a:prstGeom prst="rect">
            <a:avLst/>
          </a:prstGeom>
        </p:spPr>
      </p:pic>
      <p:pic>
        <p:nvPicPr>
          <p:cNvPr id="9" name="Рисунок 1">
            <a:extLst>
              <a:ext uri="{FF2B5EF4-FFF2-40B4-BE49-F238E27FC236}">
                <a16:creationId xmlns:a16="http://schemas.microsoft.com/office/drawing/2014/main" id="{198A5CF9-3413-1C26-066B-7337EBF84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52" y="1443037"/>
            <a:ext cx="3467100" cy="22574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7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91425" rIns="91425" bIns="91425" anchor="ctr" anchorCtr="0">
            <a:noAutofit/>
          </a:bodyPr>
          <a:lstStyle/>
          <a:p>
            <a:pPr lvl="0"/>
            <a:r>
              <a:rPr lang="ru-RU" sz="2400" dirty="0"/>
              <a:t>Процедура </a:t>
            </a:r>
            <a:r>
              <a:rPr lang="en-US" sz="2400" dirty="0" err="1"/>
              <a:t>create_student</a:t>
            </a:r>
            <a:endParaRPr sz="24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2F088D2-0676-03C4-2CA2-9F68C7D24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5" y="1142999"/>
            <a:ext cx="3066954" cy="3738417"/>
          </a:xfrm>
          <a:prstGeom prst="rect">
            <a:avLst/>
          </a:prstGeom>
        </p:spPr>
      </p:pic>
      <p:pic>
        <p:nvPicPr>
          <p:cNvPr id="3" name="Рисунок 1">
            <a:extLst>
              <a:ext uri="{FF2B5EF4-FFF2-40B4-BE49-F238E27FC236}">
                <a16:creationId xmlns:a16="http://schemas.microsoft.com/office/drawing/2014/main" id="{2168D02B-E178-C72D-BB68-FE7735745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3387" y="1494958"/>
            <a:ext cx="4775333" cy="1076791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624" y="548640"/>
            <a:ext cx="6728464" cy="380985"/>
          </a:xfrm>
        </p:spPr>
        <p:txBody>
          <a:bodyPr>
            <a:noAutofit/>
          </a:bodyPr>
          <a:lstStyle/>
          <a:p>
            <a:r>
              <a:rPr lang="ru-RU" sz="2400" dirty="0"/>
              <a:t>Процедура</a:t>
            </a:r>
            <a:r>
              <a:rPr lang="ru-RU" dirty="0"/>
              <a:t> </a:t>
            </a:r>
            <a:r>
              <a:rPr lang="en-US" sz="2400" dirty="0" err="1"/>
              <a:t>update_session_grades</a:t>
            </a:r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EA7847-6ED6-BFB4-66C9-CCEFFB78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76" y="1116906"/>
            <a:ext cx="2076422" cy="174821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8D8A31-89CA-6D51-04BD-85376B219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76" y="2865120"/>
            <a:ext cx="2101223" cy="1584960"/>
          </a:xfrm>
          <a:prstGeom prst="rect">
            <a:avLst/>
          </a:prstGeom>
        </p:spPr>
      </p:pic>
      <p:pic>
        <p:nvPicPr>
          <p:cNvPr id="11" name="Рисунок 1">
            <a:extLst>
              <a:ext uri="{FF2B5EF4-FFF2-40B4-BE49-F238E27FC236}">
                <a16:creationId xmlns:a16="http://schemas.microsoft.com/office/drawing/2014/main" id="{A34A11BE-6554-6B4C-C99C-26897F106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7545" y="2000250"/>
            <a:ext cx="5514975" cy="1143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5993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624" y="451104"/>
            <a:ext cx="6118863" cy="478521"/>
          </a:xfrm>
        </p:spPr>
        <p:txBody>
          <a:bodyPr>
            <a:noAutofit/>
          </a:bodyPr>
          <a:lstStyle/>
          <a:p>
            <a:r>
              <a:rPr lang="ru-RU" sz="2400" dirty="0"/>
              <a:t>Процедура </a:t>
            </a:r>
            <a:r>
              <a:rPr lang="en-US" sz="2400" dirty="0" err="1"/>
              <a:t>student_replace_group</a:t>
            </a:r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26D3F86-3B5B-9F5E-499D-3EE1570A7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4" y="1082039"/>
            <a:ext cx="3760207" cy="3753269"/>
          </a:xfrm>
          <a:prstGeom prst="rect">
            <a:avLst/>
          </a:prstGeom>
        </p:spPr>
      </p:pic>
      <p:pic>
        <p:nvPicPr>
          <p:cNvPr id="4" name="Рисунок 1">
            <a:extLst>
              <a:ext uri="{FF2B5EF4-FFF2-40B4-BE49-F238E27FC236}">
                <a16:creationId xmlns:a16="http://schemas.microsoft.com/office/drawing/2014/main" id="{095FEC9A-9FCF-BB8B-7450-A975B5212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8683" y="1082039"/>
            <a:ext cx="4110037" cy="947444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1">
            <a:extLst>
              <a:ext uri="{FF2B5EF4-FFF2-40B4-BE49-F238E27FC236}">
                <a16:creationId xmlns:a16="http://schemas.microsoft.com/office/drawing/2014/main" id="{095DDA12-2DB4-548C-F1FB-E0AB27A8C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8684" y="3382240"/>
            <a:ext cx="4117822" cy="83068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5950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624" y="487680"/>
            <a:ext cx="7313679" cy="441945"/>
          </a:xfrm>
        </p:spPr>
        <p:txBody>
          <a:bodyPr>
            <a:noAutofit/>
          </a:bodyPr>
          <a:lstStyle/>
          <a:p>
            <a:r>
              <a:rPr lang="ru-RU" sz="2400" dirty="0"/>
              <a:t>Триггер </a:t>
            </a:r>
            <a:r>
              <a:rPr lang="en-US" dirty="0" err="1"/>
              <a:t>validate_phone</a:t>
            </a:r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F4CEFB-4250-3718-A8B2-45708C7FF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9073"/>
            <a:ext cx="1554480" cy="157410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E9348A5-F1C5-0A29-C40F-7C669038D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2819901" cy="1574107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4788CA04-D378-473A-1BF5-D18EFD488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878" y="1009073"/>
            <a:ext cx="4744042" cy="224676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INSERT INTO students (</a:t>
            </a:r>
            <a:r>
              <a:rPr kumimoji="0" lang="en-US" altLang="ru-RU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full_name</a:t>
            </a:r>
            <a:r>
              <a:rPr kumimoji="0" lang="en-US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, </a:t>
            </a:r>
            <a:r>
              <a:rPr kumimoji="0" lang="en-US" altLang="ru-RU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birth_date</a:t>
            </a:r>
            <a:r>
              <a:rPr kumimoji="0" lang="en-US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, address, phone, biography, </a:t>
            </a:r>
            <a:r>
              <a:rPr kumimoji="0" lang="en-US" altLang="ru-RU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group_id</a:t>
            </a:r>
            <a:r>
              <a:rPr kumimoji="0" lang="en-US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) VALUES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('Кириллов Алексей Сергеевич', 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'2000-05-15', 'г. Москва, ул. Ленина, д. 25, кв. 12',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'99161234567', 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'Родился в Москве. Увлекаюсь программированием с детства.',1);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Получена ошибка: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ОШИБКА: Номер телефона должен начинаться с 7 или 8. Получен: 99161234567.</a:t>
            </a: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1">
            <a:extLst>
              <a:ext uri="{FF2B5EF4-FFF2-40B4-BE49-F238E27FC236}">
                <a16:creationId xmlns:a16="http://schemas.microsoft.com/office/drawing/2014/main" id="{E5821F73-6648-2438-2A3E-5F42316B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9878" y="3525516"/>
            <a:ext cx="4897985" cy="1130304"/>
          </a:xfrm>
          <a:prstGeom prst="rect">
            <a:avLst/>
          </a:prstGeom>
          <a:noFill/>
          <a:ln>
            <a:solidFill>
              <a:srgbClr val="0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760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624" y="573024"/>
            <a:ext cx="6521199" cy="356601"/>
          </a:xfrm>
        </p:spPr>
        <p:txBody>
          <a:bodyPr>
            <a:noAutofit/>
          </a:bodyPr>
          <a:lstStyle/>
          <a:p>
            <a:r>
              <a:rPr lang="ru-RU" sz="2400" dirty="0"/>
              <a:t>Триггер </a:t>
            </a:r>
            <a:r>
              <a:rPr lang="en-US" dirty="0" err="1"/>
              <a:t>create_group_grade_records</a:t>
            </a:r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6E1E6C-8386-21FE-07E4-A4DB057FF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32" y="2013056"/>
            <a:ext cx="3892648" cy="255742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C6ECFC2-B3C7-4B12-AD5C-1DCD045CF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168" y="2013056"/>
            <a:ext cx="3489960" cy="257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111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624" y="512064"/>
            <a:ext cx="6825999" cy="417561"/>
          </a:xfrm>
        </p:spPr>
        <p:txBody>
          <a:bodyPr>
            <a:noAutofit/>
          </a:bodyPr>
          <a:lstStyle/>
          <a:p>
            <a:r>
              <a:rPr lang="ru-RU" sz="2400" dirty="0"/>
              <a:t>Представление </a:t>
            </a:r>
            <a:r>
              <a:rPr lang="en-US" dirty="0" err="1"/>
              <a:t>student_performance_report</a:t>
            </a:r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3B51826-53B2-A35A-DA8A-E9A9F99F0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4" y="1082040"/>
            <a:ext cx="3063415" cy="3549396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F4ED30E-7BE6-A9BB-C876-05C3D8FBA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623" y="1507348"/>
            <a:ext cx="4945521" cy="212680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35555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47733-1EE6-7730-2C4A-F3A298E2B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CB3CE1-D49E-9437-2B1E-1514BBFAE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4" y="512064"/>
            <a:ext cx="6825999" cy="417561"/>
          </a:xfrm>
        </p:spPr>
        <p:txBody>
          <a:bodyPr>
            <a:noAutofit/>
          </a:bodyPr>
          <a:lstStyle/>
          <a:p>
            <a:r>
              <a:rPr lang="ru-RU" sz="2400" dirty="0"/>
              <a:t>Курсор </a:t>
            </a:r>
            <a:r>
              <a:rPr lang="en-US" dirty="0" err="1"/>
              <a:t>calculate_scholarship_for_group</a:t>
            </a:r>
            <a:r>
              <a:rPr lang="en-US" dirty="0"/>
              <a:t> </a:t>
            </a:r>
            <a:endParaRPr lang="ru-RU" sz="2400" dirty="0"/>
          </a:p>
        </p:txBody>
      </p:sp>
      <p:pic>
        <p:nvPicPr>
          <p:cNvPr id="1026" name="Рисунок 1">
            <a:extLst>
              <a:ext uri="{FF2B5EF4-FFF2-40B4-BE49-F238E27FC236}">
                <a16:creationId xmlns:a16="http://schemas.microsoft.com/office/drawing/2014/main" id="{0A5D373E-BB51-611E-CCFD-0288F03F4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95" y="1568372"/>
            <a:ext cx="7684810" cy="2518981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3227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Заключение</a:t>
            </a:r>
          </a:p>
        </p:txBody>
      </p:sp>
      <p:sp>
        <p:nvSpPr>
          <p:cNvPr id="3" name="Google Shape;305;p61"/>
          <p:cNvSpPr txBox="1"/>
          <p:nvPr/>
        </p:nvSpPr>
        <p:spPr>
          <a:xfrm>
            <a:off x="452625" y="1128112"/>
            <a:ext cx="8234405" cy="3151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sz="1600" dirty="0">
                <a:latin typeface="Manrope"/>
                <a:ea typeface="Manrope"/>
                <a:cs typeface="Manrope"/>
                <a:sym typeface="Manrope"/>
              </a:rPr>
              <a:t>В ходе курсового проектирования </a:t>
            </a:r>
            <a:r>
              <a:rPr lang="ru-RU" sz="1600" dirty="0">
                <a:latin typeface="Manrope"/>
                <a:ea typeface="Manrope"/>
                <a:cs typeface="Manrope"/>
              </a:rPr>
              <a:t>была разработана структура база данных </a:t>
            </a:r>
            <a:r>
              <a:rPr lang="ru-RU" sz="1600" dirty="0">
                <a:latin typeface="Manrope"/>
              </a:rPr>
              <a:t>информационной системы «Деканат».</a:t>
            </a:r>
          </a:p>
          <a:p>
            <a:pPr lvl="0">
              <a:lnSpc>
                <a:spcPct val="160000"/>
              </a:lnSpc>
            </a:pPr>
            <a:endParaRPr lang="ru-RU" sz="1600" dirty="0">
              <a:latin typeface="Manrope"/>
              <a:ea typeface="Manrope"/>
              <a:cs typeface="Manrope"/>
            </a:endParaRPr>
          </a:p>
          <a:p>
            <a:pPr lvl="0">
              <a:lnSpc>
                <a:spcPct val="160000"/>
              </a:lnSpc>
            </a:pPr>
            <a:r>
              <a:rPr lang="ru-RU" sz="1600" dirty="0">
                <a:latin typeface="Manrope"/>
                <a:ea typeface="Manrope"/>
                <a:cs typeface="Manrope"/>
                <a:sym typeface="Manrope"/>
              </a:rPr>
              <a:t>Разработанная база данных выполняет задачи:</a:t>
            </a:r>
          </a:p>
          <a:p>
            <a:pPr lvl="0">
              <a:lnSpc>
                <a:spcPct val="160000"/>
              </a:lnSpc>
            </a:pPr>
            <a:r>
              <a:rPr lang="ru-RU" sz="1600" dirty="0">
                <a:latin typeface="Manrope"/>
                <a:ea typeface="Manrope"/>
                <a:cs typeface="Manrope"/>
                <a:sym typeface="Manrope"/>
              </a:rPr>
              <a:t>1. Повышение качества учёта успеваемости студентов.</a:t>
            </a:r>
          </a:p>
          <a:p>
            <a:pPr lvl="0">
              <a:lnSpc>
                <a:spcPct val="160000"/>
              </a:lnSpc>
            </a:pPr>
            <a:r>
              <a:rPr lang="ru-RU" sz="1600" dirty="0">
                <a:latin typeface="Manrope"/>
                <a:ea typeface="Manrope"/>
                <a:cs typeface="Manrope"/>
                <a:sym typeface="Manrope"/>
              </a:rPr>
              <a:t>2. Оптимизация рабочих процессов.</a:t>
            </a:r>
          </a:p>
          <a:p>
            <a:pPr lvl="0">
              <a:lnSpc>
                <a:spcPct val="160000"/>
              </a:lnSpc>
            </a:pPr>
            <a:r>
              <a:rPr lang="ru-RU" sz="1600" dirty="0">
                <a:latin typeface="Manrope"/>
                <a:ea typeface="Manrope"/>
                <a:cs typeface="Manrope"/>
                <a:sym typeface="Manrope"/>
              </a:rPr>
              <a:t>3. Создание информационного пространства.</a:t>
            </a:r>
          </a:p>
          <a:p>
            <a:pPr lvl="0">
              <a:lnSpc>
                <a:spcPct val="160000"/>
              </a:lnSpc>
            </a:pPr>
            <a:endParaRPr sz="1600" dirty="0">
              <a:latin typeface="Manrope"/>
              <a:ea typeface="Manrope"/>
              <a:cs typeface="Manrope"/>
              <a:sym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82835236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sert">
  <a:themeElements>
    <a:clrScheme name="Office">
      <a:dk1>
        <a:srgbClr val="333333"/>
      </a:dk1>
      <a:lt1>
        <a:srgbClr val="F8F8F8"/>
      </a:lt1>
      <a:dk2>
        <a:srgbClr val="1F497D"/>
      </a:dk2>
      <a:lt2>
        <a:srgbClr val="EEECE1"/>
      </a:lt2>
      <a:accent1>
        <a:srgbClr val="6ABFE2"/>
      </a:accent1>
      <a:accent2>
        <a:srgbClr val="E0B8AE"/>
      </a:accent2>
      <a:accent3>
        <a:srgbClr val="BEBEBE"/>
      </a:accent3>
      <a:accent4>
        <a:srgbClr val="A39299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283</Words>
  <Application>Microsoft Office PowerPoint</Application>
  <PresentationFormat>Экран (16:9)</PresentationFormat>
  <Paragraphs>46</Paragraphs>
  <Slides>21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Manrope</vt:lpstr>
      <vt:lpstr>Arial</vt:lpstr>
      <vt:lpstr>Simple Light</vt:lpstr>
      <vt:lpstr>Desert</vt:lpstr>
      <vt:lpstr>Курсовой проект Разработка структуры базы данных для информационной системы «Деканат»</vt:lpstr>
      <vt:lpstr>Задачи курсового проектирования</vt:lpstr>
      <vt:lpstr>Начальный этап</vt:lpstr>
      <vt:lpstr>Логическая схема базы данных</vt:lpstr>
      <vt:lpstr>Физическая схема базы данных</vt:lpstr>
      <vt:lpstr>Таблица spetialties</vt:lpstr>
      <vt:lpstr>Таблица groups</vt:lpstr>
      <vt:lpstr>Таблица subjects</vt:lpstr>
      <vt:lpstr>Таблица students</vt:lpstr>
      <vt:lpstr>Таблица session_grades</vt:lpstr>
      <vt:lpstr>Функция avg_student_rate</vt:lpstr>
      <vt:lpstr>Функция check_session_close</vt:lpstr>
      <vt:lpstr>Функция student_count_in_group</vt:lpstr>
      <vt:lpstr>Процедура create_student</vt:lpstr>
      <vt:lpstr>Процедура update_session_grades</vt:lpstr>
      <vt:lpstr>Процедура student_replace_group</vt:lpstr>
      <vt:lpstr>Триггер validate_phone</vt:lpstr>
      <vt:lpstr>Триггер create_group_grade_records</vt:lpstr>
      <vt:lpstr>Представление student_performance_report</vt:lpstr>
      <vt:lpstr>Курсор calculate_scholarship_for_group 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README</dc:title>
  <dc:creator>ruslana</dc:creator>
  <cp:lastModifiedBy>Иван Возисов</cp:lastModifiedBy>
  <cp:revision>44</cp:revision>
  <dcterms:modified xsi:type="dcterms:W3CDTF">2025-12-02T19:16:59Z</dcterms:modified>
</cp:coreProperties>
</file>