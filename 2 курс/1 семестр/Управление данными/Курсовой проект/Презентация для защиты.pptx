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  <p:sldMasterId id="2147483699" r:id="rId2"/>
  </p:sldMasterIdLst>
  <p:notesMasterIdLst>
    <p:notesMasterId r:id="rId22"/>
  </p:notesMasterIdLst>
  <p:sldIdLst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8" r:id="rId18"/>
    <p:sldId id="275" r:id="rId19"/>
    <p:sldId id="277" r:id="rId20"/>
    <p:sldId id="276" r:id="rId21"/>
  </p:sldIdLst>
  <p:sldSz cx="9144000" cy="5143500" type="screen16x9"/>
  <p:notesSz cx="6858000" cy="9144000"/>
  <p:embeddedFontLst>
    <p:embeddedFont>
      <p:font typeface="Manrope" panose="020B0604020202020204" charset="0"/>
      <p:regular r:id="rId23"/>
      <p:bold r:id="rId24"/>
    </p:embeddedFont>
    <p:embeddedFont>
      <p:font typeface="Manrope Medium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658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0a8deabce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60a8deabce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60a8deabce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60a8deabce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60a8deabce_2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60a8deabce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0a8deabce_2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60a8deabce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60a8deabce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60a8deabce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0a8deabc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260a8deabc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60a8deabc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60a8deabc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60a8deabce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60a8deabce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60a8deabce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260a8deabce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60a8deab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60a8deab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60a8deabce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g260a8deabce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60a8deabce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9" name="Google Shape;449;g260a8deabce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60a8deabce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g260a8deabce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342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5150" y="1643225"/>
            <a:ext cx="3960300" cy="2142600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4000" b="1">
                <a:solidFill>
                  <a:srgbClr val="33333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72875" y="3777000"/>
            <a:ext cx="3309900" cy="225300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>
            <a:lvl1pPr lvl="0"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-21625" y="4918325"/>
            <a:ext cx="9165616" cy="225171"/>
          </a:xfrm>
          <a:custGeom>
            <a:avLst/>
            <a:gdLst/>
            <a:ahLst/>
            <a:cxnLst/>
            <a:rect l="l" t="t" r="r" b="b"/>
            <a:pathLst>
              <a:path w="5701783" h="152400" extrusionOk="0">
                <a:moveTo>
                  <a:pt x="0" y="0"/>
                </a:moveTo>
                <a:lnTo>
                  <a:pt x="5701783" y="0"/>
                </a:lnTo>
                <a:lnTo>
                  <a:pt x="5701783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/>
          <p:nvPr/>
        </p:nvSpPr>
        <p:spPr>
          <a:xfrm>
            <a:off x="1862" y="0"/>
            <a:ext cx="9140275" cy="225171"/>
          </a:xfrm>
          <a:custGeom>
            <a:avLst/>
            <a:gdLst/>
            <a:ahLst/>
            <a:cxnLst/>
            <a:rect l="l" t="t" r="r" b="b"/>
            <a:pathLst>
              <a:path w="6186311" h="152400" extrusionOk="0">
                <a:moveTo>
                  <a:pt x="0" y="0"/>
                </a:moveTo>
                <a:lnTo>
                  <a:pt x="6186311" y="0"/>
                </a:lnTo>
                <a:lnTo>
                  <a:pt x="6186311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452625" y="575025"/>
            <a:ext cx="5280900" cy="354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00000" y="344200"/>
            <a:ext cx="7656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nrope"/>
              <a:buNone/>
              <a:defRPr sz="22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anrope"/>
              <a:buNone/>
              <a:defRPr sz="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00000" y="1148850"/>
            <a:ext cx="5380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•"/>
              <a:defRPr sz="16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–"/>
              <a:defRPr sz="14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•"/>
              <a:defRPr sz="12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–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»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•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•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•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Char char="•"/>
              <a:defRPr sz="100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7"/>
          <p:cNvSpPr txBox="1">
            <a:spLocks noGrp="1"/>
          </p:cNvSpPr>
          <p:nvPr>
            <p:ph type="title"/>
          </p:nvPr>
        </p:nvSpPr>
        <p:spPr>
          <a:xfrm>
            <a:off x="472875" y="926049"/>
            <a:ext cx="7917886" cy="2142600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 fontScale="90000"/>
          </a:bodyPr>
          <a:lstStyle/>
          <a:p>
            <a:r>
              <a:rPr lang="ru-RU" sz="3600" dirty="0"/>
              <a:t>Курсовой </a:t>
            </a:r>
            <a:r>
              <a:rPr lang="ru-RU" sz="3600"/>
              <a:t>проект </a:t>
            </a:r>
            <a:r>
              <a:rPr lang="ru-RU" sz="3200" b="0"/>
              <a:t>Разработка </a:t>
            </a:r>
            <a:r>
              <a:rPr lang="ru-RU" sz="3200" b="0" dirty="0"/>
              <a:t>структуры базы данных для информационной системы «Поликлиника»</a:t>
            </a:r>
            <a:br>
              <a:rPr lang="ru-RU" dirty="0"/>
            </a:br>
            <a:endParaRPr dirty="0"/>
          </a:p>
        </p:txBody>
      </p:sp>
      <p:sp>
        <p:nvSpPr>
          <p:cNvPr id="257" name="Google Shape;257;p57"/>
          <p:cNvSpPr txBox="1">
            <a:spLocks noGrp="1"/>
          </p:cNvSpPr>
          <p:nvPr>
            <p:ph type="subTitle" idx="1"/>
          </p:nvPr>
        </p:nvSpPr>
        <p:spPr>
          <a:xfrm>
            <a:off x="472874" y="3472199"/>
            <a:ext cx="4305313" cy="938435"/>
          </a:xfrm>
          <a:prstGeom prst="rect">
            <a:avLst/>
          </a:prstGeom>
        </p:spPr>
        <p:txBody>
          <a:bodyPr spcFirstLastPara="1" wrap="square" lIns="45725" tIns="22850" rIns="45725" bIns="22850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ru-RU" dirty="0"/>
              <a:t>Автор: Голубева Руслана,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ru-RU" dirty="0"/>
              <a:t>студентка группы ЗИСТуд-224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9"/>
          <p:cNvSpPr txBox="1"/>
          <p:nvPr/>
        </p:nvSpPr>
        <p:spPr>
          <a:xfrm>
            <a:off x="247783" y="1316021"/>
            <a:ext cx="8171755" cy="251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0500" lvl="1">
              <a:lnSpc>
                <a:spcPct val="160000"/>
              </a:lnSpc>
              <a:buClr>
                <a:srgbClr val="333333"/>
              </a:buClr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В задачи курсового проекта входят:</a:t>
            </a:r>
          </a:p>
          <a:p>
            <a:pPr marL="190500" lvl="1">
              <a:lnSpc>
                <a:spcPct val="160000"/>
              </a:lnSpc>
              <a:buClr>
                <a:srgbClr val="333333"/>
              </a:buClr>
              <a:buSzPts val="1000"/>
            </a:pPr>
            <a:r>
              <a:rPr lang="ru-RU" sz="1600" dirty="0">
                <a:latin typeface="Manrope"/>
              </a:rPr>
              <a:t>1. анализ предметной области;</a:t>
            </a:r>
          </a:p>
          <a:p>
            <a:pPr marL="190500" lvl="1">
              <a:lnSpc>
                <a:spcPct val="160000"/>
              </a:lnSpc>
              <a:buClr>
                <a:srgbClr val="333333"/>
              </a:buClr>
              <a:buSzPts val="1000"/>
            </a:pPr>
            <a:r>
              <a:rPr lang="ru-RU" sz="1600" dirty="0">
                <a:latin typeface="Manrope"/>
              </a:rPr>
              <a:t>2. проектирование и разработка реляционной базы данных;</a:t>
            </a:r>
          </a:p>
          <a:p>
            <a:pPr marL="190500" lvl="1">
              <a:lnSpc>
                <a:spcPct val="160000"/>
              </a:lnSpc>
              <a:buClr>
                <a:srgbClr val="333333"/>
              </a:buClr>
              <a:buSzPts val="1000"/>
            </a:pPr>
            <a:r>
              <a:rPr lang="ru-RU" sz="1600" dirty="0">
                <a:latin typeface="Manrope"/>
              </a:rPr>
              <a:t>3. реализация программных компонентов.</a:t>
            </a:r>
          </a:p>
          <a:p>
            <a:pPr marL="190500" lvl="1">
              <a:lnSpc>
                <a:spcPct val="160000"/>
              </a:lnSpc>
              <a:buClr>
                <a:srgbClr val="333333"/>
              </a:buClr>
              <a:buSzPts val="1000"/>
            </a:pPr>
            <a:endParaRPr lang="ru-RU" dirty="0"/>
          </a:p>
          <a:p>
            <a:pPr marL="190500" lvl="1">
              <a:lnSpc>
                <a:spcPct val="160000"/>
              </a:lnSpc>
              <a:buClr>
                <a:srgbClr val="333333"/>
              </a:buClr>
              <a:buSzPts val="1000"/>
            </a:pPr>
            <a:endParaRPr lang="ru-RU" dirty="0"/>
          </a:p>
          <a:p>
            <a:pPr marL="190500" marR="0" lvl="1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</a:pPr>
            <a:endParaRPr sz="1000" dirty="0">
              <a:solidFill>
                <a:srgbClr val="333333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5" name="Google Shape;285;p59"/>
          <p:cNvSpPr txBox="1">
            <a:spLocks noGrp="1"/>
          </p:cNvSpPr>
          <p:nvPr>
            <p:ph type="title"/>
          </p:nvPr>
        </p:nvSpPr>
        <p:spPr>
          <a:xfrm>
            <a:off x="452624" y="519953"/>
            <a:ext cx="6450199" cy="409672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Задачи курсового проектирования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0"/>
          <p:cNvSpPr txBox="1"/>
          <p:nvPr/>
        </p:nvSpPr>
        <p:spPr>
          <a:xfrm>
            <a:off x="452625" y="1256521"/>
            <a:ext cx="8362964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На начальном этапе были выделены и нормализованы сущности базы данных:</a:t>
            </a:r>
          </a:p>
          <a:p>
            <a:pPr>
              <a:lnSpc>
                <a:spcPct val="160000"/>
              </a:lnSpc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1. пациенты;</a:t>
            </a:r>
          </a:p>
          <a:p>
            <a:pPr>
              <a:lnSpc>
                <a:spcPct val="160000"/>
              </a:lnSpc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2. врачи;</a:t>
            </a:r>
          </a:p>
          <a:p>
            <a:pPr>
              <a:lnSpc>
                <a:spcPct val="160000"/>
              </a:lnSpc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3. записи о лечении;</a:t>
            </a:r>
          </a:p>
          <a:p>
            <a:pPr>
              <a:lnSpc>
                <a:spcPct val="160000"/>
              </a:lnSpc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4. диагнозы;</a:t>
            </a:r>
          </a:p>
          <a:p>
            <a:pPr>
              <a:lnSpc>
                <a:spcPct val="160000"/>
              </a:lnSpc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5. диспансерное наблюдение.</a:t>
            </a:r>
          </a:p>
        </p:txBody>
      </p:sp>
      <p:sp>
        <p:nvSpPr>
          <p:cNvPr id="298" name="Google Shape;298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Начальный этап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Логическая схема базы данных</a:t>
            </a:r>
            <a:endParaRPr dirty="0"/>
          </a:p>
        </p:txBody>
      </p:sp>
      <p:pic>
        <p:nvPicPr>
          <p:cNvPr id="1026" name="Рисунок 1">
            <a:extLst>
              <a:ext uri="{FF2B5EF4-FFF2-40B4-BE49-F238E27FC236}">
                <a16:creationId xmlns:a16="http://schemas.microsoft.com/office/drawing/2014/main" id="{89629002-9FEE-10DE-596B-252625E5C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875" y="1039353"/>
            <a:ext cx="5298850" cy="391888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Физическая схема базы данных</a:t>
            </a:r>
            <a:endParaRPr sz="2000" dirty="0"/>
          </a:p>
        </p:txBody>
      </p:sp>
      <p:pic>
        <p:nvPicPr>
          <p:cNvPr id="2050" name="Рисунок 1">
            <a:extLst>
              <a:ext uri="{FF2B5EF4-FFF2-40B4-BE49-F238E27FC236}">
                <a16:creationId xmlns:a16="http://schemas.microsoft.com/office/drawing/2014/main" id="{3CBB9D12-AF52-F4AC-1F80-56B97B903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702" y="1039353"/>
            <a:ext cx="5280899" cy="39803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Таблица </a:t>
            </a:r>
            <a:r>
              <a:rPr lang="en-US" dirty="0"/>
              <a:t>Patient</a:t>
            </a:r>
            <a:endParaRPr dirty="0"/>
          </a:p>
        </p:txBody>
      </p:sp>
      <p:pic>
        <p:nvPicPr>
          <p:cNvPr id="3074" name="Рисунок 1">
            <a:extLst>
              <a:ext uri="{FF2B5EF4-FFF2-40B4-BE49-F238E27FC236}">
                <a16:creationId xmlns:a16="http://schemas.microsoft.com/office/drawing/2014/main" id="{E8C38A36-2055-A461-F87A-49F12D993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84" y="1074796"/>
            <a:ext cx="4845431" cy="13517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Рисунок 1">
            <a:extLst>
              <a:ext uri="{FF2B5EF4-FFF2-40B4-BE49-F238E27FC236}">
                <a16:creationId xmlns:a16="http://schemas.microsoft.com/office/drawing/2014/main" id="{6932BE54-DF47-251E-2B54-473D2FDFE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905" y="2571750"/>
            <a:ext cx="5564188" cy="23701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Таблица </a:t>
            </a:r>
            <a:r>
              <a:rPr lang="en-US" sz="2000" dirty="0"/>
              <a:t>Doctor</a:t>
            </a:r>
            <a:endParaRPr sz="2000" dirty="0"/>
          </a:p>
        </p:txBody>
      </p:sp>
      <p:pic>
        <p:nvPicPr>
          <p:cNvPr id="4098" name="Рисунок 1">
            <a:extLst>
              <a:ext uri="{FF2B5EF4-FFF2-40B4-BE49-F238E27FC236}">
                <a16:creationId xmlns:a16="http://schemas.microsoft.com/office/drawing/2014/main" id="{317B0163-6080-0AD8-BEAA-4D85F2726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86" y="1192776"/>
            <a:ext cx="4340225" cy="1287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Рисунок 1">
            <a:extLst>
              <a:ext uri="{FF2B5EF4-FFF2-40B4-BE49-F238E27FC236}">
                <a16:creationId xmlns:a16="http://schemas.microsoft.com/office/drawing/2014/main" id="{B868E410-BDC9-7EA9-83DB-EC50C4D69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3" y="2663262"/>
            <a:ext cx="5886450" cy="2035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Таблица </a:t>
            </a:r>
            <a:r>
              <a:rPr lang="en-US" sz="2000" dirty="0" err="1"/>
              <a:t>Diagnoz</a:t>
            </a:r>
            <a:endParaRPr sz="2000" dirty="0"/>
          </a:p>
        </p:txBody>
      </p:sp>
      <p:pic>
        <p:nvPicPr>
          <p:cNvPr id="5122" name="Рисунок 1">
            <a:extLst>
              <a:ext uri="{FF2B5EF4-FFF2-40B4-BE49-F238E27FC236}">
                <a16:creationId xmlns:a16="http://schemas.microsoft.com/office/drawing/2014/main" id="{308A1BF9-FA55-312B-29AC-F3C782E56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466" y="1067054"/>
            <a:ext cx="4945063" cy="90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Рисунок 1">
            <a:extLst>
              <a:ext uri="{FF2B5EF4-FFF2-40B4-BE49-F238E27FC236}">
                <a16:creationId xmlns:a16="http://schemas.microsoft.com/office/drawing/2014/main" id="{E403A63B-EE7E-1412-1DEE-C2F00AC57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571" y="2106183"/>
            <a:ext cx="3300855" cy="300901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Таблица </a:t>
            </a:r>
            <a:r>
              <a:rPr lang="en-US" sz="2000" dirty="0"/>
              <a:t>Treatment</a:t>
            </a:r>
            <a:endParaRPr sz="2000" dirty="0"/>
          </a:p>
        </p:txBody>
      </p:sp>
      <p:pic>
        <p:nvPicPr>
          <p:cNvPr id="6146" name="Рисунок 1">
            <a:extLst>
              <a:ext uri="{FF2B5EF4-FFF2-40B4-BE49-F238E27FC236}">
                <a16:creationId xmlns:a16="http://schemas.microsoft.com/office/drawing/2014/main" id="{FD50B1F8-D68E-56CB-EE7E-D1821355F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629" y="1106925"/>
            <a:ext cx="5138737" cy="1879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Рисунок 1">
            <a:extLst>
              <a:ext uri="{FF2B5EF4-FFF2-40B4-BE49-F238E27FC236}">
                <a16:creationId xmlns:a16="http://schemas.microsoft.com/office/drawing/2014/main" id="{A4A6D26A-0928-A148-E385-C37C3D770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6" y="3163825"/>
            <a:ext cx="6169025" cy="1660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lvl="0"/>
            <a:r>
              <a:rPr lang="ru-RU" sz="2400" dirty="0"/>
              <a:t>Функция</a:t>
            </a:r>
            <a:r>
              <a:rPr lang="ru-RU" dirty="0"/>
              <a:t> </a:t>
            </a:r>
            <a:r>
              <a:rPr lang="en-US" sz="2400" dirty="0" err="1"/>
              <a:t>HasActiveDispensary</a:t>
            </a:r>
            <a:endParaRPr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051798-06B8-AA70-477C-F223654FC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0" y="1024128"/>
            <a:ext cx="2412495" cy="405866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4010C27-FCD2-ED7D-6319-D0A3B8EC2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323" y="1024128"/>
            <a:ext cx="4419119" cy="4058668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8"/>
          <p:cNvSpPr txBox="1">
            <a:spLocks noGrp="1"/>
          </p:cNvSpPr>
          <p:nvPr>
            <p:ph type="title"/>
          </p:nvPr>
        </p:nvSpPr>
        <p:spPr>
          <a:xfrm>
            <a:off x="452624" y="536448"/>
            <a:ext cx="5765295" cy="393177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lvl="0"/>
            <a:r>
              <a:rPr lang="ru-RU" sz="2400" dirty="0"/>
              <a:t>Функция </a:t>
            </a:r>
            <a:r>
              <a:rPr lang="en-US" sz="2400" dirty="0" err="1"/>
              <a:t>CalculateDoctorExperience</a:t>
            </a:r>
            <a:endParaRPr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6E5CFF-C885-C032-EC3E-8776084B8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1" y="929625"/>
            <a:ext cx="4659419" cy="4058412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C10F38-E1BB-2B3A-4DCA-817DBDA91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259" y="1334234"/>
            <a:ext cx="4007340" cy="324919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9"/>
          <p:cNvSpPr txBox="1">
            <a:spLocks noGrp="1"/>
          </p:cNvSpPr>
          <p:nvPr>
            <p:ph type="title"/>
          </p:nvPr>
        </p:nvSpPr>
        <p:spPr>
          <a:xfrm>
            <a:off x="452624" y="575025"/>
            <a:ext cx="5764025" cy="354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lvl="0"/>
            <a:r>
              <a:rPr lang="ru-RU" sz="2400" dirty="0"/>
              <a:t>Функция </a:t>
            </a:r>
            <a:r>
              <a:rPr lang="en-US" sz="2400" dirty="0" err="1"/>
              <a:t>GetTotalDisabilityDays</a:t>
            </a:r>
            <a:r>
              <a:rPr lang="en-US" sz="2400" dirty="0"/>
              <a:t> </a:t>
            </a:r>
            <a:endParaRPr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F8225D-7E6B-0DE3-2C6E-0CD18181C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24" y="1014969"/>
            <a:ext cx="4868630" cy="402545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559495-C712-2F35-3F30-F0AA9F3DE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51" y="1950469"/>
            <a:ext cx="3836325" cy="2154458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lvl="0"/>
            <a:r>
              <a:rPr lang="ru-RU" sz="2400" dirty="0"/>
              <a:t>Процедура </a:t>
            </a:r>
            <a:r>
              <a:rPr lang="en-US" sz="2400" dirty="0" err="1"/>
              <a:t>AddNewPatient</a:t>
            </a:r>
            <a:endParaRPr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0BCD58-878A-2656-725F-BE73B9253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021" y="1045980"/>
            <a:ext cx="4071958" cy="305153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400AB9-4E8B-C04E-C446-CBDAA2213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4213874"/>
            <a:ext cx="6364224" cy="750701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624" y="548640"/>
            <a:ext cx="6728464" cy="380985"/>
          </a:xfrm>
        </p:spPr>
        <p:txBody>
          <a:bodyPr>
            <a:noAutofit/>
          </a:bodyPr>
          <a:lstStyle/>
          <a:p>
            <a:r>
              <a:rPr lang="ru-RU" sz="2400" dirty="0"/>
              <a:t>Процедура</a:t>
            </a:r>
            <a:r>
              <a:rPr lang="ru-RU" dirty="0"/>
              <a:t> </a:t>
            </a:r>
            <a:r>
              <a:rPr lang="en-US" sz="2400" dirty="0" err="1"/>
              <a:t>AnalyzeDispensaryByDiagnosis</a:t>
            </a:r>
            <a:endParaRPr lang="ru-RU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C915B73-660D-3A1A-2092-81BC53629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088" y="929625"/>
            <a:ext cx="4413504" cy="2988671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24950E-4E73-69FE-C179-6DC528A3C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882" y="4006611"/>
            <a:ext cx="3731916" cy="100523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5993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624" y="451104"/>
            <a:ext cx="6118863" cy="478521"/>
          </a:xfrm>
        </p:spPr>
        <p:txBody>
          <a:bodyPr>
            <a:noAutofit/>
          </a:bodyPr>
          <a:lstStyle/>
          <a:p>
            <a:r>
              <a:rPr lang="ru-RU" sz="2400" dirty="0"/>
              <a:t>Процедура </a:t>
            </a:r>
            <a:r>
              <a:rPr lang="en-US" sz="2400" dirty="0" err="1"/>
              <a:t>GetPatientCountByAgeGroup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468EB0-0233-C8DE-C3A4-E0AAC69FF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2" y="929625"/>
            <a:ext cx="3228455" cy="4107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D54E40-766A-A5C9-DDA3-491611E6D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055" y="1696746"/>
            <a:ext cx="3897367" cy="25731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5950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624" y="487680"/>
            <a:ext cx="7313679" cy="441945"/>
          </a:xfrm>
        </p:spPr>
        <p:txBody>
          <a:bodyPr>
            <a:noAutofit/>
          </a:bodyPr>
          <a:lstStyle/>
          <a:p>
            <a:r>
              <a:rPr lang="ru-RU" sz="2400" dirty="0"/>
              <a:t>Триггер </a:t>
            </a:r>
            <a:r>
              <a:rPr lang="en-US" dirty="0" err="1"/>
              <a:t>tr_after_insert_treatment_dispensary</a:t>
            </a:r>
            <a:endParaRPr lang="ru-RU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F42D3E-D479-8998-BA19-EA33C0EF5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039" y="1464202"/>
            <a:ext cx="4705922" cy="29721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7760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624" y="573024"/>
            <a:ext cx="6521199" cy="356601"/>
          </a:xfrm>
        </p:spPr>
        <p:txBody>
          <a:bodyPr>
            <a:noAutofit/>
          </a:bodyPr>
          <a:lstStyle/>
          <a:p>
            <a:r>
              <a:rPr lang="ru-RU" sz="2400" dirty="0"/>
              <a:t>Триггер </a:t>
            </a:r>
            <a:r>
              <a:rPr lang="en-US" dirty="0" err="1"/>
              <a:t>tr_before_insert_patient_validation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3D0DCF-C529-8EA5-39DF-78C5B13AF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63" y="1133854"/>
            <a:ext cx="3054401" cy="38005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42F093-4E4B-1268-53B1-C0AFA126C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133853"/>
            <a:ext cx="4175311" cy="38005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2111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624" y="512064"/>
            <a:ext cx="6825999" cy="417561"/>
          </a:xfrm>
        </p:spPr>
        <p:txBody>
          <a:bodyPr>
            <a:noAutofit/>
          </a:bodyPr>
          <a:lstStyle/>
          <a:p>
            <a:r>
              <a:rPr lang="ru-RU" sz="2400" dirty="0"/>
              <a:t>Представление </a:t>
            </a:r>
            <a:r>
              <a:rPr lang="en-US" dirty="0" err="1"/>
              <a:t>patient_treatment_summary</a:t>
            </a:r>
            <a:endParaRPr lang="ru-RU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9BECDA-066A-42B9-B536-09BD7B14B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32" y="1039353"/>
            <a:ext cx="3967368" cy="3939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3D278C-0491-7C7D-048C-D2110731C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8" y="1039353"/>
            <a:ext cx="3113581" cy="39399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35555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Заключение</a:t>
            </a:r>
          </a:p>
        </p:txBody>
      </p:sp>
      <p:sp>
        <p:nvSpPr>
          <p:cNvPr id="3" name="Google Shape;305;p61"/>
          <p:cNvSpPr txBox="1"/>
          <p:nvPr/>
        </p:nvSpPr>
        <p:spPr>
          <a:xfrm>
            <a:off x="452625" y="1128112"/>
            <a:ext cx="8234405" cy="3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ru-RU" sz="1600" dirty="0">
                <a:latin typeface="Manrope"/>
                <a:ea typeface="Manrope"/>
                <a:cs typeface="Manrope"/>
                <a:sym typeface="Manrope"/>
              </a:rPr>
              <a:t>В ходе курсового проектирования </a:t>
            </a:r>
            <a:r>
              <a:rPr lang="ru-RU" sz="1600" dirty="0">
                <a:latin typeface="Manrope"/>
                <a:ea typeface="Manrope"/>
                <a:cs typeface="Manrope"/>
              </a:rPr>
              <a:t>была разработана структура база данных </a:t>
            </a:r>
            <a:r>
              <a:rPr lang="ru-RU" sz="1600" dirty="0">
                <a:latin typeface="Manrope"/>
              </a:rPr>
              <a:t>информационной системы «Поликлиника».</a:t>
            </a:r>
          </a:p>
          <a:p>
            <a:pPr lvl="0">
              <a:lnSpc>
                <a:spcPct val="160000"/>
              </a:lnSpc>
            </a:pPr>
            <a:endParaRPr lang="ru-RU" sz="1600" dirty="0">
              <a:latin typeface="Manrope"/>
              <a:ea typeface="Manrope"/>
              <a:cs typeface="Manrope"/>
            </a:endParaRPr>
          </a:p>
          <a:p>
            <a:pPr lvl="0">
              <a:lnSpc>
                <a:spcPct val="160000"/>
              </a:lnSpc>
            </a:pPr>
            <a:r>
              <a:rPr lang="ru-RU" sz="1600" dirty="0">
                <a:latin typeface="Manrope"/>
                <a:ea typeface="Manrope"/>
                <a:cs typeface="Manrope"/>
                <a:sym typeface="Manrope"/>
              </a:rPr>
              <a:t>Разработанная база-данных выполняет следующие задачи:</a:t>
            </a:r>
          </a:p>
          <a:p>
            <a:pPr lvl="1">
              <a:lnSpc>
                <a:spcPct val="160000"/>
              </a:lnSpc>
              <a:buClr>
                <a:srgbClr val="333333"/>
              </a:buClr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1. повышение качества медицинского обслуживания;</a:t>
            </a:r>
          </a:p>
          <a:p>
            <a:pPr lvl="1">
              <a:lnSpc>
                <a:spcPct val="160000"/>
              </a:lnSpc>
              <a:buClr>
                <a:srgbClr val="333333"/>
              </a:buClr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2.оптимизация рабочих процессов;</a:t>
            </a:r>
          </a:p>
          <a:p>
            <a:pPr lvl="1">
              <a:lnSpc>
                <a:spcPct val="160000"/>
              </a:lnSpc>
              <a:buClr>
                <a:srgbClr val="333333"/>
              </a:buClr>
              <a:buSzPts val="1000"/>
            </a:pPr>
            <a:r>
              <a:rPr lang="ru-RU" sz="1600" dirty="0">
                <a:latin typeface="Manrope"/>
                <a:ea typeface="Manrope"/>
                <a:cs typeface="Manrope"/>
              </a:rPr>
              <a:t>3. создание единого информационного пространства.</a:t>
            </a:r>
          </a:p>
          <a:p>
            <a:pPr lvl="0">
              <a:lnSpc>
                <a:spcPct val="160000"/>
              </a:lnSpc>
            </a:pPr>
            <a:endParaRPr sz="16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82835236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sert">
  <a:themeElements>
    <a:clrScheme name="Office">
      <a:dk1>
        <a:srgbClr val="333333"/>
      </a:dk1>
      <a:lt1>
        <a:srgbClr val="F8F8F8"/>
      </a:lt1>
      <a:dk2>
        <a:srgbClr val="1F497D"/>
      </a:dk2>
      <a:lt2>
        <a:srgbClr val="EEECE1"/>
      </a:lt2>
      <a:accent1>
        <a:srgbClr val="6ABFE2"/>
      </a:accent1>
      <a:accent2>
        <a:srgbClr val="E0B8AE"/>
      </a:accent2>
      <a:accent3>
        <a:srgbClr val="BEBEBE"/>
      </a:accent3>
      <a:accent4>
        <a:srgbClr val="A39299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333333"/>
    </a:dk1>
    <a:lt1>
      <a:srgbClr val="F8F8F8"/>
    </a:lt1>
    <a:dk2>
      <a:srgbClr val="1F497D"/>
    </a:dk2>
    <a:lt2>
      <a:srgbClr val="EEECE1"/>
    </a:lt2>
    <a:accent1>
      <a:srgbClr val="6ABFE2"/>
    </a:accent1>
    <a:accent2>
      <a:srgbClr val="E0B8AE"/>
    </a:accent2>
    <a:accent3>
      <a:srgbClr val="BEBEBE"/>
    </a:accent3>
    <a:accent4>
      <a:srgbClr val="A39299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333333"/>
    </a:dk1>
    <a:lt1>
      <a:srgbClr val="F8F8F8"/>
    </a:lt1>
    <a:dk2>
      <a:srgbClr val="1F497D"/>
    </a:dk2>
    <a:lt2>
      <a:srgbClr val="EEECE1"/>
    </a:lt2>
    <a:accent1>
      <a:srgbClr val="6ABFE2"/>
    </a:accent1>
    <a:accent2>
      <a:srgbClr val="E0B8AE"/>
    </a:accent2>
    <a:accent3>
      <a:srgbClr val="BEBEBE"/>
    </a:accent3>
    <a:accent4>
      <a:srgbClr val="A39299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182</Words>
  <Application>Microsoft Office PowerPoint</Application>
  <PresentationFormat>Экран (16:9)</PresentationFormat>
  <Paragraphs>38</Paragraphs>
  <Slides>19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Manrope</vt:lpstr>
      <vt:lpstr>Manrope Medium</vt:lpstr>
      <vt:lpstr>Arial</vt:lpstr>
      <vt:lpstr>Simple Light</vt:lpstr>
      <vt:lpstr>Desert</vt:lpstr>
      <vt:lpstr>Курсовой проект Разработка структуры базы данных для информационной системы «Поликлиника» </vt:lpstr>
      <vt:lpstr>Задачи курсового проектирования</vt:lpstr>
      <vt:lpstr>Начальный этап</vt:lpstr>
      <vt:lpstr>Логическая схема базы данных</vt:lpstr>
      <vt:lpstr>Физическая схема базы данных</vt:lpstr>
      <vt:lpstr>Таблица Patient</vt:lpstr>
      <vt:lpstr>Таблица Doctor</vt:lpstr>
      <vt:lpstr>Таблица Diagnoz</vt:lpstr>
      <vt:lpstr>Таблица Treatment</vt:lpstr>
      <vt:lpstr>Функция HasActiveDispensary</vt:lpstr>
      <vt:lpstr>Функция CalculateDoctorExperience</vt:lpstr>
      <vt:lpstr>Функция GetTotalDisabilityDays </vt:lpstr>
      <vt:lpstr>Процедура AddNewPatient</vt:lpstr>
      <vt:lpstr>Процедура AnalyzeDispensaryByDiagnosis</vt:lpstr>
      <vt:lpstr>Процедура GetPatientCountByAgeGroup</vt:lpstr>
      <vt:lpstr>Триггер tr_after_insert_treatment_dispensary</vt:lpstr>
      <vt:lpstr>Триггер tr_before_insert_patient_validation</vt:lpstr>
      <vt:lpstr>Представление patient_treatment_summary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README</dc:title>
  <dc:creator>ruslana</dc:creator>
  <cp:lastModifiedBy>Руслана Голубева</cp:lastModifiedBy>
  <cp:revision>40</cp:revision>
  <dcterms:modified xsi:type="dcterms:W3CDTF">2025-12-01T18:08:19Z</dcterms:modified>
</cp:coreProperties>
</file>