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2FF8A-D373-F861-246E-58522AAEF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7490F9-A115-5908-ED11-7BC313897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C15097-936F-744C-7F24-2E13BD42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AB5081-4411-B5F1-CE66-9311D207A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1A92D5-448E-2042-942A-2A28419C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99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21AEA-DA56-4C68-CA67-14E6FCAE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BEDD62-7439-995A-FEA7-549F41737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107FF1-E900-DFD1-8003-C582EA61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86E7B7-6265-9E7B-FB80-3A55566E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005299-10B6-4335-EADC-3E84BB47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83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3D7A9-DFE8-A527-286B-05C740D2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64980F-5E19-48B3-17A3-7339364D2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279E64-55F5-D609-B54C-5499778A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D45EEC-D635-E50C-1591-AB690764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22B611-DA52-9B65-5F24-BEA9E17F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96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5272E-D7AD-3AD4-A1BA-9184F316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196056-5AED-CFF1-309F-9D83BEC5B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5676B2-1EFF-5C26-B64E-B21C20E41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ADA649-D4D5-B0E2-2E72-DB97D006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3F1FB4-BC42-45A4-96E8-5CEDF0D0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A56448-CF6C-C630-2618-758B339B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53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433F7-FCBA-965D-2917-C3D546BB0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1AFED8-E95A-0EE4-504D-0D82243B2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E3526E-08DD-5FBF-AFED-2ED7AD54A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CDF7C0F-D716-1AC5-E07F-4E9B53B75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5B66D7-F704-E538-6DFD-B5AE829F8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2BBECA3-2F8B-3312-C52F-797A8A99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C4736B-8DA8-93F1-965E-5EC28938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665AE7B-BB7A-3F83-76D7-8E13A1E9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59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28E9CD-CCEA-5DED-460A-AE98181F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F7F481D-F21D-B324-1CF2-0264E4E0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ED996A-DAFB-9CD7-6C38-1A6991085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E02039-2A4C-6D34-E853-A5384887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61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66DCE4-A95E-7550-FEB7-CC3BE885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3813BE-870B-718B-E94C-0552719B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FD3487-E53A-10C7-EF99-F8572AD1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09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940082-46A2-CCD8-F94E-91C07E41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3E461E-AA06-ECED-F977-163FC2EAC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BE2BA5-1445-2A7F-165D-CAAB696AA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CFB7DA-5D83-C2EF-250A-246D333F7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6CA143-BABF-3A8E-C023-91A4EEF1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FA91D8-838F-C493-5CAD-8BDEB0D0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9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396AD-4B80-15C1-5353-199B02C6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E3751C-F6DA-97A4-AF64-445F20021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BA907B-563E-093D-09B8-FA6D56A1D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0943CB-9926-30BB-9B49-40C3AE15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DD01B9-8ED9-1B38-D52F-90192709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FEB401-2911-61EC-4B71-36227A1A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49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B7888-CFCF-198F-1711-96B1C8CF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ED3D66-8893-3378-A7AC-B8A05244D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B239FC-A53B-A766-A0F5-6ADEF797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FF1168-A19F-5529-31BB-D6186097C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3EED8D-68C5-47AE-C3D3-C2433942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67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80C335C-6741-A142-9F22-0F04846CC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73FC1D-0362-F6ED-9E22-5D68E502B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A15F94-0970-1621-2381-6F9015CD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80AA0F-E3D5-E690-7897-6FE0778B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9F383C-A746-2E33-AE73-328C8A90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18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F688C-8CFE-F9AB-EA19-EAE51733E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36EB82-D288-E8C6-2BC5-25DC4CF1E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486B34-3DF4-0484-4633-F3F36704E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3410-7DF2-441A-99FC-E1C2633DCE9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74AEF9-5AB5-EB2C-C878-469C31EEC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C09A35-B8FA-192B-5EA4-8941C574B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1EBC7-7861-4666-8527-34E7C2C8B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35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613F6-2E81-9364-A61E-3668ACBC6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7341"/>
          </a:xfrm>
        </p:spPr>
        <p:txBody>
          <a:bodyPr>
            <a:normAutofit fontScale="90000"/>
          </a:bodyPr>
          <a:lstStyle/>
          <a:p>
            <a:pPr algn="l"/>
            <a:r>
              <a:rPr lang="ru-RU" sz="6600" dirty="0"/>
              <a:t>Курсовой проект </a:t>
            </a:r>
            <a:r>
              <a:rPr lang="ru-RU" dirty="0"/>
              <a:t>Разработка структуры базы данных для информационной системы «Деканат»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24090F-287D-EB8C-F3A8-D7C1D9CA4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9704"/>
            <a:ext cx="9144000" cy="798095"/>
          </a:xfrm>
        </p:spPr>
        <p:txBody>
          <a:bodyPr/>
          <a:lstStyle/>
          <a:p>
            <a:pPr lvl="0" algn="l">
              <a:spcBef>
                <a:spcPts val="300"/>
              </a:spcBef>
            </a:pPr>
            <a:r>
              <a:rPr lang="ru-RU" dirty="0"/>
              <a:t>Автор: Возисов Иван,</a:t>
            </a:r>
          </a:p>
          <a:p>
            <a:pPr lvl="0" algn="l">
              <a:spcBef>
                <a:spcPts val="300"/>
              </a:spcBef>
            </a:pPr>
            <a:r>
              <a:rPr lang="ru-RU" dirty="0"/>
              <a:t>студент группы ЗИСТуд-124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09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60F29-08D4-D838-9682-C76A94900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263"/>
            <a:ext cx="10515600" cy="2852737"/>
          </a:xfrm>
        </p:spPr>
        <p:txBody>
          <a:bodyPr/>
          <a:lstStyle/>
          <a:p>
            <a:r>
              <a:rPr lang="ru-RU" dirty="0"/>
              <a:t>Задачи курсового проектирования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C78AA5-E547-C01E-D7FD-B8F7BC5F1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 задачи курсового проекта входят:</a:t>
            </a:r>
          </a:p>
          <a:p>
            <a:pPr marL="457200" indent="-457200">
              <a:buAutoNum type="arabicPeriod"/>
            </a:pPr>
            <a:r>
              <a:rPr lang="ru-RU" dirty="0"/>
              <a:t>Анализ предметной области.</a:t>
            </a:r>
          </a:p>
          <a:p>
            <a:pPr marL="457200" indent="-457200">
              <a:buAutoNum type="arabicPeriod"/>
            </a:pPr>
            <a:r>
              <a:rPr lang="ru-RU" dirty="0"/>
              <a:t>Проектирование и разработка реляционной базы данных.</a:t>
            </a:r>
          </a:p>
          <a:p>
            <a:pPr marL="457200" indent="-457200">
              <a:buAutoNum type="arabicPeriod"/>
            </a:pPr>
            <a:r>
              <a:rPr lang="ru-RU" dirty="0"/>
              <a:t>Реализация программных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16446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CF4C6-E332-F3CD-77C2-9FF9C345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263"/>
            <a:ext cx="10515600" cy="995863"/>
          </a:xfrm>
        </p:spPr>
        <p:txBody>
          <a:bodyPr/>
          <a:lstStyle/>
          <a:p>
            <a:r>
              <a:rPr lang="ru-RU" dirty="0"/>
              <a:t>Начальный этап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27F117-D9E1-6E88-C665-EF7762228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72127"/>
            <a:ext cx="10515600" cy="4517524"/>
          </a:xfrm>
        </p:spPr>
        <p:txBody>
          <a:bodyPr/>
          <a:lstStyle/>
          <a:p>
            <a:r>
              <a:rPr lang="ru-RU" dirty="0"/>
              <a:t>На начальном этапе были выделены следующие сущности БД:</a:t>
            </a:r>
          </a:p>
          <a:p>
            <a:pPr marL="457200" indent="-457200">
              <a:buAutoNum type="arabicPeriod"/>
            </a:pPr>
            <a:r>
              <a:rPr lang="ru-RU" dirty="0"/>
              <a:t>Студенты</a:t>
            </a:r>
          </a:p>
          <a:p>
            <a:pPr marL="457200" indent="-457200">
              <a:buAutoNum type="arabicPeriod"/>
            </a:pPr>
            <a:r>
              <a:rPr lang="ru-RU" dirty="0"/>
              <a:t>Группы</a:t>
            </a:r>
          </a:p>
          <a:p>
            <a:pPr marL="457200" indent="-457200">
              <a:buAutoNum type="arabicPeriod"/>
            </a:pPr>
            <a:r>
              <a:rPr lang="ru-RU" dirty="0"/>
              <a:t>Направления обучения (специальности)</a:t>
            </a:r>
          </a:p>
          <a:p>
            <a:pPr marL="457200" indent="-457200">
              <a:buAutoNum type="arabicPeriod"/>
            </a:pPr>
            <a:r>
              <a:rPr lang="ru-RU" dirty="0"/>
              <a:t>Дисциплины (предметы)</a:t>
            </a:r>
          </a:p>
          <a:p>
            <a:pPr marL="457200" indent="-457200">
              <a:buAutoNum type="arabicPeriod"/>
            </a:pPr>
            <a:r>
              <a:rPr lang="ru-RU" dirty="0"/>
              <a:t>Сессионная успеваемость</a:t>
            </a:r>
          </a:p>
        </p:txBody>
      </p:sp>
    </p:spTree>
    <p:extLst>
      <p:ext uri="{BB962C8B-B14F-4D97-AF65-F5344CB8AC3E}">
        <p14:creationId xmlns:p14="http://schemas.microsoft.com/office/powerpoint/2010/main" val="3263275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DD99B-3306-2996-FE6D-0604EE3B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964197"/>
          </a:xfrm>
        </p:spPr>
        <p:txBody>
          <a:bodyPr/>
          <a:lstStyle/>
          <a:p>
            <a:r>
              <a:rPr lang="ru-RU" dirty="0"/>
              <a:t>Логическая схема БД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3F098C-068A-A097-846E-45196EF82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011" y="1735253"/>
            <a:ext cx="5004819" cy="43543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83326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B9CC9-001A-A047-952E-07893B69E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1"/>
            <a:ext cx="10515600" cy="1028366"/>
          </a:xfrm>
        </p:spPr>
        <p:txBody>
          <a:bodyPr/>
          <a:lstStyle/>
          <a:p>
            <a:r>
              <a:rPr lang="ru-RU" dirty="0"/>
              <a:t>Физическая схема БД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F890F0-7AB8-CEE7-D2DD-57EA6EC0D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171" y="1796717"/>
            <a:ext cx="7277424" cy="429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764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3165A-7965-028B-F396-3F9DE81C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900029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</a:t>
            </a:r>
            <a:r>
              <a:rPr lang="en-US" dirty="0" err="1"/>
              <a:t>spetialties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F880F0-D02E-A065-1134-7DC06F808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42" y="1668379"/>
            <a:ext cx="6916115" cy="131463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021EA2-97A4-E233-0899-092D8432E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942" y="3268593"/>
            <a:ext cx="6916115" cy="247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2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DBDFB7-7E82-9416-75C4-3DEF2C841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1"/>
            <a:ext cx="10515600" cy="1124618"/>
          </a:xfrm>
        </p:spPr>
        <p:txBody>
          <a:bodyPr/>
          <a:lstStyle/>
          <a:p>
            <a:r>
              <a:rPr lang="ru-RU" dirty="0"/>
              <a:t>Таблица </a:t>
            </a:r>
            <a:r>
              <a:rPr lang="en-US" dirty="0"/>
              <a:t>groups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77A5E2-FB24-E918-6101-F185A06AA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1892969"/>
            <a:ext cx="6878010" cy="16194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E00C94-86FE-D5EF-8EA5-991728306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994" y="3689193"/>
            <a:ext cx="6878009" cy="387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3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945C6-9E71-3C83-E019-4FDBB190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1"/>
            <a:ext cx="10515600" cy="771692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</a:t>
            </a:r>
            <a:r>
              <a:rPr lang="en-US" dirty="0"/>
              <a:t>subjects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4C81BC-4F7A-1C02-084B-0123749B2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1647517"/>
            <a:ext cx="6878010" cy="20195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48F110-55A8-D7A3-A915-66EF55A92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995" y="3916870"/>
            <a:ext cx="6878010" cy="452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13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D7EB2-36F8-947D-C9E1-252441E97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1"/>
            <a:ext cx="10515600" cy="1028366"/>
          </a:xfrm>
        </p:spPr>
        <p:txBody>
          <a:bodyPr/>
          <a:lstStyle/>
          <a:p>
            <a:r>
              <a:rPr lang="ru-RU" dirty="0"/>
              <a:t>Таблица </a:t>
            </a:r>
            <a:r>
              <a:rPr lang="en-US" dirty="0"/>
              <a:t>students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1EE8FF-4C4E-487E-E834-304CD499A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79" y="1890498"/>
            <a:ext cx="6925642" cy="30770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B977FB-6795-27A8-EFFF-2E1B1DCF2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56" y="5169567"/>
            <a:ext cx="10307488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2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110F8-AF96-FB16-2EB0-E2558D73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1"/>
            <a:ext cx="10515600" cy="1076492"/>
          </a:xfrm>
        </p:spPr>
        <p:txBody>
          <a:bodyPr/>
          <a:lstStyle/>
          <a:p>
            <a:r>
              <a:rPr lang="ru-RU" dirty="0"/>
              <a:t>Таблица </a:t>
            </a:r>
            <a:r>
              <a:rPr lang="en-US" dirty="0" err="1"/>
              <a:t>session_grades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7DB24F-06E7-D4B7-9A5F-B91AD647E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705" y="2066735"/>
            <a:ext cx="6906589" cy="27245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2EF23E-80BA-F129-BF35-C7FB5E1E6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254" y="4791265"/>
            <a:ext cx="563006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30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B69AA-A4BF-9E35-5D37-5007DED8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1"/>
            <a:ext cx="10515600" cy="755650"/>
          </a:xfrm>
        </p:spPr>
        <p:txBody>
          <a:bodyPr>
            <a:normAutofit fontScale="90000"/>
          </a:bodyPr>
          <a:lstStyle/>
          <a:p>
            <a:r>
              <a:rPr lang="ru-RU" dirty="0"/>
              <a:t>Функция </a:t>
            </a:r>
            <a:r>
              <a:rPr lang="en-US" dirty="0" err="1"/>
              <a:t>avg_student_rate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72D562-98AD-D5BA-2CB4-69DDB182A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505954" cy="2896004"/>
          </a:xfrm>
          <a:prstGeom prst="rect">
            <a:avLst/>
          </a:prstGeom>
        </p:spPr>
      </p:pic>
      <p:pic>
        <p:nvPicPr>
          <p:cNvPr id="1026" name="Рисунок 1">
            <a:extLst>
              <a:ext uri="{FF2B5EF4-FFF2-40B4-BE49-F238E27FC236}">
                <a16:creationId xmlns:a16="http://schemas.microsoft.com/office/drawing/2014/main" id="{315BC351-7102-C2F2-2EE1-8B553588F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81275"/>
            <a:ext cx="615315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303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ABFDE4-D118-69BA-084A-CA41EB591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867945"/>
          </a:xfrm>
        </p:spPr>
        <p:txBody>
          <a:bodyPr>
            <a:normAutofit fontScale="90000"/>
          </a:bodyPr>
          <a:lstStyle/>
          <a:p>
            <a:r>
              <a:rPr lang="ru-RU" dirty="0"/>
              <a:t>Функция </a:t>
            </a:r>
            <a:r>
              <a:rPr lang="en-US" dirty="0" err="1"/>
              <a:t>check_session_close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55D39B-310E-A114-0234-9CA78C845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505" y="1631532"/>
            <a:ext cx="4639322" cy="4610743"/>
          </a:xfrm>
          <a:prstGeom prst="rect">
            <a:avLst/>
          </a:prstGeom>
        </p:spPr>
      </p:pic>
      <p:pic>
        <p:nvPicPr>
          <p:cNvPr id="2050" name="Рисунок 1">
            <a:extLst>
              <a:ext uri="{FF2B5EF4-FFF2-40B4-BE49-F238E27FC236}">
                <a16:creationId xmlns:a16="http://schemas.microsoft.com/office/drawing/2014/main" id="{0461BDAF-8109-374D-5C8F-4B2D45C07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175" y="2043266"/>
            <a:ext cx="576262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0684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9EEF0-A964-E049-F96D-A2C365BF5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883987"/>
          </a:xfrm>
        </p:spPr>
        <p:txBody>
          <a:bodyPr>
            <a:normAutofit fontScale="90000"/>
          </a:bodyPr>
          <a:lstStyle/>
          <a:p>
            <a:r>
              <a:rPr lang="ru-RU" dirty="0"/>
              <a:t>Функция </a:t>
            </a:r>
            <a:r>
              <a:rPr lang="en-US" dirty="0" err="1"/>
              <a:t>student_count_in_group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3E85F4-8AAF-C284-EDDE-F59389933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58" y="1686843"/>
            <a:ext cx="3696216" cy="2848373"/>
          </a:xfrm>
          <a:prstGeom prst="rect">
            <a:avLst/>
          </a:prstGeom>
        </p:spPr>
      </p:pic>
      <p:pic>
        <p:nvPicPr>
          <p:cNvPr id="3074" name="Рисунок 1">
            <a:extLst>
              <a:ext uri="{FF2B5EF4-FFF2-40B4-BE49-F238E27FC236}">
                <a16:creationId xmlns:a16="http://schemas.microsoft.com/office/drawing/2014/main" id="{AA0CBA0C-D0BF-B937-4A4B-4D48EEF57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3900" y="1982316"/>
            <a:ext cx="346710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5437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E3409-5328-3E22-E5DD-8D5F31E5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264"/>
            <a:ext cx="10515600" cy="86752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Процедура </a:t>
            </a:r>
            <a:r>
              <a:rPr lang="en-US" dirty="0" err="1"/>
              <a:t>create_student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185E19-E9BB-4B5D-346D-82E498E3B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73" y="1732889"/>
            <a:ext cx="4829849" cy="5887272"/>
          </a:xfrm>
          <a:prstGeom prst="rect">
            <a:avLst/>
          </a:prstGeom>
        </p:spPr>
      </p:pic>
      <p:pic>
        <p:nvPicPr>
          <p:cNvPr id="4098" name="Рисунок 1">
            <a:extLst>
              <a:ext uri="{FF2B5EF4-FFF2-40B4-BE49-F238E27FC236}">
                <a16:creationId xmlns:a16="http://schemas.microsoft.com/office/drawing/2014/main" id="{97178B2D-88A5-BD27-CF6A-119891BED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427" y="1958140"/>
            <a:ext cx="58293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6041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316E2E-8C28-FA38-64C8-9C3523BDA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980239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Процедура </a:t>
            </a:r>
            <a:r>
              <a:rPr lang="en-US" dirty="0" err="1"/>
              <a:t>update_session_grades</a:t>
            </a:r>
            <a:br>
              <a:rPr lang="en-US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495410-96BC-20BD-76CA-5CF8908A4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6" y="1116906"/>
            <a:ext cx="5906324" cy="49727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7BD1B1-148F-ED02-3D7B-83333D280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38" y="6281737"/>
            <a:ext cx="6087325" cy="4591691"/>
          </a:xfrm>
          <a:prstGeom prst="rect">
            <a:avLst/>
          </a:prstGeom>
        </p:spPr>
      </p:pic>
      <p:pic>
        <p:nvPicPr>
          <p:cNvPr id="5122" name="Рисунок 1">
            <a:extLst>
              <a:ext uri="{FF2B5EF4-FFF2-40B4-BE49-F238E27FC236}">
                <a16:creationId xmlns:a16="http://schemas.microsoft.com/office/drawing/2014/main" id="{6318D172-3FCA-6C4E-3465-89A6F707B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025" y="2300663"/>
            <a:ext cx="55149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3556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7CB78-1273-563D-0CDE-4BA0A822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1"/>
            <a:ext cx="10515600" cy="78773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Процедура </a:t>
            </a:r>
            <a:r>
              <a:rPr lang="en-US" dirty="0" err="1"/>
              <a:t>student_replace_group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A4AB88-C9DB-166F-DAC1-15E662115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69" y="1556085"/>
            <a:ext cx="5163271" cy="5153744"/>
          </a:xfrm>
          <a:prstGeom prst="rect">
            <a:avLst/>
          </a:prstGeom>
        </p:spPr>
      </p:pic>
      <p:pic>
        <p:nvPicPr>
          <p:cNvPr id="6146" name="Рисунок 1">
            <a:extLst>
              <a:ext uri="{FF2B5EF4-FFF2-40B4-BE49-F238E27FC236}">
                <a16:creationId xmlns:a16="http://schemas.microsoft.com/office/drawing/2014/main" id="{9EF47D35-A50A-D1CC-8E41-E9C407E5C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2553660"/>
            <a:ext cx="58674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Рисунок 1">
            <a:extLst>
              <a:ext uri="{FF2B5EF4-FFF2-40B4-BE49-F238E27FC236}">
                <a16:creationId xmlns:a16="http://schemas.microsoft.com/office/drawing/2014/main" id="{5E4ACD94-5818-9ABF-ECBB-DD2F2432D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4903786"/>
            <a:ext cx="5878513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2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007EA-886E-908F-4F66-FA3FD041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867945"/>
          </a:xfrm>
        </p:spPr>
        <p:txBody>
          <a:bodyPr>
            <a:normAutofit fontScale="90000"/>
          </a:bodyPr>
          <a:lstStyle/>
          <a:p>
            <a:r>
              <a:rPr lang="ru-RU" dirty="0"/>
              <a:t>Триггер </a:t>
            </a:r>
            <a:r>
              <a:rPr lang="en-US" dirty="0" err="1"/>
              <a:t>validate_phone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A5FE95-F625-D018-7A1A-FE70E4F62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8327"/>
            <a:ext cx="3772426" cy="38200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4B0EEA-0579-6248-4225-D48E3A8A5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480417"/>
            <a:ext cx="5973009" cy="333421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52DB3D7-DF08-5568-2D25-B32F31441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562" y="26850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INSERT INTO students (full_name, birth_date, address, phone, biography, group_id) VALUES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('Кириллов Алексей Сергеевич', 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'2000-05-15', 'г. Москва, ул. Ленина, д. 25, кв. 12',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'99161234567', 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'Родился в Москве. Увлекаюсь программированием с детства.',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1);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Получена ошибка: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ОШИБКА: Номер телефона должен начинаться с 7 или 8. Получен: 99161234567.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Проверяем, что новая запись не добавилась: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SELECT * from students where full_name='Кириллов Алексей Сергеевич';</a:t>
            </a: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Результат проверки представлен на рисунке 20.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Рисунок 1">
            <a:extLst>
              <a:ext uri="{FF2B5EF4-FFF2-40B4-BE49-F238E27FC236}">
                <a16:creationId xmlns:a16="http://schemas.microsoft.com/office/drawing/2014/main" id="{1E4858EE-BEE1-B616-E130-50256B5D4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4361464"/>
            <a:ext cx="54483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779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790DA-A81F-2184-E3AE-BBF5A9DB6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8350"/>
            <a:ext cx="10515600" cy="900029"/>
          </a:xfrm>
        </p:spPr>
        <p:txBody>
          <a:bodyPr>
            <a:normAutofit fontScale="90000"/>
          </a:bodyPr>
          <a:lstStyle/>
          <a:p>
            <a:r>
              <a:rPr lang="ru-RU" dirty="0"/>
              <a:t>Триггер </a:t>
            </a:r>
            <a:r>
              <a:rPr lang="en-US" dirty="0" err="1"/>
              <a:t>create_group_grade_records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AAF641-B1E1-04F0-7C8B-74FC62D2B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92" y="1704734"/>
            <a:ext cx="5249008" cy="344853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5984A4-3466-5350-5516-54EB70EEB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074" y="975970"/>
            <a:ext cx="6639852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110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6BCCEC63-06AE-4961-818A-E49E8F58641A}" vid="{AAE9065E-38F9-4DE9-B13D-28D02EBC5E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35</TotalTime>
  <Words>239</Words>
  <Application>Microsoft Office PowerPoint</Application>
  <PresentationFormat>Широкоэкранный</PresentationFormat>
  <Paragraphs>41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Тема1</vt:lpstr>
      <vt:lpstr>Курсовой проект Разработка структуры базы данных для информационной системы «Деканат»</vt:lpstr>
      <vt:lpstr>Задачи курсового проектирования</vt:lpstr>
      <vt:lpstr>Начальный этап</vt:lpstr>
      <vt:lpstr>Логическая схема БД</vt:lpstr>
      <vt:lpstr>Физическая схема БД</vt:lpstr>
      <vt:lpstr>Таблица spetialties</vt:lpstr>
      <vt:lpstr>Таблица groups</vt:lpstr>
      <vt:lpstr>Таблица subjects</vt:lpstr>
      <vt:lpstr>Таблица students</vt:lpstr>
      <vt:lpstr>Таблица session_grades</vt:lpstr>
      <vt:lpstr>Функция avg_student_rate</vt:lpstr>
      <vt:lpstr>Функция check_session_close</vt:lpstr>
      <vt:lpstr>Функция student_count_in_group</vt:lpstr>
      <vt:lpstr>Процедура create_student</vt:lpstr>
      <vt:lpstr>Процедура update_session_grades </vt:lpstr>
      <vt:lpstr>Процедура student_replace_group</vt:lpstr>
      <vt:lpstr>Триггер validate_phone</vt:lpstr>
      <vt:lpstr>Триггер create_group_grade_records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Возисов</dc:creator>
  <cp:lastModifiedBy>Иван Возисов</cp:lastModifiedBy>
  <cp:revision>1</cp:revision>
  <dcterms:created xsi:type="dcterms:W3CDTF">2025-12-01T21:57:04Z</dcterms:created>
  <dcterms:modified xsi:type="dcterms:W3CDTF">2025-12-01T22:32:04Z</dcterms:modified>
</cp:coreProperties>
</file>